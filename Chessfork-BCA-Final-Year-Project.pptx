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(30-60s): Good morning, respected panel. I am [Student Name], final year BCA student. I present my project 'Chessfork' — an AI-powered chess analysis and coaching platform. It analyzes any chess game with the Stockfish 18 engine, grades every move, explains mistakes in plain language with AI, and coaches players based on their weaknesses — all free in the browser.
Q: Why chess? A: Chess has 600M+ players worldwide; most analysis platforms hide explanations behind paywalls. Chessfork makes professional-grade coaching free and accessible.
Q: Is this a clone of Chess.com? A: No — it is a greenfield platform built from scratch on Next.js 16, with its own engine pipeline, AI coaching layer, and database; Chess.com is one of the systems we analyzed and improved upon.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Chessfork's purpose is to make serious chess improvement accessible. Players paste any game, and the platform evaluates it with Stockfish 18, grades each move, and — crucially — explains the reasons in plain language using an LLM. A personal coach module then scans the player's history for recurring weaknesses and builds a weekly plan.
Q: What is the biggest differentiator? A: The educational layer — engine output alone doesn't teach; our AI explanations and coach turn evaluations into understanding.
Q: How is this a 'future learning platform'? A: The roadmap — PvP, live review, mobile app — extends today's analysis-first product into a full training ecosystem.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Most chess sites face one of two extremes — deep but unexplained engine output, or explanations locked behind premium plans. Beginners get numbers they cannot interpret; intermediate players get no diagnosis of recurring mistakes; and no platform turns analysis into a structured training plan. That combination — analysis without education, and education without personalization — is the core problem we address.
Q: Is free analysis actually possible with Stockfish? A: Yes — Stockfish 18 is open-source and runs both as a server binary and in the browser via WebAssembly; Chessfork's browser worker needs no server for interactive analysis.
Q: Why is this a real problem and not solved by Chess.com? A: Chess.com solves it partially behind Game Review premium tiers; the educational AI layer is limited on free accounts — Chessfork's coach is free.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We benchmarked three reference platforms. Chess.com leads in experience but gates deep analysis and AI behind premium. Lichess is free and powerful but purely engine — no explanations, no coaching. Chessigma pioneered the report-card style review that inspired our report UI, but is a narrow product. Chessfork intentionally occupies the middle: free engine depth like Lichess, polished review experience, plus an AI coaching layer neither offers.
Q: Why compare with Chessigma? A: The project README names Chessigma as the design ancestor — Chessfork is a greenfield, more robust successor, so we evaluated it fairly as both inspiration and limitation.
Q: What did you copy from Lichess? A: Philosophy, not code — free access and open standards (PGN, UCI, FEN); every implementation is original.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Chessfork's proposal is a unified learning loop. Six implemented pillars: LLM explanations for every move, a personal AI coach, interactive what-if experimentation on the board, deep Stockfish analysis with tablebase support, shareable report cards, and free guest access. None of these are placeholders — each maps to a verified module in the codebase.
Q: How deep is the 'deep analysis'? A: Quick reports run depth 15–18 per move; deep jobs depth 20–24 with MultiPV 3 for critical moments, configurable via environment variables.
Q: What is a what-if? A: You drag a piece to a new square mid-game; the engine immediately evaluates that hypothetical variation and grades it against the best play — teaching what should have been played.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The platform is a classic layered architecture. The browser runs React 19 with a WebAssembly Stockfish worker for instant interactive analysis. All business logic lives behind Next.js API routes. The analysis pipeline composes the Stockfish binary — speaking the UCI protocol with MultiPV and Syzygy tablebase support — with an LLM explanation layer. Persistence is PostgreSQL 16 through Drizzle ORM, with BullMQ and Redis handling deep analysis as background jobs. The pipeline feeds five product surfaces: reports, coach, dashboard, puzzles and leaderboards.
Q: Why a WASM worker AND a server binary? A: Browser analysis is free and instant (no server load) for interactive what-ifs; the server binary does deep, multi-PV analysis with configurable depth/hash and gets cached.
Q: Why BullMQ/Redis? A: Deep analysis is slow (minutes); we queue jobs so the UI can stream progress via SSE instead of blocking a request.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The pipeline has five stages. First, import — a pasted PGN, or a username fetch from Chess.com or Lichess. Second, evaluation — Stockfish 18 examines every position; quick reports use depth 15–18, deep reports 20–24, and critical moments re-search with three lines. Third, grading — each move's centipawn loss maps to a seven-level scale. Fourth, explanation — the LLM receives the FEN, move and evaluation, and writes a short coaching explanation. Fifth, the report — per-player accuracy (100 minus 0.15 × average centipawn loss), critical moments, and alternatives.
Q: Why 0.15? A: It is an empirically chosen scaling factor that spreads typical centipawn losses across a readable 0–100 accuracy band.
Q: How is win probability computed? A: Centipawn scores are converted to a probability curve (standard sigmoid mapping) and rendered with recharts on the report page.
Q: What if the LLM key is missing? A: The system falls back to deterministic template explanations so analysis never breaks.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The grading engine classifies each move by centipawn loss against the engine's best. Seven levels: Brilliant (only-engine move or deep sacrifice), Best (top engine move), Excellent, Good, Inaccuracy, Mistake and Blunder. Crucially the grader is more than thresholds — it understands mate dynamics, sacrifices, forced moves and missed wins, so a 'brilliant' is genuinely earned at depth 16+, not awarded for every odd-looking move.
Q: What is centipawn loss? A: The difference in engine evaluation (in hundredths of a pawn) between the move played and the best move.
Q: How is a Brilliant decided? A: It must be a sacrifice — lower-valued piece captures higher — that is also the engine's only good move, confirmed by a deep search (depth ≥ 16); otherwise it is downgraded to Best.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Two signature features. What-If analysis turns the report board into a laboratory — drag a piece, and the engine immediately tells you whether your idea works, with an eight-step grader that understands sacrifices, mates and forced moves. The AI Coach is the personal trainer: it digests up to 50 games, finds the three most damaging recurring patterns, attaches evidence and a drill to each, and produces a weekly focus plan the player can track.
Q: Why cap what-if depth at 14? A: Interactive board responsiveness — deeper searches freeze the drag-and-drop experience; the full-depth server analysis still runs for the actual game.
Q: What data does the coach see? A: Per-game — both accuracies, top blunders and mistakes with their positions, opening, phase and result (structure in src/lib/ai-coach.ts).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The stack is modern and TypeScript-only. Frontend: Next.js 16 App Router with React 19 and Tailwind v4, plus chess.js and react-chessboard for board logic. Backend: Next API routes with BullMQ/Redis for deep analysis. Engine: Stockfish 18 in two forms — a server binary over the UCI protocol, and a WebAssembly worker in the browser. AI: Anthropic Claude SDK, a DeepSeek client, and OpenRouter with the deepseek-chat model, with Groq as an alternative. Data: PostgreSQL 16 with Drizzle ORM. Supporting: Stripe for the shop tiers, Supabase for OAuth, satori+resvg for shareable report images, Playwright and Vitest for testing.
Q: Why both Claude and DeepSeek? A: Redundancy and cost — the explanation endpoints can switch providers via environment keys; coach reports use OpenRouter's deepseek-chat with a Groq fallback.
Q: Why Drizzle over Prisma? A: Type-safe SQL with full control — lightweight, no code generation overhead, and it matches the project's lean, dependency-light philosophy.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The entire platform is written in five languages. TypeScript dominates — nearly all pages, routes, engine logic, schema and tests. JavaScript appears in engine workers and PWA service workers, SQL in the Postgres migrations, JSX as React markup, and CSS through Tailwind. One language across the stack means shared types between the engine, database and UI — a real correctness benefit.
Q: Why is TypeScript chosen over JavaScript? A: Type safety across 25 API routes and 12 tables prevents whole classes of runtime errors; the engine payloads are complex nested types.
Q: Any Python used? A: Not in the shipped product — reference Python code exists in docs/python-engine-integration.md for CAPS/Syzygy/Polyglot research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Twelve modules, each mapped to a real route in the repository: authentication, dashboard, game review, opening explorer, AI coach, puzzle trainer, what-if analysis, games library, leaderboards, account/profile, and a shop with Stripe. Two modules ship as Beta: the Chess Globe — a three.js world map showing sample activity arcs — and the board editor (position setup with FEN). Everything else is live.
Q: Which module is the most complex? A: The game review page — one component of 2,200+ lines integrating the board, engine worker, grading, evaluation graph, alternative lines, LLM explanations and what-if sessions.
Q: What is the Chess Globe? A: A React Three Fiber globe visualising connections between countries with sample game metadata; Beta because it currently uses demo data, not live traffic.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The feature matrix is deliberately honest. Nine core features are fully implemented — review, imports, AI explanations, what-if, coach, puzzles, report-card sharing, SSE streaming, and the deep queue. Three are Beta: the board editor (position setup works, drag-and-drop editing doesn't yet), the globe (demo data) and year wrapped (sample data). Two are planned: internet PvP — today only local two-player is implemented — and the SuperCoach suite.
Q: Why mark things Beta at all? A: Academic integrity — the examiner must know exactly what is finished. Beta items are visibly demo-able, not hidden.
Q: What is the report card? A: A generated image showing accuracy, opening name, grade counts and watermark — produced server-side with satori and resvg for social sharing (OG images).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The workflow is one continuous pipeline, and it is fully implemented end-to-end. A game enters through PGN or a username import. It is analyzed in quick or deep mode — deep jobs queue through BullMQ. Stockfish evaluates every position, the classifier grades each move, and the LLM writes the explanation. Accuracy is computed per player per phase. The report assembles everything, and finally the coach converts the findings into a training plan — weaknesses, drills, weekly focus.
Q: Where does the user see this? A: The homepage accepts a PGN and lands on /analysis; the full interactive report lives at /analysis/[id].
Q: How long does analysis take? A: The landing page targets under 5 seconds for typical quick games with the fallback evaluator; deep runs are queued and streamed via SSE progress.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These are genuine screenshots of Chessfork captured by the project's own Playwright end-to-end test suite — the game review screen with grades and the evaluation graph, the what-if interactive analysis with a drag-and-drop variation, and the home import screen. For the final submission we recommend capturing the coach, opening explorer, puzzles and dashboard screens the same way.
Q: How were these captured? A: Playwright drives a real browser against the running app (e2e/ specs, screenshots in e2e/screenshots).
Q: Can we see the analysis page live? A: Yes — with the dev server running, paste any PGN at the homepage and the full report opens at /analysis/[id].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The schema has twelve tables in three groups. Identity and accounts: users, identities for OAuth, credentials with scrypt hashes, subscriptions and linked chess accounts. The analysis pipeline is the core — imported PGNs each produce analysis runs, each run stores one row per move in move_evaluations with scores, centipawn loss, grade and engine payload. Learning and community: puzzles and attempts with ratings, coach snapshots, and leaderboard entries. Everything uses UUID primary keys, JSONB for flexible payloads and unique indexes for deduplication.
Q: Why JSONB? A: Engine output varies by version and depth; JSONB keeps move payloads flexible without migrations per change.
Q: How is a report looked up? A: A public_id unique index maps short URLs like /analysis/[id] to runs, with pgn_hash preventing duplicate imports.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The advantages map to real audiences. Beginners get free, explained analysis and habit-building puzzles. Intermediate players get the coach — recurring weakness diagnosis, opening notes and what-if experiments that build understanding. Advanced players get depth 20–24 analysis, MultiPV lines, Syzygy tablebases and shareable reports. And for the developer, the codebase is type-safe and fully tested — twelve Vitest suites cover the engine, grading, openings and rating math, plus Playwright e2e.
Q: What is the benchmark page? A: /benchmark — a utility that runs engine diagnostics comparing settings, used to validate engine behaviour during development.
Q: How do tests protect the engine layer? A: Vitest suites assert classifier thresholds, rating math, opening detection and repository fallbacks — regression-safe refactoring.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The roadmap is deliberately honest. Internet PvP is planned — today the app has local two-player play with clocks. Live review during play, real-world globe data, a voice coach, mobile apps, repertoire AI, cloud sync and tournament mode are all future work. The PWA foundation already exists, which shortens the mobile path.
Q: Why is multiplayer not implemented? A: It requires real-time server infrastructure (websockets + game rooms); the current scope focuses on analysis and coaching, which is complete.
Q: Which enhancement is easiest next? A: Cloud sync — the report repository and public IDs already exist; a session-aware fetch would enable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In summary — Chessfork is a working platform, not a demo. Analysis runs on Stockfish 18 at real depth; every verdict is explained by an LLM; a coach converts game history into a training plan; puzzles, streaks, leaderboards and shareable cards complete the loop. The numbers are real: 25 API routes, 39 pages, 12 tables, a 7-level grading system. Beta modules are flagged honestly and the roadmap is public. The stack — Next.js, TypeScript, Drizzle, Stockfish, Claude/DeepSeek — is modern and maintainable.
Q: Biggest technical challenge? A: Making deep engine analysis feel instant — solved by splitting browser WASM analysis (interactive) from server deep analysis (queued, streamed via SSE).
Q: What would you improve with more time? A: PvP multiplayer and replacing the Beta modules' sample data with live user data — both are on the roadmap.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Thank you for your time. I would be happy to answer questions — whether about the engine pipeline, the AI coaching layer, the database design or the roadmap. (Live demo suggestion: paste a PGN on the homepage and walk through a full report.)
Q: (Any) A: Refer to the appendix slides — repository structure, API surface, security and limitations — placed after this slide for exactly this moment.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(viva reference): The repository is organized by separation of concerns: App Router pages and routes; components per product area; lib for pure chess/engine logic (framework-free and fully unit-tested); server for auth, database, queue and repositories; hooks for engine state; e2e Playwright tests; versioned Drizzle migrations; public assets including the WASM engine and workers; vendor data — Syzygy 3-4-5 tablebases; and install/diagnostics scripts.
Q: Where is the analysis algorithm? A: src/lib/analysis-engine.ts (orchestration), src/server/chess/stockfish.ts (UCI), src/lib/move-classifier.ts + whatif-grader.ts (grading).
Q: How is the DB schema versioned? A: Drizzle generates numbered SQL migrations in /drizzle, applied with npm run db:push.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(viva reference): 25 API routes power the platform; the key ones are shown. /api/analyze is the core — it accepts a PGN and mode, runs the full engine + classification pipeline and persists a report. Streaming analysis exposes SSE progress so the UI shows depth/score live. The AI routes (ai-coach, explain-move, explain) wrap the LLM providers. Imports fetch Chess.com/Lichess with a graceful fallback to bundled samples when offline. Auth is OAuth with provider callbacks; shop checkout delegates to Stripe.
Q: How is an analysis submitted? A: POST /api/analyze with {pgn, mode: quick|deep}; response includes metadata, classified moves, chart data and a report URL.
Q: Where is validation? A: Every route validates input with zod schemas and applies rate limiting (src/server/rate-limiter.ts).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(viva reference): Security — passwords are hashed with scrypt plus a per-user salt, verified with timing-safe comparison; OAuth uses Supabase for Google and GitHub; sessions are server-side cookies; every route validates with zod and rate-limits via token buckets; no secret ever reaches the client. Performance — the interactive board runs a WASM Stockfish worker entirely in the browser; deep analysis is queued; coach results are cached for 24 hours; report caching is keyed by PGN hash; the app is PWA-installable.
Q: Why scrypt and not bcrypt? A: scrypt is memory-hard and resists GPU attacks; it is built into node:crypto — no native dependency needed.
Q: Rate limiting in production? A: The in-memory bucket works single-instance; production would move to Redis-backed limits — the bucket API is already abstracted.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(viva reference): Being honest about scope protects credibility. Wrapped and the Globe render sample data — clearly labeled Beta. The editor supports position setup but not yet drag-and-drop piece editing. Local play is PvP only. AI features require provider API keys at runtime. Persistence needs Postgres and Redis via Docker Compose — without them the app runs fully in-memory (BACKEND_DRIVER=memory). The large numbers on the landing page are aspirational marketing targets, not production metrics.
Q: Does the app run without a database? A: Yes — BACKEND_DRIVER=memory keeps everything functional in-memory; hybrid/database modes enable persistence.
Q: What happens when Chess.com/Lichess fetch fails? A: Bundled sample games are loaded so the flow stays demoable offline.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1.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B0F"/>
        </a:solidFill>
      </p:bgPr>
    </p:bg>
    <p:spTree>
      <p:nvGrpSpPr>
        <p:cNvPr id="1" name=""/>
        <p:cNvGrpSpPr/>
        <p:nvPr/>
      </p:nvGrpSpPr>
      <p:grpSpPr>
        <a:xfrm>
          <a:off x="0" y="0"/>
          <a:ext cx="0" cy="0"/>
          <a:chOff x="0" y="0"/>
          <a:chExt cx="0" cy="0"/>
        </a:xfrm>
      </p:grpSpPr>
      <p:sp>
        <p:nvSpPr>
          <p:cNvPr id="2" name="Shape 0"/>
          <p:cNvSpPr/>
          <p:nvPr/>
        </p:nvSpPr>
        <p:spPr>
          <a:xfrm>
            <a:off x="9180576" y="502920"/>
            <a:ext cx="219456" cy="219456"/>
          </a:xfrm>
          <a:prstGeom prst="rect">
            <a:avLst/>
          </a:prstGeom>
          <a:solidFill>
            <a:srgbClr val="121218"/>
          </a:solidFill>
          <a:ln/>
        </p:spPr>
      </p:sp>
      <p:sp>
        <p:nvSpPr>
          <p:cNvPr id="3" name="Shape 1"/>
          <p:cNvSpPr/>
          <p:nvPr/>
        </p:nvSpPr>
        <p:spPr>
          <a:xfrm>
            <a:off x="9619488" y="502920"/>
            <a:ext cx="219456" cy="219456"/>
          </a:xfrm>
          <a:prstGeom prst="rect">
            <a:avLst/>
          </a:prstGeom>
          <a:solidFill>
            <a:srgbClr val="121218"/>
          </a:solidFill>
          <a:ln/>
        </p:spPr>
      </p:sp>
      <p:sp>
        <p:nvSpPr>
          <p:cNvPr id="4" name="Shape 2"/>
          <p:cNvSpPr/>
          <p:nvPr/>
        </p:nvSpPr>
        <p:spPr>
          <a:xfrm>
            <a:off x="10058400" y="502920"/>
            <a:ext cx="219456" cy="219456"/>
          </a:xfrm>
          <a:prstGeom prst="rect">
            <a:avLst/>
          </a:prstGeom>
          <a:solidFill>
            <a:srgbClr val="121218"/>
          </a:solidFill>
          <a:ln/>
        </p:spPr>
      </p:sp>
      <p:sp>
        <p:nvSpPr>
          <p:cNvPr id="5" name="Shape 3"/>
          <p:cNvSpPr/>
          <p:nvPr/>
        </p:nvSpPr>
        <p:spPr>
          <a:xfrm>
            <a:off x="10497312" y="502920"/>
            <a:ext cx="219456" cy="219456"/>
          </a:xfrm>
          <a:prstGeom prst="rect">
            <a:avLst/>
          </a:prstGeom>
          <a:solidFill>
            <a:srgbClr val="121218"/>
          </a:solidFill>
          <a:ln/>
        </p:spPr>
      </p:sp>
      <p:sp>
        <p:nvSpPr>
          <p:cNvPr id="6" name="Shape 4"/>
          <p:cNvSpPr/>
          <p:nvPr/>
        </p:nvSpPr>
        <p:spPr>
          <a:xfrm>
            <a:off x="10936224" y="502920"/>
            <a:ext cx="219456" cy="219456"/>
          </a:xfrm>
          <a:prstGeom prst="rect">
            <a:avLst/>
          </a:prstGeom>
          <a:solidFill>
            <a:srgbClr val="121218"/>
          </a:solidFill>
          <a:ln/>
        </p:spPr>
      </p:sp>
      <p:sp>
        <p:nvSpPr>
          <p:cNvPr id="7" name="Shape 5"/>
          <p:cNvSpPr/>
          <p:nvPr/>
        </p:nvSpPr>
        <p:spPr>
          <a:xfrm>
            <a:off x="11375136" y="502920"/>
            <a:ext cx="219456" cy="219456"/>
          </a:xfrm>
          <a:prstGeom prst="rect">
            <a:avLst/>
          </a:prstGeom>
          <a:solidFill>
            <a:srgbClr val="121218"/>
          </a:solidFill>
          <a:ln/>
        </p:spPr>
      </p:sp>
      <p:sp>
        <p:nvSpPr>
          <p:cNvPr id="8" name="Shape 6"/>
          <p:cNvSpPr/>
          <p:nvPr/>
        </p:nvSpPr>
        <p:spPr>
          <a:xfrm>
            <a:off x="8961120" y="722376"/>
            <a:ext cx="219456" cy="219456"/>
          </a:xfrm>
          <a:prstGeom prst="rect">
            <a:avLst/>
          </a:prstGeom>
          <a:solidFill>
            <a:srgbClr val="121218"/>
          </a:solidFill>
          <a:ln/>
        </p:spPr>
      </p:sp>
      <p:sp>
        <p:nvSpPr>
          <p:cNvPr id="9" name="Shape 7"/>
          <p:cNvSpPr/>
          <p:nvPr/>
        </p:nvSpPr>
        <p:spPr>
          <a:xfrm>
            <a:off x="9400032" y="722376"/>
            <a:ext cx="219456" cy="219456"/>
          </a:xfrm>
          <a:prstGeom prst="rect">
            <a:avLst/>
          </a:prstGeom>
          <a:solidFill>
            <a:srgbClr val="121218"/>
          </a:solidFill>
          <a:ln/>
        </p:spPr>
      </p:sp>
      <p:sp>
        <p:nvSpPr>
          <p:cNvPr id="10" name="Shape 8"/>
          <p:cNvSpPr/>
          <p:nvPr/>
        </p:nvSpPr>
        <p:spPr>
          <a:xfrm>
            <a:off x="9838944" y="722376"/>
            <a:ext cx="219456" cy="219456"/>
          </a:xfrm>
          <a:prstGeom prst="rect">
            <a:avLst/>
          </a:prstGeom>
          <a:solidFill>
            <a:srgbClr val="121218"/>
          </a:solidFill>
          <a:ln/>
        </p:spPr>
      </p:sp>
      <p:sp>
        <p:nvSpPr>
          <p:cNvPr id="11" name="Shape 9"/>
          <p:cNvSpPr/>
          <p:nvPr/>
        </p:nvSpPr>
        <p:spPr>
          <a:xfrm>
            <a:off x="10277856" y="722376"/>
            <a:ext cx="219456" cy="219456"/>
          </a:xfrm>
          <a:prstGeom prst="rect">
            <a:avLst/>
          </a:prstGeom>
          <a:solidFill>
            <a:srgbClr val="121218"/>
          </a:solidFill>
          <a:ln/>
        </p:spPr>
      </p:sp>
      <p:sp>
        <p:nvSpPr>
          <p:cNvPr id="12" name="Shape 10"/>
          <p:cNvSpPr/>
          <p:nvPr/>
        </p:nvSpPr>
        <p:spPr>
          <a:xfrm>
            <a:off x="10716768" y="722376"/>
            <a:ext cx="219456" cy="219456"/>
          </a:xfrm>
          <a:prstGeom prst="rect">
            <a:avLst/>
          </a:prstGeom>
          <a:solidFill>
            <a:srgbClr val="121218"/>
          </a:solidFill>
          <a:ln/>
        </p:spPr>
      </p:sp>
      <p:sp>
        <p:nvSpPr>
          <p:cNvPr id="13" name="Shape 11"/>
          <p:cNvSpPr/>
          <p:nvPr/>
        </p:nvSpPr>
        <p:spPr>
          <a:xfrm>
            <a:off x="11155680" y="722376"/>
            <a:ext cx="219456" cy="219456"/>
          </a:xfrm>
          <a:prstGeom prst="rect">
            <a:avLst/>
          </a:prstGeom>
          <a:solidFill>
            <a:srgbClr val="121218"/>
          </a:solidFill>
          <a:ln/>
        </p:spPr>
      </p:sp>
      <p:sp>
        <p:nvSpPr>
          <p:cNvPr id="14" name="Shape 12"/>
          <p:cNvSpPr/>
          <p:nvPr/>
        </p:nvSpPr>
        <p:spPr>
          <a:xfrm>
            <a:off x="9180576" y="941832"/>
            <a:ext cx="219456" cy="219456"/>
          </a:xfrm>
          <a:prstGeom prst="rect">
            <a:avLst/>
          </a:prstGeom>
          <a:solidFill>
            <a:srgbClr val="121218"/>
          </a:solidFill>
          <a:ln/>
        </p:spPr>
      </p:sp>
      <p:sp>
        <p:nvSpPr>
          <p:cNvPr id="15" name="Shape 13"/>
          <p:cNvSpPr/>
          <p:nvPr/>
        </p:nvSpPr>
        <p:spPr>
          <a:xfrm>
            <a:off x="9619488" y="941832"/>
            <a:ext cx="219456" cy="219456"/>
          </a:xfrm>
          <a:prstGeom prst="rect">
            <a:avLst/>
          </a:prstGeom>
          <a:solidFill>
            <a:srgbClr val="121218"/>
          </a:solidFill>
          <a:ln/>
        </p:spPr>
      </p:sp>
      <p:sp>
        <p:nvSpPr>
          <p:cNvPr id="16" name="Shape 14"/>
          <p:cNvSpPr/>
          <p:nvPr/>
        </p:nvSpPr>
        <p:spPr>
          <a:xfrm>
            <a:off x="10058400" y="941832"/>
            <a:ext cx="219456" cy="219456"/>
          </a:xfrm>
          <a:prstGeom prst="rect">
            <a:avLst/>
          </a:prstGeom>
          <a:solidFill>
            <a:srgbClr val="121218"/>
          </a:solidFill>
          <a:ln/>
        </p:spPr>
      </p:sp>
      <p:sp>
        <p:nvSpPr>
          <p:cNvPr id="17" name="Shape 15"/>
          <p:cNvSpPr/>
          <p:nvPr/>
        </p:nvSpPr>
        <p:spPr>
          <a:xfrm>
            <a:off x="10497312" y="941832"/>
            <a:ext cx="219456" cy="219456"/>
          </a:xfrm>
          <a:prstGeom prst="rect">
            <a:avLst/>
          </a:prstGeom>
          <a:solidFill>
            <a:srgbClr val="121218"/>
          </a:solidFill>
          <a:ln/>
        </p:spPr>
      </p:sp>
      <p:sp>
        <p:nvSpPr>
          <p:cNvPr id="18" name="Shape 16"/>
          <p:cNvSpPr/>
          <p:nvPr/>
        </p:nvSpPr>
        <p:spPr>
          <a:xfrm>
            <a:off x="10936224" y="941832"/>
            <a:ext cx="219456" cy="219456"/>
          </a:xfrm>
          <a:prstGeom prst="rect">
            <a:avLst/>
          </a:prstGeom>
          <a:solidFill>
            <a:srgbClr val="121218"/>
          </a:solidFill>
          <a:ln/>
        </p:spPr>
      </p:sp>
      <p:sp>
        <p:nvSpPr>
          <p:cNvPr id="19" name="Shape 17"/>
          <p:cNvSpPr/>
          <p:nvPr/>
        </p:nvSpPr>
        <p:spPr>
          <a:xfrm>
            <a:off x="11375136" y="941832"/>
            <a:ext cx="219456" cy="219456"/>
          </a:xfrm>
          <a:prstGeom prst="rect">
            <a:avLst/>
          </a:prstGeom>
          <a:solidFill>
            <a:srgbClr val="121218"/>
          </a:solidFill>
          <a:ln/>
        </p:spPr>
      </p:sp>
      <p:sp>
        <p:nvSpPr>
          <p:cNvPr id="20" name="Shape 18"/>
          <p:cNvSpPr/>
          <p:nvPr/>
        </p:nvSpPr>
        <p:spPr>
          <a:xfrm>
            <a:off x="8961120" y="1161288"/>
            <a:ext cx="219456" cy="219456"/>
          </a:xfrm>
          <a:prstGeom prst="rect">
            <a:avLst/>
          </a:prstGeom>
          <a:solidFill>
            <a:srgbClr val="121218"/>
          </a:solidFill>
          <a:ln/>
        </p:spPr>
      </p:sp>
      <p:sp>
        <p:nvSpPr>
          <p:cNvPr id="21" name="Shape 19"/>
          <p:cNvSpPr/>
          <p:nvPr/>
        </p:nvSpPr>
        <p:spPr>
          <a:xfrm>
            <a:off x="9400032" y="1161288"/>
            <a:ext cx="219456" cy="219456"/>
          </a:xfrm>
          <a:prstGeom prst="rect">
            <a:avLst/>
          </a:prstGeom>
          <a:solidFill>
            <a:srgbClr val="121218"/>
          </a:solidFill>
          <a:ln/>
        </p:spPr>
      </p:sp>
      <p:sp>
        <p:nvSpPr>
          <p:cNvPr id="22" name="Shape 20"/>
          <p:cNvSpPr/>
          <p:nvPr/>
        </p:nvSpPr>
        <p:spPr>
          <a:xfrm>
            <a:off x="9838944" y="1161288"/>
            <a:ext cx="219456" cy="219456"/>
          </a:xfrm>
          <a:prstGeom prst="rect">
            <a:avLst/>
          </a:prstGeom>
          <a:solidFill>
            <a:srgbClr val="121218"/>
          </a:solidFill>
          <a:ln/>
        </p:spPr>
      </p:sp>
      <p:sp>
        <p:nvSpPr>
          <p:cNvPr id="23" name="Shape 21"/>
          <p:cNvSpPr/>
          <p:nvPr/>
        </p:nvSpPr>
        <p:spPr>
          <a:xfrm>
            <a:off x="10277856" y="1161288"/>
            <a:ext cx="219456" cy="219456"/>
          </a:xfrm>
          <a:prstGeom prst="rect">
            <a:avLst/>
          </a:prstGeom>
          <a:solidFill>
            <a:srgbClr val="121218"/>
          </a:solidFill>
          <a:ln/>
        </p:spPr>
      </p:sp>
      <p:sp>
        <p:nvSpPr>
          <p:cNvPr id="24" name="Shape 22"/>
          <p:cNvSpPr/>
          <p:nvPr/>
        </p:nvSpPr>
        <p:spPr>
          <a:xfrm>
            <a:off x="10716768" y="1161288"/>
            <a:ext cx="219456" cy="219456"/>
          </a:xfrm>
          <a:prstGeom prst="rect">
            <a:avLst/>
          </a:prstGeom>
          <a:solidFill>
            <a:srgbClr val="121218"/>
          </a:solidFill>
          <a:ln/>
        </p:spPr>
      </p:sp>
      <p:sp>
        <p:nvSpPr>
          <p:cNvPr id="25" name="Shape 23"/>
          <p:cNvSpPr/>
          <p:nvPr/>
        </p:nvSpPr>
        <p:spPr>
          <a:xfrm>
            <a:off x="11155680" y="1161288"/>
            <a:ext cx="219456" cy="219456"/>
          </a:xfrm>
          <a:prstGeom prst="rect">
            <a:avLst/>
          </a:prstGeom>
          <a:solidFill>
            <a:srgbClr val="121218"/>
          </a:solidFill>
          <a:ln/>
        </p:spPr>
      </p:sp>
      <p:sp>
        <p:nvSpPr>
          <p:cNvPr id="26" name="Shape 24"/>
          <p:cNvSpPr/>
          <p:nvPr/>
        </p:nvSpPr>
        <p:spPr>
          <a:xfrm>
            <a:off x="9180576" y="1380744"/>
            <a:ext cx="219456" cy="219456"/>
          </a:xfrm>
          <a:prstGeom prst="rect">
            <a:avLst/>
          </a:prstGeom>
          <a:solidFill>
            <a:srgbClr val="121218"/>
          </a:solidFill>
          <a:ln/>
        </p:spPr>
      </p:sp>
      <p:sp>
        <p:nvSpPr>
          <p:cNvPr id="27" name="Shape 25"/>
          <p:cNvSpPr/>
          <p:nvPr/>
        </p:nvSpPr>
        <p:spPr>
          <a:xfrm>
            <a:off x="9619488" y="1380744"/>
            <a:ext cx="219456" cy="219456"/>
          </a:xfrm>
          <a:prstGeom prst="rect">
            <a:avLst/>
          </a:prstGeom>
          <a:solidFill>
            <a:srgbClr val="121218"/>
          </a:solidFill>
          <a:ln/>
        </p:spPr>
      </p:sp>
      <p:sp>
        <p:nvSpPr>
          <p:cNvPr id="28" name="Shape 26"/>
          <p:cNvSpPr/>
          <p:nvPr/>
        </p:nvSpPr>
        <p:spPr>
          <a:xfrm>
            <a:off x="10058400" y="1380744"/>
            <a:ext cx="219456" cy="219456"/>
          </a:xfrm>
          <a:prstGeom prst="rect">
            <a:avLst/>
          </a:prstGeom>
          <a:solidFill>
            <a:srgbClr val="121218"/>
          </a:solidFill>
          <a:ln/>
        </p:spPr>
      </p:sp>
      <p:sp>
        <p:nvSpPr>
          <p:cNvPr id="29" name="Shape 27"/>
          <p:cNvSpPr/>
          <p:nvPr/>
        </p:nvSpPr>
        <p:spPr>
          <a:xfrm>
            <a:off x="10497312" y="1380744"/>
            <a:ext cx="219456" cy="219456"/>
          </a:xfrm>
          <a:prstGeom prst="rect">
            <a:avLst/>
          </a:prstGeom>
          <a:solidFill>
            <a:srgbClr val="121218"/>
          </a:solidFill>
          <a:ln/>
        </p:spPr>
      </p:sp>
      <p:sp>
        <p:nvSpPr>
          <p:cNvPr id="30" name="Shape 28"/>
          <p:cNvSpPr/>
          <p:nvPr/>
        </p:nvSpPr>
        <p:spPr>
          <a:xfrm>
            <a:off x="10936224" y="1380744"/>
            <a:ext cx="219456" cy="219456"/>
          </a:xfrm>
          <a:prstGeom prst="rect">
            <a:avLst/>
          </a:prstGeom>
          <a:solidFill>
            <a:srgbClr val="121218"/>
          </a:solidFill>
          <a:ln/>
        </p:spPr>
      </p:sp>
      <p:sp>
        <p:nvSpPr>
          <p:cNvPr id="31" name="Shape 29"/>
          <p:cNvSpPr/>
          <p:nvPr/>
        </p:nvSpPr>
        <p:spPr>
          <a:xfrm>
            <a:off x="11375136" y="1380744"/>
            <a:ext cx="219456" cy="219456"/>
          </a:xfrm>
          <a:prstGeom prst="rect">
            <a:avLst/>
          </a:prstGeom>
          <a:solidFill>
            <a:srgbClr val="121218"/>
          </a:solidFill>
          <a:ln/>
        </p:spPr>
      </p:sp>
      <p:sp>
        <p:nvSpPr>
          <p:cNvPr id="32" name="Shape 30"/>
          <p:cNvSpPr/>
          <p:nvPr/>
        </p:nvSpPr>
        <p:spPr>
          <a:xfrm>
            <a:off x="8961120" y="1600200"/>
            <a:ext cx="219456" cy="219456"/>
          </a:xfrm>
          <a:prstGeom prst="rect">
            <a:avLst/>
          </a:prstGeom>
          <a:solidFill>
            <a:srgbClr val="121218"/>
          </a:solidFill>
          <a:ln/>
        </p:spPr>
      </p:sp>
      <p:sp>
        <p:nvSpPr>
          <p:cNvPr id="33" name="Shape 31"/>
          <p:cNvSpPr/>
          <p:nvPr/>
        </p:nvSpPr>
        <p:spPr>
          <a:xfrm>
            <a:off x="9400032" y="1600200"/>
            <a:ext cx="219456" cy="219456"/>
          </a:xfrm>
          <a:prstGeom prst="rect">
            <a:avLst/>
          </a:prstGeom>
          <a:solidFill>
            <a:srgbClr val="121218"/>
          </a:solidFill>
          <a:ln/>
        </p:spPr>
      </p:sp>
      <p:sp>
        <p:nvSpPr>
          <p:cNvPr id="34" name="Shape 32"/>
          <p:cNvSpPr/>
          <p:nvPr/>
        </p:nvSpPr>
        <p:spPr>
          <a:xfrm>
            <a:off x="9838944" y="1600200"/>
            <a:ext cx="219456" cy="219456"/>
          </a:xfrm>
          <a:prstGeom prst="rect">
            <a:avLst/>
          </a:prstGeom>
          <a:solidFill>
            <a:srgbClr val="121218"/>
          </a:solidFill>
          <a:ln/>
        </p:spPr>
      </p:sp>
      <p:sp>
        <p:nvSpPr>
          <p:cNvPr id="35" name="Shape 33"/>
          <p:cNvSpPr/>
          <p:nvPr/>
        </p:nvSpPr>
        <p:spPr>
          <a:xfrm>
            <a:off x="10277856" y="1600200"/>
            <a:ext cx="219456" cy="219456"/>
          </a:xfrm>
          <a:prstGeom prst="rect">
            <a:avLst/>
          </a:prstGeom>
          <a:solidFill>
            <a:srgbClr val="121218"/>
          </a:solidFill>
          <a:ln/>
        </p:spPr>
      </p:sp>
      <p:sp>
        <p:nvSpPr>
          <p:cNvPr id="36" name="Shape 34"/>
          <p:cNvSpPr/>
          <p:nvPr/>
        </p:nvSpPr>
        <p:spPr>
          <a:xfrm>
            <a:off x="10716768" y="1600200"/>
            <a:ext cx="219456" cy="219456"/>
          </a:xfrm>
          <a:prstGeom prst="rect">
            <a:avLst/>
          </a:prstGeom>
          <a:solidFill>
            <a:srgbClr val="121218"/>
          </a:solidFill>
          <a:ln/>
        </p:spPr>
      </p:sp>
      <p:sp>
        <p:nvSpPr>
          <p:cNvPr id="37" name="Shape 35"/>
          <p:cNvSpPr/>
          <p:nvPr/>
        </p:nvSpPr>
        <p:spPr>
          <a:xfrm>
            <a:off x="11155680" y="1600200"/>
            <a:ext cx="219456" cy="219456"/>
          </a:xfrm>
          <a:prstGeom prst="rect">
            <a:avLst/>
          </a:prstGeom>
          <a:solidFill>
            <a:srgbClr val="121218"/>
          </a:solidFill>
          <a:ln/>
        </p:spPr>
      </p:sp>
      <p:sp>
        <p:nvSpPr>
          <p:cNvPr id="38" name="Shape 36"/>
          <p:cNvSpPr/>
          <p:nvPr/>
        </p:nvSpPr>
        <p:spPr>
          <a:xfrm>
            <a:off x="9180576" y="1819656"/>
            <a:ext cx="219456" cy="219456"/>
          </a:xfrm>
          <a:prstGeom prst="rect">
            <a:avLst/>
          </a:prstGeom>
          <a:solidFill>
            <a:srgbClr val="121218"/>
          </a:solidFill>
          <a:ln/>
        </p:spPr>
      </p:sp>
      <p:sp>
        <p:nvSpPr>
          <p:cNvPr id="39" name="Shape 37"/>
          <p:cNvSpPr/>
          <p:nvPr/>
        </p:nvSpPr>
        <p:spPr>
          <a:xfrm>
            <a:off x="9619488" y="1819656"/>
            <a:ext cx="219456" cy="219456"/>
          </a:xfrm>
          <a:prstGeom prst="rect">
            <a:avLst/>
          </a:prstGeom>
          <a:solidFill>
            <a:srgbClr val="121218"/>
          </a:solidFill>
          <a:ln/>
        </p:spPr>
      </p:sp>
      <p:sp>
        <p:nvSpPr>
          <p:cNvPr id="40" name="Shape 38"/>
          <p:cNvSpPr/>
          <p:nvPr/>
        </p:nvSpPr>
        <p:spPr>
          <a:xfrm>
            <a:off x="10058400" y="1819656"/>
            <a:ext cx="219456" cy="219456"/>
          </a:xfrm>
          <a:prstGeom prst="rect">
            <a:avLst/>
          </a:prstGeom>
          <a:solidFill>
            <a:srgbClr val="121218"/>
          </a:solidFill>
          <a:ln/>
        </p:spPr>
      </p:sp>
      <p:sp>
        <p:nvSpPr>
          <p:cNvPr id="41" name="Shape 39"/>
          <p:cNvSpPr/>
          <p:nvPr/>
        </p:nvSpPr>
        <p:spPr>
          <a:xfrm>
            <a:off x="10497312" y="1819656"/>
            <a:ext cx="219456" cy="219456"/>
          </a:xfrm>
          <a:prstGeom prst="rect">
            <a:avLst/>
          </a:prstGeom>
          <a:solidFill>
            <a:srgbClr val="121218"/>
          </a:solidFill>
          <a:ln/>
        </p:spPr>
      </p:sp>
      <p:sp>
        <p:nvSpPr>
          <p:cNvPr id="42" name="Shape 40"/>
          <p:cNvSpPr/>
          <p:nvPr/>
        </p:nvSpPr>
        <p:spPr>
          <a:xfrm>
            <a:off x="10936224" y="1819656"/>
            <a:ext cx="219456" cy="219456"/>
          </a:xfrm>
          <a:prstGeom prst="rect">
            <a:avLst/>
          </a:prstGeom>
          <a:solidFill>
            <a:srgbClr val="121218"/>
          </a:solidFill>
          <a:ln/>
        </p:spPr>
      </p:sp>
      <p:sp>
        <p:nvSpPr>
          <p:cNvPr id="43" name="Shape 41"/>
          <p:cNvSpPr/>
          <p:nvPr/>
        </p:nvSpPr>
        <p:spPr>
          <a:xfrm>
            <a:off x="11375136" y="1819656"/>
            <a:ext cx="219456" cy="219456"/>
          </a:xfrm>
          <a:prstGeom prst="rect">
            <a:avLst/>
          </a:prstGeom>
          <a:solidFill>
            <a:srgbClr val="121218"/>
          </a:solidFill>
          <a:ln/>
        </p:spPr>
      </p:sp>
      <p:sp>
        <p:nvSpPr>
          <p:cNvPr id="44" name="Shape 42"/>
          <p:cNvSpPr/>
          <p:nvPr/>
        </p:nvSpPr>
        <p:spPr>
          <a:xfrm>
            <a:off x="8961120" y="2039112"/>
            <a:ext cx="219456" cy="219456"/>
          </a:xfrm>
          <a:prstGeom prst="rect">
            <a:avLst/>
          </a:prstGeom>
          <a:solidFill>
            <a:srgbClr val="121218"/>
          </a:solidFill>
          <a:ln/>
        </p:spPr>
      </p:sp>
      <p:sp>
        <p:nvSpPr>
          <p:cNvPr id="45" name="Shape 43"/>
          <p:cNvSpPr/>
          <p:nvPr/>
        </p:nvSpPr>
        <p:spPr>
          <a:xfrm>
            <a:off x="9400032" y="2039112"/>
            <a:ext cx="219456" cy="219456"/>
          </a:xfrm>
          <a:prstGeom prst="rect">
            <a:avLst/>
          </a:prstGeom>
          <a:solidFill>
            <a:srgbClr val="121218"/>
          </a:solidFill>
          <a:ln/>
        </p:spPr>
      </p:sp>
      <p:sp>
        <p:nvSpPr>
          <p:cNvPr id="46" name="Shape 44"/>
          <p:cNvSpPr/>
          <p:nvPr/>
        </p:nvSpPr>
        <p:spPr>
          <a:xfrm>
            <a:off x="9838944" y="2039112"/>
            <a:ext cx="219456" cy="219456"/>
          </a:xfrm>
          <a:prstGeom prst="rect">
            <a:avLst/>
          </a:prstGeom>
          <a:solidFill>
            <a:srgbClr val="121218"/>
          </a:solidFill>
          <a:ln/>
        </p:spPr>
      </p:sp>
      <p:sp>
        <p:nvSpPr>
          <p:cNvPr id="47" name="Shape 45"/>
          <p:cNvSpPr/>
          <p:nvPr/>
        </p:nvSpPr>
        <p:spPr>
          <a:xfrm>
            <a:off x="10277856" y="2039112"/>
            <a:ext cx="219456" cy="219456"/>
          </a:xfrm>
          <a:prstGeom prst="rect">
            <a:avLst/>
          </a:prstGeom>
          <a:solidFill>
            <a:srgbClr val="121218"/>
          </a:solidFill>
          <a:ln/>
        </p:spPr>
      </p:sp>
      <p:sp>
        <p:nvSpPr>
          <p:cNvPr id="48" name="Shape 46"/>
          <p:cNvSpPr/>
          <p:nvPr/>
        </p:nvSpPr>
        <p:spPr>
          <a:xfrm>
            <a:off x="10716768" y="2039112"/>
            <a:ext cx="219456" cy="219456"/>
          </a:xfrm>
          <a:prstGeom prst="rect">
            <a:avLst/>
          </a:prstGeom>
          <a:solidFill>
            <a:srgbClr val="121218"/>
          </a:solidFill>
          <a:ln/>
        </p:spPr>
      </p:sp>
      <p:sp>
        <p:nvSpPr>
          <p:cNvPr id="49" name="Shape 47"/>
          <p:cNvSpPr/>
          <p:nvPr/>
        </p:nvSpPr>
        <p:spPr>
          <a:xfrm>
            <a:off x="11155680" y="2039112"/>
            <a:ext cx="219456" cy="219456"/>
          </a:xfrm>
          <a:prstGeom prst="rect">
            <a:avLst/>
          </a:prstGeom>
          <a:solidFill>
            <a:srgbClr val="121218"/>
          </a:solidFill>
          <a:ln/>
        </p:spPr>
      </p:sp>
      <p:sp>
        <p:nvSpPr>
          <p:cNvPr id="50" name="Shape 48"/>
          <p:cNvSpPr/>
          <p:nvPr/>
        </p:nvSpPr>
        <p:spPr>
          <a:xfrm>
            <a:off x="9180576" y="2258568"/>
            <a:ext cx="219456" cy="219456"/>
          </a:xfrm>
          <a:prstGeom prst="rect">
            <a:avLst/>
          </a:prstGeom>
          <a:solidFill>
            <a:srgbClr val="121218"/>
          </a:solidFill>
          <a:ln/>
        </p:spPr>
      </p:sp>
      <p:sp>
        <p:nvSpPr>
          <p:cNvPr id="51" name="Shape 49"/>
          <p:cNvSpPr/>
          <p:nvPr/>
        </p:nvSpPr>
        <p:spPr>
          <a:xfrm>
            <a:off x="9619488" y="2258568"/>
            <a:ext cx="219456" cy="219456"/>
          </a:xfrm>
          <a:prstGeom prst="rect">
            <a:avLst/>
          </a:prstGeom>
          <a:solidFill>
            <a:srgbClr val="121218"/>
          </a:solidFill>
          <a:ln/>
        </p:spPr>
      </p:sp>
      <p:sp>
        <p:nvSpPr>
          <p:cNvPr id="52" name="Shape 50"/>
          <p:cNvSpPr/>
          <p:nvPr/>
        </p:nvSpPr>
        <p:spPr>
          <a:xfrm>
            <a:off x="10058400" y="2258568"/>
            <a:ext cx="219456" cy="219456"/>
          </a:xfrm>
          <a:prstGeom prst="rect">
            <a:avLst/>
          </a:prstGeom>
          <a:solidFill>
            <a:srgbClr val="121218"/>
          </a:solidFill>
          <a:ln/>
        </p:spPr>
      </p:sp>
      <p:sp>
        <p:nvSpPr>
          <p:cNvPr id="53" name="Shape 51"/>
          <p:cNvSpPr/>
          <p:nvPr/>
        </p:nvSpPr>
        <p:spPr>
          <a:xfrm>
            <a:off x="10497312" y="2258568"/>
            <a:ext cx="219456" cy="219456"/>
          </a:xfrm>
          <a:prstGeom prst="rect">
            <a:avLst/>
          </a:prstGeom>
          <a:solidFill>
            <a:srgbClr val="121218"/>
          </a:solidFill>
          <a:ln/>
        </p:spPr>
      </p:sp>
      <p:sp>
        <p:nvSpPr>
          <p:cNvPr id="54" name="Shape 52"/>
          <p:cNvSpPr/>
          <p:nvPr/>
        </p:nvSpPr>
        <p:spPr>
          <a:xfrm>
            <a:off x="10936224" y="2258568"/>
            <a:ext cx="219456" cy="219456"/>
          </a:xfrm>
          <a:prstGeom prst="rect">
            <a:avLst/>
          </a:prstGeom>
          <a:solidFill>
            <a:srgbClr val="121218"/>
          </a:solidFill>
          <a:ln/>
        </p:spPr>
      </p:sp>
      <p:sp>
        <p:nvSpPr>
          <p:cNvPr id="55" name="Shape 53"/>
          <p:cNvSpPr/>
          <p:nvPr/>
        </p:nvSpPr>
        <p:spPr>
          <a:xfrm>
            <a:off x="11375136" y="2258568"/>
            <a:ext cx="219456" cy="219456"/>
          </a:xfrm>
          <a:prstGeom prst="rect">
            <a:avLst/>
          </a:prstGeom>
          <a:solidFill>
            <a:srgbClr val="121218"/>
          </a:solidFill>
          <a:ln/>
        </p:spPr>
      </p:sp>
      <p:sp>
        <p:nvSpPr>
          <p:cNvPr id="56" name="Shape 54"/>
          <p:cNvSpPr/>
          <p:nvPr/>
        </p:nvSpPr>
        <p:spPr>
          <a:xfrm>
            <a:off x="8961120" y="2478024"/>
            <a:ext cx="219456" cy="219456"/>
          </a:xfrm>
          <a:prstGeom prst="rect">
            <a:avLst/>
          </a:prstGeom>
          <a:solidFill>
            <a:srgbClr val="121218"/>
          </a:solidFill>
          <a:ln/>
        </p:spPr>
      </p:sp>
      <p:sp>
        <p:nvSpPr>
          <p:cNvPr id="57" name="Shape 55"/>
          <p:cNvSpPr/>
          <p:nvPr/>
        </p:nvSpPr>
        <p:spPr>
          <a:xfrm>
            <a:off x="9400032" y="2478024"/>
            <a:ext cx="219456" cy="219456"/>
          </a:xfrm>
          <a:prstGeom prst="rect">
            <a:avLst/>
          </a:prstGeom>
          <a:solidFill>
            <a:srgbClr val="121218"/>
          </a:solidFill>
          <a:ln/>
        </p:spPr>
      </p:sp>
      <p:sp>
        <p:nvSpPr>
          <p:cNvPr id="58" name="Shape 56"/>
          <p:cNvSpPr/>
          <p:nvPr/>
        </p:nvSpPr>
        <p:spPr>
          <a:xfrm>
            <a:off x="9838944" y="2478024"/>
            <a:ext cx="219456" cy="219456"/>
          </a:xfrm>
          <a:prstGeom prst="rect">
            <a:avLst/>
          </a:prstGeom>
          <a:solidFill>
            <a:srgbClr val="121218"/>
          </a:solidFill>
          <a:ln/>
        </p:spPr>
      </p:sp>
      <p:sp>
        <p:nvSpPr>
          <p:cNvPr id="59" name="Shape 57"/>
          <p:cNvSpPr/>
          <p:nvPr/>
        </p:nvSpPr>
        <p:spPr>
          <a:xfrm>
            <a:off x="10277856" y="2478024"/>
            <a:ext cx="219456" cy="219456"/>
          </a:xfrm>
          <a:prstGeom prst="rect">
            <a:avLst/>
          </a:prstGeom>
          <a:solidFill>
            <a:srgbClr val="121218"/>
          </a:solidFill>
          <a:ln/>
        </p:spPr>
      </p:sp>
      <p:sp>
        <p:nvSpPr>
          <p:cNvPr id="60" name="Shape 58"/>
          <p:cNvSpPr/>
          <p:nvPr/>
        </p:nvSpPr>
        <p:spPr>
          <a:xfrm>
            <a:off x="10716768" y="2478024"/>
            <a:ext cx="219456" cy="219456"/>
          </a:xfrm>
          <a:prstGeom prst="rect">
            <a:avLst/>
          </a:prstGeom>
          <a:solidFill>
            <a:srgbClr val="121218"/>
          </a:solidFill>
          <a:ln/>
        </p:spPr>
      </p:sp>
      <p:sp>
        <p:nvSpPr>
          <p:cNvPr id="61" name="Shape 59"/>
          <p:cNvSpPr/>
          <p:nvPr/>
        </p:nvSpPr>
        <p:spPr>
          <a:xfrm>
            <a:off x="11155680" y="2478024"/>
            <a:ext cx="219456" cy="219456"/>
          </a:xfrm>
          <a:prstGeom prst="rect">
            <a:avLst/>
          </a:prstGeom>
          <a:solidFill>
            <a:srgbClr val="121218"/>
          </a:solidFill>
          <a:ln/>
        </p:spPr>
      </p:sp>
      <p:sp>
        <p:nvSpPr>
          <p:cNvPr id="62" name="Shape 60"/>
          <p:cNvSpPr/>
          <p:nvPr/>
        </p:nvSpPr>
        <p:spPr>
          <a:xfrm>
            <a:off x="9418320" y="731520"/>
            <a:ext cx="2377440" cy="2377440"/>
          </a:xfrm>
          <a:prstGeom prst="ellipse">
            <a:avLst/>
          </a:prstGeom>
          <a:solidFill>
            <a:srgbClr val="FFC62A">
              <a:alpha val="4000"/>
            </a:srgbClr>
          </a:solidFill>
          <a:ln/>
        </p:spPr>
      </p:sp>
      <p:sp>
        <p:nvSpPr>
          <p:cNvPr id="63" name="Shape 61"/>
          <p:cNvSpPr/>
          <p:nvPr/>
        </p:nvSpPr>
        <p:spPr>
          <a:xfrm>
            <a:off x="5477256" y="932688"/>
            <a:ext cx="1234440" cy="1234440"/>
          </a:xfrm>
          <a:prstGeom prst="ellipse">
            <a:avLst/>
          </a:prstGeom>
          <a:solidFill>
            <a:srgbClr val="2A2412"/>
          </a:solidFill>
          <a:ln w="19050">
            <a:solidFill>
              <a:srgbClr val="FFC62A"/>
            </a:solidFill>
            <a:prstDash val="solid"/>
          </a:ln>
        </p:spPr>
      </p:sp>
      <p:sp>
        <p:nvSpPr>
          <p:cNvPr id="64" name="Text 62"/>
          <p:cNvSpPr/>
          <p:nvPr/>
        </p:nvSpPr>
        <p:spPr>
          <a:xfrm>
            <a:off x="5733288" y="1170432"/>
            <a:ext cx="731520" cy="731520"/>
          </a:xfrm>
          <a:prstGeom prst="rect">
            <a:avLst/>
          </a:prstGeom>
          <a:noFill/>
          <a:ln/>
        </p:spPr>
        <p:txBody>
          <a:bodyPr wrap="square" lIns="0" tIns="0" rIns="0" bIns="0" rtlCol="0" anchor="ctr"/>
          <a:lstStyle/>
          <a:p>
            <a:pPr algn="ctr" indent="0" marL="0">
              <a:buNone/>
            </a:pPr>
            <a:r>
              <a:rPr lang="en-US" sz="5184" dirty="0">
                <a:solidFill>
                  <a:srgbClr val="FFC62A"/>
                </a:solidFill>
                <a:latin typeface="Segoe UI Symbol" pitchFamily="34" charset="0"/>
                <a:ea typeface="Segoe UI Symbol" pitchFamily="34" charset="-122"/>
                <a:cs typeface="Segoe UI Symbol" pitchFamily="34" charset="-120"/>
              </a:rPr>
              <a:t>♞</a:t>
            </a:r>
            <a:endParaRPr lang="en-US" sz="5184" dirty="0"/>
          </a:p>
        </p:txBody>
      </p:sp>
      <p:sp>
        <p:nvSpPr>
          <p:cNvPr id="65" name="Text 63"/>
          <p:cNvSpPr/>
          <p:nvPr/>
        </p:nvSpPr>
        <p:spPr>
          <a:xfrm>
            <a:off x="1371600" y="2395728"/>
            <a:ext cx="9445752" cy="914400"/>
          </a:xfrm>
          <a:prstGeom prst="rect">
            <a:avLst/>
          </a:prstGeom>
          <a:noFill/>
          <a:ln/>
        </p:spPr>
        <p:txBody>
          <a:bodyPr wrap="square" lIns="0" tIns="0" rIns="0" bIns="0" rtlCol="0" anchor="ctr"/>
          <a:lstStyle/>
          <a:p>
            <a:pPr algn="ctr" indent="0" marL="0">
              <a:buNone/>
            </a:pPr>
            <a:r>
              <a:rPr lang="en-US" sz="5800" b="1" spc="1000" kern="0" dirty="0">
                <a:solidFill>
                  <a:srgbClr val="F5F2EA"/>
                </a:solidFill>
                <a:latin typeface="Bahnschrift" pitchFamily="34" charset="0"/>
                <a:ea typeface="Bahnschrift" pitchFamily="34" charset="-122"/>
                <a:cs typeface="Bahnschrift" pitchFamily="34" charset="-120"/>
              </a:rPr>
              <a:t>CHESSFORK</a:t>
            </a:r>
            <a:endParaRPr lang="en-US" sz="5800" dirty="0"/>
          </a:p>
        </p:txBody>
      </p:sp>
      <p:sp>
        <p:nvSpPr>
          <p:cNvPr id="66" name="Shape 64"/>
          <p:cNvSpPr/>
          <p:nvPr/>
        </p:nvSpPr>
        <p:spPr>
          <a:xfrm>
            <a:off x="5705856" y="3401568"/>
            <a:ext cx="777240" cy="41148"/>
          </a:xfrm>
          <a:prstGeom prst="rect">
            <a:avLst/>
          </a:prstGeom>
          <a:solidFill>
            <a:srgbClr val="FFC62A"/>
          </a:solidFill>
          <a:ln/>
        </p:spPr>
      </p:sp>
      <p:sp>
        <p:nvSpPr>
          <p:cNvPr id="67" name="Text 65"/>
          <p:cNvSpPr/>
          <p:nvPr/>
        </p:nvSpPr>
        <p:spPr>
          <a:xfrm>
            <a:off x="1371600" y="3584448"/>
            <a:ext cx="9445752" cy="457200"/>
          </a:xfrm>
          <a:prstGeom prst="rect">
            <a:avLst/>
          </a:prstGeom>
          <a:noFill/>
          <a:ln/>
        </p:spPr>
        <p:txBody>
          <a:bodyPr wrap="square" lIns="0" tIns="0" rIns="0" bIns="0" rtlCol="0" anchor="ctr"/>
          <a:lstStyle/>
          <a:p>
            <a:pPr algn="ctr" indent="0" marL="0">
              <a:buNone/>
            </a:pPr>
            <a:r>
              <a:rPr lang="en-US" sz="1700" spc="250" kern="0" dirty="0">
                <a:solidFill>
                  <a:srgbClr val="9A97A6"/>
                </a:solidFill>
                <a:latin typeface="Bahnschrift" pitchFamily="34" charset="0"/>
                <a:ea typeface="Bahnschrift" pitchFamily="34" charset="-122"/>
                <a:cs typeface="Bahnschrift" pitchFamily="34" charset="-120"/>
              </a:rPr>
              <a:t>AI-POWERED CHESS ANALYSIS &amp; COACHING PLATFORM</a:t>
            </a:r>
            <a:endParaRPr lang="en-US" sz="1700" dirty="0"/>
          </a:p>
        </p:txBody>
      </p:sp>
      <p:sp>
        <p:nvSpPr>
          <p:cNvPr id="68" name="Shape 66"/>
          <p:cNvSpPr/>
          <p:nvPr/>
        </p:nvSpPr>
        <p:spPr>
          <a:xfrm>
            <a:off x="2898648" y="4315968"/>
            <a:ext cx="6400800" cy="1572768"/>
          </a:xfrm>
          <a:prstGeom prst="roundRect">
            <a:avLst>
              <a:gd name="adj" fmla="val 5814"/>
            </a:avLst>
          </a:prstGeom>
          <a:solidFill>
            <a:srgbClr val="12121A"/>
          </a:solidFill>
          <a:ln w="12700">
            <a:solidFill>
              <a:srgbClr val="2A2A35"/>
            </a:solidFill>
            <a:prstDash val="solid"/>
          </a:ln>
        </p:spPr>
      </p:sp>
      <p:sp>
        <p:nvSpPr>
          <p:cNvPr id="69" name="Text 67"/>
          <p:cNvSpPr/>
          <p:nvPr/>
        </p:nvSpPr>
        <p:spPr>
          <a:xfrm>
            <a:off x="2898648" y="4443984"/>
            <a:ext cx="6400800" cy="237744"/>
          </a:xfrm>
          <a:prstGeom prst="rect">
            <a:avLst/>
          </a:prstGeom>
          <a:noFill/>
          <a:ln/>
        </p:spPr>
        <p:txBody>
          <a:bodyPr wrap="square" lIns="0" tIns="0" rIns="0" bIns="0" rtlCol="0" anchor="ctr"/>
          <a:lstStyle/>
          <a:p>
            <a:pPr algn="ctr" indent="0" marL="0">
              <a:buNone/>
            </a:pPr>
            <a:r>
              <a:rPr lang="en-US" sz="950" b="1" spc="300" kern="0" dirty="0">
                <a:solidFill>
                  <a:srgbClr val="FFC62A"/>
                </a:solidFill>
                <a:latin typeface="Bahnschrift" pitchFamily="34" charset="0"/>
                <a:ea typeface="Bahnschrift" pitchFamily="34" charset="-122"/>
                <a:cs typeface="Bahnschrift" pitchFamily="34" charset="-120"/>
              </a:rPr>
              <a:t>PRESENTED BY</a:t>
            </a:r>
            <a:endParaRPr lang="en-US" sz="950" dirty="0"/>
          </a:p>
        </p:txBody>
      </p:sp>
      <p:sp>
        <p:nvSpPr>
          <p:cNvPr id="70" name="Text 68"/>
          <p:cNvSpPr/>
          <p:nvPr/>
        </p:nvSpPr>
        <p:spPr>
          <a:xfrm>
            <a:off x="2898648" y="4700016"/>
            <a:ext cx="6400800" cy="329184"/>
          </a:xfrm>
          <a:prstGeom prst="rect">
            <a:avLst/>
          </a:prstGeom>
          <a:noFill/>
          <a:ln/>
        </p:spPr>
        <p:txBody>
          <a:bodyPr wrap="square" lIns="0" tIns="0" rIns="0" bIns="0" rtlCol="0" anchor="ctr"/>
          <a:lstStyle/>
          <a:p>
            <a:pPr algn="ctr" indent="0" marL="0">
              <a:buNone/>
            </a:pPr>
            <a:r>
              <a:rPr lang="en-US" sz="1500" b="1" dirty="0">
                <a:solidFill>
                  <a:srgbClr val="F5F2EA"/>
                </a:solidFill>
              </a:rPr>
              <a:t>[Student Name]</a:t>
            </a:r>
            <a:pPr algn="ctr" indent="0" marL="0">
              <a:buNone/>
            </a:pPr>
            <a:r>
              <a:rPr lang="en-US" sz="1500" dirty="0">
                <a:solidFill>
                  <a:srgbClr val="5C5966"/>
                </a:solidFill>
              </a:rPr>
              <a:t>    ·    </a:t>
            </a:r>
            <a:pPr algn="ctr" indent="0" marL="0">
              <a:buNone/>
            </a:pPr>
            <a:r>
              <a:rPr lang="en-US" sz="1200" dirty="0">
                <a:solidFill>
                  <a:srgbClr val="9A97A6"/>
                </a:solidFill>
              </a:rPr>
              <a:t>Register No: [XXXXXXXX]</a:t>
            </a:r>
            <a:endParaRPr lang="en-US" sz="1500" dirty="0"/>
          </a:p>
        </p:txBody>
      </p:sp>
      <p:sp>
        <p:nvSpPr>
          <p:cNvPr id="71" name="Text 69"/>
          <p:cNvSpPr/>
          <p:nvPr/>
        </p:nvSpPr>
        <p:spPr>
          <a:xfrm>
            <a:off x="2898648" y="5029200"/>
            <a:ext cx="6400800" cy="274320"/>
          </a:xfrm>
          <a:prstGeom prst="rect">
            <a:avLst/>
          </a:prstGeom>
          <a:noFill/>
          <a:ln/>
        </p:spPr>
        <p:txBody>
          <a:bodyPr wrap="square" lIns="0" tIns="0" rIns="0" bIns="0" rtlCol="0" anchor="ctr"/>
          <a:lstStyle/>
          <a:p>
            <a:pPr algn="ctr" indent="0" marL="0">
              <a:buNone/>
            </a:pPr>
            <a:r>
              <a:rPr lang="en-US" sz="1150" dirty="0">
                <a:solidFill>
                  <a:srgbClr val="9A97A6"/>
                </a:solidFill>
              </a:rPr>
              <a:t>BCA · Department of Computer Applications</a:t>
            </a:r>
            <a:endParaRPr lang="en-US" sz="1150" dirty="0"/>
          </a:p>
        </p:txBody>
      </p:sp>
      <p:sp>
        <p:nvSpPr>
          <p:cNvPr id="72" name="Text 70"/>
          <p:cNvSpPr/>
          <p:nvPr/>
        </p:nvSpPr>
        <p:spPr>
          <a:xfrm>
            <a:off x="2898648" y="5303520"/>
            <a:ext cx="6400800" cy="274320"/>
          </a:xfrm>
          <a:prstGeom prst="rect">
            <a:avLst/>
          </a:prstGeom>
          <a:noFill/>
          <a:ln/>
        </p:spPr>
        <p:txBody>
          <a:bodyPr wrap="square" lIns="0" tIns="0" rIns="0" bIns="0" rtlCol="0" anchor="ctr"/>
          <a:lstStyle/>
          <a:p>
            <a:pPr algn="ctr" indent="0" marL="0">
              <a:buNone/>
            </a:pPr>
            <a:r>
              <a:rPr lang="en-US" sz="1150" b="1" dirty="0">
                <a:solidFill>
                  <a:srgbClr val="F5F2EA"/>
                </a:solidFill>
              </a:rPr>
              <a:t>[College Name]</a:t>
            </a:r>
            <a:endParaRPr lang="en-US" sz="1150" dirty="0"/>
          </a:p>
        </p:txBody>
      </p:sp>
      <p:sp>
        <p:nvSpPr>
          <p:cNvPr id="73" name="Text 71"/>
          <p:cNvSpPr/>
          <p:nvPr/>
        </p:nvSpPr>
        <p:spPr>
          <a:xfrm>
            <a:off x="2898648" y="5577840"/>
            <a:ext cx="6400800" cy="256032"/>
          </a:xfrm>
          <a:prstGeom prst="rect">
            <a:avLst/>
          </a:prstGeom>
          <a:noFill/>
          <a:ln/>
        </p:spPr>
        <p:txBody>
          <a:bodyPr wrap="square" lIns="0" tIns="0" rIns="0" bIns="0" rtlCol="0" anchor="ctr"/>
          <a:lstStyle/>
          <a:p>
            <a:pPr algn="ctr" indent="0" marL="0">
              <a:buNone/>
            </a:pPr>
            <a:r>
              <a:rPr lang="en-US" sz="1050" dirty="0">
                <a:solidFill>
                  <a:srgbClr val="9A97A6"/>
                </a:solidFill>
              </a:rPr>
              <a:t>Project Guide: [Guide Name]</a:t>
            </a:r>
            <a:endParaRPr lang="en-US" sz="1050" dirty="0"/>
          </a:p>
        </p:txBody>
      </p:sp>
      <p:sp>
        <p:nvSpPr>
          <p:cNvPr id="74" name="Text 72"/>
          <p:cNvSpPr/>
          <p:nvPr/>
        </p:nvSpPr>
        <p:spPr>
          <a:xfrm>
            <a:off x="1371600" y="6108192"/>
            <a:ext cx="9445752" cy="274320"/>
          </a:xfrm>
          <a:prstGeom prst="rect">
            <a:avLst/>
          </a:prstGeom>
          <a:noFill/>
          <a:ln/>
        </p:spPr>
        <p:txBody>
          <a:bodyPr wrap="square" lIns="0" tIns="0" rIns="0" bIns="0" rtlCol="0" anchor="ctr"/>
          <a:lstStyle/>
          <a:p>
            <a:pPr algn="ctr" indent="0" marL="0">
              <a:buNone/>
            </a:pPr>
            <a:r>
              <a:rPr lang="en-US" sz="900" spc="300" kern="0" dirty="0">
                <a:solidFill>
                  <a:srgbClr val="5C5966"/>
                </a:solidFill>
                <a:latin typeface="Bahnschrift" pitchFamily="34" charset="0"/>
                <a:ea typeface="Bahnschrift" pitchFamily="34" charset="-122"/>
                <a:cs typeface="Bahnschrift" pitchFamily="34" charset="-120"/>
              </a:rPr>
              <a:t>FINAL YEAR PROJECT · 2026</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0B0F"/>
        </a:solidFill>
      </p:bgPr>
    </p:bg>
    <p:spTree>
      <p:nvGrpSpPr>
        <p:cNvPr id="1" name=""/>
        <p:cNvGrpSpPr/>
        <p:nvPr/>
      </p:nvGrpSpPr>
      <p:grpSpPr>
        <a:xfrm>
          <a:off x="0" y="0"/>
          <a:ext cx="0" cy="0"/>
          <a:chOff x="0" y="0"/>
          <a:chExt cx="0" cy="0"/>
        </a:xfrm>
      </p:grpSpPr>
      <p:sp>
        <p:nvSpPr>
          <p:cNvPr id="2" name="Shape 0"/>
          <p:cNvSpPr/>
          <p:nvPr/>
        </p:nvSpPr>
        <p:spPr>
          <a:xfrm>
            <a:off x="10716768" y="292608"/>
            <a:ext cx="155448" cy="155448"/>
          </a:xfrm>
          <a:prstGeom prst="rect">
            <a:avLst/>
          </a:prstGeom>
          <a:solidFill>
            <a:srgbClr val="14141A"/>
          </a:solidFill>
          <a:ln/>
        </p:spPr>
      </p:sp>
      <p:sp>
        <p:nvSpPr>
          <p:cNvPr id="3" name="Shape 1"/>
          <p:cNvSpPr/>
          <p:nvPr/>
        </p:nvSpPr>
        <p:spPr>
          <a:xfrm>
            <a:off x="11027664" y="292608"/>
            <a:ext cx="155448" cy="155448"/>
          </a:xfrm>
          <a:prstGeom prst="rect">
            <a:avLst/>
          </a:prstGeom>
          <a:solidFill>
            <a:srgbClr val="14141A"/>
          </a:solidFill>
          <a:ln/>
        </p:spPr>
      </p:sp>
      <p:sp>
        <p:nvSpPr>
          <p:cNvPr id="4" name="Shape 2"/>
          <p:cNvSpPr/>
          <p:nvPr/>
        </p:nvSpPr>
        <p:spPr>
          <a:xfrm>
            <a:off x="10561320" y="448056"/>
            <a:ext cx="155448" cy="155448"/>
          </a:xfrm>
          <a:prstGeom prst="rect">
            <a:avLst/>
          </a:prstGeom>
          <a:solidFill>
            <a:srgbClr val="14141A"/>
          </a:solidFill>
          <a:ln/>
        </p:spPr>
      </p:sp>
      <p:sp>
        <p:nvSpPr>
          <p:cNvPr id="5" name="Shape 3"/>
          <p:cNvSpPr/>
          <p:nvPr/>
        </p:nvSpPr>
        <p:spPr>
          <a:xfrm>
            <a:off x="10872216" y="448056"/>
            <a:ext cx="155448" cy="155448"/>
          </a:xfrm>
          <a:prstGeom prst="rect">
            <a:avLst/>
          </a:prstGeom>
          <a:solidFill>
            <a:srgbClr val="14141A"/>
          </a:solidFill>
          <a:ln/>
        </p:spPr>
      </p:sp>
      <p:sp>
        <p:nvSpPr>
          <p:cNvPr id="6" name="Shape 4"/>
          <p:cNvSpPr/>
          <p:nvPr/>
        </p:nvSpPr>
        <p:spPr>
          <a:xfrm>
            <a:off x="11183112" y="448056"/>
            <a:ext cx="155448" cy="155448"/>
          </a:xfrm>
          <a:prstGeom prst="rect">
            <a:avLst/>
          </a:prstGeom>
          <a:solidFill>
            <a:srgbClr val="14141A"/>
          </a:solidFill>
          <a:ln/>
        </p:spPr>
      </p:sp>
      <p:sp>
        <p:nvSpPr>
          <p:cNvPr id="7" name="Shape 5"/>
          <p:cNvSpPr/>
          <p:nvPr/>
        </p:nvSpPr>
        <p:spPr>
          <a:xfrm>
            <a:off x="10716768" y="603504"/>
            <a:ext cx="155448" cy="155448"/>
          </a:xfrm>
          <a:prstGeom prst="rect">
            <a:avLst/>
          </a:prstGeom>
          <a:solidFill>
            <a:srgbClr val="14141A"/>
          </a:solidFill>
          <a:ln/>
        </p:spPr>
      </p:sp>
      <p:sp>
        <p:nvSpPr>
          <p:cNvPr id="8" name="Shape 6"/>
          <p:cNvSpPr/>
          <p:nvPr/>
        </p:nvSpPr>
        <p:spPr>
          <a:xfrm>
            <a:off x="11027664" y="603504"/>
            <a:ext cx="155448" cy="155448"/>
          </a:xfrm>
          <a:prstGeom prst="rect">
            <a:avLst/>
          </a:prstGeom>
          <a:solidFill>
            <a:srgbClr val="14141A"/>
          </a:solidFill>
          <a:ln/>
        </p:spPr>
      </p:sp>
      <p:sp>
        <p:nvSpPr>
          <p:cNvPr id="9" name="Shape 7"/>
          <p:cNvSpPr/>
          <p:nvPr/>
        </p:nvSpPr>
        <p:spPr>
          <a:xfrm>
            <a:off x="10561320" y="758952"/>
            <a:ext cx="155448" cy="155448"/>
          </a:xfrm>
          <a:prstGeom prst="rect">
            <a:avLst/>
          </a:prstGeom>
          <a:solidFill>
            <a:srgbClr val="14141A"/>
          </a:solidFill>
          <a:ln/>
        </p:spPr>
      </p:sp>
      <p:sp>
        <p:nvSpPr>
          <p:cNvPr id="10" name="Shape 8"/>
          <p:cNvSpPr/>
          <p:nvPr/>
        </p:nvSpPr>
        <p:spPr>
          <a:xfrm>
            <a:off x="10872216" y="758952"/>
            <a:ext cx="155448" cy="155448"/>
          </a:xfrm>
          <a:prstGeom prst="rect">
            <a:avLst/>
          </a:prstGeom>
          <a:solidFill>
            <a:srgbClr val="14141A"/>
          </a:solidFill>
          <a:ln/>
        </p:spPr>
      </p:sp>
      <p:sp>
        <p:nvSpPr>
          <p:cNvPr id="11" name="Shape 9"/>
          <p:cNvSpPr/>
          <p:nvPr/>
        </p:nvSpPr>
        <p:spPr>
          <a:xfrm>
            <a:off x="11183112" y="758952"/>
            <a:ext cx="155448" cy="155448"/>
          </a:xfrm>
          <a:prstGeom prst="rect">
            <a:avLst/>
          </a:prstGeom>
          <a:solidFill>
            <a:srgbClr val="14141A"/>
          </a:solidFill>
          <a:ln/>
        </p:spPr>
      </p:sp>
      <p:sp>
        <p:nvSpPr>
          <p:cNvPr id="12" name="Shape 10"/>
          <p:cNvSpPr/>
          <p:nvPr/>
        </p:nvSpPr>
        <p:spPr>
          <a:xfrm>
            <a:off x="10716768" y="914400"/>
            <a:ext cx="155448" cy="155448"/>
          </a:xfrm>
          <a:prstGeom prst="rect">
            <a:avLst/>
          </a:prstGeom>
          <a:solidFill>
            <a:srgbClr val="14141A"/>
          </a:solidFill>
          <a:ln/>
        </p:spPr>
      </p:sp>
      <p:sp>
        <p:nvSpPr>
          <p:cNvPr id="13" name="Shape 11"/>
          <p:cNvSpPr/>
          <p:nvPr/>
        </p:nvSpPr>
        <p:spPr>
          <a:xfrm>
            <a:off x="11027664" y="914400"/>
            <a:ext cx="155448" cy="155448"/>
          </a:xfrm>
          <a:prstGeom prst="rect">
            <a:avLst/>
          </a:prstGeom>
          <a:solidFill>
            <a:srgbClr val="14141A"/>
          </a:solidFill>
          <a:ln/>
        </p:spPr>
      </p:sp>
      <p:sp>
        <p:nvSpPr>
          <p:cNvPr id="14" name="Shape 12"/>
          <p:cNvSpPr/>
          <p:nvPr/>
        </p:nvSpPr>
        <p:spPr>
          <a:xfrm>
            <a:off x="9859975" y="310896"/>
            <a:ext cx="1783080" cy="292608"/>
          </a:xfrm>
          <a:prstGeom prst="roundRect">
            <a:avLst>
              <a:gd name="adj" fmla="val 50000"/>
            </a:avLst>
          </a:prstGeom>
          <a:solidFill>
            <a:srgbClr val="2A2412"/>
          </a:solidFill>
          <a:ln w="9525">
            <a:solidFill>
              <a:srgbClr val="4A3D18"/>
            </a:solidFill>
            <a:prstDash val="solid"/>
          </a:ln>
        </p:spPr>
      </p:sp>
      <p:sp>
        <p:nvSpPr>
          <p:cNvPr id="15" name="Text 13"/>
          <p:cNvSpPr/>
          <p:nvPr/>
        </p:nvSpPr>
        <p:spPr>
          <a:xfrm>
            <a:off x="9859975" y="301752"/>
            <a:ext cx="1783080" cy="310896"/>
          </a:xfrm>
          <a:prstGeom prst="rect">
            <a:avLst/>
          </a:prstGeom>
          <a:noFill/>
          <a:ln/>
        </p:spPr>
        <p:txBody>
          <a:bodyPr wrap="square" lIns="0" tIns="0" rIns="0" bIns="0" rtlCol="0" anchor="ctr"/>
          <a:lstStyle/>
          <a:p>
            <a:pPr algn="ctr" indent="0" marL="0">
              <a:buNone/>
            </a:pPr>
            <a:r>
              <a:rPr lang="en-US" sz="800" b="1" spc="120" kern="0" dirty="0">
                <a:solidFill>
                  <a:srgbClr val="FFC62A"/>
                </a:solidFill>
                <a:latin typeface="Bahnschrift" pitchFamily="34" charset="0"/>
                <a:ea typeface="Bahnschrift" pitchFamily="34" charset="-122"/>
                <a:cs typeface="Bahnschrift" pitchFamily="34" charset="-120"/>
              </a:rPr>
              <a:t>VERIFIED · FROM SOURCE CODE</a:t>
            </a:r>
            <a:endParaRPr lang="en-US" sz="800" dirty="0"/>
          </a:p>
        </p:txBody>
      </p:sp>
      <p:sp>
        <p:nvSpPr>
          <p:cNvPr id="16" name="Text 14"/>
          <p:cNvSpPr/>
          <p:nvPr/>
        </p:nvSpPr>
        <p:spPr>
          <a:xfrm>
            <a:off x="566928" y="384048"/>
            <a:ext cx="8229600" cy="274320"/>
          </a:xfrm>
          <a:prstGeom prst="rect">
            <a:avLst/>
          </a:prstGeom>
          <a:noFill/>
          <a:ln/>
        </p:spPr>
        <p:txBody>
          <a:bodyPr wrap="square" lIns="0" tIns="0" rIns="0" bIns="0" rtlCol="0" anchor="ctr"/>
          <a:lstStyle/>
          <a:p>
            <a:pPr indent="0" marL="0">
              <a:buNone/>
            </a:pPr>
            <a:r>
              <a:rPr lang="en-US" sz="1100" b="1" spc="300" kern="0" dirty="0">
                <a:solidFill>
                  <a:srgbClr val="FFC62A"/>
                </a:solidFill>
                <a:latin typeface="Bahnschrift" pitchFamily="34" charset="0"/>
                <a:ea typeface="Bahnschrift" pitchFamily="34" charset="-122"/>
                <a:cs typeface="Bahnschrift" pitchFamily="34" charset="-120"/>
              </a:rPr>
              <a:t>ABSTRACT</a:t>
            </a:r>
            <a:endParaRPr lang="en-US" sz="1100" dirty="0"/>
          </a:p>
        </p:txBody>
      </p:sp>
      <p:sp>
        <p:nvSpPr>
          <p:cNvPr id="17" name="Shape 15"/>
          <p:cNvSpPr/>
          <p:nvPr/>
        </p:nvSpPr>
        <p:spPr>
          <a:xfrm>
            <a:off x="566928" y="713232"/>
            <a:ext cx="384048" cy="45720"/>
          </a:xfrm>
          <a:prstGeom prst="rect">
            <a:avLst/>
          </a:prstGeom>
          <a:solidFill>
            <a:srgbClr val="FFC62A"/>
          </a:solidFill>
          <a:ln/>
        </p:spPr>
      </p:sp>
      <p:sp>
        <p:nvSpPr>
          <p:cNvPr id="18" name="Text 16"/>
          <p:cNvSpPr/>
          <p:nvPr/>
        </p:nvSpPr>
        <p:spPr>
          <a:xfrm>
            <a:off x="548640" y="841248"/>
            <a:ext cx="11064240" cy="566928"/>
          </a:xfrm>
          <a:prstGeom prst="rect">
            <a:avLst/>
          </a:prstGeom>
          <a:noFill/>
          <a:ln/>
        </p:spPr>
        <p:txBody>
          <a:bodyPr wrap="square" lIns="0" tIns="0" rIns="0" bIns="0" rtlCol="0" anchor="ctr"/>
          <a:lstStyle/>
          <a:p>
            <a:pPr indent="0" marL="0">
              <a:buNone/>
            </a:pPr>
            <a:r>
              <a:rPr lang="en-US" sz="2700" b="1" dirty="0">
                <a:solidFill>
                  <a:srgbClr val="F5F2EA"/>
                </a:solidFill>
                <a:latin typeface="Bahnschrift" pitchFamily="34" charset="0"/>
                <a:ea typeface="Bahnschrift" pitchFamily="34" charset="-122"/>
                <a:cs typeface="Bahnschrift" pitchFamily="34" charset="-120"/>
              </a:rPr>
              <a:t>Turning raw games into structured learning</a:t>
            </a:r>
            <a:endParaRPr lang="en-US" sz="2700" dirty="0"/>
          </a:p>
        </p:txBody>
      </p:sp>
      <p:sp>
        <p:nvSpPr>
          <p:cNvPr id="19" name="Text 17"/>
          <p:cNvSpPr/>
          <p:nvPr/>
        </p:nvSpPr>
        <p:spPr>
          <a:xfrm>
            <a:off x="566928" y="1389888"/>
            <a:ext cx="11064240" cy="274320"/>
          </a:xfrm>
          <a:prstGeom prst="rect">
            <a:avLst/>
          </a:prstGeom>
          <a:noFill/>
          <a:ln/>
        </p:spPr>
        <p:txBody>
          <a:bodyPr wrap="square" lIns="0" tIns="0" rIns="0" bIns="0" rtlCol="0" anchor="ctr"/>
          <a:lstStyle/>
          <a:p>
            <a:pPr indent="0" marL="0">
              <a:buNone/>
            </a:pPr>
            <a:r>
              <a:rPr lang="en-US" sz="1250" dirty="0">
                <a:solidFill>
                  <a:srgbClr val="9A97A6"/>
                </a:solidFill>
                <a:latin typeface="Segoe UI" pitchFamily="34" charset="0"/>
                <a:ea typeface="Segoe UI" pitchFamily="34" charset="-122"/>
                <a:cs typeface="Segoe UI" pitchFamily="34" charset="-120"/>
              </a:rPr>
              <a:t>Chessfork is an AI-powered chess analysis &amp; coaching platform — fully implemented and verified end-to-end in this repository.</a:t>
            </a:r>
            <a:endParaRPr lang="en-US" sz="1250" dirty="0"/>
          </a:p>
        </p:txBody>
      </p:sp>
      <p:sp>
        <p:nvSpPr>
          <p:cNvPr id="20" name="Text 18"/>
          <p:cNvSpPr/>
          <p:nvPr/>
        </p:nvSpPr>
        <p:spPr>
          <a:xfrm>
            <a:off x="566928" y="6492240"/>
            <a:ext cx="2743200" cy="256032"/>
          </a:xfrm>
          <a:prstGeom prst="rect">
            <a:avLst/>
          </a:prstGeom>
          <a:noFill/>
          <a:ln/>
        </p:spPr>
        <p:txBody>
          <a:bodyPr wrap="square" lIns="0" tIns="0" rIns="0" bIns="0" rtlCol="0" anchor="ctr"/>
          <a:lstStyle/>
          <a:p>
            <a:pPr indent="0" marL="0">
              <a:buNone/>
            </a:pPr>
            <a:r>
              <a:rPr lang="en-US" sz="850" b="1" spc="300" kern="0" dirty="0">
                <a:solidFill>
                  <a:srgbClr val="5C5966"/>
                </a:solidFill>
                <a:latin typeface="Bahnschrift" pitchFamily="34" charset="0"/>
                <a:ea typeface="Bahnschrift" pitchFamily="34" charset="-122"/>
                <a:cs typeface="Bahnschrift" pitchFamily="34" charset="-120"/>
              </a:rPr>
              <a:t>CHESSFORK</a:t>
            </a:r>
            <a:endParaRPr lang="en-US" sz="850" dirty="0"/>
          </a:p>
        </p:txBody>
      </p:sp>
      <p:sp>
        <p:nvSpPr>
          <p:cNvPr id="21" name="Text 19"/>
          <p:cNvSpPr/>
          <p:nvPr/>
        </p:nvSpPr>
        <p:spPr>
          <a:xfrm>
            <a:off x="3840480" y="6492240"/>
            <a:ext cx="4572000" cy="256032"/>
          </a:xfrm>
          <a:prstGeom prst="rect">
            <a:avLst/>
          </a:prstGeom>
          <a:noFill/>
          <a:ln/>
        </p:spPr>
        <p:txBody>
          <a:bodyPr wrap="square" lIns="0" tIns="0" rIns="0" bIns="0" rtlCol="0" anchor="ctr"/>
          <a:lstStyle/>
          <a:p>
            <a:pPr indent="0" marL="0">
              <a:buNone/>
            </a:pPr>
            <a:r>
              <a:rPr lang="en-US" sz="800" spc="150" kern="0" dirty="0">
                <a:solidFill>
                  <a:srgbClr val="5C5966"/>
                </a:solidFill>
                <a:latin typeface="Segoe UI" pitchFamily="34" charset="0"/>
                <a:ea typeface="Segoe UI" pitchFamily="34" charset="-122"/>
                <a:cs typeface="Segoe UI" pitchFamily="34" charset="-120"/>
              </a:rPr>
              <a:t>BCA FINAL YEAR PROJECT · 2026</a:t>
            </a:r>
            <a:endParaRPr lang="en-US" sz="800" dirty="0"/>
          </a:p>
        </p:txBody>
      </p:sp>
      <p:sp>
        <p:nvSpPr>
          <p:cNvPr id="22" name="Text 20"/>
          <p:cNvSpPr/>
          <p:nvPr/>
        </p:nvSpPr>
        <p:spPr>
          <a:xfrm>
            <a:off x="11292840" y="6473952"/>
            <a:ext cx="365760" cy="274320"/>
          </a:xfrm>
          <a:prstGeom prst="rect">
            <a:avLst/>
          </a:prstGeom>
          <a:noFill/>
          <a:ln/>
        </p:spPr>
        <p:txBody>
          <a:bodyPr wrap="square" lIns="0" tIns="0" rIns="0" bIns="0" rtlCol="0" anchor="ctr"/>
          <a:lstStyle/>
          <a:p>
            <a:pPr algn="r" indent="0" marL="0">
              <a:buNone/>
            </a:pPr>
            <a:r>
              <a:rPr lang="en-US" sz="900" b="1" dirty="0">
                <a:solidFill>
                  <a:srgbClr val="5C5966"/>
                </a:solidFill>
                <a:latin typeface="Bahnschrift" pitchFamily="34" charset="0"/>
                <a:ea typeface="Bahnschrift" pitchFamily="34" charset="-122"/>
                <a:cs typeface="Bahnschrift" pitchFamily="34" charset="-120"/>
              </a:rPr>
              <a:t>01</a:t>
            </a:r>
            <a:endParaRPr lang="en-US" sz="900" dirty="0"/>
          </a:p>
        </p:txBody>
      </p:sp>
      <p:sp>
        <p:nvSpPr>
          <p:cNvPr id="23" name="Text 21"/>
          <p:cNvSpPr/>
          <p:nvPr/>
        </p:nvSpPr>
        <p:spPr>
          <a:xfrm>
            <a:off x="566928" y="1719072"/>
            <a:ext cx="2743200" cy="256032"/>
          </a:xfrm>
          <a:prstGeom prst="rect">
            <a:avLst/>
          </a:prstGeom>
          <a:noFill/>
          <a:ln/>
        </p:spPr>
        <p:txBody>
          <a:bodyPr wrap="square" lIns="0" tIns="0" rIns="0" bIns="0" rtlCol="0" anchor="ctr"/>
          <a:lstStyle/>
          <a:p>
            <a:pPr indent="0" marL="0">
              <a:buNone/>
            </a:pPr>
            <a:r>
              <a:rPr lang="en-US" sz="1000" b="1" spc="250" kern="0" dirty="0">
                <a:solidFill>
                  <a:srgbClr val="FFC62A"/>
                </a:solidFill>
                <a:latin typeface="Bahnschrift" pitchFamily="34" charset="0"/>
                <a:ea typeface="Bahnschrift" pitchFamily="34" charset="-122"/>
                <a:cs typeface="Bahnschrift" pitchFamily="34" charset="-120"/>
              </a:rPr>
              <a:t>PURPOSE</a:t>
            </a:r>
            <a:endParaRPr lang="en-US" sz="1000" dirty="0"/>
          </a:p>
        </p:txBody>
      </p:sp>
      <p:sp>
        <p:nvSpPr>
          <p:cNvPr id="24" name="Text 22"/>
          <p:cNvSpPr/>
          <p:nvPr/>
        </p:nvSpPr>
        <p:spPr>
          <a:xfrm>
            <a:off x="566928" y="1993392"/>
            <a:ext cx="5577840" cy="960120"/>
          </a:xfrm>
          <a:prstGeom prst="rect">
            <a:avLst/>
          </a:prstGeom>
          <a:noFill/>
          <a:ln/>
        </p:spPr>
        <p:txBody>
          <a:bodyPr wrap="square" lIns="0" tIns="0" rIns="0" bIns="0" rtlCol="0" anchor="t"/>
          <a:lstStyle/>
          <a:p>
            <a:pPr indent="0" marL="0">
              <a:lnSpc>
                <a:spcPct val="112000"/>
              </a:lnSpc>
              <a:buNone/>
            </a:pPr>
            <a:r>
              <a:rPr lang="en-US" sz="1350" dirty="0">
                <a:solidFill>
                  <a:srgbClr val="F5F2EA"/>
                </a:solidFill>
                <a:latin typeface="Segoe UI" pitchFamily="34" charset="0"/>
                <a:ea typeface="Segoe UI" pitchFamily="34" charset="-122"/>
                <a:cs typeface="Segoe UI" pitchFamily="34" charset="-120"/>
              </a:rPr>
              <a:t>Chessfork turns raw game data — pasted PGN files, Chess.com and Lichess games — into a complete learning system: engine-grade analysis, AI explanations, coaching and training.</a:t>
            </a:r>
            <a:endParaRPr lang="en-US" sz="1350" dirty="0"/>
          </a:p>
        </p:txBody>
      </p:sp>
      <p:sp>
        <p:nvSpPr>
          <p:cNvPr id="25" name="Text 23"/>
          <p:cNvSpPr/>
          <p:nvPr/>
        </p:nvSpPr>
        <p:spPr>
          <a:xfrm>
            <a:off x="566928" y="3246120"/>
            <a:ext cx="2743200" cy="256032"/>
          </a:xfrm>
          <a:prstGeom prst="rect">
            <a:avLst/>
          </a:prstGeom>
          <a:noFill/>
          <a:ln/>
        </p:spPr>
        <p:txBody>
          <a:bodyPr wrap="square" lIns="0" tIns="0" rIns="0" bIns="0" rtlCol="0" anchor="ctr"/>
          <a:lstStyle/>
          <a:p>
            <a:pPr indent="0" marL="0">
              <a:buNone/>
            </a:pPr>
            <a:r>
              <a:rPr lang="en-US" sz="1000" b="1" spc="250" kern="0" dirty="0">
                <a:solidFill>
                  <a:srgbClr val="FFC62A"/>
                </a:solidFill>
                <a:latin typeface="Bahnschrift" pitchFamily="34" charset="0"/>
                <a:ea typeface="Bahnschrift" pitchFamily="34" charset="-122"/>
                <a:cs typeface="Bahnschrift" pitchFamily="34" charset="-120"/>
              </a:rPr>
              <a:t>WHAT IT SOLVES</a:t>
            </a:r>
            <a:endParaRPr lang="en-US" sz="1000" dirty="0"/>
          </a:p>
        </p:txBody>
      </p:sp>
      <p:sp>
        <p:nvSpPr>
          <p:cNvPr id="26" name="Text 24"/>
          <p:cNvSpPr/>
          <p:nvPr/>
        </p:nvSpPr>
        <p:spPr>
          <a:xfrm>
            <a:off x="612648" y="3520440"/>
            <a:ext cx="5532120" cy="1737360"/>
          </a:xfrm>
          <a:prstGeom prst="rect">
            <a:avLst/>
          </a:prstGeom>
          <a:noFill/>
          <a:ln/>
        </p:spPr>
        <p:txBody>
          <a:bodyPr wrap="square" lIns="0" tIns="0" rIns="0" bIns="0" rtlCol="0" anchor="ctr"/>
          <a:lstStyle/>
          <a:p>
            <a:pPr marL="342900" indent="-342900">
              <a:lnSpc>
                <a:spcPct val="112000"/>
              </a:lnSpc>
              <a:spcAft>
                <a:spcPts val="800"/>
              </a:spcAft>
              <a:buSzPct val="100000"/>
              <a:buChar char="•"/>
            </a:pPr>
            <a:r>
              <a:rPr lang="en-US" sz="1250" dirty="0">
                <a:solidFill>
                  <a:srgbClr val="F5F2EA"/>
                </a:solidFill>
                <a:latin typeface="Segoe UI" pitchFamily="34" charset="0"/>
                <a:ea typeface="Segoe UI" pitchFamily="34" charset="-122"/>
                <a:cs typeface="Segoe UI" pitchFamily="34" charset="-120"/>
              </a:rPr>
              <a:t>Engine analysis without educational context → AI explains every move</a:t>
            </a:r>
            <a:endParaRPr lang="en-US" sz="1250" dirty="0"/>
          </a:p>
          <a:p>
            <a:pPr marL="342900" indent="-342900">
              <a:lnSpc>
                <a:spcPct val="112000"/>
              </a:lnSpc>
              <a:spcAft>
                <a:spcPts val="800"/>
              </a:spcAft>
              <a:buSzPct val="100000"/>
              <a:buChar char="•"/>
            </a:pPr>
            <a:r>
              <a:rPr lang="en-US" sz="1250" dirty="0">
                <a:solidFill>
                  <a:srgbClr val="F5F2EA"/>
                </a:solidFill>
                <a:latin typeface="Segoe UI" pitchFamily="34" charset="0"/>
                <a:ea typeface="Segoe UI" pitchFamily="34" charset="-122"/>
                <a:cs typeface="Segoe UI" pitchFamily="34" charset="-120"/>
              </a:rPr>
              <a:t>No personalized feedback → AI coach maps recurring weaknesses</a:t>
            </a:r>
            <a:endParaRPr lang="en-US" sz="1250" dirty="0"/>
          </a:p>
          <a:p>
            <a:pPr marL="342900" indent="-342900">
              <a:lnSpc>
                <a:spcPct val="112000"/>
              </a:lnSpc>
              <a:spcAft>
                <a:spcPts val="800"/>
              </a:spcAft>
              <a:buSzPct val="100000"/>
              <a:buChar char="•"/>
            </a:pPr>
            <a:r>
              <a:rPr lang="en-US" sz="1250" dirty="0">
                <a:solidFill>
                  <a:srgbClr val="F5F2EA"/>
                </a:solidFill>
                <a:latin typeface="Segoe UI" pitchFamily="34" charset="0"/>
                <a:ea typeface="Segoe UI" pitchFamily="34" charset="-122"/>
                <a:cs typeface="Segoe UI" pitchFamily="34" charset="-120"/>
              </a:rPr>
              <a:t>Expensive premium features → free, unlimited browser analysis</a:t>
            </a:r>
            <a:endParaRPr lang="en-US" sz="1250" dirty="0"/>
          </a:p>
          <a:p>
            <a:pPr marL="342900" indent="-342900">
              <a:lnSpc>
                <a:spcPct val="112000"/>
              </a:lnSpc>
              <a:spcAft>
                <a:spcPts val="800"/>
              </a:spcAft>
              <a:buSzPct val="100000"/>
              <a:buChar char="•"/>
            </a:pPr>
            <a:r>
              <a:rPr lang="en-US" sz="1250" dirty="0">
                <a:solidFill>
                  <a:srgbClr val="F5F2EA"/>
                </a:solidFill>
                <a:latin typeface="Segoe UI" pitchFamily="34" charset="0"/>
                <a:ea typeface="Segoe UI" pitchFamily="34" charset="-122"/>
                <a:cs typeface="Segoe UI" pitchFamily="34" charset="-120"/>
              </a:rPr>
              <a:t>No learning path → daily puzzles, streaks and weekly focus plans</a:t>
            </a:r>
            <a:endParaRPr lang="en-US" sz="1250" dirty="0"/>
          </a:p>
        </p:txBody>
      </p:sp>
      <p:sp>
        <p:nvSpPr>
          <p:cNvPr id="27" name="Shape 25"/>
          <p:cNvSpPr/>
          <p:nvPr/>
        </p:nvSpPr>
        <p:spPr>
          <a:xfrm>
            <a:off x="566928" y="5486400"/>
            <a:ext cx="5577840" cy="685800"/>
          </a:xfrm>
          <a:prstGeom prst="roundRect">
            <a:avLst>
              <a:gd name="adj" fmla="val 12000"/>
            </a:avLst>
          </a:prstGeom>
          <a:solidFill>
            <a:srgbClr val="12141A"/>
          </a:solidFill>
          <a:ln w="12700">
            <a:solidFill>
              <a:srgbClr val="2A2A35"/>
            </a:solidFill>
            <a:prstDash val="solid"/>
          </a:ln>
        </p:spPr>
      </p:sp>
      <p:sp>
        <p:nvSpPr>
          <p:cNvPr id="28" name="Text 26"/>
          <p:cNvSpPr/>
          <p:nvPr/>
        </p:nvSpPr>
        <p:spPr>
          <a:xfrm>
            <a:off x="795528" y="5486400"/>
            <a:ext cx="5120640" cy="685800"/>
          </a:xfrm>
          <a:prstGeom prst="rect">
            <a:avLst/>
          </a:prstGeom>
          <a:noFill/>
          <a:ln/>
        </p:spPr>
        <p:txBody>
          <a:bodyPr wrap="square" lIns="0" tIns="0" rIns="0" bIns="0" rtlCol="0" anchor="ctr"/>
          <a:lstStyle/>
          <a:p>
            <a:pPr indent="0" marL="0">
              <a:buNone/>
            </a:pPr>
            <a:r>
              <a:rPr lang="en-US" sz="1100" b="1" spc="200" kern="0" dirty="0">
                <a:solidFill>
                  <a:srgbClr val="FFC62A"/>
                </a:solidFill>
                <a:latin typeface="Bahnschrift" pitchFamily="34" charset="0"/>
                <a:ea typeface="Bahnschrift" pitchFamily="34" charset="-122"/>
                <a:cs typeface="Bahnschrift" pitchFamily="34" charset="-120"/>
              </a:rPr>
              <a:t>GOAL  </a:t>
            </a:r>
            <a:pPr indent="0" marL="0">
              <a:buNone/>
            </a:pPr>
            <a:r>
              <a:rPr lang="en-US" sz="1150" dirty="0">
                <a:solidFill>
                  <a:srgbClr val="F5F2EA"/>
                </a:solidFill>
              </a:rPr>
              <a:t>A free, complete future learning platform — analysis, coaching and training in one place.</a:t>
            </a:r>
            <a:endParaRPr lang="en-US" sz="1100" dirty="0"/>
          </a:p>
        </p:txBody>
      </p:sp>
      <p:sp>
        <p:nvSpPr>
          <p:cNvPr id="29" name="Shape 27"/>
          <p:cNvSpPr/>
          <p:nvPr/>
        </p:nvSpPr>
        <p:spPr>
          <a:xfrm>
            <a:off x="6400800" y="1828800"/>
            <a:ext cx="5212080" cy="1005840"/>
          </a:xfrm>
          <a:prstGeom prst="roundRect">
            <a:avLst>
              <a:gd name="adj" fmla="val 7273"/>
            </a:avLst>
          </a:prstGeom>
          <a:solidFill>
            <a:srgbClr val="15151B"/>
          </a:solidFill>
          <a:ln w="12700">
            <a:solidFill>
              <a:srgbClr val="26262F"/>
            </a:solidFill>
            <a:prstDash val="solid"/>
          </a:ln>
        </p:spPr>
      </p:sp>
      <p:sp>
        <p:nvSpPr>
          <p:cNvPr id="30" name="Shape 28"/>
          <p:cNvSpPr/>
          <p:nvPr/>
        </p:nvSpPr>
        <p:spPr>
          <a:xfrm>
            <a:off x="6583680" y="2057400"/>
            <a:ext cx="548640" cy="548640"/>
          </a:xfrm>
          <a:prstGeom prst="ellipse">
            <a:avLst/>
          </a:prstGeom>
          <a:solidFill>
            <a:srgbClr val="2A2412"/>
          </a:solidFill>
          <a:ln w="12700">
            <a:solidFill>
              <a:srgbClr val="4A3D18"/>
            </a:solidFill>
            <a:prstDash val="solid"/>
          </a:ln>
        </p:spPr>
      </p:sp>
      <p:sp>
        <p:nvSpPr>
          <p:cNvPr id="31" name="Text 29"/>
          <p:cNvSpPr/>
          <p:nvPr/>
        </p:nvSpPr>
        <p:spPr>
          <a:xfrm>
            <a:off x="6656832" y="2121408"/>
            <a:ext cx="402336" cy="402336"/>
          </a:xfrm>
          <a:prstGeom prst="rect">
            <a:avLst/>
          </a:prstGeom>
          <a:noFill/>
          <a:ln/>
        </p:spPr>
        <p:txBody>
          <a:bodyPr wrap="square" lIns="0" tIns="0" rIns="0" bIns="0" rtlCol="0" anchor="ctr"/>
          <a:lstStyle/>
          <a:p>
            <a:pPr algn="ctr" indent="0" marL="0">
              <a:buNone/>
            </a:pPr>
            <a:r>
              <a:rPr lang="en-US" sz="2851" dirty="0">
                <a:solidFill>
                  <a:srgbClr val="FFC62A"/>
                </a:solidFill>
                <a:latin typeface="Segoe UI Symbol" pitchFamily="34" charset="0"/>
                <a:ea typeface="Segoe UI Symbol" pitchFamily="34" charset="-122"/>
                <a:cs typeface="Segoe UI Symbol" pitchFamily="34" charset="-120"/>
              </a:rPr>
              <a:t>♞</a:t>
            </a:r>
            <a:endParaRPr lang="en-US" sz="2851" dirty="0"/>
          </a:p>
        </p:txBody>
      </p:sp>
      <p:sp>
        <p:nvSpPr>
          <p:cNvPr id="32" name="Text 30"/>
          <p:cNvSpPr/>
          <p:nvPr/>
        </p:nvSpPr>
        <p:spPr>
          <a:xfrm>
            <a:off x="7315200" y="1956816"/>
            <a:ext cx="4114800" cy="292608"/>
          </a:xfrm>
          <a:prstGeom prst="rect">
            <a:avLst/>
          </a:prstGeom>
          <a:noFill/>
          <a:ln/>
        </p:spPr>
        <p:txBody>
          <a:bodyPr wrap="square" lIns="0" tIns="0" rIns="0" bIns="0" rtlCol="0" anchor="ctr"/>
          <a:lstStyle/>
          <a:p>
            <a:pPr indent="0" marL="0">
              <a:buNone/>
            </a:pPr>
            <a:r>
              <a:rPr lang="en-US" sz="1300" b="1" dirty="0">
                <a:solidFill>
                  <a:srgbClr val="F5F2EA"/>
                </a:solidFill>
                <a:latin typeface="Bahnschrift" pitchFamily="34" charset="0"/>
                <a:ea typeface="Bahnschrift" pitchFamily="34" charset="-122"/>
                <a:cs typeface="Bahnschrift" pitchFamily="34" charset="-120"/>
              </a:rPr>
              <a:t>AI-Assisted Analysis</a:t>
            </a:r>
            <a:endParaRPr lang="en-US" sz="1300" dirty="0"/>
          </a:p>
        </p:txBody>
      </p:sp>
      <p:sp>
        <p:nvSpPr>
          <p:cNvPr id="33" name="Text 31"/>
          <p:cNvSpPr/>
          <p:nvPr/>
        </p:nvSpPr>
        <p:spPr>
          <a:xfrm>
            <a:off x="7315200" y="2267712"/>
            <a:ext cx="4069080" cy="502920"/>
          </a:xfrm>
          <a:prstGeom prst="rect">
            <a:avLst/>
          </a:prstGeom>
          <a:noFill/>
          <a:ln/>
        </p:spPr>
        <p:txBody>
          <a:bodyPr wrap="square" lIns="0" tIns="0" rIns="0" bIns="0" rtlCol="0" anchor="t"/>
          <a:lstStyle/>
          <a:p>
            <a:pPr indent="0" marL="0">
              <a:lnSpc>
                <a:spcPct val="105000"/>
              </a:lnSpc>
              <a:buNone/>
            </a:pPr>
            <a:r>
              <a:rPr lang="en-US" sz="1000" dirty="0">
                <a:solidFill>
                  <a:srgbClr val="9A97A6"/>
                </a:solidFill>
                <a:latin typeface="Segoe UI" pitchFamily="34" charset="0"/>
                <a:ea typeface="Segoe UI" pitchFamily="34" charset="-122"/>
                <a:cs typeface="Segoe UI" pitchFamily="34" charset="-120"/>
              </a:rPr>
              <a:t>Stockfish 18 grades every move on a 7-level scale; AI explains each verdict.</a:t>
            </a:r>
            <a:endParaRPr lang="en-US" sz="1000" dirty="0"/>
          </a:p>
        </p:txBody>
      </p:sp>
      <p:sp>
        <p:nvSpPr>
          <p:cNvPr id="34" name="Shape 32"/>
          <p:cNvSpPr/>
          <p:nvPr/>
        </p:nvSpPr>
        <p:spPr>
          <a:xfrm>
            <a:off x="6400800" y="2962656"/>
            <a:ext cx="5212080" cy="1005840"/>
          </a:xfrm>
          <a:prstGeom prst="roundRect">
            <a:avLst>
              <a:gd name="adj" fmla="val 7273"/>
            </a:avLst>
          </a:prstGeom>
          <a:solidFill>
            <a:srgbClr val="15151B"/>
          </a:solidFill>
          <a:ln w="12700">
            <a:solidFill>
              <a:srgbClr val="26262F"/>
            </a:solidFill>
            <a:prstDash val="solid"/>
          </a:ln>
        </p:spPr>
      </p:sp>
      <p:sp>
        <p:nvSpPr>
          <p:cNvPr id="35" name="Shape 33"/>
          <p:cNvSpPr/>
          <p:nvPr/>
        </p:nvSpPr>
        <p:spPr>
          <a:xfrm>
            <a:off x="6583680" y="3191256"/>
            <a:ext cx="548640" cy="548640"/>
          </a:xfrm>
          <a:prstGeom prst="ellipse">
            <a:avLst/>
          </a:prstGeom>
          <a:solidFill>
            <a:srgbClr val="2A2412"/>
          </a:solidFill>
          <a:ln w="12700">
            <a:solidFill>
              <a:srgbClr val="4A3D18"/>
            </a:solidFill>
            <a:prstDash val="solid"/>
          </a:ln>
        </p:spPr>
      </p:sp>
      <p:sp>
        <p:nvSpPr>
          <p:cNvPr id="36" name="Text 34"/>
          <p:cNvSpPr/>
          <p:nvPr/>
        </p:nvSpPr>
        <p:spPr>
          <a:xfrm>
            <a:off x="6656832" y="3255264"/>
            <a:ext cx="402336" cy="402336"/>
          </a:xfrm>
          <a:prstGeom prst="rect">
            <a:avLst/>
          </a:prstGeom>
          <a:noFill/>
          <a:ln/>
        </p:spPr>
        <p:txBody>
          <a:bodyPr wrap="square" lIns="0" tIns="0" rIns="0" bIns="0" rtlCol="0" anchor="ctr"/>
          <a:lstStyle/>
          <a:p>
            <a:pPr algn="ctr" indent="0" marL="0">
              <a:buNone/>
            </a:pPr>
            <a:r>
              <a:rPr lang="en-US" sz="2851" dirty="0">
                <a:solidFill>
                  <a:srgbClr val="FFC62A"/>
                </a:solidFill>
                <a:latin typeface="Segoe UI Symbol" pitchFamily="34" charset="0"/>
                <a:ea typeface="Segoe UI Symbol" pitchFamily="34" charset="-122"/>
                <a:cs typeface="Segoe UI Symbol" pitchFamily="34" charset="-120"/>
              </a:rPr>
              <a:t>♛</a:t>
            </a:r>
            <a:endParaRPr lang="en-US" sz="2851" dirty="0"/>
          </a:p>
        </p:txBody>
      </p:sp>
      <p:sp>
        <p:nvSpPr>
          <p:cNvPr id="37" name="Text 35"/>
          <p:cNvSpPr/>
          <p:nvPr/>
        </p:nvSpPr>
        <p:spPr>
          <a:xfrm>
            <a:off x="7315200" y="3090672"/>
            <a:ext cx="4114800" cy="292608"/>
          </a:xfrm>
          <a:prstGeom prst="rect">
            <a:avLst/>
          </a:prstGeom>
          <a:noFill/>
          <a:ln/>
        </p:spPr>
        <p:txBody>
          <a:bodyPr wrap="square" lIns="0" tIns="0" rIns="0" bIns="0" rtlCol="0" anchor="ctr"/>
          <a:lstStyle/>
          <a:p>
            <a:pPr indent="0" marL="0">
              <a:buNone/>
            </a:pPr>
            <a:r>
              <a:rPr lang="en-US" sz="1300" b="1" dirty="0">
                <a:solidFill>
                  <a:srgbClr val="F5F2EA"/>
                </a:solidFill>
                <a:latin typeface="Bahnschrift" pitchFamily="34" charset="0"/>
                <a:ea typeface="Bahnschrift" pitchFamily="34" charset="-122"/>
                <a:cs typeface="Bahnschrift" pitchFamily="34" charset="-120"/>
              </a:rPr>
              <a:t>Personalized Coaching</a:t>
            </a:r>
            <a:endParaRPr lang="en-US" sz="1300" dirty="0"/>
          </a:p>
        </p:txBody>
      </p:sp>
      <p:sp>
        <p:nvSpPr>
          <p:cNvPr id="38" name="Text 36"/>
          <p:cNvSpPr/>
          <p:nvPr/>
        </p:nvSpPr>
        <p:spPr>
          <a:xfrm>
            <a:off x="7315200" y="3401568"/>
            <a:ext cx="4069080" cy="502920"/>
          </a:xfrm>
          <a:prstGeom prst="rect">
            <a:avLst/>
          </a:prstGeom>
          <a:noFill/>
          <a:ln/>
        </p:spPr>
        <p:txBody>
          <a:bodyPr wrap="square" lIns="0" tIns="0" rIns="0" bIns="0" rtlCol="0" anchor="t"/>
          <a:lstStyle/>
          <a:p>
            <a:pPr indent="0" marL="0">
              <a:lnSpc>
                <a:spcPct val="105000"/>
              </a:lnSpc>
              <a:buNone/>
            </a:pPr>
            <a:r>
              <a:rPr lang="en-US" sz="1000" dirty="0">
                <a:solidFill>
                  <a:srgbClr val="9A97A6"/>
                </a:solidFill>
                <a:latin typeface="Segoe UI" pitchFamily="34" charset="0"/>
                <a:ea typeface="Segoe UI" pitchFamily="34" charset="-122"/>
                <a:cs typeface="Segoe UI" pitchFamily="34" charset="-120"/>
              </a:rPr>
              <a:t>Weakness patterns across game history with evidence, drills and weekly focus.</a:t>
            </a:r>
            <a:endParaRPr lang="en-US" sz="1000" dirty="0"/>
          </a:p>
        </p:txBody>
      </p:sp>
      <p:sp>
        <p:nvSpPr>
          <p:cNvPr id="39" name="Shape 37"/>
          <p:cNvSpPr/>
          <p:nvPr/>
        </p:nvSpPr>
        <p:spPr>
          <a:xfrm>
            <a:off x="6400800" y="4096512"/>
            <a:ext cx="5212080" cy="1005840"/>
          </a:xfrm>
          <a:prstGeom prst="roundRect">
            <a:avLst>
              <a:gd name="adj" fmla="val 7273"/>
            </a:avLst>
          </a:prstGeom>
          <a:solidFill>
            <a:srgbClr val="15151B"/>
          </a:solidFill>
          <a:ln w="12700">
            <a:solidFill>
              <a:srgbClr val="26262F"/>
            </a:solidFill>
            <a:prstDash val="solid"/>
          </a:ln>
        </p:spPr>
      </p:sp>
      <p:sp>
        <p:nvSpPr>
          <p:cNvPr id="40" name="Shape 38"/>
          <p:cNvSpPr/>
          <p:nvPr/>
        </p:nvSpPr>
        <p:spPr>
          <a:xfrm>
            <a:off x="6583680" y="4325112"/>
            <a:ext cx="548640" cy="548640"/>
          </a:xfrm>
          <a:prstGeom prst="ellipse">
            <a:avLst/>
          </a:prstGeom>
          <a:solidFill>
            <a:srgbClr val="2A2412"/>
          </a:solidFill>
          <a:ln w="12700">
            <a:solidFill>
              <a:srgbClr val="4A3D18"/>
            </a:solidFill>
            <a:prstDash val="solid"/>
          </a:ln>
        </p:spPr>
      </p:sp>
      <p:sp>
        <p:nvSpPr>
          <p:cNvPr id="41" name="Text 39"/>
          <p:cNvSpPr/>
          <p:nvPr/>
        </p:nvSpPr>
        <p:spPr>
          <a:xfrm>
            <a:off x="6656832" y="4389120"/>
            <a:ext cx="402336" cy="402336"/>
          </a:xfrm>
          <a:prstGeom prst="rect">
            <a:avLst/>
          </a:prstGeom>
          <a:noFill/>
          <a:ln/>
        </p:spPr>
        <p:txBody>
          <a:bodyPr wrap="square" lIns="0" tIns="0" rIns="0" bIns="0" rtlCol="0" anchor="ctr"/>
          <a:lstStyle/>
          <a:p>
            <a:pPr algn="ctr" indent="0" marL="0">
              <a:buNone/>
            </a:pPr>
            <a:r>
              <a:rPr lang="en-US" sz="2851" dirty="0">
                <a:solidFill>
                  <a:srgbClr val="FFC62A"/>
                </a:solidFill>
                <a:latin typeface="Segoe UI Symbol" pitchFamily="34" charset="0"/>
                <a:ea typeface="Segoe UI Symbol" pitchFamily="34" charset="-122"/>
                <a:cs typeface="Segoe UI Symbol" pitchFamily="34" charset="-120"/>
              </a:rPr>
              <a:t>♜</a:t>
            </a:r>
            <a:endParaRPr lang="en-US" sz="2851" dirty="0"/>
          </a:p>
        </p:txBody>
      </p:sp>
      <p:sp>
        <p:nvSpPr>
          <p:cNvPr id="42" name="Text 40"/>
          <p:cNvSpPr/>
          <p:nvPr/>
        </p:nvSpPr>
        <p:spPr>
          <a:xfrm>
            <a:off x="7315200" y="4224528"/>
            <a:ext cx="4114800" cy="292608"/>
          </a:xfrm>
          <a:prstGeom prst="rect">
            <a:avLst/>
          </a:prstGeom>
          <a:noFill/>
          <a:ln/>
        </p:spPr>
        <p:txBody>
          <a:bodyPr wrap="square" lIns="0" tIns="0" rIns="0" bIns="0" rtlCol="0" anchor="ctr"/>
          <a:lstStyle/>
          <a:p>
            <a:pPr indent="0" marL="0">
              <a:buNone/>
            </a:pPr>
            <a:r>
              <a:rPr lang="en-US" sz="1300" b="1" dirty="0">
                <a:solidFill>
                  <a:srgbClr val="F5F2EA"/>
                </a:solidFill>
                <a:latin typeface="Bahnschrift" pitchFamily="34" charset="0"/>
                <a:ea typeface="Bahnschrift" pitchFamily="34" charset="-122"/>
                <a:cs typeface="Bahnschrift" pitchFamily="34" charset="-120"/>
              </a:rPr>
              <a:t>Opening Explorer</a:t>
            </a:r>
            <a:endParaRPr lang="en-US" sz="1300" dirty="0"/>
          </a:p>
        </p:txBody>
      </p:sp>
      <p:sp>
        <p:nvSpPr>
          <p:cNvPr id="43" name="Text 41"/>
          <p:cNvSpPr/>
          <p:nvPr/>
        </p:nvSpPr>
        <p:spPr>
          <a:xfrm>
            <a:off x="7315200" y="4535424"/>
            <a:ext cx="4069080" cy="502920"/>
          </a:xfrm>
          <a:prstGeom prst="rect">
            <a:avLst/>
          </a:prstGeom>
          <a:noFill/>
          <a:ln/>
        </p:spPr>
        <p:txBody>
          <a:bodyPr wrap="square" lIns="0" tIns="0" rIns="0" bIns="0" rtlCol="0" anchor="t"/>
          <a:lstStyle/>
          <a:p>
            <a:pPr indent="0" marL="0">
              <a:lnSpc>
                <a:spcPct val="105000"/>
              </a:lnSpc>
              <a:buNone/>
            </a:pPr>
            <a:r>
              <a:rPr lang="en-US" sz="1000" dirty="0">
                <a:solidFill>
                  <a:srgbClr val="9A97A6"/>
                </a:solidFill>
                <a:latin typeface="Segoe UI" pitchFamily="34" charset="0"/>
                <a:ea typeface="Segoe UI" pitchFamily="34" charset="-122"/>
                <a:cs typeface="Segoe UI" pitchFamily="34" charset="-120"/>
              </a:rPr>
              <a:t>ECO database, opening detection, master-book moves and repertoire notes.</a:t>
            </a:r>
            <a:endParaRPr lang="en-US" sz="1000" dirty="0"/>
          </a:p>
        </p:txBody>
      </p:sp>
      <p:sp>
        <p:nvSpPr>
          <p:cNvPr id="44" name="Shape 42"/>
          <p:cNvSpPr/>
          <p:nvPr/>
        </p:nvSpPr>
        <p:spPr>
          <a:xfrm>
            <a:off x="6400800" y="5230368"/>
            <a:ext cx="5212080" cy="1005840"/>
          </a:xfrm>
          <a:prstGeom prst="roundRect">
            <a:avLst>
              <a:gd name="adj" fmla="val 7273"/>
            </a:avLst>
          </a:prstGeom>
          <a:solidFill>
            <a:srgbClr val="15151B"/>
          </a:solidFill>
          <a:ln w="12700">
            <a:solidFill>
              <a:srgbClr val="26262F"/>
            </a:solidFill>
            <a:prstDash val="solid"/>
          </a:ln>
        </p:spPr>
      </p:sp>
      <p:sp>
        <p:nvSpPr>
          <p:cNvPr id="45" name="Shape 43"/>
          <p:cNvSpPr/>
          <p:nvPr/>
        </p:nvSpPr>
        <p:spPr>
          <a:xfrm>
            <a:off x="6583680" y="5458968"/>
            <a:ext cx="548640" cy="548640"/>
          </a:xfrm>
          <a:prstGeom prst="ellipse">
            <a:avLst/>
          </a:prstGeom>
          <a:solidFill>
            <a:srgbClr val="2A2412"/>
          </a:solidFill>
          <a:ln w="12700">
            <a:solidFill>
              <a:srgbClr val="4A3D18"/>
            </a:solidFill>
            <a:prstDash val="solid"/>
          </a:ln>
        </p:spPr>
      </p:sp>
      <p:sp>
        <p:nvSpPr>
          <p:cNvPr id="46" name="Text 44"/>
          <p:cNvSpPr/>
          <p:nvPr/>
        </p:nvSpPr>
        <p:spPr>
          <a:xfrm>
            <a:off x="6656832" y="5522976"/>
            <a:ext cx="402336" cy="402336"/>
          </a:xfrm>
          <a:prstGeom prst="rect">
            <a:avLst/>
          </a:prstGeom>
          <a:noFill/>
          <a:ln/>
        </p:spPr>
        <p:txBody>
          <a:bodyPr wrap="square" lIns="0" tIns="0" rIns="0" bIns="0" rtlCol="0" anchor="ctr"/>
          <a:lstStyle/>
          <a:p>
            <a:pPr algn="ctr" indent="0" marL="0">
              <a:buNone/>
            </a:pPr>
            <a:r>
              <a:rPr lang="en-US" sz="2851" dirty="0">
                <a:solidFill>
                  <a:srgbClr val="FFC62A"/>
                </a:solidFill>
                <a:latin typeface="Segoe UI Symbol" pitchFamily="34" charset="0"/>
                <a:ea typeface="Segoe UI Symbol" pitchFamily="34" charset="-122"/>
                <a:cs typeface="Segoe UI Symbol" pitchFamily="34" charset="-120"/>
              </a:rPr>
              <a:t>♟</a:t>
            </a:r>
            <a:endParaRPr lang="en-US" sz="2851" dirty="0"/>
          </a:p>
        </p:txBody>
      </p:sp>
      <p:sp>
        <p:nvSpPr>
          <p:cNvPr id="47" name="Text 45"/>
          <p:cNvSpPr/>
          <p:nvPr/>
        </p:nvSpPr>
        <p:spPr>
          <a:xfrm>
            <a:off x="7315200" y="5358384"/>
            <a:ext cx="4114800" cy="292608"/>
          </a:xfrm>
          <a:prstGeom prst="rect">
            <a:avLst/>
          </a:prstGeom>
          <a:noFill/>
          <a:ln/>
        </p:spPr>
        <p:txBody>
          <a:bodyPr wrap="square" lIns="0" tIns="0" rIns="0" bIns="0" rtlCol="0" anchor="ctr"/>
          <a:lstStyle/>
          <a:p>
            <a:pPr indent="0" marL="0">
              <a:buNone/>
            </a:pPr>
            <a:r>
              <a:rPr lang="en-US" sz="1300" b="1" dirty="0">
                <a:solidFill>
                  <a:srgbClr val="F5F2EA"/>
                </a:solidFill>
                <a:latin typeface="Bahnschrift" pitchFamily="34" charset="0"/>
                <a:ea typeface="Bahnschrift" pitchFamily="34" charset="-122"/>
                <a:cs typeface="Bahnschrift" pitchFamily="34" charset="-120"/>
              </a:rPr>
              <a:t>Game Review &amp; Insights</a:t>
            </a:r>
            <a:endParaRPr lang="en-US" sz="1300" dirty="0"/>
          </a:p>
        </p:txBody>
      </p:sp>
      <p:sp>
        <p:nvSpPr>
          <p:cNvPr id="48" name="Text 46"/>
          <p:cNvSpPr/>
          <p:nvPr/>
        </p:nvSpPr>
        <p:spPr>
          <a:xfrm>
            <a:off x="7315200" y="5669280"/>
            <a:ext cx="4069080" cy="502920"/>
          </a:xfrm>
          <a:prstGeom prst="rect">
            <a:avLst/>
          </a:prstGeom>
          <a:noFill/>
          <a:ln/>
        </p:spPr>
        <p:txBody>
          <a:bodyPr wrap="square" lIns="0" tIns="0" rIns="0" bIns="0" rtlCol="0" anchor="t"/>
          <a:lstStyle/>
          <a:p>
            <a:pPr indent="0" marL="0">
              <a:lnSpc>
                <a:spcPct val="105000"/>
              </a:lnSpc>
              <a:buNone/>
            </a:pPr>
            <a:r>
              <a:rPr lang="en-US" sz="1000" dirty="0">
                <a:solidFill>
                  <a:srgbClr val="9A97A6"/>
                </a:solidFill>
                <a:latin typeface="Segoe UI" pitchFamily="34" charset="0"/>
                <a:ea typeface="Segoe UI" pitchFamily="34" charset="-122"/>
                <a:cs typeface="Segoe UI" pitchFamily="34" charset="-120"/>
              </a:rPr>
              <a:t>Accuracy, critical moments, evaluation graph, time-per-move and shareable report cards.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0B0F"/>
        </a:solidFill>
      </p:bgPr>
    </p:bg>
    <p:spTree>
      <p:nvGrpSpPr>
        <p:cNvPr id="1" name=""/>
        <p:cNvGrpSpPr/>
        <p:nvPr/>
      </p:nvGrpSpPr>
      <p:grpSpPr>
        <a:xfrm>
          <a:off x="0" y="0"/>
          <a:ext cx="0" cy="0"/>
          <a:chOff x="0" y="0"/>
          <a:chExt cx="0" cy="0"/>
        </a:xfrm>
      </p:grpSpPr>
      <p:sp>
        <p:nvSpPr>
          <p:cNvPr id="2" name="Shape 0"/>
          <p:cNvSpPr/>
          <p:nvPr/>
        </p:nvSpPr>
        <p:spPr>
          <a:xfrm>
            <a:off x="10716768" y="292608"/>
            <a:ext cx="155448" cy="155448"/>
          </a:xfrm>
          <a:prstGeom prst="rect">
            <a:avLst/>
          </a:prstGeom>
          <a:solidFill>
            <a:srgbClr val="14141A"/>
          </a:solidFill>
          <a:ln/>
        </p:spPr>
      </p:sp>
      <p:sp>
        <p:nvSpPr>
          <p:cNvPr id="3" name="Shape 1"/>
          <p:cNvSpPr/>
          <p:nvPr/>
        </p:nvSpPr>
        <p:spPr>
          <a:xfrm>
            <a:off x="11027664" y="292608"/>
            <a:ext cx="155448" cy="155448"/>
          </a:xfrm>
          <a:prstGeom prst="rect">
            <a:avLst/>
          </a:prstGeom>
          <a:solidFill>
            <a:srgbClr val="14141A"/>
          </a:solidFill>
          <a:ln/>
        </p:spPr>
      </p:sp>
      <p:sp>
        <p:nvSpPr>
          <p:cNvPr id="4" name="Shape 2"/>
          <p:cNvSpPr/>
          <p:nvPr/>
        </p:nvSpPr>
        <p:spPr>
          <a:xfrm>
            <a:off x="10561320" y="448056"/>
            <a:ext cx="155448" cy="155448"/>
          </a:xfrm>
          <a:prstGeom prst="rect">
            <a:avLst/>
          </a:prstGeom>
          <a:solidFill>
            <a:srgbClr val="14141A"/>
          </a:solidFill>
          <a:ln/>
        </p:spPr>
      </p:sp>
      <p:sp>
        <p:nvSpPr>
          <p:cNvPr id="5" name="Shape 3"/>
          <p:cNvSpPr/>
          <p:nvPr/>
        </p:nvSpPr>
        <p:spPr>
          <a:xfrm>
            <a:off x="10872216" y="448056"/>
            <a:ext cx="155448" cy="155448"/>
          </a:xfrm>
          <a:prstGeom prst="rect">
            <a:avLst/>
          </a:prstGeom>
          <a:solidFill>
            <a:srgbClr val="14141A"/>
          </a:solidFill>
          <a:ln/>
        </p:spPr>
      </p:sp>
      <p:sp>
        <p:nvSpPr>
          <p:cNvPr id="6" name="Shape 4"/>
          <p:cNvSpPr/>
          <p:nvPr/>
        </p:nvSpPr>
        <p:spPr>
          <a:xfrm>
            <a:off x="11183112" y="448056"/>
            <a:ext cx="155448" cy="155448"/>
          </a:xfrm>
          <a:prstGeom prst="rect">
            <a:avLst/>
          </a:prstGeom>
          <a:solidFill>
            <a:srgbClr val="14141A"/>
          </a:solidFill>
          <a:ln/>
        </p:spPr>
      </p:sp>
      <p:sp>
        <p:nvSpPr>
          <p:cNvPr id="7" name="Shape 5"/>
          <p:cNvSpPr/>
          <p:nvPr/>
        </p:nvSpPr>
        <p:spPr>
          <a:xfrm>
            <a:off x="10716768" y="603504"/>
            <a:ext cx="155448" cy="155448"/>
          </a:xfrm>
          <a:prstGeom prst="rect">
            <a:avLst/>
          </a:prstGeom>
          <a:solidFill>
            <a:srgbClr val="14141A"/>
          </a:solidFill>
          <a:ln/>
        </p:spPr>
      </p:sp>
      <p:sp>
        <p:nvSpPr>
          <p:cNvPr id="8" name="Shape 6"/>
          <p:cNvSpPr/>
          <p:nvPr/>
        </p:nvSpPr>
        <p:spPr>
          <a:xfrm>
            <a:off x="11027664" y="603504"/>
            <a:ext cx="155448" cy="155448"/>
          </a:xfrm>
          <a:prstGeom prst="rect">
            <a:avLst/>
          </a:prstGeom>
          <a:solidFill>
            <a:srgbClr val="14141A"/>
          </a:solidFill>
          <a:ln/>
        </p:spPr>
      </p:sp>
      <p:sp>
        <p:nvSpPr>
          <p:cNvPr id="9" name="Shape 7"/>
          <p:cNvSpPr/>
          <p:nvPr/>
        </p:nvSpPr>
        <p:spPr>
          <a:xfrm>
            <a:off x="10561320" y="758952"/>
            <a:ext cx="155448" cy="155448"/>
          </a:xfrm>
          <a:prstGeom prst="rect">
            <a:avLst/>
          </a:prstGeom>
          <a:solidFill>
            <a:srgbClr val="14141A"/>
          </a:solidFill>
          <a:ln/>
        </p:spPr>
      </p:sp>
      <p:sp>
        <p:nvSpPr>
          <p:cNvPr id="10" name="Shape 8"/>
          <p:cNvSpPr/>
          <p:nvPr/>
        </p:nvSpPr>
        <p:spPr>
          <a:xfrm>
            <a:off x="10872216" y="758952"/>
            <a:ext cx="155448" cy="155448"/>
          </a:xfrm>
          <a:prstGeom prst="rect">
            <a:avLst/>
          </a:prstGeom>
          <a:solidFill>
            <a:srgbClr val="14141A"/>
          </a:solidFill>
          <a:ln/>
        </p:spPr>
      </p:sp>
      <p:sp>
        <p:nvSpPr>
          <p:cNvPr id="11" name="Shape 9"/>
          <p:cNvSpPr/>
          <p:nvPr/>
        </p:nvSpPr>
        <p:spPr>
          <a:xfrm>
            <a:off x="11183112" y="758952"/>
            <a:ext cx="155448" cy="155448"/>
          </a:xfrm>
          <a:prstGeom prst="rect">
            <a:avLst/>
          </a:prstGeom>
          <a:solidFill>
            <a:srgbClr val="14141A"/>
          </a:solidFill>
          <a:ln/>
        </p:spPr>
      </p:sp>
      <p:sp>
        <p:nvSpPr>
          <p:cNvPr id="12" name="Shape 10"/>
          <p:cNvSpPr/>
          <p:nvPr/>
        </p:nvSpPr>
        <p:spPr>
          <a:xfrm>
            <a:off x="10716768" y="914400"/>
            <a:ext cx="155448" cy="155448"/>
          </a:xfrm>
          <a:prstGeom prst="rect">
            <a:avLst/>
          </a:prstGeom>
          <a:solidFill>
            <a:srgbClr val="14141A"/>
          </a:solidFill>
          <a:ln/>
        </p:spPr>
      </p:sp>
      <p:sp>
        <p:nvSpPr>
          <p:cNvPr id="13" name="Shape 11"/>
          <p:cNvSpPr/>
          <p:nvPr/>
        </p:nvSpPr>
        <p:spPr>
          <a:xfrm>
            <a:off x="11027664" y="914400"/>
            <a:ext cx="155448" cy="155448"/>
          </a:xfrm>
          <a:prstGeom prst="rect">
            <a:avLst/>
          </a:prstGeom>
          <a:solidFill>
            <a:srgbClr val="14141A"/>
          </a:solidFill>
          <a:ln/>
        </p:spPr>
      </p:sp>
      <p:sp>
        <p:nvSpPr>
          <p:cNvPr id="14" name="Shape 12"/>
          <p:cNvSpPr/>
          <p:nvPr/>
        </p:nvSpPr>
        <p:spPr>
          <a:xfrm>
            <a:off x="9859975" y="310896"/>
            <a:ext cx="1783080" cy="292608"/>
          </a:xfrm>
          <a:prstGeom prst="roundRect">
            <a:avLst>
              <a:gd name="adj" fmla="val 50000"/>
            </a:avLst>
          </a:prstGeom>
          <a:solidFill>
            <a:srgbClr val="2A2412"/>
          </a:solidFill>
          <a:ln w="9525">
            <a:solidFill>
              <a:srgbClr val="4A3D18"/>
            </a:solidFill>
            <a:prstDash val="solid"/>
          </a:ln>
        </p:spPr>
      </p:sp>
      <p:sp>
        <p:nvSpPr>
          <p:cNvPr id="15" name="Text 13"/>
          <p:cNvSpPr/>
          <p:nvPr/>
        </p:nvSpPr>
        <p:spPr>
          <a:xfrm>
            <a:off x="9859975" y="301752"/>
            <a:ext cx="1783080" cy="310896"/>
          </a:xfrm>
          <a:prstGeom prst="rect">
            <a:avLst/>
          </a:prstGeom>
          <a:noFill/>
          <a:ln/>
        </p:spPr>
        <p:txBody>
          <a:bodyPr wrap="square" lIns="0" tIns="0" rIns="0" bIns="0" rtlCol="0" anchor="ctr"/>
          <a:lstStyle/>
          <a:p>
            <a:pPr algn="ctr" indent="0" marL="0">
              <a:buNone/>
            </a:pPr>
            <a:r>
              <a:rPr lang="en-US" sz="800" b="1" spc="120" kern="0" dirty="0">
                <a:solidFill>
                  <a:srgbClr val="FFC62A"/>
                </a:solidFill>
                <a:latin typeface="Bahnschrift" pitchFamily="34" charset="0"/>
                <a:ea typeface="Bahnschrift" pitchFamily="34" charset="-122"/>
                <a:cs typeface="Bahnschrift" pitchFamily="34" charset="-120"/>
              </a:rPr>
              <a:t>VERIFIED · FROM SOURCE CODE</a:t>
            </a:r>
            <a:endParaRPr lang="en-US" sz="800" dirty="0"/>
          </a:p>
        </p:txBody>
      </p:sp>
      <p:sp>
        <p:nvSpPr>
          <p:cNvPr id="16" name="Text 14"/>
          <p:cNvSpPr/>
          <p:nvPr/>
        </p:nvSpPr>
        <p:spPr>
          <a:xfrm>
            <a:off x="566928" y="384048"/>
            <a:ext cx="8229600" cy="274320"/>
          </a:xfrm>
          <a:prstGeom prst="rect">
            <a:avLst/>
          </a:prstGeom>
          <a:noFill/>
          <a:ln/>
        </p:spPr>
        <p:txBody>
          <a:bodyPr wrap="square" lIns="0" tIns="0" rIns="0" bIns="0" rtlCol="0" anchor="ctr"/>
          <a:lstStyle/>
          <a:p>
            <a:pPr indent="0" marL="0">
              <a:buNone/>
            </a:pPr>
            <a:r>
              <a:rPr lang="en-US" sz="1100" b="1" spc="300" kern="0" dirty="0">
                <a:solidFill>
                  <a:srgbClr val="FFC62A"/>
                </a:solidFill>
                <a:latin typeface="Bahnschrift" pitchFamily="34" charset="0"/>
                <a:ea typeface="Bahnschrift" pitchFamily="34" charset="-122"/>
                <a:cs typeface="Bahnschrift" pitchFamily="34" charset="-120"/>
              </a:rPr>
              <a:t>01 · THE PROBLEM</a:t>
            </a:r>
            <a:endParaRPr lang="en-US" sz="1100" dirty="0"/>
          </a:p>
        </p:txBody>
      </p:sp>
      <p:sp>
        <p:nvSpPr>
          <p:cNvPr id="17" name="Shape 15"/>
          <p:cNvSpPr/>
          <p:nvPr/>
        </p:nvSpPr>
        <p:spPr>
          <a:xfrm>
            <a:off x="566928" y="713232"/>
            <a:ext cx="384048" cy="45720"/>
          </a:xfrm>
          <a:prstGeom prst="rect">
            <a:avLst/>
          </a:prstGeom>
          <a:solidFill>
            <a:srgbClr val="FFC62A"/>
          </a:solidFill>
          <a:ln/>
        </p:spPr>
      </p:sp>
      <p:sp>
        <p:nvSpPr>
          <p:cNvPr id="18" name="Text 16"/>
          <p:cNvSpPr/>
          <p:nvPr/>
        </p:nvSpPr>
        <p:spPr>
          <a:xfrm>
            <a:off x="548640" y="841248"/>
            <a:ext cx="11064240" cy="566928"/>
          </a:xfrm>
          <a:prstGeom prst="rect">
            <a:avLst/>
          </a:prstGeom>
          <a:noFill/>
          <a:ln/>
        </p:spPr>
        <p:txBody>
          <a:bodyPr wrap="square" lIns="0" tIns="0" rIns="0" bIns="0" rtlCol="0" anchor="ctr"/>
          <a:lstStyle/>
          <a:p>
            <a:pPr indent="0" marL="0">
              <a:buNone/>
            </a:pPr>
            <a:r>
              <a:rPr lang="en-US" sz="2700" b="1" dirty="0">
                <a:solidFill>
                  <a:srgbClr val="F5F2EA"/>
                </a:solidFill>
                <a:latin typeface="Bahnschrift" pitchFamily="34" charset="0"/>
                <a:ea typeface="Bahnschrift" pitchFamily="34" charset="-122"/>
                <a:cs typeface="Bahnschrift" pitchFamily="34" charset="-120"/>
              </a:rPr>
              <a:t>Why chess players struggle to improve</a:t>
            </a:r>
            <a:endParaRPr lang="en-US" sz="2700" dirty="0"/>
          </a:p>
        </p:txBody>
      </p:sp>
      <p:sp>
        <p:nvSpPr>
          <p:cNvPr id="19" name="Text 17"/>
          <p:cNvSpPr/>
          <p:nvPr/>
        </p:nvSpPr>
        <p:spPr>
          <a:xfrm>
            <a:off x="566928" y="1389888"/>
            <a:ext cx="11064240" cy="274320"/>
          </a:xfrm>
          <a:prstGeom prst="rect">
            <a:avLst/>
          </a:prstGeom>
          <a:noFill/>
          <a:ln/>
        </p:spPr>
        <p:txBody>
          <a:bodyPr wrap="square" lIns="0" tIns="0" rIns="0" bIns="0" rtlCol="0" anchor="ctr"/>
          <a:lstStyle/>
          <a:p>
            <a:pPr indent="0" marL="0">
              <a:buNone/>
            </a:pPr>
            <a:r>
              <a:rPr lang="en-US" sz="1250" dirty="0">
                <a:solidFill>
                  <a:srgbClr val="9A97A6"/>
                </a:solidFill>
                <a:latin typeface="Segoe UI" pitchFamily="34" charset="0"/>
                <a:ea typeface="Segoe UI" pitchFamily="34" charset="-122"/>
                <a:cs typeface="Segoe UI" pitchFamily="34" charset="-120"/>
              </a:rPr>
              <a:t>Existing platforms evaluate games — but they rarely explain, coach, or guide the player.</a:t>
            </a:r>
            <a:endParaRPr lang="en-US" sz="1250" dirty="0"/>
          </a:p>
        </p:txBody>
      </p:sp>
      <p:sp>
        <p:nvSpPr>
          <p:cNvPr id="20" name="Text 18"/>
          <p:cNvSpPr/>
          <p:nvPr/>
        </p:nvSpPr>
        <p:spPr>
          <a:xfrm>
            <a:off x="566928" y="6492240"/>
            <a:ext cx="2743200" cy="256032"/>
          </a:xfrm>
          <a:prstGeom prst="rect">
            <a:avLst/>
          </a:prstGeom>
          <a:noFill/>
          <a:ln/>
        </p:spPr>
        <p:txBody>
          <a:bodyPr wrap="square" lIns="0" tIns="0" rIns="0" bIns="0" rtlCol="0" anchor="ctr"/>
          <a:lstStyle/>
          <a:p>
            <a:pPr indent="0" marL="0">
              <a:buNone/>
            </a:pPr>
            <a:r>
              <a:rPr lang="en-US" sz="850" b="1" spc="300" kern="0" dirty="0">
                <a:solidFill>
                  <a:srgbClr val="5C5966"/>
                </a:solidFill>
                <a:latin typeface="Bahnschrift" pitchFamily="34" charset="0"/>
                <a:ea typeface="Bahnschrift" pitchFamily="34" charset="-122"/>
                <a:cs typeface="Bahnschrift" pitchFamily="34" charset="-120"/>
              </a:rPr>
              <a:t>CHESSFORK</a:t>
            </a:r>
            <a:endParaRPr lang="en-US" sz="850" dirty="0"/>
          </a:p>
        </p:txBody>
      </p:sp>
      <p:sp>
        <p:nvSpPr>
          <p:cNvPr id="21" name="Text 19"/>
          <p:cNvSpPr/>
          <p:nvPr/>
        </p:nvSpPr>
        <p:spPr>
          <a:xfrm>
            <a:off x="3840480" y="6492240"/>
            <a:ext cx="4572000" cy="256032"/>
          </a:xfrm>
          <a:prstGeom prst="rect">
            <a:avLst/>
          </a:prstGeom>
          <a:noFill/>
          <a:ln/>
        </p:spPr>
        <p:txBody>
          <a:bodyPr wrap="square" lIns="0" tIns="0" rIns="0" bIns="0" rtlCol="0" anchor="ctr"/>
          <a:lstStyle/>
          <a:p>
            <a:pPr indent="0" marL="0">
              <a:buNone/>
            </a:pPr>
            <a:r>
              <a:rPr lang="en-US" sz="800" spc="150" kern="0" dirty="0">
                <a:solidFill>
                  <a:srgbClr val="5C5966"/>
                </a:solidFill>
                <a:latin typeface="Segoe UI" pitchFamily="34" charset="0"/>
                <a:ea typeface="Segoe UI" pitchFamily="34" charset="-122"/>
                <a:cs typeface="Segoe UI" pitchFamily="34" charset="-120"/>
              </a:rPr>
              <a:t>BCA FINAL YEAR PROJECT · 2026</a:t>
            </a:r>
            <a:endParaRPr lang="en-US" sz="800" dirty="0"/>
          </a:p>
        </p:txBody>
      </p:sp>
      <p:sp>
        <p:nvSpPr>
          <p:cNvPr id="22" name="Text 20"/>
          <p:cNvSpPr/>
          <p:nvPr/>
        </p:nvSpPr>
        <p:spPr>
          <a:xfrm>
            <a:off x="11292840" y="6473952"/>
            <a:ext cx="365760" cy="274320"/>
          </a:xfrm>
          <a:prstGeom prst="rect">
            <a:avLst/>
          </a:prstGeom>
          <a:noFill/>
          <a:ln/>
        </p:spPr>
        <p:txBody>
          <a:bodyPr wrap="square" lIns="0" tIns="0" rIns="0" bIns="0" rtlCol="0" anchor="ctr"/>
          <a:lstStyle/>
          <a:p>
            <a:pPr algn="r" indent="0" marL="0">
              <a:buNone/>
            </a:pPr>
            <a:r>
              <a:rPr lang="en-US" sz="900" b="1" dirty="0">
                <a:solidFill>
                  <a:srgbClr val="5C5966"/>
                </a:solidFill>
                <a:latin typeface="Bahnschrift" pitchFamily="34" charset="0"/>
                <a:ea typeface="Bahnschrift" pitchFamily="34" charset="-122"/>
                <a:cs typeface="Bahnschrift" pitchFamily="34" charset="-120"/>
              </a:rPr>
              <a:t>02</a:t>
            </a:r>
            <a:endParaRPr lang="en-US" sz="900" dirty="0"/>
          </a:p>
        </p:txBody>
      </p:sp>
      <p:sp>
        <p:nvSpPr>
          <p:cNvPr id="23" name="Shape 21"/>
          <p:cNvSpPr/>
          <p:nvPr/>
        </p:nvSpPr>
        <p:spPr>
          <a:xfrm>
            <a:off x="566928" y="1783080"/>
            <a:ext cx="3566160" cy="1874520"/>
          </a:xfrm>
          <a:prstGeom prst="roundRect">
            <a:avLst>
              <a:gd name="adj" fmla="val 3415"/>
            </a:avLst>
          </a:prstGeom>
          <a:solidFill>
            <a:srgbClr val="15151B"/>
          </a:solidFill>
          <a:ln w="12700">
            <a:solidFill>
              <a:srgbClr val="26262F"/>
            </a:solidFill>
            <a:prstDash val="solid"/>
          </a:ln>
        </p:spPr>
      </p:sp>
      <p:sp>
        <p:nvSpPr>
          <p:cNvPr id="24" name="Shape 22"/>
          <p:cNvSpPr/>
          <p:nvPr/>
        </p:nvSpPr>
        <p:spPr>
          <a:xfrm>
            <a:off x="768096" y="1965960"/>
            <a:ext cx="502920" cy="502920"/>
          </a:xfrm>
          <a:prstGeom prst="ellipse">
            <a:avLst/>
          </a:prstGeom>
          <a:solidFill>
            <a:srgbClr val="2E1010"/>
          </a:solidFill>
          <a:ln w="12700">
            <a:solidFill>
              <a:srgbClr val="5F1E1E"/>
            </a:solidFill>
            <a:prstDash val="solid"/>
          </a:ln>
        </p:spPr>
      </p:sp>
      <p:sp>
        <p:nvSpPr>
          <p:cNvPr id="25" name="Text 23"/>
          <p:cNvSpPr/>
          <p:nvPr/>
        </p:nvSpPr>
        <p:spPr>
          <a:xfrm>
            <a:off x="841248" y="2029968"/>
            <a:ext cx="365760" cy="365760"/>
          </a:xfrm>
          <a:prstGeom prst="rect">
            <a:avLst/>
          </a:prstGeom>
          <a:noFill/>
          <a:ln/>
        </p:spPr>
        <p:txBody>
          <a:bodyPr wrap="square" lIns="0" tIns="0" rIns="0" bIns="0" rtlCol="0" anchor="ctr"/>
          <a:lstStyle/>
          <a:p>
            <a:pPr algn="ctr" indent="0" marL="0">
              <a:buNone/>
            </a:pPr>
            <a:r>
              <a:rPr lang="en-US" sz="2592" dirty="0">
                <a:solidFill>
                  <a:srgbClr val="FF6B6B"/>
                </a:solidFill>
                <a:latin typeface="Segoe UI Symbol" pitchFamily="34" charset="0"/>
                <a:ea typeface="Segoe UI Symbol" pitchFamily="34" charset="-122"/>
                <a:cs typeface="Segoe UI Symbol" pitchFamily="34" charset="-120"/>
              </a:rPr>
              <a:t>♚</a:t>
            </a:r>
            <a:endParaRPr lang="en-US" sz="2592" dirty="0"/>
          </a:p>
        </p:txBody>
      </p:sp>
      <p:sp>
        <p:nvSpPr>
          <p:cNvPr id="26" name="Text 24"/>
          <p:cNvSpPr/>
          <p:nvPr/>
        </p:nvSpPr>
        <p:spPr>
          <a:xfrm>
            <a:off x="1408176" y="1984248"/>
            <a:ext cx="2560320" cy="457200"/>
          </a:xfrm>
          <a:prstGeom prst="rect">
            <a:avLst/>
          </a:prstGeom>
          <a:noFill/>
          <a:ln/>
        </p:spPr>
        <p:txBody>
          <a:bodyPr wrap="square" lIns="0" tIns="0" rIns="0" bIns="0" rtlCol="0" anchor="ctr"/>
          <a:lstStyle/>
          <a:p>
            <a:pPr indent="0" marL="0">
              <a:buNone/>
            </a:pPr>
            <a:r>
              <a:rPr lang="en-US" sz="1250" b="1" dirty="0">
                <a:solidFill>
                  <a:srgbClr val="F5F2EA"/>
                </a:solidFill>
                <a:latin typeface="Bahnschrift" pitchFamily="34" charset="0"/>
                <a:ea typeface="Bahnschrift" pitchFamily="34" charset="-122"/>
                <a:cs typeface="Bahnschrift" pitchFamily="34" charset="-120"/>
              </a:rPr>
              <a:t>Expensive premium walls</a:t>
            </a:r>
            <a:endParaRPr lang="en-US" sz="1250" dirty="0"/>
          </a:p>
        </p:txBody>
      </p:sp>
      <p:sp>
        <p:nvSpPr>
          <p:cNvPr id="27" name="Text 25"/>
          <p:cNvSpPr/>
          <p:nvPr/>
        </p:nvSpPr>
        <p:spPr>
          <a:xfrm>
            <a:off x="786384" y="2560320"/>
            <a:ext cx="3127248" cy="960120"/>
          </a:xfrm>
          <a:prstGeom prst="rect">
            <a:avLst/>
          </a:prstGeom>
          <a:noFill/>
          <a:ln/>
        </p:spPr>
        <p:txBody>
          <a:bodyPr wrap="square" lIns="0" tIns="0" rIns="0" bIns="0" rtlCol="0" anchor="t"/>
          <a:lstStyle/>
          <a:p>
            <a:pPr indent="0" marL="0">
              <a:lnSpc>
                <a:spcPct val="110000"/>
              </a:lnSpc>
              <a:buNone/>
            </a:pPr>
            <a:r>
              <a:rPr lang="en-US" sz="1050" dirty="0">
                <a:solidFill>
                  <a:srgbClr val="9A97A6"/>
                </a:solidFill>
                <a:latin typeface="Segoe UI" pitchFamily="34" charset="0"/>
                <a:ea typeface="Segoe UI" pitchFamily="34" charset="-122"/>
                <a:cs typeface="Segoe UI" pitchFamily="34" charset="-120"/>
              </a:rPr>
              <a:t>Deep analysis and AI explanations sit behind costly subscriptions on mainstream platforms.</a:t>
            </a:r>
            <a:endParaRPr lang="en-US" sz="1050" dirty="0"/>
          </a:p>
        </p:txBody>
      </p:sp>
      <p:sp>
        <p:nvSpPr>
          <p:cNvPr id="28" name="Shape 26"/>
          <p:cNvSpPr/>
          <p:nvPr/>
        </p:nvSpPr>
        <p:spPr>
          <a:xfrm>
            <a:off x="4315968" y="1783080"/>
            <a:ext cx="3566160" cy="1874520"/>
          </a:xfrm>
          <a:prstGeom prst="roundRect">
            <a:avLst>
              <a:gd name="adj" fmla="val 3415"/>
            </a:avLst>
          </a:prstGeom>
          <a:solidFill>
            <a:srgbClr val="15151B"/>
          </a:solidFill>
          <a:ln w="12700">
            <a:solidFill>
              <a:srgbClr val="26262F"/>
            </a:solidFill>
            <a:prstDash val="solid"/>
          </a:ln>
        </p:spPr>
      </p:sp>
      <p:sp>
        <p:nvSpPr>
          <p:cNvPr id="29" name="Shape 27"/>
          <p:cNvSpPr/>
          <p:nvPr/>
        </p:nvSpPr>
        <p:spPr>
          <a:xfrm>
            <a:off x="4517136" y="1965960"/>
            <a:ext cx="502920" cy="502920"/>
          </a:xfrm>
          <a:prstGeom prst="ellipse">
            <a:avLst/>
          </a:prstGeom>
          <a:solidFill>
            <a:srgbClr val="2E1010"/>
          </a:solidFill>
          <a:ln w="12700">
            <a:solidFill>
              <a:srgbClr val="5F1E1E"/>
            </a:solidFill>
            <a:prstDash val="solid"/>
          </a:ln>
        </p:spPr>
      </p:sp>
      <p:sp>
        <p:nvSpPr>
          <p:cNvPr id="30" name="Text 28"/>
          <p:cNvSpPr/>
          <p:nvPr/>
        </p:nvSpPr>
        <p:spPr>
          <a:xfrm>
            <a:off x="4590288" y="2029968"/>
            <a:ext cx="365760" cy="365760"/>
          </a:xfrm>
          <a:prstGeom prst="rect">
            <a:avLst/>
          </a:prstGeom>
          <a:noFill/>
          <a:ln/>
        </p:spPr>
        <p:txBody>
          <a:bodyPr wrap="square" lIns="0" tIns="0" rIns="0" bIns="0" rtlCol="0" anchor="ctr"/>
          <a:lstStyle/>
          <a:p>
            <a:pPr algn="ctr" indent="0" marL="0">
              <a:buNone/>
            </a:pPr>
            <a:r>
              <a:rPr lang="en-US" sz="2592" dirty="0">
                <a:solidFill>
                  <a:srgbClr val="FF6B6B"/>
                </a:solidFill>
                <a:latin typeface="Segoe UI Symbol" pitchFamily="34" charset="0"/>
                <a:ea typeface="Segoe UI Symbol" pitchFamily="34" charset="-122"/>
                <a:cs typeface="Segoe UI Symbol" pitchFamily="34" charset="-120"/>
              </a:rPr>
              <a:t>♝</a:t>
            </a:r>
            <a:endParaRPr lang="en-US" sz="2592" dirty="0"/>
          </a:p>
        </p:txBody>
      </p:sp>
      <p:sp>
        <p:nvSpPr>
          <p:cNvPr id="31" name="Text 29"/>
          <p:cNvSpPr/>
          <p:nvPr/>
        </p:nvSpPr>
        <p:spPr>
          <a:xfrm>
            <a:off x="5157216" y="1984248"/>
            <a:ext cx="2560320" cy="457200"/>
          </a:xfrm>
          <a:prstGeom prst="rect">
            <a:avLst/>
          </a:prstGeom>
          <a:noFill/>
          <a:ln/>
        </p:spPr>
        <p:txBody>
          <a:bodyPr wrap="square" lIns="0" tIns="0" rIns="0" bIns="0" rtlCol="0" anchor="ctr"/>
          <a:lstStyle/>
          <a:p>
            <a:pPr indent="0" marL="0">
              <a:buNone/>
            </a:pPr>
            <a:r>
              <a:rPr lang="en-US" sz="1250" b="1" dirty="0">
                <a:solidFill>
                  <a:srgbClr val="F5F2EA"/>
                </a:solidFill>
                <a:latin typeface="Bahnschrift" pitchFamily="34" charset="0"/>
                <a:ea typeface="Bahnschrift" pitchFamily="34" charset="-122"/>
                <a:cs typeface="Bahnschrift" pitchFamily="34" charset="-120"/>
              </a:rPr>
              <a:t>Engine noise, no meaning</a:t>
            </a:r>
            <a:endParaRPr lang="en-US" sz="1250" dirty="0"/>
          </a:p>
        </p:txBody>
      </p:sp>
      <p:sp>
        <p:nvSpPr>
          <p:cNvPr id="32" name="Text 30"/>
          <p:cNvSpPr/>
          <p:nvPr/>
        </p:nvSpPr>
        <p:spPr>
          <a:xfrm>
            <a:off x="4535424" y="2560320"/>
            <a:ext cx="3127248" cy="960120"/>
          </a:xfrm>
          <a:prstGeom prst="rect">
            <a:avLst/>
          </a:prstGeom>
          <a:noFill/>
          <a:ln/>
        </p:spPr>
        <p:txBody>
          <a:bodyPr wrap="square" lIns="0" tIns="0" rIns="0" bIns="0" rtlCol="0" anchor="t"/>
          <a:lstStyle/>
          <a:p>
            <a:pPr indent="0" marL="0">
              <a:lnSpc>
                <a:spcPct val="110000"/>
              </a:lnSpc>
              <a:buNone/>
            </a:pPr>
            <a:r>
              <a:rPr lang="en-US" sz="1050" dirty="0">
                <a:solidFill>
                  <a:srgbClr val="9A97A6"/>
                </a:solidFill>
                <a:latin typeface="Segoe UI" pitchFamily="34" charset="0"/>
                <a:ea typeface="Segoe UI" pitchFamily="34" charset="-122"/>
                <a:cs typeface="Segoe UI" pitchFamily="34" charset="-120"/>
              </a:rPr>
              <a:t>Raw evaluation lines with no educational context — players see numbers, not lessons.</a:t>
            </a:r>
            <a:endParaRPr lang="en-US" sz="1050" dirty="0"/>
          </a:p>
        </p:txBody>
      </p:sp>
      <p:sp>
        <p:nvSpPr>
          <p:cNvPr id="33" name="Shape 31"/>
          <p:cNvSpPr/>
          <p:nvPr/>
        </p:nvSpPr>
        <p:spPr>
          <a:xfrm>
            <a:off x="8065008" y="1783080"/>
            <a:ext cx="3566160" cy="1874520"/>
          </a:xfrm>
          <a:prstGeom prst="roundRect">
            <a:avLst>
              <a:gd name="adj" fmla="val 3415"/>
            </a:avLst>
          </a:prstGeom>
          <a:solidFill>
            <a:srgbClr val="15151B"/>
          </a:solidFill>
          <a:ln w="12700">
            <a:solidFill>
              <a:srgbClr val="26262F"/>
            </a:solidFill>
            <a:prstDash val="solid"/>
          </a:ln>
        </p:spPr>
      </p:sp>
      <p:sp>
        <p:nvSpPr>
          <p:cNvPr id="34" name="Shape 32"/>
          <p:cNvSpPr/>
          <p:nvPr/>
        </p:nvSpPr>
        <p:spPr>
          <a:xfrm>
            <a:off x="8266176" y="1965960"/>
            <a:ext cx="502920" cy="502920"/>
          </a:xfrm>
          <a:prstGeom prst="ellipse">
            <a:avLst/>
          </a:prstGeom>
          <a:solidFill>
            <a:srgbClr val="2E1010"/>
          </a:solidFill>
          <a:ln w="12700">
            <a:solidFill>
              <a:srgbClr val="5F1E1E"/>
            </a:solidFill>
            <a:prstDash val="solid"/>
          </a:ln>
        </p:spPr>
      </p:sp>
      <p:sp>
        <p:nvSpPr>
          <p:cNvPr id="35" name="Text 33"/>
          <p:cNvSpPr/>
          <p:nvPr/>
        </p:nvSpPr>
        <p:spPr>
          <a:xfrm>
            <a:off x="8339328" y="2029968"/>
            <a:ext cx="365760" cy="365760"/>
          </a:xfrm>
          <a:prstGeom prst="rect">
            <a:avLst/>
          </a:prstGeom>
          <a:noFill/>
          <a:ln/>
        </p:spPr>
        <p:txBody>
          <a:bodyPr wrap="square" lIns="0" tIns="0" rIns="0" bIns="0" rtlCol="0" anchor="ctr"/>
          <a:lstStyle/>
          <a:p>
            <a:pPr algn="ctr" indent="0" marL="0">
              <a:buNone/>
            </a:pPr>
            <a:r>
              <a:rPr lang="en-US" sz="2592" dirty="0">
                <a:solidFill>
                  <a:srgbClr val="FF6B6B"/>
                </a:solidFill>
                <a:latin typeface="Segoe UI Symbol" pitchFamily="34" charset="0"/>
                <a:ea typeface="Segoe UI Symbol" pitchFamily="34" charset="-122"/>
                <a:cs typeface="Segoe UI Symbol" pitchFamily="34" charset="-120"/>
              </a:rPr>
              <a:t>♛</a:t>
            </a:r>
            <a:endParaRPr lang="en-US" sz="2592" dirty="0"/>
          </a:p>
        </p:txBody>
      </p:sp>
      <p:sp>
        <p:nvSpPr>
          <p:cNvPr id="36" name="Text 34"/>
          <p:cNvSpPr/>
          <p:nvPr/>
        </p:nvSpPr>
        <p:spPr>
          <a:xfrm>
            <a:off x="8906256" y="1984248"/>
            <a:ext cx="2560320" cy="457200"/>
          </a:xfrm>
          <a:prstGeom prst="rect">
            <a:avLst/>
          </a:prstGeom>
          <a:noFill/>
          <a:ln/>
        </p:spPr>
        <p:txBody>
          <a:bodyPr wrap="square" lIns="0" tIns="0" rIns="0" bIns="0" rtlCol="0" anchor="ctr"/>
          <a:lstStyle/>
          <a:p>
            <a:pPr indent="0" marL="0">
              <a:buNone/>
            </a:pPr>
            <a:r>
              <a:rPr lang="en-US" sz="1250" b="1" dirty="0">
                <a:solidFill>
                  <a:srgbClr val="F5F2EA"/>
                </a:solidFill>
                <a:latin typeface="Bahnschrift" pitchFamily="34" charset="0"/>
                <a:ea typeface="Bahnschrift" pitchFamily="34" charset="-122"/>
                <a:cs typeface="Bahnschrift" pitchFamily="34" charset="-120"/>
              </a:rPr>
              <a:t>No personalized coaching</a:t>
            </a:r>
            <a:endParaRPr lang="en-US" sz="1250" dirty="0"/>
          </a:p>
        </p:txBody>
      </p:sp>
      <p:sp>
        <p:nvSpPr>
          <p:cNvPr id="37" name="Text 35"/>
          <p:cNvSpPr/>
          <p:nvPr/>
        </p:nvSpPr>
        <p:spPr>
          <a:xfrm>
            <a:off x="8284464" y="2560320"/>
            <a:ext cx="3127248" cy="960120"/>
          </a:xfrm>
          <a:prstGeom prst="rect">
            <a:avLst/>
          </a:prstGeom>
          <a:noFill/>
          <a:ln/>
        </p:spPr>
        <p:txBody>
          <a:bodyPr wrap="square" lIns="0" tIns="0" rIns="0" bIns="0" rtlCol="0" anchor="t"/>
          <a:lstStyle/>
          <a:p>
            <a:pPr indent="0" marL="0">
              <a:lnSpc>
                <a:spcPct val="110000"/>
              </a:lnSpc>
              <a:buNone/>
            </a:pPr>
            <a:r>
              <a:rPr lang="en-US" sz="1050" dirty="0">
                <a:solidFill>
                  <a:srgbClr val="9A97A6"/>
                </a:solidFill>
                <a:latin typeface="Segoe UI" pitchFamily="34" charset="0"/>
                <a:ea typeface="Segoe UI" pitchFamily="34" charset="-122"/>
                <a:cs typeface="Segoe UI" pitchFamily="34" charset="-120"/>
              </a:rPr>
              <a:t>Platforms grade games but never diagnose the player's recurring weaknesses.</a:t>
            </a:r>
            <a:endParaRPr lang="en-US" sz="1050" dirty="0"/>
          </a:p>
        </p:txBody>
      </p:sp>
      <p:sp>
        <p:nvSpPr>
          <p:cNvPr id="38" name="Shape 36"/>
          <p:cNvSpPr/>
          <p:nvPr/>
        </p:nvSpPr>
        <p:spPr>
          <a:xfrm>
            <a:off x="566928" y="3913632"/>
            <a:ext cx="3566160" cy="1874520"/>
          </a:xfrm>
          <a:prstGeom prst="roundRect">
            <a:avLst>
              <a:gd name="adj" fmla="val 3415"/>
            </a:avLst>
          </a:prstGeom>
          <a:solidFill>
            <a:srgbClr val="15151B"/>
          </a:solidFill>
          <a:ln w="12700">
            <a:solidFill>
              <a:srgbClr val="26262F"/>
            </a:solidFill>
            <a:prstDash val="solid"/>
          </a:ln>
        </p:spPr>
      </p:sp>
      <p:sp>
        <p:nvSpPr>
          <p:cNvPr id="39" name="Shape 37"/>
          <p:cNvSpPr/>
          <p:nvPr/>
        </p:nvSpPr>
        <p:spPr>
          <a:xfrm>
            <a:off x="768096" y="4096512"/>
            <a:ext cx="502920" cy="502920"/>
          </a:xfrm>
          <a:prstGeom prst="ellipse">
            <a:avLst/>
          </a:prstGeom>
          <a:solidFill>
            <a:srgbClr val="2E1010"/>
          </a:solidFill>
          <a:ln w="12700">
            <a:solidFill>
              <a:srgbClr val="5F1E1E"/>
            </a:solidFill>
            <a:prstDash val="solid"/>
          </a:ln>
        </p:spPr>
      </p:sp>
      <p:sp>
        <p:nvSpPr>
          <p:cNvPr id="40" name="Text 38"/>
          <p:cNvSpPr/>
          <p:nvPr/>
        </p:nvSpPr>
        <p:spPr>
          <a:xfrm>
            <a:off x="841248" y="4160520"/>
            <a:ext cx="365760" cy="365760"/>
          </a:xfrm>
          <a:prstGeom prst="rect">
            <a:avLst/>
          </a:prstGeom>
          <a:noFill/>
          <a:ln/>
        </p:spPr>
        <p:txBody>
          <a:bodyPr wrap="square" lIns="0" tIns="0" rIns="0" bIns="0" rtlCol="0" anchor="ctr"/>
          <a:lstStyle/>
          <a:p>
            <a:pPr algn="ctr" indent="0" marL="0">
              <a:buNone/>
            </a:pPr>
            <a:r>
              <a:rPr lang="en-US" sz="2592" dirty="0">
                <a:solidFill>
                  <a:srgbClr val="FF6B6B"/>
                </a:solidFill>
                <a:latin typeface="Segoe UI Symbol" pitchFamily="34" charset="0"/>
                <a:ea typeface="Segoe UI Symbol" pitchFamily="34" charset="-122"/>
                <a:cs typeface="Segoe UI Symbol" pitchFamily="34" charset="-120"/>
              </a:rPr>
              <a:t>♞</a:t>
            </a:r>
            <a:endParaRPr lang="en-US" sz="2592" dirty="0"/>
          </a:p>
        </p:txBody>
      </p:sp>
      <p:sp>
        <p:nvSpPr>
          <p:cNvPr id="41" name="Text 39"/>
          <p:cNvSpPr/>
          <p:nvPr/>
        </p:nvSpPr>
        <p:spPr>
          <a:xfrm>
            <a:off x="1408176" y="4114800"/>
            <a:ext cx="2560320" cy="457200"/>
          </a:xfrm>
          <a:prstGeom prst="rect">
            <a:avLst/>
          </a:prstGeom>
          <a:noFill/>
          <a:ln/>
        </p:spPr>
        <p:txBody>
          <a:bodyPr wrap="square" lIns="0" tIns="0" rIns="0" bIns="0" rtlCol="0" anchor="ctr"/>
          <a:lstStyle/>
          <a:p>
            <a:pPr indent="0" marL="0">
              <a:buNone/>
            </a:pPr>
            <a:r>
              <a:rPr lang="en-US" sz="1250" b="1" dirty="0">
                <a:solidFill>
                  <a:srgbClr val="F5F2EA"/>
                </a:solidFill>
                <a:latin typeface="Bahnschrift" pitchFamily="34" charset="0"/>
                <a:ea typeface="Bahnschrift" pitchFamily="34" charset="-122"/>
                <a:cs typeface="Bahnschrift" pitchFamily="34" charset="-120"/>
              </a:rPr>
              <a:t>Beginners feel lost</a:t>
            </a:r>
            <a:endParaRPr lang="en-US" sz="1250" dirty="0"/>
          </a:p>
        </p:txBody>
      </p:sp>
      <p:sp>
        <p:nvSpPr>
          <p:cNvPr id="42" name="Text 40"/>
          <p:cNvSpPr/>
          <p:nvPr/>
        </p:nvSpPr>
        <p:spPr>
          <a:xfrm>
            <a:off x="786384" y="4690872"/>
            <a:ext cx="3127248" cy="960120"/>
          </a:xfrm>
          <a:prstGeom prst="rect">
            <a:avLst/>
          </a:prstGeom>
          <a:noFill/>
          <a:ln/>
        </p:spPr>
        <p:txBody>
          <a:bodyPr wrap="square" lIns="0" tIns="0" rIns="0" bIns="0" rtlCol="0" anchor="t"/>
          <a:lstStyle/>
          <a:p>
            <a:pPr indent="0" marL="0">
              <a:lnSpc>
                <a:spcPct val="110000"/>
              </a:lnSpc>
              <a:buNone/>
            </a:pPr>
            <a:r>
              <a:rPr lang="en-US" sz="1050" dirty="0">
                <a:solidFill>
                  <a:srgbClr val="9A97A6"/>
                </a:solidFill>
                <a:latin typeface="Segoe UI" pitchFamily="34" charset="0"/>
                <a:ea typeface="Segoe UI" pitchFamily="34" charset="-122"/>
                <a:cs typeface="Segoe UI" pitchFamily="34" charset="-120"/>
              </a:rPr>
              <a:t>No guided path — hard for new players to turn reports into actual improvement.</a:t>
            </a:r>
            <a:endParaRPr lang="en-US" sz="1050" dirty="0"/>
          </a:p>
        </p:txBody>
      </p:sp>
      <p:sp>
        <p:nvSpPr>
          <p:cNvPr id="43" name="Shape 41"/>
          <p:cNvSpPr/>
          <p:nvPr/>
        </p:nvSpPr>
        <p:spPr>
          <a:xfrm>
            <a:off x="4315968" y="3913632"/>
            <a:ext cx="3566160" cy="1874520"/>
          </a:xfrm>
          <a:prstGeom prst="roundRect">
            <a:avLst>
              <a:gd name="adj" fmla="val 3415"/>
            </a:avLst>
          </a:prstGeom>
          <a:solidFill>
            <a:srgbClr val="15151B"/>
          </a:solidFill>
          <a:ln w="12700">
            <a:solidFill>
              <a:srgbClr val="26262F"/>
            </a:solidFill>
            <a:prstDash val="solid"/>
          </a:ln>
        </p:spPr>
      </p:sp>
      <p:sp>
        <p:nvSpPr>
          <p:cNvPr id="44" name="Shape 42"/>
          <p:cNvSpPr/>
          <p:nvPr/>
        </p:nvSpPr>
        <p:spPr>
          <a:xfrm>
            <a:off x="4517136" y="4096512"/>
            <a:ext cx="502920" cy="502920"/>
          </a:xfrm>
          <a:prstGeom prst="ellipse">
            <a:avLst/>
          </a:prstGeom>
          <a:solidFill>
            <a:srgbClr val="2E1010"/>
          </a:solidFill>
          <a:ln w="12700">
            <a:solidFill>
              <a:srgbClr val="5F1E1E"/>
            </a:solidFill>
            <a:prstDash val="solid"/>
          </a:ln>
        </p:spPr>
      </p:sp>
      <p:sp>
        <p:nvSpPr>
          <p:cNvPr id="45" name="Text 43"/>
          <p:cNvSpPr/>
          <p:nvPr/>
        </p:nvSpPr>
        <p:spPr>
          <a:xfrm>
            <a:off x="4590288" y="4160520"/>
            <a:ext cx="365760" cy="365760"/>
          </a:xfrm>
          <a:prstGeom prst="rect">
            <a:avLst/>
          </a:prstGeom>
          <a:noFill/>
          <a:ln/>
        </p:spPr>
        <p:txBody>
          <a:bodyPr wrap="square" lIns="0" tIns="0" rIns="0" bIns="0" rtlCol="0" anchor="ctr"/>
          <a:lstStyle/>
          <a:p>
            <a:pPr algn="ctr" indent="0" marL="0">
              <a:buNone/>
            </a:pPr>
            <a:r>
              <a:rPr lang="en-US" sz="2592" dirty="0">
                <a:solidFill>
                  <a:srgbClr val="FF6B6B"/>
                </a:solidFill>
                <a:latin typeface="Segoe UI Symbol" pitchFamily="34" charset="0"/>
                <a:ea typeface="Segoe UI Symbol" pitchFamily="34" charset="-122"/>
                <a:cs typeface="Segoe UI Symbol" pitchFamily="34" charset="-120"/>
              </a:rPr>
              <a:t>♜</a:t>
            </a:r>
            <a:endParaRPr lang="en-US" sz="2592" dirty="0"/>
          </a:p>
        </p:txBody>
      </p:sp>
      <p:sp>
        <p:nvSpPr>
          <p:cNvPr id="46" name="Text 44"/>
          <p:cNvSpPr/>
          <p:nvPr/>
        </p:nvSpPr>
        <p:spPr>
          <a:xfrm>
            <a:off x="5157216" y="4114800"/>
            <a:ext cx="2560320" cy="457200"/>
          </a:xfrm>
          <a:prstGeom prst="rect">
            <a:avLst/>
          </a:prstGeom>
          <a:noFill/>
          <a:ln/>
        </p:spPr>
        <p:txBody>
          <a:bodyPr wrap="square" lIns="0" tIns="0" rIns="0" bIns="0" rtlCol="0" anchor="ctr"/>
          <a:lstStyle/>
          <a:p>
            <a:pPr indent="0" marL="0">
              <a:buNone/>
            </a:pPr>
            <a:r>
              <a:rPr lang="en-US" sz="1250" b="1" dirty="0">
                <a:solidFill>
                  <a:srgbClr val="F5F2EA"/>
                </a:solidFill>
                <a:latin typeface="Bahnschrift" pitchFamily="34" charset="0"/>
                <a:ea typeface="Bahnschrift" pitchFamily="34" charset="-122"/>
                <a:cs typeface="Bahnschrift" pitchFamily="34" charset="-120"/>
              </a:rPr>
              <a:t>Tools are scattered</a:t>
            </a:r>
            <a:endParaRPr lang="en-US" sz="1250" dirty="0"/>
          </a:p>
        </p:txBody>
      </p:sp>
      <p:sp>
        <p:nvSpPr>
          <p:cNvPr id="47" name="Text 45"/>
          <p:cNvSpPr/>
          <p:nvPr/>
        </p:nvSpPr>
        <p:spPr>
          <a:xfrm>
            <a:off x="4535424" y="4690872"/>
            <a:ext cx="3127248" cy="960120"/>
          </a:xfrm>
          <a:prstGeom prst="rect">
            <a:avLst/>
          </a:prstGeom>
          <a:noFill/>
          <a:ln/>
        </p:spPr>
        <p:txBody>
          <a:bodyPr wrap="square" lIns="0" tIns="0" rIns="0" bIns="0" rtlCol="0" anchor="t"/>
          <a:lstStyle/>
          <a:p>
            <a:pPr indent="0" marL="0">
              <a:lnSpc>
                <a:spcPct val="110000"/>
              </a:lnSpc>
              <a:buNone/>
            </a:pPr>
            <a:r>
              <a:rPr lang="en-US" sz="1050" dirty="0">
                <a:solidFill>
                  <a:srgbClr val="9A97A6"/>
                </a:solidFill>
                <a:latin typeface="Segoe UI" pitchFamily="34" charset="0"/>
                <a:ea typeface="Segoe UI" pitchFamily="34" charset="-122"/>
                <a:cs typeface="Segoe UI" pitchFamily="34" charset="-120"/>
              </a:rPr>
              <a:t>Analysis, puzzles, openings and training live in separate products with no unified loop.</a:t>
            </a:r>
            <a:endParaRPr lang="en-US" sz="1050" dirty="0"/>
          </a:p>
        </p:txBody>
      </p:sp>
      <p:sp>
        <p:nvSpPr>
          <p:cNvPr id="48" name="Shape 46"/>
          <p:cNvSpPr/>
          <p:nvPr/>
        </p:nvSpPr>
        <p:spPr>
          <a:xfrm>
            <a:off x="8065008" y="3913632"/>
            <a:ext cx="3566160" cy="1874520"/>
          </a:xfrm>
          <a:prstGeom prst="roundRect">
            <a:avLst>
              <a:gd name="adj" fmla="val 3415"/>
            </a:avLst>
          </a:prstGeom>
          <a:solidFill>
            <a:srgbClr val="12121A"/>
          </a:solidFill>
          <a:ln w="12700">
            <a:solidFill>
              <a:srgbClr val="26262F"/>
            </a:solidFill>
            <a:prstDash val="solid"/>
          </a:ln>
        </p:spPr>
      </p:sp>
      <p:sp>
        <p:nvSpPr>
          <p:cNvPr id="49" name="Text 47"/>
          <p:cNvSpPr/>
          <p:nvPr/>
        </p:nvSpPr>
        <p:spPr>
          <a:xfrm>
            <a:off x="8284464" y="4187952"/>
            <a:ext cx="3108960" cy="365760"/>
          </a:xfrm>
          <a:prstGeom prst="rect">
            <a:avLst/>
          </a:prstGeom>
          <a:noFill/>
          <a:ln/>
        </p:spPr>
        <p:txBody>
          <a:bodyPr wrap="square" lIns="0" tIns="0" rIns="0" bIns="0" rtlCol="0" anchor="ctr"/>
          <a:lstStyle/>
          <a:p>
            <a:pPr indent="0" marL="0">
              <a:buNone/>
            </a:pPr>
            <a:r>
              <a:rPr lang="en-US" sz="1400" b="1" dirty="0">
                <a:solidFill>
                  <a:srgbClr val="FFC62A"/>
                </a:solidFill>
                <a:latin typeface="Bahnschrift" pitchFamily="34" charset="0"/>
                <a:ea typeface="Bahnschrift" pitchFamily="34" charset="-122"/>
                <a:cs typeface="Bahnschrift" pitchFamily="34" charset="-120"/>
              </a:rPr>
              <a:t>RESEARCH GAP</a:t>
            </a:r>
            <a:endParaRPr lang="en-US" sz="1400" dirty="0"/>
          </a:p>
        </p:txBody>
      </p:sp>
      <p:sp>
        <p:nvSpPr>
          <p:cNvPr id="50" name="Text 48"/>
          <p:cNvSpPr/>
          <p:nvPr/>
        </p:nvSpPr>
        <p:spPr>
          <a:xfrm>
            <a:off x="8284464" y="4645152"/>
            <a:ext cx="3108960" cy="1005840"/>
          </a:xfrm>
          <a:prstGeom prst="rect">
            <a:avLst/>
          </a:prstGeom>
          <a:noFill/>
          <a:ln/>
        </p:spPr>
        <p:txBody>
          <a:bodyPr wrap="square" lIns="0" tIns="0" rIns="0" bIns="0" rtlCol="0" anchor="ctr"/>
          <a:lstStyle/>
          <a:p>
            <a:pPr indent="0" marL="0">
              <a:lnSpc>
                <a:spcPct val="115000"/>
              </a:lnSpc>
              <a:buNone/>
            </a:pPr>
            <a:r>
              <a:rPr lang="en-US" sz="1150" dirty="0">
                <a:solidFill>
                  <a:srgbClr val="F5F2EA"/>
                </a:solidFill>
                <a:latin typeface="Segoe UI" pitchFamily="34" charset="0"/>
                <a:ea typeface="Segoe UI" pitchFamily="34" charset="-122"/>
                <a:cs typeface="Segoe UI" pitchFamily="34" charset="-120"/>
              </a:rPr>
              <a:t>No platform combines professional-grade engine analysis with an educational AI layer, personalized coaching and free access — that is the gap Chessfork fills.</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0B0F"/>
        </a:solidFill>
      </p:bgPr>
    </p:bg>
    <p:spTree>
      <p:nvGrpSpPr>
        <p:cNvPr id="1" name=""/>
        <p:cNvGrpSpPr/>
        <p:nvPr/>
      </p:nvGrpSpPr>
      <p:grpSpPr>
        <a:xfrm>
          <a:off x="0" y="0"/>
          <a:ext cx="0" cy="0"/>
          <a:chOff x="0" y="0"/>
          <a:chExt cx="0" cy="0"/>
        </a:xfrm>
      </p:grpSpPr>
      <p:sp>
        <p:nvSpPr>
          <p:cNvPr id="2" name="Shape 0"/>
          <p:cNvSpPr/>
          <p:nvPr/>
        </p:nvSpPr>
        <p:spPr>
          <a:xfrm>
            <a:off x="10716768" y="292608"/>
            <a:ext cx="155448" cy="155448"/>
          </a:xfrm>
          <a:prstGeom prst="rect">
            <a:avLst/>
          </a:prstGeom>
          <a:solidFill>
            <a:srgbClr val="14141A"/>
          </a:solidFill>
          <a:ln/>
        </p:spPr>
      </p:sp>
      <p:sp>
        <p:nvSpPr>
          <p:cNvPr id="3" name="Shape 1"/>
          <p:cNvSpPr/>
          <p:nvPr/>
        </p:nvSpPr>
        <p:spPr>
          <a:xfrm>
            <a:off x="11027664" y="292608"/>
            <a:ext cx="155448" cy="155448"/>
          </a:xfrm>
          <a:prstGeom prst="rect">
            <a:avLst/>
          </a:prstGeom>
          <a:solidFill>
            <a:srgbClr val="14141A"/>
          </a:solidFill>
          <a:ln/>
        </p:spPr>
      </p:sp>
      <p:sp>
        <p:nvSpPr>
          <p:cNvPr id="4" name="Shape 2"/>
          <p:cNvSpPr/>
          <p:nvPr/>
        </p:nvSpPr>
        <p:spPr>
          <a:xfrm>
            <a:off x="10561320" y="448056"/>
            <a:ext cx="155448" cy="155448"/>
          </a:xfrm>
          <a:prstGeom prst="rect">
            <a:avLst/>
          </a:prstGeom>
          <a:solidFill>
            <a:srgbClr val="14141A"/>
          </a:solidFill>
          <a:ln/>
        </p:spPr>
      </p:sp>
      <p:sp>
        <p:nvSpPr>
          <p:cNvPr id="5" name="Shape 3"/>
          <p:cNvSpPr/>
          <p:nvPr/>
        </p:nvSpPr>
        <p:spPr>
          <a:xfrm>
            <a:off x="10872216" y="448056"/>
            <a:ext cx="155448" cy="155448"/>
          </a:xfrm>
          <a:prstGeom prst="rect">
            <a:avLst/>
          </a:prstGeom>
          <a:solidFill>
            <a:srgbClr val="14141A"/>
          </a:solidFill>
          <a:ln/>
        </p:spPr>
      </p:sp>
      <p:sp>
        <p:nvSpPr>
          <p:cNvPr id="6" name="Shape 4"/>
          <p:cNvSpPr/>
          <p:nvPr/>
        </p:nvSpPr>
        <p:spPr>
          <a:xfrm>
            <a:off x="11183112" y="448056"/>
            <a:ext cx="155448" cy="155448"/>
          </a:xfrm>
          <a:prstGeom prst="rect">
            <a:avLst/>
          </a:prstGeom>
          <a:solidFill>
            <a:srgbClr val="14141A"/>
          </a:solidFill>
          <a:ln/>
        </p:spPr>
      </p:sp>
      <p:sp>
        <p:nvSpPr>
          <p:cNvPr id="7" name="Shape 5"/>
          <p:cNvSpPr/>
          <p:nvPr/>
        </p:nvSpPr>
        <p:spPr>
          <a:xfrm>
            <a:off x="10716768" y="603504"/>
            <a:ext cx="155448" cy="155448"/>
          </a:xfrm>
          <a:prstGeom prst="rect">
            <a:avLst/>
          </a:prstGeom>
          <a:solidFill>
            <a:srgbClr val="14141A"/>
          </a:solidFill>
          <a:ln/>
        </p:spPr>
      </p:sp>
      <p:sp>
        <p:nvSpPr>
          <p:cNvPr id="8" name="Shape 6"/>
          <p:cNvSpPr/>
          <p:nvPr/>
        </p:nvSpPr>
        <p:spPr>
          <a:xfrm>
            <a:off x="11027664" y="603504"/>
            <a:ext cx="155448" cy="155448"/>
          </a:xfrm>
          <a:prstGeom prst="rect">
            <a:avLst/>
          </a:prstGeom>
          <a:solidFill>
            <a:srgbClr val="14141A"/>
          </a:solidFill>
          <a:ln/>
        </p:spPr>
      </p:sp>
      <p:sp>
        <p:nvSpPr>
          <p:cNvPr id="9" name="Shape 7"/>
          <p:cNvSpPr/>
          <p:nvPr/>
        </p:nvSpPr>
        <p:spPr>
          <a:xfrm>
            <a:off x="10561320" y="758952"/>
            <a:ext cx="155448" cy="155448"/>
          </a:xfrm>
          <a:prstGeom prst="rect">
            <a:avLst/>
          </a:prstGeom>
          <a:solidFill>
            <a:srgbClr val="14141A"/>
          </a:solidFill>
          <a:ln/>
        </p:spPr>
      </p:sp>
      <p:sp>
        <p:nvSpPr>
          <p:cNvPr id="10" name="Shape 8"/>
          <p:cNvSpPr/>
          <p:nvPr/>
        </p:nvSpPr>
        <p:spPr>
          <a:xfrm>
            <a:off x="10872216" y="758952"/>
            <a:ext cx="155448" cy="155448"/>
          </a:xfrm>
          <a:prstGeom prst="rect">
            <a:avLst/>
          </a:prstGeom>
          <a:solidFill>
            <a:srgbClr val="14141A"/>
          </a:solidFill>
          <a:ln/>
        </p:spPr>
      </p:sp>
      <p:sp>
        <p:nvSpPr>
          <p:cNvPr id="11" name="Shape 9"/>
          <p:cNvSpPr/>
          <p:nvPr/>
        </p:nvSpPr>
        <p:spPr>
          <a:xfrm>
            <a:off x="11183112" y="758952"/>
            <a:ext cx="155448" cy="155448"/>
          </a:xfrm>
          <a:prstGeom prst="rect">
            <a:avLst/>
          </a:prstGeom>
          <a:solidFill>
            <a:srgbClr val="14141A"/>
          </a:solidFill>
          <a:ln/>
        </p:spPr>
      </p:sp>
      <p:sp>
        <p:nvSpPr>
          <p:cNvPr id="12" name="Shape 10"/>
          <p:cNvSpPr/>
          <p:nvPr/>
        </p:nvSpPr>
        <p:spPr>
          <a:xfrm>
            <a:off x="10716768" y="914400"/>
            <a:ext cx="155448" cy="155448"/>
          </a:xfrm>
          <a:prstGeom prst="rect">
            <a:avLst/>
          </a:prstGeom>
          <a:solidFill>
            <a:srgbClr val="14141A"/>
          </a:solidFill>
          <a:ln/>
        </p:spPr>
      </p:sp>
      <p:sp>
        <p:nvSpPr>
          <p:cNvPr id="13" name="Shape 11"/>
          <p:cNvSpPr/>
          <p:nvPr/>
        </p:nvSpPr>
        <p:spPr>
          <a:xfrm>
            <a:off x="11027664" y="914400"/>
            <a:ext cx="155448" cy="155448"/>
          </a:xfrm>
          <a:prstGeom prst="rect">
            <a:avLst/>
          </a:prstGeom>
          <a:solidFill>
            <a:srgbClr val="14141A"/>
          </a:solidFill>
          <a:ln/>
        </p:spPr>
      </p:sp>
      <p:sp>
        <p:nvSpPr>
          <p:cNvPr id="14" name="Shape 12"/>
          <p:cNvSpPr/>
          <p:nvPr/>
        </p:nvSpPr>
        <p:spPr>
          <a:xfrm>
            <a:off x="9859975" y="310896"/>
            <a:ext cx="1783080" cy="292608"/>
          </a:xfrm>
          <a:prstGeom prst="roundRect">
            <a:avLst>
              <a:gd name="adj" fmla="val 50000"/>
            </a:avLst>
          </a:prstGeom>
          <a:solidFill>
            <a:srgbClr val="2A2412"/>
          </a:solidFill>
          <a:ln w="9525">
            <a:solidFill>
              <a:srgbClr val="4A3D18"/>
            </a:solidFill>
            <a:prstDash val="solid"/>
          </a:ln>
        </p:spPr>
      </p:sp>
      <p:sp>
        <p:nvSpPr>
          <p:cNvPr id="15" name="Text 13"/>
          <p:cNvSpPr/>
          <p:nvPr/>
        </p:nvSpPr>
        <p:spPr>
          <a:xfrm>
            <a:off x="9859975" y="301752"/>
            <a:ext cx="1783080" cy="310896"/>
          </a:xfrm>
          <a:prstGeom prst="rect">
            <a:avLst/>
          </a:prstGeom>
          <a:noFill/>
          <a:ln/>
        </p:spPr>
        <p:txBody>
          <a:bodyPr wrap="square" lIns="0" tIns="0" rIns="0" bIns="0" rtlCol="0" anchor="ctr"/>
          <a:lstStyle/>
          <a:p>
            <a:pPr algn="ctr" indent="0" marL="0">
              <a:buNone/>
            </a:pPr>
            <a:r>
              <a:rPr lang="en-US" sz="800" b="1" spc="120" kern="0" dirty="0">
                <a:solidFill>
                  <a:srgbClr val="FFC62A"/>
                </a:solidFill>
                <a:latin typeface="Bahnschrift" pitchFamily="34" charset="0"/>
                <a:ea typeface="Bahnschrift" pitchFamily="34" charset="-122"/>
                <a:cs typeface="Bahnschrift" pitchFamily="34" charset="-120"/>
              </a:rPr>
              <a:t>VERIFIED · FROM SOURCE CODE</a:t>
            </a:r>
            <a:endParaRPr lang="en-US" sz="800" dirty="0"/>
          </a:p>
        </p:txBody>
      </p:sp>
      <p:sp>
        <p:nvSpPr>
          <p:cNvPr id="16" name="Text 14"/>
          <p:cNvSpPr/>
          <p:nvPr/>
        </p:nvSpPr>
        <p:spPr>
          <a:xfrm>
            <a:off x="566928" y="384048"/>
            <a:ext cx="8229600" cy="274320"/>
          </a:xfrm>
          <a:prstGeom prst="rect">
            <a:avLst/>
          </a:prstGeom>
          <a:noFill/>
          <a:ln/>
        </p:spPr>
        <p:txBody>
          <a:bodyPr wrap="square" lIns="0" tIns="0" rIns="0" bIns="0" rtlCol="0" anchor="ctr"/>
          <a:lstStyle/>
          <a:p>
            <a:pPr indent="0" marL="0">
              <a:buNone/>
            </a:pPr>
            <a:r>
              <a:rPr lang="en-US" sz="1100" b="1" spc="300" kern="0" dirty="0">
                <a:solidFill>
                  <a:srgbClr val="FFC62A"/>
                </a:solidFill>
                <a:latin typeface="Bahnschrift" pitchFamily="34" charset="0"/>
                <a:ea typeface="Bahnschrift" pitchFamily="34" charset="-122"/>
                <a:cs typeface="Bahnschrift" pitchFamily="34" charset="-120"/>
              </a:rPr>
              <a:t>02 · MARKET ANALYSIS</a:t>
            </a:r>
            <a:endParaRPr lang="en-US" sz="1100" dirty="0"/>
          </a:p>
        </p:txBody>
      </p:sp>
      <p:sp>
        <p:nvSpPr>
          <p:cNvPr id="17" name="Shape 15"/>
          <p:cNvSpPr/>
          <p:nvPr/>
        </p:nvSpPr>
        <p:spPr>
          <a:xfrm>
            <a:off x="566928" y="713232"/>
            <a:ext cx="384048" cy="45720"/>
          </a:xfrm>
          <a:prstGeom prst="rect">
            <a:avLst/>
          </a:prstGeom>
          <a:solidFill>
            <a:srgbClr val="FFC62A"/>
          </a:solidFill>
          <a:ln/>
        </p:spPr>
      </p:sp>
      <p:sp>
        <p:nvSpPr>
          <p:cNvPr id="18" name="Text 16"/>
          <p:cNvSpPr/>
          <p:nvPr/>
        </p:nvSpPr>
        <p:spPr>
          <a:xfrm>
            <a:off x="548640" y="841248"/>
            <a:ext cx="11064240" cy="566928"/>
          </a:xfrm>
          <a:prstGeom prst="rect">
            <a:avLst/>
          </a:prstGeom>
          <a:noFill/>
          <a:ln/>
        </p:spPr>
        <p:txBody>
          <a:bodyPr wrap="square" lIns="0" tIns="0" rIns="0" bIns="0" rtlCol="0" anchor="ctr"/>
          <a:lstStyle/>
          <a:p>
            <a:pPr indent="0" marL="0">
              <a:buNone/>
            </a:pPr>
            <a:r>
              <a:rPr lang="en-US" sz="2700" b="1" dirty="0">
                <a:solidFill>
                  <a:srgbClr val="F5F2EA"/>
                </a:solidFill>
                <a:latin typeface="Bahnschrift" pitchFamily="34" charset="0"/>
                <a:ea typeface="Bahnschrift" pitchFamily="34" charset="-122"/>
                <a:cs typeface="Bahnschrift" pitchFamily="34" charset="-120"/>
              </a:rPr>
              <a:t>Existing Systems — a fair comparison</a:t>
            </a:r>
            <a:endParaRPr lang="en-US" sz="2700" dirty="0"/>
          </a:p>
        </p:txBody>
      </p:sp>
      <p:sp>
        <p:nvSpPr>
          <p:cNvPr id="19" name="Text 17"/>
          <p:cNvSpPr/>
          <p:nvPr/>
        </p:nvSpPr>
        <p:spPr>
          <a:xfrm>
            <a:off x="566928" y="1389888"/>
            <a:ext cx="11064240" cy="274320"/>
          </a:xfrm>
          <a:prstGeom prst="rect">
            <a:avLst/>
          </a:prstGeom>
          <a:noFill/>
          <a:ln/>
        </p:spPr>
        <p:txBody>
          <a:bodyPr wrap="square" lIns="0" tIns="0" rIns="0" bIns="0" rtlCol="0" anchor="ctr"/>
          <a:lstStyle/>
          <a:p>
            <a:pPr indent="0" marL="0">
              <a:buNone/>
            </a:pPr>
            <a:r>
              <a:rPr lang="en-US" sz="1250" dirty="0">
                <a:solidFill>
                  <a:srgbClr val="9A97A6"/>
                </a:solidFill>
                <a:latin typeface="Segoe UI" pitchFamily="34" charset="0"/>
                <a:ea typeface="Segoe UI" pitchFamily="34" charset="-122"/>
                <a:cs typeface="Segoe UI" pitchFamily="34" charset="-120"/>
              </a:rPr>
              <a:t>Evaluated against the actual gaps they leave open.</a:t>
            </a:r>
            <a:endParaRPr lang="en-US" sz="1250" dirty="0"/>
          </a:p>
        </p:txBody>
      </p:sp>
      <p:sp>
        <p:nvSpPr>
          <p:cNvPr id="20" name="Text 18"/>
          <p:cNvSpPr/>
          <p:nvPr/>
        </p:nvSpPr>
        <p:spPr>
          <a:xfrm>
            <a:off x="566928" y="6492240"/>
            <a:ext cx="2743200" cy="256032"/>
          </a:xfrm>
          <a:prstGeom prst="rect">
            <a:avLst/>
          </a:prstGeom>
          <a:noFill/>
          <a:ln/>
        </p:spPr>
        <p:txBody>
          <a:bodyPr wrap="square" lIns="0" tIns="0" rIns="0" bIns="0" rtlCol="0" anchor="ctr"/>
          <a:lstStyle/>
          <a:p>
            <a:pPr indent="0" marL="0">
              <a:buNone/>
            </a:pPr>
            <a:r>
              <a:rPr lang="en-US" sz="850" b="1" spc="300" kern="0" dirty="0">
                <a:solidFill>
                  <a:srgbClr val="5C5966"/>
                </a:solidFill>
                <a:latin typeface="Bahnschrift" pitchFamily="34" charset="0"/>
                <a:ea typeface="Bahnschrift" pitchFamily="34" charset="-122"/>
                <a:cs typeface="Bahnschrift" pitchFamily="34" charset="-120"/>
              </a:rPr>
              <a:t>CHESSFORK</a:t>
            </a:r>
            <a:endParaRPr lang="en-US" sz="850" dirty="0"/>
          </a:p>
        </p:txBody>
      </p:sp>
      <p:sp>
        <p:nvSpPr>
          <p:cNvPr id="21" name="Text 19"/>
          <p:cNvSpPr/>
          <p:nvPr/>
        </p:nvSpPr>
        <p:spPr>
          <a:xfrm>
            <a:off x="3840480" y="6492240"/>
            <a:ext cx="4572000" cy="256032"/>
          </a:xfrm>
          <a:prstGeom prst="rect">
            <a:avLst/>
          </a:prstGeom>
          <a:noFill/>
          <a:ln/>
        </p:spPr>
        <p:txBody>
          <a:bodyPr wrap="square" lIns="0" tIns="0" rIns="0" bIns="0" rtlCol="0" anchor="ctr"/>
          <a:lstStyle/>
          <a:p>
            <a:pPr indent="0" marL="0">
              <a:buNone/>
            </a:pPr>
            <a:r>
              <a:rPr lang="en-US" sz="800" spc="150" kern="0" dirty="0">
                <a:solidFill>
                  <a:srgbClr val="5C5966"/>
                </a:solidFill>
                <a:latin typeface="Segoe UI" pitchFamily="34" charset="0"/>
                <a:ea typeface="Segoe UI" pitchFamily="34" charset="-122"/>
                <a:cs typeface="Segoe UI" pitchFamily="34" charset="-120"/>
              </a:rPr>
              <a:t>BCA FINAL YEAR PROJECT · 2026</a:t>
            </a:r>
            <a:endParaRPr lang="en-US" sz="800" dirty="0"/>
          </a:p>
        </p:txBody>
      </p:sp>
      <p:sp>
        <p:nvSpPr>
          <p:cNvPr id="22" name="Text 20"/>
          <p:cNvSpPr/>
          <p:nvPr/>
        </p:nvSpPr>
        <p:spPr>
          <a:xfrm>
            <a:off x="11292840" y="6473952"/>
            <a:ext cx="365760" cy="274320"/>
          </a:xfrm>
          <a:prstGeom prst="rect">
            <a:avLst/>
          </a:prstGeom>
          <a:noFill/>
          <a:ln/>
        </p:spPr>
        <p:txBody>
          <a:bodyPr wrap="square" lIns="0" tIns="0" rIns="0" bIns="0" rtlCol="0" anchor="ctr"/>
          <a:lstStyle/>
          <a:p>
            <a:pPr algn="r" indent="0" marL="0">
              <a:buNone/>
            </a:pPr>
            <a:r>
              <a:rPr lang="en-US" sz="900" b="1" dirty="0">
                <a:solidFill>
                  <a:srgbClr val="5C5966"/>
                </a:solidFill>
                <a:latin typeface="Bahnschrift" pitchFamily="34" charset="0"/>
                <a:ea typeface="Bahnschrift" pitchFamily="34" charset="-122"/>
                <a:cs typeface="Bahnschrift" pitchFamily="34" charset="-120"/>
              </a:rPr>
              <a:t>03</a:t>
            </a:r>
            <a:endParaRPr lang="en-US" sz="9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66928" y="1828800"/>
          <a:ext cx="11064240" cy="914400"/>
        </p:xfrm>
        <a:graphic>
          <a:graphicData uri="http://schemas.openxmlformats.org/drawingml/2006/table">
            <a:tbl>
              <a:tblPr/>
              <a:tblGrid>
                <a:gridCol w="2286000"/>
                <a:gridCol w="4480560"/>
                <a:gridCol w="4297680"/>
              </a:tblGrid>
              <a:tr h="566928">
                <a:tc>
                  <a:txBody>
                    <a:bodyPr/>
                    <a:lstStyle/>
                    <a:p>
                      <a:pPr algn="l" indent="0" marL="0">
                        <a:buNone/>
                      </a:pPr>
                      <a:r>
                        <a:rPr lang="en-US" sz="1150" b="1" spc="100" kern="0" dirty="0">
                          <a:solidFill>
                            <a:srgbClr val="FFC62A"/>
                          </a:solidFill>
                          <a:latin typeface="Bahnschrift" pitchFamily="34" charset="0"/>
                          <a:ea typeface="Bahnschrift" pitchFamily="34" charset="-122"/>
                          <a:cs typeface="Bahnschrift" pitchFamily="34" charset="-120"/>
                        </a:rPr>
                        <a:t>Platform</a:t>
                      </a:r>
                      <a:endParaRPr lang="en-US" sz="1150" dirty="0">
                        <a:latin typeface="Bahnschrift" charset="0"/>
                        <a:ea typeface="Bahnschrift" charset="0"/>
                        <a:cs typeface="Bahnschrift" charset="0"/>
                      </a:endParaRPr>
                    </a:p>
                  </a:txBody>
                  <a:tcPr marL="36576" marR="36576" marT="36576" marB="36576" anchor="ctr">
                    <a:lnL w="6350" cap="flat" cmpd="sng" algn="ctr">
                      <a:solidFill>
                        <a:srgbClr val="26262F"/>
                      </a:solidFill>
                      <a:prstDash val="solid"/>
                      <a:round/>
                      <a:headEnd type="none" w="med" len="med"/>
                      <a:tailEnd type="none" w="med" len="med"/>
                    </a:lnL>
                    <a:lnR w="6350" cap="flat" cmpd="sng" algn="ctr">
                      <a:solidFill>
                        <a:srgbClr val="26262F"/>
                      </a:solidFill>
                      <a:prstDash val="solid"/>
                      <a:round/>
                      <a:headEnd type="none" w="med" len="med"/>
                      <a:tailEnd type="none" w="med" len="med"/>
                    </a:lnR>
                    <a:lnT w="6350" cap="flat" cmpd="sng" algn="ctr">
                      <a:solidFill>
                        <a:srgbClr val="26262F"/>
                      </a:solidFill>
                      <a:prstDash val="solid"/>
                      <a:round/>
                      <a:headEnd type="none" w="med" len="med"/>
                      <a:tailEnd type="none" w="med" len="med"/>
                    </a:lnT>
                    <a:lnB w="6350" cap="flat" cmpd="sng" algn="ctr">
                      <a:solidFill>
                        <a:srgbClr val="26262F"/>
                      </a:solidFill>
                      <a:prstDash val="solid"/>
                      <a:round/>
                      <a:headEnd type="none" w="med" len="med"/>
                      <a:tailEnd type="none" w="med" len="med"/>
                    </a:lnB>
                    <a:solidFill>
                      <a:srgbClr val="1E1E26"/>
                    </a:solidFill>
                  </a:tcPr>
                </a:tc>
                <a:tc>
                  <a:txBody>
                    <a:bodyPr/>
                    <a:lstStyle/>
                    <a:p>
                      <a:pPr algn="l" indent="0" marL="0">
                        <a:buNone/>
                      </a:pPr>
                      <a:r>
                        <a:rPr lang="en-US" sz="1150" b="1" spc="100" kern="0" dirty="0">
                          <a:solidFill>
                            <a:srgbClr val="FFC62A"/>
                          </a:solidFill>
                          <a:latin typeface="Bahnschrift" pitchFamily="34" charset="0"/>
                          <a:ea typeface="Bahnschrift" pitchFamily="34" charset="-122"/>
                          <a:cs typeface="Bahnschrift" pitchFamily="34" charset="-120"/>
                        </a:rPr>
                        <a:t>Strengths</a:t>
                      </a:r>
                      <a:endParaRPr lang="en-US" sz="1150" dirty="0">
                        <a:latin typeface="Bahnschrift" charset="0"/>
                        <a:ea typeface="Bahnschrift" charset="0"/>
                        <a:cs typeface="Bahnschrift" charset="0"/>
                      </a:endParaRPr>
                    </a:p>
                  </a:txBody>
                  <a:tcPr marL="36576" marR="36576" marT="36576" marB="36576" anchor="ctr">
                    <a:lnL w="6350" cap="flat" cmpd="sng" algn="ctr">
                      <a:solidFill>
                        <a:srgbClr val="26262F"/>
                      </a:solidFill>
                      <a:prstDash val="solid"/>
                      <a:round/>
                      <a:headEnd type="none" w="med" len="med"/>
                      <a:tailEnd type="none" w="med" len="med"/>
                    </a:lnL>
                    <a:lnR w="6350" cap="flat" cmpd="sng" algn="ctr">
                      <a:solidFill>
                        <a:srgbClr val="26262F"/>
                      </a:solidFill>
                      <a:prstDash val="solid"/>
                      <a:round/>
                      <a:headEnd type="none" w="med" len="med"/>
                      <a:tailEnd type="none" w="med" len="med"/>
                    </a:lnR>
                    <a:lnT w="6350" cap="flat" cmpd="sng" algn="ctr">
                      <a:solidFill>
                        <a:srgbClr val="26262F"/>
                      </a:solidFill>
                      <a:prstDash val="solid"/>
                      <a:round/>
                      <a:headEnd type="none" w="med" len="med"/>
                      <a:tailEnd type="none" w="med" len="med"/>
                    </a:lnT>
                    <a:lnB w="6350" cap="flat" cmpd="sng" algn="ctr">
                      <a:solidFill>
                        <a:srgbClr val="26262F"/>
                      </a:solidFill>
                      <a:prstDash val="solid"/>
                      <a:round/>
                      <a:headEnd type="none" w="med" len="med"/>
                      <a:tailEnd type="none" w="med" len="med"/>
                    </a:lnB>
                    <a:solidFill>
                      <a:srgbClr val="1E1E26"/>
                    </a:solidFill>
                  </a:tcPr>
                </a:tc>
                <a:tc>
                  <a:txBody>
                    <a:bodyPr/>
                    <a:lstStyle/>
                    <a:p>
                      <a:pPr algn="l" indent="0" marL="0">
                        <a:buNone/>
                      </a:pPr>
                      <a:r>
                        <a:rPr lang="en-US" sz="1150" b="1" spc="100" kern="0" dirty="0">
                          <a:solidFill>
                            <a:srgbClr val="FFC62A"/>
                          </a:solidFill>
                          <a:latin typeface="Bahnschrift" pitchFamily="34" charset="0"/>
                          <a:ea typeface="Bahnschrift" pitchFamily="34" charset="-122"/>
                          <a:cs typeface="Bahnschrift" pitchFamily="34" charset="-120"/>
                        </a:rPr>
                        <a:t>Limitations</a:t>
                      </a:r>
                      <a:endParaRPr lang="en-US" sz="1150" dirty="0">
                        <a:latin typeface="Bahnschrift" charset="0"/>
                        <a:ea typeface="Bahnschrift" charset="0"/>
                        <a:cs typeface="Bahnschrift" charset="0"/>
                      </a:endParaRPr>
                    </a:p>
                  </a:txBody>
                  <a:tcPr marL="36576" marR="36576" marT="36576" marB="36576" anchor="ctr">
                    <a:lnL w="6350" cap="flat" cmpd="sng" algn="ctr">
                      <a:solidFill>
                        <a:srgbClr val="26262F"/>
                      </a:solidFill>
                      <a:prstDash val="solid"/>
                      <a:round/>
                      <a:headEnd type="none" w="med" len="med"/>
                      <a:tailEnd type="none" w="med" len="med"/>
                    </a:lnL>
                    <a:lnR w="6350" cap="flat" cmpd="sng" algn="ctr">
                      <a:solidFill>
                        <a:srgbClr val="26262F"/>
                      </a:solidFill>
                      <a:prstDash val="solid"/>
                      <a:round/>
                      <a:headEnd type="none" w="med" len="med"/>
                      <a:tailEnd type="none" w="med" len="med"/>
                    </a:lnR>
                    <a:lnT w="6350" cap="flat" cmpd="sng" algn="ctr">
                      <a:solidFill>
                        <a:srgbClr val="26262F"/>
                      </a:solidFill>
                      <a:prstDash val="solid"/>
                      <a:round/>
                      <a:headEnd type="none" w="med" len="med"/>
                      <a:tailEnd type="none" w="med" len="med"/>
                    </a:lnT>
                    <a:lnB w="6350" cap="flat" cmpd="sng" algn="ctr">
                      <a:solidFill>
                        <a:srgbClr val="26262F"/>
                      </a:solidFill>
                      <a:prstDash val="solid"/>
                      <a:round/>
                      <a:headEnd type="none" w="med" len="med"/>
                      <a:tailEnd type="none" w="med" len="med"/>
                    </a:lnB>
                    <a:solidFill>
                      <a:srgbClr val="1E1E26"/>
                    </a:solidFill>
                  </a:tcPr>
                </a:tc>
              </a:tr>
              <a:tr h="566928">
                <a:tc>
                  <a:txBody>
                    <a:bodyPr/>
                    <a:lstStyle/>
                    <a:p>
                      <a:pPr indent="0" marL="0">
                        <a:buNone/>
                      </a:pPr>
                      <a:r>
                        <a:rPr lang="en-US" sz="1150" b="1" dirty="0">
                          <a:solidFill>
                            <a:srgbClr val="FFC62A"/>
                          </a:solidFill>
                          <a:latin typeface="Segoe UI Symbol" pitchFamily="34" charset="0"/>
                          <a:ea typeface="Segoe UI Symbol" pitchFamily="34" charset="-122"/>
                          <a:cs typeface="Segoe UI Symbol" pitchFamily="34" charset="-120"/>
                        </a:rPr>
                        <a:t>♞ Chess.com</a:t>
                      </a:r>
                      <a:endParaRPr lang="en-US" sz="1150" dirty="0">
                        <a:latin typeface="Segoe UI Symbol" charset="0"/>
                        <a:ea typeface="Segoe UI Symbol" charset="0"/>
                        <a:cs typeface="Segoe UI Symbol" charset="0"/>
                      </a:endParaRPr>
                    </a:p>
                  </a:txBody>
                  <a:tcPr marL="36576" marR="36576" marT="36576" marB="36576" anchor="ctr">
                    <a:lnL w="6350" cap="flat" cmpd="sng" algn="ctr">
                      <a:solidFill>
                        <a:srgbClr val="26262F"/>
                      </a:solidFill>
                      <a:prstDash val="solid"/>
                      <a:round/>
                      <a:headEnd type="none" w="med" len="med"/>
                      <a:tailEnd type="none" w="med" len="med"/>
                    </a:lnL>
                    <a:lnR w="6350" cap="flat" cmpd="sng" algn="ctr">
                      <a:solidFill>
                        <a:srgbClr val="26262F"/>
                      </a:solidFill>
                      <a:prstDash val="solid"/>
                      <a:round/>
                      <a:headEnd type="none" w="med" len="med"/>
                      <a:tailEnd type="none" w="med" len="med"/>
                    </a:lnR>
                    <a:lnT w="6350" cap="flat" cmpd="sng" algn="ctr">
                      <a:solidFill>
                        <a:srgbClr val="26262F"/>
                      </a:solidFill>
                      <a:prstDash val="solid"/>
                      <a:round/>
                      <a:headEnd type="none" w="med" len="med"/>
                      <a:tailEnd type="none" w="med" len="med"/>
                    </a:lnT>
                    <a:lnB w="6350" cap="flat" cmpd="sng" algn="ctr">
                      <a:solidFill>
                        <a:srgbClr val="26262F"/>
                      </a:solidFill>
                      <a:prstDash val="solid"/>
                      <a:round/>
                      <a:headEnd type="none" w="med" len="med"/>
                      <a:tailEnd type="none" w="med" len="med"/>
                    </a:lnB>
                  </a:tcPr>
                </a:tc>
                <a:tc>
                  <a:txBody>
                    <a:bodyPr/>
                    <a:lstStyle/>
                    <a:p>
                      <a:pPr algn="l" indent="0" marL="0">
                        <a:buNone/>
                      </a:pPr>
                      <a:r>
                        <a:rPr lang="en-US" sz="1100" dirty="0">
                          <a:solidFill>
                            <a:srgbClr val="F5F2EA"/>
                          </a:solidFill>
                          <a:latin typeface="Segoe UI" pitchFamily="34" charset="0"/>
                          <a:ea typeface="Segoe UI" pitchFamily="34" charset="-122"/>
                          <a:cs typeface="Segoe UI" pitchFamily="34" charset="-120"/>
                        </a:rPr>
                        <a:t>Best-in-class UX, lessons, live play, huge community; deep analysis available.</a:t>
                      </a:r>
                      <a:endParaRPr lang="en-US" sz="1100" dirty="0">
                        <a:latin typeface="Segoe UI" charset="0"/>
                        <a:ea typeface="Segoe UI" charset="0"/>
                        <a:cs typeface="Segoe UI" charset="0"/>
                      </a:endParaRPr>
                    </a:p>
                  </a:txBody>
                  <a:tcPr marL="36576" marR="36576" marT="36576" marB="36576" anchor="ctr">
                    <a:lnL w="6350" cap="flat" cmpd="sng" algn="ctr">
                      <a:solidFill>
                        <a:srgbClr val="26262F"/>
                      </a:solidFill>
                      <a:prstDash val="solid"/>
                      <a:round/>
                      <a:headEnd type="none" w="med" len="med"/>
                      <a:tailEnd type="none" w="med" len="med"/>
                    </a:lnL>
                    <a:lnR w="6350" cap="flat" cmpd="sng" algn="ctr">
                      <a:solidFill>
                        <a:srgbClr val="26262F"/>
                      </a:solidFill>
                      <a:prstDash val="solid"/>
                      <a:round/>
                      <a:headEnd type="none" w="med" len="med"/>
                      <a:tailEnd type="none" w="med" len="med"/>
                    </a:lnR>
                    <a:lnT w="6350" cap="flat" cmpd="sng" algn="ctr">
                      <a:solidFill>
                        <a:srgbClr val="26262F"/>
                      </a:solidFill>
                      <a:prstDash val="solid"/>
                      <a:round/>
                      <a:headEnd type="none" w="med" len="med"/>
                      <a:tailEnd type="none" w="med" len="med"/>
                    </a:lnT>
                    <a:lnB w="6350" cap="flat" cmpd="sng" algn="ctr">
                      <a:solidFill>
                        <a:srgbClr val="26262F"/>
                      </a:solidFill>
                      <a:prstDash val="solid"/>
                      <a:round/>
                      <a:headEnd type="none" w="med" len="med"/>
                      <a:tailEnd type="none" w="med" len="med"/>
                    </a:lnB>
                    <a:solidFill>
                      <a:srgbClr val="17171F"/>
                    </a:solidFill>
                  </a:tcPr>
                </a:tc>
                <a:tc>
                  <a:txBody>
                    <a:bodyPr/>
                    <a:lstStyle/>
                    <a:p>
                      <a:pPr algn="l" indent="0" marL="0">
                        <a:buNone/>
                      </a:pPr>
                      <a:r>
                        <a:rPr lang="en-US" sz="1100" dirty="0">
                          <a:solidFill>
                            <a:srgbClr val="F5F2EA"/>
                          </a:solidFill>
                          <a:latin typeface="Segoe UI" pitchFamily="34" charset="0"/>
                          <a:ea typeface="Segoe UI" pitchFamily="34" charset="-122"/>
                          <a:cs typeface="Segoe UI" pitchFamily="34" charset="-120"/>
                        </a:rPr>
                        <a:t>Premium tiers paywall deep analysis and AI explanations; heavy branding and ads.</a:t>
                      </a:r>
                      <a:endParaRPr lang="en-US" sz="1100" dirty="0">
                        <a:latin typeface="Segoe UI" charset="0"/>
                        <a:ea typeface="Segoe UI" charset="0"/>
                        <a:cs typeface="Segoe UI" charset="0"/>
                      </a:endParaRPr>
                    </a:p>
                  </a:txBody>
                  <a:tcPr marL="36576" marR="36576" marT="36576" marB="36576" anchor="ctr">
                    <a:lnL w="6350" cap="flat" cmpd="sng" algn="ctr">
                      <a:solidFill>
                        <a:srgbClr val="26262F"/>
                      </a:solidFill>
                      <a:prstDash val="solid"/>
                      <a:round/>
                      <a:headEnd type="none" w="med" len="med"/>
                      <a:tailEnd type="none" w="med" len="med"/>
                    </a:lnL>
                    <a:lnR w="6350" cap="flat" cmpd="sng" algn="ctr">
                      <a:solidFill>
                        <a:srgbClr val="26262F"/>
                      </a:solidFill>
                      <a:prstDash val="solid"/>
                      <a:round/>
                      <a:headEnd type="none" w="med" len="med"/>
                      <a:tailEnd type="none" w="med" len="med"/>
                    </a:lnR>
                    <a:lnT w="6350" cap="flat" cmpd="sng" algn="ctr">
                      <a:solidFill>
                        <a:srgbClr val="26262F"/>
                      </a:solidFill>
                      <a:prstDash val="solid"/>
                      <a:round/>
                      <a:headEnd type="none" w="med" len="med"/>
                      <a:tailEnd type="none" w="med" len="med"/>
                    </a:lnT>
                    <a:lnB w="6350" cap="flat" cmpd="sng" algn="ctr">
                      <a:solidFill>
                        <a:srgbClr val="26262F"/>
                      </a:solidFill>
                      <a:prstDash val="solid"/>
                      <a:round/>
                      <a:headEnd type="none" w="med" len="med"/>
                      <a:tailEnd type="none" w="med" len="med"/>
                    </a:lnB>
                    <a:solidFill>
                      <a:srgbClr val="15151B"/>
                    </a:solidFill>
                  </a:tcPr>
                </a:tc>
              </a:tr>
              <a:tr h="566928">
                <a:tc>
                  <a:txBody>
                    <a:bodyPr/>
                    <a:lstStyle/>
                    <a:p>
                      <a:pPr indent="0" marL="0">
                        <a:buNone/>
                      </a:pPr>
                      <a:r>
                        <a:rPr lang="en-US" sz="1150" b="1" dirty="0">
                          <a:solidFill>
                            <a:srgbClr val="FFC62A"/>
                          </a:solidFill>
                          <a:latin typeface="Segoe UI Symbol" pitchFamily="34" charset="0"/>
                          <a:ea typeface="Segoe UI Symbol" pitchFamily="34" charset="-122"/>
                          <a:cs typeface="Segoe UI Symbol" pitchFamily="34" charset="-120"/>
                        </a:rPr>
                        <a:t>♜ Lichess</a:t>
                      </a:r>
                      <a:endParaRPr lang="en-US" sz="1150" dirty="0">
                        <a:latin typeface="Segoe UI Symbol" charset="0"/>
                        <a:ea typeface="Segoe UI Symbol" charset="0"/>
                        <a:cs typeface="Segoe UI Symbol" charset="0"/>
                      </a:endParaRPr>
                    </a:p>
                  </a:txBody>
                  <a:tcPr marL="36576" marR="36576" marT="36576" marB="36576" anchor="ctr">
                    <a:lnL w="6350" cap="flat" cmpd="sng" algn="ctr">
                      <a:solidFill>
                        <a:srgbClr val="26262F"/>
                      </a:solidFill>
                      <a:prstDash val="solid"/>
                      <a:round/>
                      <a:headEnd type="none" w="med" len="med"/>
                      <a:tailEnd type="none" w="med" len="med"/>
                    </a:lnL>
                    <a:lnR w="6350" cap="flat" cmpd="sng" algn="ctr">
                      <a:solidFill>
                        <a:srgbClr val="26262F"/>
                      </a:solidFill>
                      <a:prstDash val="solid"/>
                      <a:round/>
                      <a:headEnd type="none" w="med" len="med"/>
                      <a:tailEnd type="none" w="med" len="med"/>
                    </a:lnR>
                    <a:lnT w="6350" cap="flat" cmpd="sng" algn="ctr">
                      <a:solidFill>
                        <a:srgbClr val="26262F"/>
                      </a:solidFill>
                      <a:prstDash val="solid"/>
                      <a:round/>
                      <a:headEnd type="none" w="med" len="med"/>
                      <a:tailEnd type="none" w="med" len="med"/>
                    </a:lnT>
                    <a:lnB w="6350" cap="flat" cmpd="sng" algn="ctr">
                      <a:solidFill>
                        <a:srgbClr val="26262F"/>
                      </a:solidFill>
                      <a:prstDash val="solid"/>
                      <a:round/>
                      <a:headEnd type="none" w="med" len="med"/>
                      <a:tailEnd type="none" w="med" len="med"/>
                    </a:lnB>
                  </a:tcPr>
                </a:tc>
                <a:tc>
                  <a:txBody>
                    <a:bodyPr/>
                    <a:lstStyle/>
                    <a:p>
                      <a:pPr algn="l" indent="0" marL="0">
                        <a:buNone/>
                      </a:pPr>
                      <a:r>
                        <a:rPr lang="en-US" sz="1100" dirty="0">
                          <a:solidFill>
                            <a:srgbClr val="F5F2EA"/>
                          </a:solidFill>
                          <a:latin typeface="Segoe UI" pitchFamily="34" charset="0"/>
                          <a:ea typeface="Segoe UI" pitchFamily="34" charset="-122"/>
                          <a:cs typeface="Segoe UI" pitchFamily="34" charset="-120"/>
                        </a:rPr>
                        <a:t>Free and open-source; powerful analysis board; large opening explorer; no ads.</a:t>
                      </a:r>
                      <a:endParaRPr lang="en-US" sz="1100" dirty="0">
                        <a:latin typeface="Segoe UI" charset="0"/>
                        <a:ea typeface="Segoe UI" charset="0"/>
                        <a:cs typeface="Segoe UI" charset="0"/>
                      </a:endParaRPr>
                    </a:p>
                  </a:txBody>
                  <a:tcPr marL="36576" marR="36576" marT="36576" marB="36576" anchor="ctr">
                    <a:lnL w="6350" cap="flat" cmpd="sng" algn="ctr">
                      <a:solidFill>
                        <a:srgbClr val="26262F"/>
                      </a:solidFill>
                      <a:prstDash val="solid"/>
                      <a:round/>
                      <a:headEnd type="none" w="med" len="med"/>
                      <a:tailEnd type="none" w="med" len="med"/>
                    </a:lnL>
                    <a:lnR w="6350" cap="flat" cmpd="sng" algn="ctr">
                      <a:solidFill>
                        <a:srgbClr val="26262F"/>
                      </a:solidFill>
                      <a:prstDash val="solid"/>
                      <a:round/>
                      <a:headEnd type="none" w="med" len="med"/>
                      <a:tailEnd type="none" w="med" len="med"/>
                    </a:lnR>
                    <a:lnT w="6350" cap="flat" cmpd="sng" algn="ctr">
                      <a:solidFill>
                        <a:srgbClr val="26262F"/>
                      </a:solidFill>
                      <a:prstDash val="solid"/>
                      <a:round/>
                      <a:headEnd type="none" w="med" len="med"/>
                      <a:tailEnd type="none" w="med" len="med"/>
                    </a:lnT>
                    <a:lnB w="6350" cap="flat" cmpd="sng" algn="ctr">
                      <a:solidFill>
                        <a:srgbClr val="26262F"/>
                      </a:solidFill>
                      <a:prstDash val="solid"/>
                      <a:round/>
                      <a:headEnd type="none" w="med" len="med"/>
                      <a:tailEnd type="none" w="med" len="med"/>
                    </a:lnB>
                    <a:solidFill>
                      <a:srgbClr val="17171F"/>
                    </a:solidFill>
                  </a:tcPr>
                </a:tc>
                <a:tc>
                  <a:txBody>
                    <a:bodyPr/>
                    <a:lstStyle/>
                    <a:p>
                      <a:pPr algn="l" indent="0" marL="0">
                        <a:buNone/>
                      </a:pPr>
                      <a:r>
                        <a:rPr lang="en-US" sz="1100" dirty="0">
                          <a:solidFill>
                            <a:srgbClr val="F5F2EA"/>
                          </a:solidFill>
                          <a:latin typeface="Segoe UI" pitchFamily="34" charset="0"/>
                          <a:ea typeface="Segoe UI" pitchFamily="34" charset="-122"/>
                          <a:cs typeface="Segoe UI" pitchFamily="34" charset="-120"/>
                        </a:rPr>
                        <a:t>No AI explanations or personal coaching; learning tools are generic, not personalized.</a:t>
                      </a:r>
                      <a:endParaRPr lang="en-US" sz="1100" dirty="0">
                        <a:latin typeface="Segoe UI" charset="0"/>
                        <a:ea typeface="Segoe UI" charset="0"/>
                        <a:cs typeface="Segoe UI" charset="0"/>
                      </a:endParaRPr>
                    </a:p>
                  </a:txBody>
                  <a:tcPr marL="36576" marR="36576" marT="36576" marB="36576" anchor="ctr">
                    <a:lnL w="6350" cap="flat" cmpd="sng" algn="ctr">
                      <a:solidFill>
                        <a:srgbClr val="26262F"/>
                      </a:solidFill>
                      <a:prstDash val="solid"/>
                      <a:round/>
                      <a:headEnd type="none" w="med" len="med"/>
                      <a:tailEnd type="none" w="med" len="med"/>
                    </a:lnL>
                    <a:lnR w="6350" cap="flat" cmpd="sng" algn="ctr">
                      <a:solidFill>
                        <a:srgbClr val="26262F"/>
                      </a:solidFill>
                      <a:prstDash val="solid"/>
                      <a:round/>
                      <a:headEnd type="none" w="med" len="med"/>
                      <a:tailEnd type="none" w="med" len="med"/>
                    </a:lnR>
                    <a:lnT w="6350" cap="flat" cmpd="sng" algn="ctr">
                      <a:solidFill>
                        <a:srgbClr val="26262F"/>
                      </a:solidFill>
                      <a:prstDash val="solid"/>
                      <a:round/>
                      <a:headEnd type="none" w="med" len="med"/>
                      <a:tailEnd type="none" w="med" len="med"/>
                    </a:lnT>
                    <a:lnB w="6350" cap="flat" cmpd="sng" algn="ctr">
                      <a:solidFill>
                        <a:srgbClr val="26262F"/>
                      </a:solidFill>
                      <a:prstDash val="solid"/>
                      <a:round/>
                      <a:headEnd type="none" w="med" len="med"/>
                      <a:tailEnd type="none" w="med" len="med"/>
                    </a:lnB>
                    <a:solidFill>
                      <a:srgbClr val="15151B"/>
                    </a:solidFill>
                  </a:tcPr>
                </a:tc>
              </a:tr>
              <a:tr h="566928">
                <a:tc>
                  <a:txBody>
                    <a:bodyPr/>
                    <a:lstStyle/>
                    <a:p>
                      <a:pPr indent="0" marL="0">
                        <a:buNone/>
                      </a:pPr>
                      <a:r>
                        <a:rPr lang="en-US" sz="1150" b="1" dirty="0">
                          <a:solidFill>
                            <a:srgbClr val="FFC62A"/>
                          </a:solidFill>
                          <a:latin typeface="Segoe UI Symbol" pitchFamily="34" charset="0"/>
                          <a:ea typeface="Segoe UI Symbol" pitchFamily="34" charset="-122"/>
                          <a:cs typeface="Segoe UI Symbol" pitchFamily="34" charset="-120"/>
                        </a:rPr>
                        <a:t>♝ Chessigma</a:t>
                      </a:r>
                      <a:endParaRPr lang="en-US" sz="1150" dirty="0">
                        <a:latin typeface="Segoe UI Symbol" charset="0"/>
                        <a:ea typeface="Segoe UI Symbol" charset="0"/>
                        <a:cs typeface="Segoe UI Symbol" charset="0"/>
                      </a:endParaRPr>
                    </a:p>
                  </a:txBody>
                  <a:tcPr marL="36576" marR="36576" marT="36576" marB="36576" anchor="ctr">
                    <a:lnL w="6350" cap="flat" cmpd="sng" algn="ctr">
                      <a:solidFill>
                        <a:srgbClr val="26262F"/>
                      </a:solidFill>
                      <a:prstDash val="solid"/>
                      <a:round/>
                      <a:headEnd type="none" w="med" len="med"/>
                      <a:tailEnd type="none" w="med" len="med"/>
                    </a:lnL>
                    <a:lnR w="6350" cap="flat" cmpd="sng" algn="ctr">
                      <a:solidFill>
                        <a:srgbClr val="26262F"/>
                      </a:solidFill>
                      <a:prstDash val="solid"/>
                      <a:round/>
                      <a:headEnd type="none" w="med" len="med"/>
                      <a:tailEnd type="none" w="med" len="med"/>
                    </a:lnR>
                    <a:lnT w="6350" cap="flat" cmpd="sng" algn="ctr">
                      <a:solidFill>
                        <a:srgbClr val="26262F"/>
                      </a:solidFill>
                      <a:prstDash val="solid"/>
                      <a:round/>
                      <a:headEnd type="none" w="med" len="med"/>
                      <a:tailEnd type="none" w="med" len="med"/>
                    </a:lnT>
                    <a:lnB w="6350" cap="flat" cmpd="sng" algn="ctr">
                      <a:solidFill>
                        <a:srgbClr val="26262F"/>
                      </a:solidFill>
                      <a:prstDash val="solid"/>
                      <a:round/>
                      <a:headEnd type="none" w="med" len="med"/>
                      <a:tailEnd type="none" w="med" len="med"/>
                    </a:lnB>
                  </a:tcPr>
                </a:tc>
                <a:tc>
                  <a:txBody>
                    <a:bodyPr/>
                    <a:lstStyle/>
                    <a:p>
                      <a:pPr algn="l" indent="0" marL="0">
                        <a:buNone/>
                      </a:pPr>
                      <a:r>
                        <a:rPr lang="en-US" sz="1100" dirty="0">
                          <a:solidFill>
                            <a:srgbClr val="F5F2EA"/>
                          </a:solidFill>
                          <a:latin typeface="Segoe UI" pitchFamily="34" charset="0"/>
                          <a:ea typeface="Segoe UI" pitchFamily="34" charset="-122"/>
                          <a:cs typeface="Segoe UI" pitchFamily="34" charset="-120"/>
                        </a:rPr>
                        <a:t>Pioneered report-style game reviews — accuracy cards and move grades.</a:t>
                      </a:r>
                      <a:endParaRPr lang="en-US" sz="1100" dirty="0">
                        <a:latin typeface="Segoe UI" charset="0"/>
                        <a:ea typeface="Segoe UI" charset="0"/>
                        <a:cs typeface="Segoe UI" charset="0"/>
                      </a:endParaRPr>
                    </a:p>
                  </a:txBody>
                  <a:tcPr marL="36576" marR="36576" marT="36576" marB="36576" anchor="ctr">
                    <a:lnL w="6350" cap="flat" cmpd="sng" algn="ctr">
                      <a:solidFill>
                        <a:srgbClr val="26262F"/>
                      </a:solidFill>
                      <a:prstDash val="solid"/>
                      <a:round/>
                      <a:headEnd type="none" w="med" len="med"/>
                      <a:tailEnd type="none" w="med" len="med"/>
                    </a:lnL>
                    <a:lnR w="6350" cap="flat" cmpd="sng" algn="ctr">
                      <a:solidFill>
                        <a:srgbClr val="26262F"/>
                      </a:solidFill>
                      <a:prstDash val="solid"/>
                      <a:round/>
                      <a:headEnd type="none" w="med" len="med"/>
                      <a:tailEnd type="none" w="med" len="med"/>
                    </a:lnR>
                    <a:lnT w="6350" cap="flat" cmpd="sng" algn="ctr">
                      <a:solidFill>
                        <a:srgbClr val="26262F"/>
                      </a:solidFill>
                      <a:prstDash val="solid"/>
                      <a:round/>
                      <a:headEnd type="none" w="med" len="med"/>
                      <a:tailEnd type="none" w="med" len="med"/>
                    </a:lnT>
                    <a:lnB w="6350" cap="flat" cmpd="sng" algn="ctr">
                      <a:solidFill>
                        <a:srgbClr val="26262F"/>
                      </a:solidFill>
                      <a:prstDash val="solid"/>
                      <a:round/>
                      <a:headEnd type="none" w="med" len="med"/>
                      <a:tailEnd type="none" w="med" len="med"/>
                    </a:lnB>
                    <a:solidFill>
                      <a:srgbClr val="17171F"/>
                    </a:solidFill>
                  </a:tcPr>
                </a:tc>
                <a:tc>
                  <a:txBody>
                    <a:bodyPr/>
                    <a:lstStyle/>
                    <a:p>
                      <a:pPr algn="l" indent="0" marL="0">
                        <a:buNone/>
                      </a:pPr>
                      <a:r>
                        <a:rPr lang="en-US" sz="1100" dirty="0">
                          <a:solidFill>
                            <a:srgbClr val="F5F2EA"/>
                          </a:solidFill>
                          <a:latin typeface="Segoe UI" pitchFamily="34" charset="0"/>
                          <a:ea typeface="Segoe UI" pitchFamily="34" charset="-122"/>
                          <a:cs typeface="Segoe UI" pitchFamily="34" charset="-120"/>
                        </a:rPr>
                        <a:t>Narrow scope and a thin feature set; no robust coaching loop or learning system.</a:t>
                      </a:r>
                      <a:endParaRPr lang="en-US" sz="1100" dirty="0">
                        <a:latin typeface="Segoe UI" charset="0"/>
                        <a:ea typeface="Segoe UI" charset="0"/>
                        <a:cs typeface="Segoe UI" charset="0"/>
                      </a:endParaRPr>
                    </a:p>
                  </a:txBody>
                  <a:tcPr marL="36576" marR="36576" marT="36576" marB="36576" anchor="ctr">
                    <a:lnL w="6350" cap="flat" cmpd="sng" algn="ctr">
                      <a:solidFill>
                        <a:srgbClr val="26262F"/>
                      </a:solidFill>
                      <a:prstDash val="solid"/>
                      <a:round/>
                      <a:headEnd type="none" w="med" len="med"/>
                      <a:tailEnd type="none" w="med" len="med"/>
                    </a:lnL>
                    <a:lnR w="6350" cap="flat" cmpd="sng" algn="ctr">
                      <a:solidFill>
                        <a:srgbClr val="26262F"/>
                      </a:solidFill>
                      <a:prstDash val="solid"/>
                      <a:round/>
                      <a:headEnd type="none" w="med" len="med"/>
                      <a:tailEnd type="none" w="med" len="med"/>
                    </a:lnR>
                    <a:lnT w="6350" cap="flat" cmpd="sng" algn="ctr">
                      <a:solidFill>
                        <a:srgbClr val="26262F"/>
                      </a:solidFill>
                      <a:prstDash val="solid"/>
                      <a:round/>
                      <a:headEnd type="none" w="med" len="med"/>
                      <a:tailEnd type="none" w="med" len="med"/>
                    </a:lnT>
                    <a:lnB w="6350" cap="flat" cmpd="sng" algn="ctr">
                      <a:solidFill>
                        <a:srgbClr val="26262F"/>
                      </a:solidFill>
                      <a:prstDash val="solid"/>
                      <a:round/>
                      <a:headEnd type="none" w="med" len="med"/>
                      <a:tailEnd type="none" w="med" len="med"/>
                    </a:lnB>
                    <a:solidFill>
                      <a:srgbClr val="15151B"/>
                    </a:solidFill>
                  </a:tcPr>
                </a:tc>
              </a:tr>
            </a:tbl>
          </a:graphicData>
        </a:graphic>
      </p:graphicFrame>
      <p:sp>
        <p:nvSpPr>
          <p:cNvPr id="24" name="Shape 21"/>
          <p:cNvSpPr/>
          <p:nvPr/>
        </p:nvSpPr>
        <p:spPr>
          <a:xfrm>
            <a:off x="566928" y="5074920"/>
            <a:ext cx="11064240" cy="777240"/>
          </a:xfrm>
          <a:prstGeom prst="roundRect">
            <a:avLst>
              <a:gd name="adj" fmla="val 10588"/>
            </a:avLst>
          </a:prstGeom>
          <a:solidFill>
            <a:srgbClr val="12141A"/>
          </a:solidFill>
          <a:ln w="12700">
            <a:solidFill>
              <a:srgbClr val="2A2A35"/>
            </a:solidFill>
            <a:prstDash val="solid"/>
          </a:ln>
        </p:spPr>
      </p:sp>
      <p:sp>
        <p:nvSpPr>
          <p:cNvPr id="25" name="Text 22"/>
          <p:cNvSpPr/>
          <p:nvPr/>
        </p:nvSpPr>
        <p:spPr>
          <a:xfrm>
            <a:off x="822960" y="5074920"/>
            <a:ext cx="10515600" cy="777240"/>
          </a:xfrm>
          <a:prstGeom prst="rect">
            <a:avLst/>
          </a:prstGeom>
          <a:noFill/>
          <a:ln/>
        </p:spPr>
        <p:txBody>
          <a:bodyPr wrap="square" lIns="0" tIns="0" rIns="0" bIns="0" rtlCol="0" anchor="ctr"/>
          <a:lstStyle/>
          <a:p>
            <a:pPr indent="0" marL="0">
              <a:buNone/>
            </a:pPr>
            <a:r>
              <a:rPr lang="en-US" sz="1100" b="1" spc="200" kern="0" dirty="0">
                <a:solidFill>
                  <a:srgbClr val="FFC62A"/>
                </a:solidFill>
                <a:latin typeface="Bahnschrift" pitchFamily="34" charset="0"/>
                <a:ea typeface="Bahnschrift" pitchFamily="34" charset="-122"/>
                <a:cs typeface="Bahnschrift" pitchFamily="34" charset="-120"/>
              </a:rPr>
              <a:t>THE GAP  </a:t>
            </a:r>
            <a:pPr indent="0" marL="0">
              <a:buNone/>
            </a:pPr>
            <a:r>
              <a:rPr lang="en-US" sz="1150" dirty="0">
                <a:solidFill>
                  <a:srgbClr val="F5F2EA"/>
                </a:solidFill>
              </a:rPr>
              <a:t>Premium-grade analysis is paywalled; free analysis lacks explanation and coaching. Chessfork — per its README — is built as a greenfield functional successor: a robust learning platform, not a thin clone.</a:t>
            </a:r>
            <a:endParaRPr lang="en-US" sz="1100" dirty="0"/>
          </a:p>
        </p:txBody>
      </p:sp>
      <p:sp>
        <p:nvSpPr>
          <p:cNvPr id="26" name="Text 23"/>
          <p:cNvSpPr/>
          <p:nvPr/>
        </p:nvSpPr>
        <p:spPr>
          <a:xfrm>
            <a:off x="566928" y="5943600"/>
            <a:ext cx="5486400" cy="274320"/>
          </a:xfrm>
          <a:prstGeom prst="rect">
            <a:avLst/>
          </a:prstGeom>
          <a:noFill/>
          <a:ln/>
        </p:spPr>
        <p:txBody>
          <a:bodyPr wrap="square" lIns="0" tIns="0" rIns="0" bIns="0" rtlCol="0" anchor="ctr"/>
          <a:lstStyle/>
          <a:p>
            <a:pPr indent="0" marL="0">
              <a:buNone/>
            </a:pPr>
            <a:r>
              <a:rPr lang="en-US" sz="1000" b="1" spc="200" kern="0" dirty="0">
                <a:solidFill>
                  <a:srgbClr val="FFC62A"/>
                </a:solidFill>
                <a:latin typeface="Bahnschrift" pitchFamily="34" charset="0"/>
                <a:ea typeface="Bahnschrift" pitchFamily="34" charset="-122"/>
                <a:cs typeface="Bahnschrift" pitchFamily="34" charset="-120"/>
              </a:rPr>
              <a:t>CHESSFORK POSITIONING</a:t>
            </a:r>
            <a:endParaRPr lang="en-US" sz="1000" dirty="0"/>
          </a:p>
        </p:txBody>
      </p:sp>
      <p:sp>
        <p:nvSpPr>
          <p:cNvPr id="27" name="Text 24"/>
          <p:cNvSpPr/>
          <p:nvPr/>
        </p:nvSpPr>
        <p:spPr>
          <a:xfrm>
            <a:off x="566928" y="6181344"/>
            <a:ext cx="11064240" cy="256032"/>
          </a:xfrm>
          <a:prstGeom prst="rect">
            <a:avLst/>
          </a:prstGeom>
          <a:noFill/>
          <a:ln/>
        </p:spPr>
        <p:txBody>
          <a:bodyPr wrap="square" lIns="0" tIns="0" rIns="0" bIns="0" rtlCol="0" anchor="ctr"/>
          <a:lstStyle/>
          <a:p>
            <a:pPr indent="0" marL="0">
              <a:buNone/>
            </a:pPr>
            <a:r>
              <a:rPr lang="en-US" sz="1100" dirty="0">
                <a:solidFill>
                  <a:srgbClr val="F5F2EA"/>
                </a:solidFill>
                <a:latin typeface="Segoe UI" pitchFamily="34" charset="0"/>
                <a:ea typeface="Segoe UI" pitchFamily="34" charset="-122"/>
                <a:cs typeface="Segoe UI" pitchFamily="34" charset="-120"/>
              </a:rPr>
              <a:t>Free Stockfish 18 depth — Lichess-style openness + AI coaching &amp; explanations — Chess.com-style polish</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0B0F"/>
        </a:solidFill>
      </p:bgPr>
    </p:bg>
    <p:spTree>
      <p:nvGrpSpPr>
        <p:cNvPr id="1" name=""/>
        <p:cNvGrpSpPr/>
        <p:nvPr/>
      </p:nvGrpSpPr>
      <p:grpSpPr>
        <a:xfrm>
          <a:off x="0" y="0"/>
          <a:ext cx="0" cy="0"/>
          <a:chOff x="0" y="0"/>
          <a:chExt cx="0" cy="0"/>
        </a:xfrm>
      </p:grpSpPr>
      <p:sp>
        <p:nvSpPr>
          <p:cNvPr id="2" name="Shape 0"/>
          <p:cNvSpPr/>
          <p:nvPr/>
        </p:nvSpPr>
        <p:spPr>
          <a:xfrm>
            <a:off x="10716768" y="292608"/>
            <a:ext cx="155448" cy="155448"/>
          </a:xfrm>
          <a:prstGeom prst="rect">
            <a:avLst/>
          </a:prstGeom>
          <a:solidFill>
            <a:srgbClr val="14141A"/>
          </a:solidFill>
          <a:ln/>
        </p:spPr>
      </p:sp>
      <p:sp>
        <p:nvSpPr>
          <p:cNvPr id="3" name="Shape 1"/>
          <p:cNvSpPr/>
          <p:nvPr/>
        </p:nvSpPr>
        <p:spPr>
          <a:xfrm>
            <a:off x="11027664" y="292608"/>
            <a:ext cx="155448" cy="155448"/>
          </a:xfrm>
          <a:prstGeom prst="rect">
            <a:avLst/>
          </a:prstGeom>
          <a:solidFill>
            <a:srgbClr val="14141A"/>
          </a:solidFill>
          <a:ln/>
        </p:spPr>
      </p:sp>
      <p:sp>
        <p:nvSpPr>
          <p:cNvPr id="4" name="Shape 2"/>
          <p:cNvSpPr/>
          <p:nvPr/>
        </p:nvSpPr>
        <p:spPr>
          <a:xfrm>
            <a:off x="10561320" y="448056"/>
            <a:ext cx="155448" cy="155448"/>
          </a:xfrm>
          <a:prstGeom prst="rect">
            <a:avLst/>
          </a:prstGeom>
          <a:solidFill>
            <a:srgbClr val="14141A"/>
          </a:solidFill>
          <a:ln/>
        </p:spPr>
      </p:sp>
      <p:sp>
        <p:nvSpPr>
          <p:cNvPr id="5" name="Shape 3"/>
          <p:cNvSpPr/>
          <p:nvPr/>
        </p:nvSpPr>
        <p:spPr>
          <a:xfrm>
            <a:off x="10872216" y="448056"/>
            <a:ext cx="155448" cy="155448"/>
          </a:xfrm>
          <a:prstGeom prst="rect">
            <a:avLst/>
          </a:prstGeom>
          <a:solidFill>
            <a:srgbClr val="14141A"/>
          </a:solidFill>
          <a:ln/>
        </p:spPr>
      </p:sp>
      <p:sp>
        <p:nvSpPr>
          <p:cNvPr id="6" name="Shape 4"/>
          <p:cNvSpPr/>
          <p:nvPr/>
        </p:nvSpPr>
        <p:spPr>
          <a:xfrm>
            <a:off x="11183112" y="448056"/>
            <a:ext cx="155448" cy="155448"/>
          </a:xfrm>
          <a:prstGeom prst="rect">
            <a:avLst/>
          </a:prstGeom>
          <a:solidFill>
            <a:srgbClr val="14141A"/>
          </a:solidFill>
          <a:ln/>
        </p:spPr>
      </p:sp>
      <p:sp>
        <p:nvSpPr>
          <p:cNvPr id="7" name="Shape 5"/>
          <p:cNvSpPr/>
          <p:nvPr/>
        </p:nvSpPr>
        <p:spPr>
          <a:xfrm>
            <a:off x="10716768" y="603504"/>
            <a:ext cx="155448" cy="155448"/>
          </a:xfrm>
          <a:prstGeom prst="rect">
            <a:avLst/>
          </a:prstGeom>
          <a:solidFill>
            <a:srgbClr val="14141A"/>
          </a:solidFill>
          <a:ln/>
        </p:spPr>
      </p:sp>
      <p:sp>
        <p:nvSpPr>
          <p:cNvPr id="8" name="Shape 6"/>
          <p:cNvSpPr/>
          <p:nvPr/>
        </p:nvSpPr>
        <p:spPr>
          <a:xfrm>
            <a:off x="11027664" y="603504"/>
            <a:ext cx="155448" cy="155448"/>
          </a:xfrm>
          <a:prstGeom prst="rect">
            <a:avLst/>
          </a:prstGeom>
          <a:solidFill>
            <a:srgbClr val="14141A"/>
          </a:solidFill>
          <a:ln/>
        </p:spPr>
      </p:sp>
      <p:sp>
        <p:nvSpPr>
          <p:cNvPr id="9" name="Shape 7"/>
          <p:cNvSpPr/>
          <p:nvPr/>
        </p:nvSpPr>
        <p:spPr>
          <a:xfrm>
            <a:off x="10561320" y="758952"/>
            <a:ext cx="155448" cy="155448"/>
          </a:xfrm>
          <a:prstGeom prst="rect">
            <a:avLst/>
          </a:prstGeom>
          <a:solidFill>
            <a:srgbClr val="14141A"/>
          </a:solidFill>
          <a:ln/>
        </p:spPr>
      </p:sp>
      <p:sp>
        <p:nvSpPr>
          <p:cNvPr id="10" name="Shape 8"/>
          <p:cNvSpPr/>
          <p:nvPr/>
        </p:nvSpPr>
        <p:spPr>
          <a:xfrm>
            <a:off x="10872216" y="758952"/>
            <a:ext cx="155448" cy="155448"/>
          </a:xfrm>
          <a:prstGeom prst="rect">
            <a:avLst/>
          </a:prstGeom>
          <a:solidFill>
            <a:srgbClr val="14141A"/>
          </a:solidFill>
          <a:ln/>
        </p:spPr>
      </p:sp>
      <p:sp>
        <p:nvSpPr>
          <p:cNvPr id="11" name="Shape 9"/>
          <p:cNvSpPr/>
          <p:nvPr/>
        </p:nvSpPr>
        <p:spPr>
          <a:xfrm>
            <a:off x="11183112" y="758952"/>
            <a:ext cx="155448" cy="155448"/>
          </a:xfrm>
          <a:prstGeom prst="rect">
            <a:avLst/>
          </a:prstGeom>
          <a:solidFill>
            <a:srgbClr val="14141A"/>
          </a:solidFill>
          <a:ln/>
        </p:spPr>
      </p:sp>
      <p:sp>
        <p:nvSpPr>
          <p:cNvPr id="12" name="Shape 10"/>
          <p:cNvSpPr/>
          <p:nvPr/>
        </p:nvSpPr>
        <p:spPr>
          <a:xfrm>
            <a:off x="10716768" y="914400"/>
            <a:ext cx="155448" cy="155448"/>
          </a:xfrm>
          <a:prstGeom prst="rect">
            <a:avLst/>
          </a:prstGeom>
          <a:solidFill>
            <a:srgbClr val="14141A"/>
          </a:solidFill>
          <a:ln/>
        </p:spPr>
      </p:sp>
      <p:sp>
        <p:nvSpPr>
          <p:cNvPr id="13" name="Shape 11"/>
          <p:cNvSpPr/>
          <p:nvPr/>
        </p:nvSpPr>
        <p:spPr>
          <a:xfrm>
            <a:off x="11027664" y="914400"/>
            <a:ext cx="155448" cy="155448"/>
          </a:xfrm>
          <a:prstGeom prst="rect">
            <a:avLst/>
          </a:prstGeom>
          <a:solidFill>
            <a:srgbClr val="14141A"/>
          </a:solidFill>
          <a:ln/>
        </p:spPr>
      </p:sp>
      <p:sp>
        <p:nvSpPr>
          <p:cNvPr id="14" name="Shape 12"/>
          <p:cNvSpPr/>
          <p:nvPr/>
        </p:nvSpPr>
        <p:spPr>
          <a:xfrm>
            <a:off x="9859975" y="310896"/>
            <a:ext cx="1783080" cy="292608"/>
          </a:xfrm>
          <a:prstGeom prst="roundRect">
            <a:avLst>
              <a:gd name="adj" fmla="val 50000"/>
            </a:avLst>
          </a:prstGeom>
          <a:solidFill>
            <a:srgbClr val="2A2412"/>
          </a:solidFill>
          <a:ln w="9525">
            <a:solidFill>
              <a:srgbClr val="4A3D18"/>
            </a:solidFill>
            <a:prstDash val="solid"/>
          </a:ln>
        </p:spPr>
      </p:sp>
      <p:sp>
        <p:nvSpPr>
          <p:cNvPr id="15" name="Text 13"/>
          <p:cNvSpPr/>
          <p:nvPr/>
        </p:nvSpPr>
        <p:spPr>
          <a:xfrm>
            <a:off x="9859975" y="301752"/>
            <a:ext cx="1783080" cy="310896"/>
          </a:xfrm>
          <a:prstGeom prst="rect">
            <a:avLst/>
          </a:prstGeom>
          <a:noFill/>
          <a:ln/>
        </p:spPr>
        <p:txBody>
          <a:bodyPr wrap="square" lIns="0" tIns="0" rIns="0" bIns="0" rtlCol="0" anchor="ctr"/>
          <a:lstStyle/>
          <a:p>
            <a:pPr algn="ctr" indent="0" marL="0">
              <a:buNone/>
            </a:pPr>
            <a:r>
              <a:rPr lang="en-US" sz="800" b="1" spc="120" kern="0" dirty="0">
                <a:solidFill>
                  <a:srgbClr val="FFC62A"/>
                </a:solidFill>
                <a:latin typeface="Bahnschrift" pitchFamily="34" charset="0"/>
                <a:ea typeface="Bahnschrift" pitchFamily="34" charset="-122"/>
                <a:cs typeface="Bahnschrift" pitchFamily="34" charset="-120"/>
              </a:rPr>
              <a:t>VERIFIED · FROM SOURCE CODE</a:t>
            </a:r>
            <a:endParaRPr lang="en-US" sz="800" dirty="0"/>
          </a:p>
        </p:txBody>
      </p:sp>
      <p:sp>
        <p:nvSpPr>
          <p:cNvPr id="16" name="Text 14"/>
          <p:cNvSpPr/>
          <p:nvPr/>
        </p:nvSpPr>
        <p:spPr>
          <a:xfrm>
            <a:off x="566928" y="384048"/>
            <a:ext cx="8229600" cy="274320"/>
          </a:xfrm>
          <a:prstGeom prst="rect">
            <a:avLst/>
          </a:prstGeom>
          <a:noFill/>
          <a:ln/>
        </p:spPr>
        <p:txBody>
          <a:bodyPr wrap="square" lIns="0" tIns="0" rIns="0" bIns="0" rtlCol="0" anchor="ctr"/>
          <a:lstStyle/>
          <a:p>
            <a:pPr indent="0" marL="0">
              <a:buNone/>
            </a:pPr>
            <a:r>
              <a:rPr lang="en-US" sz="1100" b="1" spc="300" kern="0" dirty="0">
                <a:solidFill>
                  <a:srgbClr val="FFC62A"/>
                </a:solidFill>
                <a:latin typeface="Bahnschrift" pitchFamily="34" charset="0"/>
                <a:ea typeface="Bahnschrift" pitchFamily="34" charset="-122"/>
                <a:cs typeface="Bahnschrift" pitchFamily="34" charset="-120"/>
              </a:rPr>
              <a:t>03 · OUR SOLUTION</a:t>
            </a:r>
            <a:endParaRPr lang="en-US" sz="1100" dirty="0"/>
          </a:p>
        </p:txBody>
      </p:sp>
      <p:sp>
        <p:nvSpPr>
          <p:cNvPr id="17" name="Shape 15"/>
          <p:cNvSpPr/>
          <p:nvPr/>
        </p:nvSpPr>
        <p:spPr>
          <a:xfrm>
            <a:off x="566928" y="713232"/>
            <a:ext cx="384048" cy="45720"/>
          </a:xfrm>
          <a:prstGeom prst="rect">
            <a:avLst/>
          </a:prstGeom>
          <a:solidFill>
            <a:srgbClr val="FFC62A"/>
          </a:solidFill>
          <a:ln/>
        </p:spPr>
      </p:sp>
      <p:sp>
        <p:nvSpPr>
          <p:cNvPr id="18" name="Text 16"/>
          <p:cNvSpPr/>
          <p:nvPr/>
        </p:nvSpPr>
        <p:spPr>
          <a:xfrm>
            <a:off x="548640" y="841248"/>
            <a:ext cx="11064240" cy="566928"/>
          </a:xfrm>
          <a:prstGeom prst="rect">
            <a:avLst/>
          </a:prstGeom>
          <a:noFill/>
          <a:ln/>
        </p:spPr>
        <p:txBody>
          <a:bodyPr wrap="square" lIns="0" tIns="0" rIns="0" bIns="0" rtlCol="0" anchor="ctr"/>
          <a:lstStyle/>
          <a:p>
            <a:pPr indent="0" marL="0">
              <a:buNone/>
            </a:pPr>
            <a:r>
              <a:rPr lang="en-US" sz="2700" b="1" dirty="0">
                <a:solidFill>
                  <a:srgbClr val="F5F2EA"/>
                </a:solidFill>
                <a:latin typeface="Bahnschrift" pitchFamily="34" charset="0"/>
                <a:ea typeface="Bahnschrift" pitchFamily="34" charset="-122"/>
                <a:cs typeface="Bahnschrift" pitchFamily="34" charset="-120"/>
              </a:rPr>
              <a:t>The proposed system — Chessfork</a:t>
            </a:r>
            <a:endParaRPr lang="en-US" sz="2700" dirty="0"/>
          </a:p>
        </p:txBody>
      </p:sp>
      <p:sp>
        <p:nvSpPr>
          <p:cNvPr id="19" name="Text 17"/>
          <p:cNvSpPr/>
          <p:nvPr/>
        </p:nvSpPr>
        <p:spPr>
          <a:xfrm>
            <a:off x="566928" y="1389888"/>
            <a:ext cx="11064240" cy="274320"/>
          </a:xfrm>
          <a:prstGeom prst="rect">
            <a:avLst/>
          </a:prstGeom>
          <a:noFill/>
          <a:ln/>
        </p:spPr>
        <p:txBody>
          <a:bodyPr wrap="square" lIns="0" tIns="0" rIns="0" bIns="0" rtlCol="0" anchor="ctr"/>
          <a:lstStyle/>
          <a:p>
            <a:pPr indent="0" marL="0">
              <a:buNone/>
            </a:pPr>
            <a:r>
              <a:rPr lang="en-US" sz="1250" dirty="0">
                <a:solidFill>
                  <a:srgbClr val="9A97A6"/>
                </a:solidFill>
                <a:latin typeface="Segoe UI" pitchFamily="34" charset="0"/>
                <a:ea typeface="Segoe UI" pitchFamily="34" charset="-122"/>
                <a:cs typeface="Segoe UI" pitchFamily="34" charset="-120"/>
              </a:rPr>
              <a:t>Every item below is implemented in the repository, not a mockup.</a:t>
            </a:r>
            <a:endParaRPr lang="en-US" sz="1250" dirty="0"/>
          </a:p>
        </p:txBody>
      </p:sp>
      <p:sp>
        <p:nvSpPr>
          <p:cNvPr id="20" name="Text 18"/>
          <p:cNvSpPr/>
          <p:nvPr/>
        </p:nvSpPr>
        <p:spPr>
          <a:xfrm>
            <a:off x="566928" y="6492240"/>
            <a:ext cx="2743200" cy="256032"/>
          </a:xfrm>
          <a:prstGeom prst="rect">
            <a:avLst/>
          </a:prstGeom>
          <a:noFill/>
          <a:ln/>
        </p:spPr>
        <p:txBody>
          <a:bodyPr wrap="square" lIns="0" tIns="0" rIns="0" bIns="0" rtlCol="0" anchor="ctr"/>
          <a:lstStyle/>
          <a:p>
            <a:pPr indent="0" marL="0">
              <a:buNone/>
            </a:pPr>
            <a:r>
              <a:rPr lang="en-US" sz="850" b="1" spc="300" kern="0" dirty="0">
                <a:solidFill>
                  <a:srgbClr val="5C5966"/>
                </a:solidFill>
                <a:latin typeface="Bahnschrift" pitchFamily="34" charset="0"/>
                <a:ea typeface="Bahnschrift" pitchFamily="34" charset="-122"/>
                <a:cs typeface="Bahnschrift" pitchFamily="34" charset="-120"/>
              </a:rPr>
              <a:t>CHESSFORK</a:t>
            </a:r>
            <a:endParaRPr lang="en-US" sz="850" dirty="0"/>
          </a:p>
        </p:txBody>
      </p:sp>
      <p:sp>
        <p:nvSpPr>
          <p:cNvPr id="21" name="Text 19"/>
          <p:cNvSpPr/>
          <p:nvPr/>
        </p:nvSpPr>
        <p:spPr>
          <a:xfrm>
            <a:off x="3840480" y="6492240"/>
            <a:ext cx="4572000" cy="256032"/>
          </a:xfrm>
          <a:prstGeom prst="rect">
            <a:avLst/>
          </a:prstGeom>
          <a:noFill/>
          <a:ln/>
        </p:spPr>
        <p:txBody>
          <a:bodyPr wrap="square" lIns="0" tIns="0" rIns="0" bIns="0" rtlCol="0" anchor="ctr"/>
          <a:lstStyle/>
          <a:p>
            <a:pPr indent="0" marL="0">
              <a:buNone/>
            </a:pPr>
            <a:r>
              <a:rPr lang="en-US" sz="800" spc="150" kern="0" dirty="0">
                <a:solidFill>
                  <a:srgbClr val="5C5966"/>
                </a:solidFill>
                <a:latin typeface="Segoe UI" pitchFamily="34" charset="0"/>
                <a:ea typeface="Segoe UI" pitchFamily="34" charset="-122"/>
                <a:cs typeface="Segoe UI" pitchFamily="34" charset="-120"/>
              </a:rPr>
              <a:t>BCA FINAL YEAR PROJECT · 2026</a:t>
            </a:r>
            <a:endParaRPr lang="en-US" sz="800" dirty="0"/>
          </a:p>
        </p:txBody>
      </p:sp>
      <p:sp>
        <p:nvSpPr>
          <p:cNvPr id="22" name="Text 20"/>
          <p:cNvSpPr/>
          <p:nvPr/>
        </p:nvSpPr>
        <p:spPr>
          <a:xfrm>
            <a:off x="11292840" y="6473952"/>
            <a:ext cx="365760" cy="274320"/>
          </a:xfrm>
          <a:prstGeom prst="rect">
            <a:avLst/>
          </a:prstGeom>
          <a:noFill/>
          <a:ln/>
        </p:spPr>
        <p:txBody>
          <a:bodyPr wrap="square" lIns="0" tIns="0" rIns="0" bIns="0" rtlCol="0" anchor="ctr"/>
          <a:lstStyle/>
          <a:p>
            <a:pPr algn="r" indent="0" marL="0">
              <a:buNone/>
            </a:pPr>
            <a:r>
              <a:rPr lang="en-US" sz="900" b="1" dirty="0">
                <a:solidFill>
                  <a:srgbClr val="5C5966"/>
                </a:solidFill>
                <a:latin typeface="Bahnschrift" pitchFamily="34" charset="0"/>
                <a:ea typeface="Bahnschrift" pitchFamily="34" charset="-122"/>
                <a:cs typeface="Bahnschrift" pitchFamily="34" charset="-120"/>
              </a:rPr>
              <a:t>04</a:t>
            </a:r>
            <a:endParaRPr lang="en-US" sz="900" dirty="0"/>
          </a:p>
        </p:txBody>
      </p:sp>
      <p:sp>
        <p:nvSpPr>
          <p:cNvPr id="23" name="Shape 21"/>
          <p:cNvSpPr/>
          <p:nvPr/>
        </p:nvSpPr>
        <p:spPr>
          <a:xfrm>
            <a:off x="566928" y="1783080"/>
            <a:ext cx="3566160" cy="1783080"/>
          </a:xfrm>
          <a:prstGeom prst="roundRect">
            <a:avLst>
              <a:gd name="adj" fmla="val 3590"/>
            </a:avLst>
          </a:prstGeom>
          <a:solidFill>
            <a:srgbClr val="15151B"/>
          </a:solidFill>
          <a:ln w="12700">
            <a:solidFill>
              <a:srgbClr val="26262F"/>
            </a:solidFill>
            <a:prstDash val="solid"/>
          </a:ln>
        </p:spPr>
      </p:sp>
      <p:sp>
        <p:nvSpPr>
          <p:cNvPr id="24" name="Shape 22"/>
          <p:cNvSpPr/>
          <p:nvPr/>
        </p:nvSpPr>
        <p:spPr>
          <a:xfrm>
            <a:off x="768096" y="1965960"/>
            <a:ext cx="502920" cy="502920"/>
          </a:xfrm>
          <a:prstGeom prst="ellipse">
            <a:avLst/>
          </a:prstGeom>
          <a:solidFill>
            <a:srgbClr val="2A2412"/>
          </a:solidFill>
          <a:ln w="12700">
            <a:solidFill>
              <a:srgbClr val="4A3D18"/>
            </a:solidFill>
            <a:prstDash val="solid"/>
          </a:ln>
        </p:spPr>
      </p:sp>
      <p:sp>
        <p:nvSpPr>
          <p:cNvPr id="25" name="Text 23"/>
          <p:cNvSpPr/>
          <p:nvPr/>
        </p:nvSpPr>
        <p:spPr>
          <a:xfrm>
            <a:off x="841248" y="2029968"/>
            <a:ext cx="365760" cy="365760"/>
          </a:xfrm>
          <a:prstGeom prst="rect">
            <a:avLst/>
          </a:prstGeom>
          <a:noFill/>
          <a:ln/>
        </p:spPr>
        <p:txBody>
          <a:bodyPr wrap="square" lIns="0" tIns="0" rIns="0" bIns="0" rtlCol="0" anchor="ctr"/>
          <a:lstStyle/>
          <a:p>
            <a:pPr algn="ctr" indent="0" marL="0">
              <a:buNone/>
            </a:pPr>
            <a:r>
              <a:rPr lang="en-US" sz="2592" dirty="0">
                <a:solidFill>
                  <a:srgbClr val="FFC62A"/>
                </a:solidFill>
                <a:latin typeface="Segoe UI Symbol" pitchFamily="34" charset="0"/>
                <a:ea typeface="Segoe UI Symbol" pitchFamily="34" charset="-122"/>
                <a:cs typeface="Segoe UI Symbol" pitchFamily="34" charset="-120"/>
              </a:rPr>
              <a:t>♞</a:t>
            </a:r>
            <a:endParaRPr lang="en-US" sz="2592" dirty="0"/>
          </a:p>
        </p:txBody>
      </p:sp>
      <p:sp>
        <p:nvSpPr>
          <p:cNvPr id="26" name="Text 24"/>
          <p:cNvSpPr/>
          <p:nvPr/>
        </p:nvSpPr>
        <p:spPr>
          <a:xfrm>
            <a:off x="1408176" y="1965960"/>
            <a:ext cx="2514600" cy="274320"/>
          </a:xfrm>
          <a:prstGeom prst="rect">
            <a:avLst/>
          </a:prstGeom>
          <a:noFill/>
          <a:ln/>
        </p:spPr>
        <p:txBody>
          <a:bodyPr wrap="square" lIns="0" tIns="0" rIns="0" bIns="0" rtlCol="0" anchor="ctr"/>
          <a:lstStyle/>
          <a:p>
            <a:pPr indent="0" marL="0">
              <a:buNone/>
            </a:pPr>
            <a:r>
              <a:rPr lang="en-US" sz="1300" b="1" dirty="0">
                <a:solidFill>
                  <a:srgbClr val="F5F2EA"/>
                </a:solidFill>
                <a:latin typeface="Bahnschrift" pitchFamily="34" charset="0"/>
                <a:ea typeface="Bahnschrift" pitchFamily="34" charset="-122"/>
                <a:cs typeface="Bahnschrift" pitchFamily="34" charset="-120"/>
              </a:rPr>
              <a:t>AI Explanations</a:t>
            </a:r>
            <a:endParaRPr lang="en-US" sz="1300" dirty="0"/>
          </a:p>
        </p:txBody>
      </p:sp>
      <p:sp>
        <p:nvSpPr>
          <p:cNvPr id="27" name="Shape 25"/>
          <p:cNvSpPr/>
          <p:nvPr/>
        </p:nvSpPr>
        <p:spPr>
          <a:xfrm>
            <a:off x="1408176" y="2240280"/>
            <a:ext cx="1043788" cy="246888"/>
          </a:xfrm>
          <a:prstGeom prst="roundRect">
            <a:avLst>
              <a:gd name="adj" fmla="val 50000"/>
            </a:avLst>
          </a:prstGeom>
          <a:solidFill>
            <a:srgbClr val="0E2418"/>
          </a:solidFill>
          <a:ln w="9525">
            <a:solidFill>
              <a:srgbClr val="1F5C38"/>
            </a:solidFill>
            <a:prstDash val="solid"/>
          </a:ln>
        </p:spPr>
      </p:sp>
      <p:sp>
        <p:nvSpPr>
          <p:cNvPr id="28" name="Text 26"/>
          <p:cNvSpPr/>
          <p:nvPr/>
        </p:nvSpPr>
        <p:spPr>
          <a:xfrm>
            <a:off x="1408176" y="2229307"/>
            <a:ext cx="1043788" cy="269748"/>
          </a:xfrm>
          <a:prstGeom prst="rect">
            <a:avLst/>
          </a:prstGeom>
          <a:noFill/>
          <a:ln/>
        </p:spPr>
        <p:txBody>
          <a:bodyPr wrap="square" lIns="0" tIns="0" rIns="0" bIns="0" rtlCol="0" anchor="ctr"/>
          <a:lstStyle/>
          <a:p>
            <a:pPr algn="ctr" indent="0" marL="0">
              <a:buNone/>
            </a:pPr>
            <a:r>
              <a:rPr lang="en-US" sz="850" b="1" spc="80" kern="0" dirty="0">
                <a:solidFill>
                  <a:srgbClr val="3DDC84"/>
                </a:solidFill>
                <a:latin typeface="Segoe UI" pitchFamily="34" charset="0"/>
                <a:ea typeface="Segoe UI" pitchFamily="34" charset="-122"/>
                <a:cs typeface="Segoe UI" pitchFamily="34" charset="-120"/>
              </a:rPr>
              <a:t>IMPLEMENTED</a:t>
            </a:r>
            <a:endParaRPr lang="en-US" sz="850" dirty="0"/>
          </a:p>
        </p:txBody>
      </p:sp>
      <p:sp>
        <p:nvSpPr>
          <p:cNvPr id="29" name="Text 27"/>
          <p:cNvSpPr/>
          <p:nvPr/>
        </p:nvSpPr>
        <p:spPr>
          <a:xfrm>
            <a:off x="786384" y="2651760"/>
            <a:ext cx="3127248" cy="822960"/>
          </a:xfrm>
          <a:prstGeom prst="rect">
            <a:avLst/>
          </a:prstGeom>
          <a:noFill/>
          <a:ln/>
        </p:spPr>
        <p:txBody>
          <a:bodyPr wrap="square" lIns="0" tIns="0" rIns="0" bIns="0" rtlCol="0" anchor="t"/>
          <a:lstStyle/>
          <a:p>
            <a:pPr indent="0" marL="0">
              <a:lnSpc>
                <a:spcPct val="110000"/>
              </a:lnSpc>
              <a:buNone/>
            </a:pPr>
            <a:r>
              <a:rPr lang="en-US" sz="1050" dirty="0">
                <a:solidFill>
                  <a:srgbClr val="9A97A6"/>
                </a:solidFill>
                <a:latin typeface="Segoe UI" pitchFamily="34" charset="0"/>
                <a:ea typeface="Segoe UI" pitchFamily="34" charset="-122"/>
                <a:cs typeface="Segoe UI" pitchFamily="34" charset="-120"/>
              </a:rPr>
              <a:t>Every move's grade is explained in plain language by an LLM (Claude / DeepSeek).</a:t>
            </a:r>
            <a:endParaRPr lang="en-US" sz="1050" dirty="0"/>
          </a:p>
        </p:txBody>
      </p:sp>
      <p:sp>
        <p:nvSpPr>
          <p:cNvPr id="30" name="Shape 28"/>
          <p:cNvSpPr/>
          <p:nvPr/>
        </p:nvSpPr>
        <p:spPr>
          <a:xfrm>
            <a:off x="4315968" y="1783080"/>
            <a:ext cx="3566160" cy="1783080"/>
          </a:xfrm>
          <a:prstGeom prst="roundRect">
            <a:avLst>
              <a:gd name="adj" fmla="val 3590"/>
            </a:avLst>
          </a:prstGeom>
          <a:solidFill>
            <a:srgbClr val="15151B"/>
          </a:solidFill>
          <a:ln w="12700">
            <a:solidFill>
              <a:srgbClr val="26262F"/>
            </a:solidFill>
            <a:prstDash val="solid"/>
          </a:ln>
        </p:spPr>
      </p:sp>
      <p:sp>
        <p:nvSpPr>
          <p:cNvPr id="31" name="Shape 29"/>
          <p:cNvSpPr/>
          <p:nvPr/>
        </p:nvSpPr>
        <p:spPr>
          <a:xfrm>
            <a:off x="4517136" y="1965960"/>
            <a:ext cx="502920" cy="502920"/>
          </a:xfrm>
          <a:prstGeom prst="ellipse">
            <a:avLst/>
          </a:prstGeom>
          <a:solidFill>
            <a:srgbClr val="2A2412"/>
          </a:solidFill>
          <a:ln w="12700">
            <a:solidFill>
              <a:srgbClr val="4A3D18"/>
            </a:solidFill>
            <a:prstDash val="solid"/>
          </a:ln>
        </p:spPr>
      </p:sp>
      <p:sp>
        <p:nvSpPr>
          <p:cNvPr id="32" name="Text 30"/>
          <p:cNvSpPr/>
          <p:nvPr/>
        </p:nvSpPr>
        <p:spPr>
          <a:xfrm>
            <a:off x="4590288" y="2029968"/>
            <a:ext cx="365760" cy="365760"/>
          </a:xfrm>
          <a:prstGeom prst="rect">
            <a:avLst/>
          </a:prstGeom>
          <a:noFill/>
          <a:ln/>
        </p:spPr>
        <p:txBody>
          <a:bodyPr wrap="square" lIns="0" tIns="0" rIns="0" bIns="0" rtlCol="0" anchor="ctr"/>
          <a:lstStyle/>
          <a:p>
            <a:pPr algn="ctr" indent="0" marL="0">
              <a:buNone/>
            </a:pPr>
            <a:r>
              <a:rPr lang="en-US" sz="2592" dirty="0">
                <a:solidFill>
                  <a:srgbClr val="FFC62A"/>
                </a:solidFill>
                <a:latin typeface="Segoe UI Symbol" pitchFamily="34" charset="0"/>
                <a:ea typeface="Segoe UI Symbol" pitchFamily="34" charset="-122"/>
                <a:cs typeface="Segoe UI Symbol" pitchFamily="34" charset="-120"/>
              </a:rPr>
              <a:t>♛</a:t>
            </a:r>
            <a:endParaRPr lang="en-US" sz="2592" dirty="0"/>
          </a:p>
        </p:txBody>
      </p:sp>
      <p:sp>
        <p:nvSpPr>
          <p:cNvPr id="33" name="Text 31"/>
          <p:cNvSpPr/>
          <p:nvPr/>
        </p:nvSpPr>
        <p:spPr>
          <a:xfrm>
            <a:off x="5157216" y="1965960"/>
            <a:ext cx="2514600" cy="274320"/>
          </a:xfrm>
          <a:prstGeom prst="rect">
            <a:avLst/>
          </a:prstGeom>
          <a:noFill/>
          <a:ln/>
        </p:spPr>
        <p:txBody>
          <a:bodyPr wrap="square" lIns="0" tIns="0" rIns="0" bIns="0" rtlCol="0" anchor="ctr"/>
          <a:lstStyle/>
          <a:p>
            <a:pPr indent="0" marL="0">
              <a:buNone/>
            </a:pPr>
            <a:r>
              <a:rPr lang="en-US" sz="1300" b="1" dirty="0">
                <a:solidFill>
                  <a:srgbClr val="F5F2EA"/>
                </a:solidFill>
                <a:latin typeface="Bahnschrift" pitchFamily="34" charset="0"/>
                <a:ea typeface="Bahnschrift" pitchFamily="34" charset="-122"/>
                <a:cs typeface="Bahnschrift" pitchFamily="34" charset="-120"/>
              </a:rPr>
              <a:t>Personalized Coaching</a:t>
            </a:r>
            <a:endParaRPr lang="en-US" sz="1300" dirty="0"/>
          </a:p>
        </p:txBody>
      </p:sp>
      <p:sp>
        <p:nvSpPr>
          <p:cNvPr id="34" name="Shape 32"/>
          <p:cNvSpPr/>
          <p:nvPr/>
        </p:nvSpPr>
        <p:spPr>
          <a:xfrm>
            <a:off x="5157216" y="2240280"/>
            <a:ext cx="1043788" cy="246888"/>
          </a:xfrm>
          <a:prstGeom prst="roundRect">
            <a:avLst>
              <a:gd name="adj" fmla="val 50000"/>
            </a:avLst>
          </a:prstGeom>
          <a:solidFill>
            <a:srgbClr val="0E2418"/>
          </a:solidFill>
          <a:ln w="9525">
            <a:solidFill>
              <a:srgbClr val="1F5C38"/>
            </a:solidFill>
            <a:prstDash val="solid"/>
          </a:ln>
        </p:spPr>
      </p:sp>
      <p:sp>
        <p:nvSpPr>
          <p:cNvPr id="35" name="Text 33"/>
          <p:cNvSpPr/>
          <p:nvPr/>
        </p:nvSpPr>
        <p:spPr>
          <a:xfrm>
            <a:off x="5157216" y="2229307"/>
            <a:ext cx="1043788" cy="269748"/>
          </a:xfrm>
          <a:prstGeom prst="rect">
            <a:avLst/>
          </a:prstGeom>
          <a:noFill/>
          <a:ln/>
        </p:spPr>
        <p:txBody>
          <a:bodyPr wrap="square" lIns="0" tIns="0" rIns="0" bIns="0" rtlCol="0" anchor="ctr"/>
          <a:lstStyle/>
          <a:p>
            <a:pPr algn="ctr" indent="0" marL="0">
              <a:buNone/>
            </a:pPr>
            <a:r>
              <a:rPr lang="en-US" sz="850" b="1" spc="80" kern="0" dirty="0">
                <a:solidFill>
                  <a:srgbClr val="3DDC84"/>
                </a:solidFill>
                <a:latin typeface="Segoe UI" pitchFamily="34" charset="0"/>
                <a:ea typeface="Segoe UI" pitchFamily="34" charset="-122"/>
                <a:cs typeface="Segoe UI" pitchFamily="34" charset="-120"/>
              </a:rPr>
              <a:t>IMPLEMENTED</a:t>
            </a:r>
            <a:endParaRPr lang="en-US" sz="850" dirty="0"/>
          </a:p>
        </p:txBody>
      </p:sp>
      <p:sp>
        <p:nvSpPr>
          <p:cNvPr id="36" name="Text 34"/>
          <p:cNvSpPr/>
          <p:nvPr/>
        </p:nvSpPr>
        <p:spPr>
          <a:xfrm>
            <a:off x="4535424" y="2651760"/>
            <a:ext cx="3127248" cy="822960"/>
          </a:xfrm>
          <a:prstGeom prst="rect">
            <a:avLst/>
          </a:prstGeom>
          <a:noFill/>
          <a:ln/>
        </p:spPr>
        <p:txBody>
          <a:bodyPr wrap="square" lIns="0" tIns="0" rIns="0" bIns="0" rtlCol="0" anchor="t"/>
          <a:lstStyle/>
          <a:p>
            <a:pPr indent="0" marL="0">
              <a:lnSpc>
                <a:spcPct val="110000"/>
              </a:lnSpc>
              <a:buNone/>
            </a:pPr>
            <a:r>
              <a:rPr lang="en-US" sz="1050" dirty="0">
                <a:solidFill>
                  <a:srgbClr val="9A97A6"/>
                </a:solidFill>
                <a:latin typeface="Segoe UI" pitchFamily="34" charset="0"/>
                <a:ea typeface="Segoe UI" pitchFamily="34" charset="-122"/>
                <a:cs typeface="Segoe UI" pitchFamily="34" charset="-120"/>
              </a:rPr>
              <a:t>Patterns across up to 50 games → 3 weaknesses, evidence, drills, weekly focus.</a:t>
            </a:r>
            <a:endParaRPr lang="en-US" sz="1050" dirty="0"/>
          </a:p>
        </p:txBody>
      </p:sp>
      <p:sp>
        <p:nvSpPr>
          <p:cNvPr id="37" name="Shape 35"/>
          <p:cNvSpPr/>
          <p:nvPr/>
        </p:nvSpPr>
        <p:spPr>
          <a:xfrm>
            <a:off x="8065008" y="1783080"/>
            <a:ext cx="3566160" cy="1783080"/>
          </a:xfrm>
          <a:prstGeom prst="roundRect">
            <a:avLst>
              <a:gd name="adj" fmla="val 3590"/>
            </a:avLst>
          </a:prstGeom>
          <a:solidFill>
            <a:srgbClr val="15151B"/>
          </a:solidFill>
          <a:ln w="12700">
            <a:solidFill>
              <a:srgbClr val="26262F"/>
            </a:solidFill>
            <a:prstDash val="solid"/>
          </a:ln>
        </p:spPr>
      </p:sp>
      <p:sp>
        <p:nvSpPr>
          <p:cNvPr id="38" name="Shape 36"/>
          <p:cNvSpPr/>
          <p:nvPr/>
        </p:nvSpPr>
        <p:spPr>
          <a:xfrm>
            <a:off x="8266176" y="1965960"/>
            <a:ext cx="502920" cy="502920"/>
          </a:xfrm>
          <a:prstGeom prst="ellipse">
            <a:avLst/>
          </a:prstGeom>
          <a:solidFill>
            <a:srgbClr val="2A2412"/>
          </a:solidFill>
          <a:ln w="12700">
            <a:solidFill>
              <a:srgbClr val="4A3D18"/>
            </a:solidFill>
            <a:prstDash val="solid"/>
          </a:ln>
        </p:spPr>
      </p:sp>
      <p:sp>
        <p:nvSpPr>
          <p:cNvPr id="39" name="Text 37"/>
          <p:cNvSpPr/>
          <p:nvPr/>
        </p:nvSpPr>
        <p:spPr>
          <a:xfrm>
            <a:off x="8339328" y="2029968"/>
            <a:ext cx="365760" cy="365760"/>
          </a:xfrm>
          <a:prstGeom prst="rect">
            <a:avLst/>
          </a:prstGeom>
          <a:noFill/>
          <a:ln/>
        </p:spPr>
        <p:txBody>
          <a:bodyPr wrap="square" lIns="0" tIns="0" rIns="0" bIns="0" rtlCol="0" anchor="ctr"/>
          <a:lstStyle/>
          <a:p>
            <a:pPr algn="ctr" indent="0" marL="0">
              <a:buNone/>
            </a:pPr>
            <a:r>
              <a:rPr lang="en-US" sz="2592" dirty="0">
                <a:solidFill>
                  <a:srgbClr val="FFC62A"/>
                </a:solidFill>
                <a:latin typeface="Segoe UI Symbol" pitchFamily="34" charset="0"/>
                <a:ea typeface="Segoe UI Symbol" pitchFamily="34" charset="-122"/>
                <a:cs typeface="Segoe UI Symbol" pitchFamily="34" charset="-120"/>
              </a:rPr>
              <a:t>♜</a:t>
            </a:r>
            <a:endParaRPr lang="en-US" sz="2592" dirty="0"/>
          </a:p>
        </p:txBody>
      </p:sp>
      <p:sp>
        <p:nvSpPr>
          <p:cNvPr id="40" name="Text 38"/>
          <p:cNvSpPr/>
          <p:nvPr/>
        </p:nvSpPr>
        <p:spPr>
          <a:xfrm>
            <a:off x="8906256" y="1965960"/>
            <a:ext cx="2514600" cy="274320"/>
          </a:xfrm>
          <a:prstGeom prst="rect">
            <a:avLst/>
          </a:prstGeom>
          <a:noFill/>
          <a:ln/>
        </p:spPr>
        <p:txBody>
          <a:bodyPr wrap="square" lIns="0" tIns="0" rIns="0" bIns="0" rtlCol="0" anchor="ctr"/>
          <a:lstStyle/>
          <a:p>
            <a:pPr indent="0" marL="0">
              <a:buNone/>
            </a:pPr>
            <a:r>
              <a:rPr lang="en-US" sz="1300" b="1" dirty="0">
                <a:solidFill>
                  <a:srgbClr val="F5F2EA"/>
                </a:solidFill>
                <a:latin typeface="Bahnschrift" pitchFamily="34" charset="0"/>
                <a:ea typeface="Bahnschrift" pitchFamily="34" charset="-122"/>
                <a:cs typeface="Bahnschrift" pitchFamily="34" charset="-120"/>
              </a:rPr>
              <a:t>Interactive What-If</a:t>
            </a:r>
            <a:endParaRPr lang="en-US" sz="1300" dirty="0"/>
          </a:p>
        </p:txBody>
      </p:sp>
      <p:sp>
        <p:nvSpPr>
          <p:cNvPr id="41" name="Shape 39"/>
          <p:cNvSpPr/>
          <p:nvPr/>
        </p:nvSpPr>
        <p:spPr>
          <a:xfrm>
            <a:off x="8906256" y="2240280"/>
            <a:ext cx="1043788" cy="246888"/>
          </a:xfrm>
          <a:prstGeom prst="roundRect">
            <a:avLst>
              <a:gd name="adj" fmla="val 50000"/>
            </a:avLst>
          </a:prstGeom>
          <a:solidFill>
            <a:srgbClr val="0E2418"/>
          </a:solidFill>
          <a:ln w="9525">
            <a:solidFill>
              <a:srgbClr val="1F5C38"/>
            </a:solidFill>
            <a:prstDash val="solid"/>
          </a:ln>
        </p:spPr>
      </p:sp>
      <p:sp>
        <p:nvSpPr>
          <p:cNvPr id="42" name="Text 40"/>
          <p:cNvSpPr/>
          <p:nvPr/>
        </p:nvSpPr>
        <p:spPr>
          <a:xfrm>
            <a:off x="8906256" y="2229307"/>
            <a:ext cx="1043788" cy="269748"/>
          </a:xfrm>
          <a:prstGeom prst="rect">
            <a:avLst/>
          </a:prstGeom>
          <a:noFill/>
          <a:ln/>
        </p:spPr>
        <p:txBody>
          <a:bodyPr wrap="square" lIns="0" tIns="0" rIns="0" bIns="0" rtlCol="0" anchor="ctr"/>
          <a:lstStyle/>
          <a:p>
            <a:pPr algn="ctr" indent="0" marL="0">
              <a:buNone/>
            </a:pPr>
            <a:r>
              <a:rPr lang="en-US" sz="850" b="1" spc="80" kern="0" dirty="0">
                <a:solidFill>
                  <a:srgbClr val="3DDC84"/>
                </a:solidFill>
                <a:latin typeface="Segoe UI" pitchFamily="34" charset="0"/>
                <a:ea typeface="Segoe UI" pitchFamily="34" charset="-122"/>
                <a:cs typeface="Segoe UI" pitchFamily="34" charset="-120"/>
              </a:rPr>
              <a:t>IMPLEMENTED</a:t>
            </a:r>
            <a:endParaRPr lang="en-US" sz="850" dirty="0"/>
          </a:p>
        </p:txBody>
      </p:sp>
      <p:sp>
        <p:nvSpPr>
          <p:cNvPr id="43" name="Text 41"/>
          <p:cNvSpPr/>
          <p:nvPr/>
        </p:nvSpPr>
        <p:spPr>
          <a:xfrm>
            <a:off x="8284464" y="2651760"/>
            <a:ext cx="3127248" cy="822960"/>
          </a:xfrm>
          <a:prstGeom prst="rect">
            <a:avLst/>
          </a:prstGeom>
          <a:noFill/>
          <a:ln/>
        </p:spPr>
        <p:txBody>
          <a:bodyPr wrap="square" lIns="0" tIns="0" rIns="0" bIns="0" rtlCol="0" anchor="t"/>
          <a:lstStyle/>
          <a:p>
            <a:pPr indent="0" marL="0">
              <a:lnSpc>
                <a:spcPct val="110000"/>
              </a:lnSpc>
              <a:buNone/>
            </a:pPr>
            <a:r>
              <a:rPr lang="en-US" sz="1050" dirty="0">
                <a:solidFill>
                  <a:srgbClr val="9A97A6"/>
                </a:solidFill>
                <a:latin typeface="Segoe UI" pitchFamily="34" charset="0"/>
                <a:ea typeface="Segoe UI" pitchFamily="34" charset="-122"/>
                <a:cs typeface="Segoe UI" pitchFamily="34" charset="-120"/>
              </a:rPr>
              <a:t>Drag pieces on the board; Stockfish re-evaluates your variation live.</a:t>
            </a:r>
            <a:endParaRPr lang="en-US" sz="1050" dirty="0"/>
          </a:p>
        </p:txBody>
      </p:sp>
      <p:sp>
        <p:nvSpPr>
          <p:cNvPr id="44" name="Shape 42"/>
          <p:cNvSpPr/>
          <p:nvPr/>
        </p:nvSpPr>
        <p:spPr>
          <a:xfrm>
            <a:off x="566928" y="3767328"/>
            <a:ext cx="3566160" cy="1783080"/>
          </a:xfrm>
          <a:prstGeom prst="roundRect">
            <a:avLst>
              <a:gd name="adj" fmla="val 3590"/>
            </a:avLst>
          </a:prstGeom>
          <a:solidFill>
            <a:srgbClr val="15151B"/>
          </a:solidFill>
          <a:ln w="12700">
            <a:solidFill>
              <a:srgbClr val="26262F"/>
            </a:solidFill>
            <a:prstDash val="solid"/>
          </a:ln>
        </p:spPr>
      </p:sp>
      <p:sp>
        <p:nvSpPr>
          <p:cNvPr id="45" name="Shape 43"/>
          <p:cNvSpPr/>
          <p:nvPr/>
        </p:nvSpPr>
        <p:spPr>
          <a:xfrm>
            <a:off x="768096" y="3950208"/>
            <a:ext cx="502920" cy="502920"/>
          </a:xfrm>
          <a:prstGeom prst="ellipse">
            <a:avLst/>
          </a:prstGeom>
          <a:solidFill>
            <a:srgbClr val="2A2412"/>
          </a:solidFill>
          <a:ln w="12700">
            <a:solidFill>
              <a:srgbClr val="4A3D18"/>
            </a:solidFill>
            <a:prstDash val="solid"/>
          </a:ln>
        </p:spPr>
      </p:sp>
      <p:sp>
        <p:nvSpPr>
          <p:cNvPr id="46" name="Text 44"/>
          <p:cNvSpPr/>
          <p:nvPr/>
        </p:nvSpPr>
        <p:spPr>
          <a:xfrm>
            <a:off x="841248" y="4014216"/>
            <a:ext cx="365760" cy="365760"/>
          </a:xfrm>
          <a:prstGeom prst="rect">
            <a:avLst/>
          </a:prstGeom>
          <a:noFill/>
          <a:ln/>
        </p:spPr>
        <p:txBody>
          <a:bodyPr wrap="square" lIns="0" tIns="0" rIns="0" bIns="0" rtlCol="0" anchor="ctr"/>
          <a:lstStyle/>
          <a:p>
            <a:pPr algn="ctr" indent="0" marL="0">
              <a:buNone/>
            </a:pPr>
            <a:r>
              <a:rPr lang="en-US" sz="2592" dirty="0">
                <a:solidFill>
                  <a:srgbClr val="FFC62A"/>
                </a:solidFill>
                <a:latin typeface="Segoe UI Symbol" pitchFamily="34" charset="0"/>
                <a:ea typeface="Segoe UI Symbol" pitchFamily="34" charset="-122"/>
                <a:cs typeface="Segoe UI Symbol" pitchFamily="34" charset="-120"/>
              </a:rPr>
              <a:t>♝</a:t>
            </a:r>
            <a:endParaRPr lang="en-US" sz="2592" dirty="0"/>
          </a:p>
        </p:txBody>
      </p:sp>
      <p:sp>
        <p:nvSpPr>
          <p:cNvPr id="47" name="Text 45"/>
          <p:cNvSpPr/>
          <p:nvPr/>
        </p:nvSpPr>
        <p:spPr>
          <a:xfrm>
            <a:off x="1408176" y="3950208"/>
            <a:ext cx="2514600" cy="274320"/>
          </a:xfrm>
          <a:prstGeom prst="rect">
            <a:avLst/>
          </a:prstGeom>
          <a:noFill/>
          <a:ln/>
        </p:spPr>
        <p:txBody>
          <a:bodyPr wrap="square" lIns="0" tIns="0" rIns="0" bIns="0" rtlCol="0" anchor="ctr"/>
          <a:lstStyle/>
          <a:p>
            <a:pPr indent="0" marL="0">
              <a:buNone/>
            </a:pPr>
            <a:r>
              <a:rPr lang="en-US" sz="1300" b="1" dirty="0">
                <a:solidFill>
                  <a:srgbClr val="F5F2EA"/>
                </a:solidFill>
                <a:latin typeface="Bahnschrift" pitchFamily="34" charset="0"/>
                <a:ea typeface="Bahnschrift" pitchFamily="34" charset="-122"/>
                <a:cs typeface="Bahnschrift" pitchFamily="34" charset="-120"/>
              </a:rPr>
              <a:t>Deep Engine Analysis</a:t>
            </a:r>
            <a:endParaRPr lang="en-US" sz="1300" dirty="0"/>
          </a:p>
        </p:txBody>
      </p:sp>
      <p:sp>
        <p:nvSpPr>
          <p:cNvPr id="48" name="Shape 46"/>
          <p:cNvSpPr/>
          <p:nvPr/>
        </p:nvSpPr>
        <p:spPr>
          <a:xfrm>
            <a:off x="1408176" y="4224528"/>
            <a:ext cx="1043788" cy="246888"/>
          </a:xfrm>
          <a:prstGeom prst="roundRect">
            <a:avLst>
              <a:gd name="adj" fmla="val 50000"/>
            </a:avLst>
          </a:prstGeom>
          <a:solidFill>
            <a:srgbClr val="0E2418"/>
          </a:solidFill>
          <a:ln w="9525">
            <a:solidFill>
              <a:srgbClr val="1F5C38"/>
            </a:solidFill>
            <a:prstDash val="solid"/>
          </a:ln>
        </p:spPr>
      </p:sp>
      <p:sp>
        <p:nvSpPr>
          <p:cNvPr id="49" name="Text 47"/>
          <p:cNvSpPr/>
          <p:nvPr/>
        </p:nvSpPr>
        <p:spPr>
          <a:xfrm>
            <a:off x="1408176" y="4213555"/>
            <a:ext cx="1043788" cy="269748"/>
          </a:xfrm>
          <a:prstGeom prst="rect">
            <a:avLst/>
          </a:prstGeom>
          <a:noFill/>
          <a:ln/>
        </p:spPr>
        <p:txBody>
          <a:bodyPr wrap="square" lIns="0" tIns="0" rIns="0" bIns="0" rtlCol="0" anchor="ctr"/>
          <a:lstStyle/>
          <a:p>
            <a:pPr algn="ctr" indent="0" marL="0">
              <a:buNone/>
            </a:pPr>
            <a:r>
              <a:rPr lang="en-US" sz="850" b="1" spc="80" kern="0" dirty="0">
                <a:solidFill>
                  <a:srgbClr val="3DDC84"/>
                </a:solidFill>
                <a:latin typeface="Segoe UI" pitchFamily="34" charset="0"/>
                <a:ea typeface="Segoe UI" pitchFamily="34" charset="-122"/>
                <a:cs typeface="Segoe UI" pitchFamily="34" charset="-120"/>
              </a:rPr>
              <a:t>IMPLEMENTED</a:t>
            </a:r>
            <a:endParaRPr lang="en-US" sz="850" dirty="0"/>
          </a:p>
        </p:txBody>
      </p:sp>
      <p:sp>
        <p:nvSpPr>
          <p:cNvPr id="50" name="Text 48"/>
          <p:cNvSpPr/>
          <p:nvPr/>
        </p:nvSpPr>
        <p:spPr>
          <a:xfrm>
            <a:off x="786384" y="4636008"/>
            <a:ext cx="3127248" cy="822960"/>
          </a:xfrm>
          <a:prstGeom prst="rect">
            <a:avLst/>
          </a:prstGeom>
          <a:noFill/>
          <a:ln/>
        </p:spPr>
        <p:txBody>
          <a:bodyPr wrap="square" lIns="0" tIns="0" rIns="0" bIns="0" rtlCol="0" anchor="t"/>
          <a:lstStyle/>
          <a:p>
            <a:pPr indent="0" marL="0">
              <a:lnSpc>
                <a:spcPct val="110000"/>
              </a:lnSpc>
              <a:buNone/>
            </a:pPr>
            <a:r>
              <a:rPr lang="en-US" sz="1050" dirty="0">
                <a:solidFill>
                  <a:srgbClr val="9A97A6"/>
                </a:solidFill>
                <a:latin typeface="Segoe UI" pitchFamily="34" charset="0"/>
                <a:ea typeface="Segoe UI" pitchFamily="34" charset="-122"/>
                <a:cs typeface="Segoe UI" pitchFamily="34" charset="-120"/>
              </a:rPr>
              <a:t>Stockfish 18 — depth 15–24, MultiPV 1–3 lines, Syzygy tablebases.</a:t>
            </a:r>
            <a:endParaRPr lang="en-US" sz="1050" dirty="0"/>
          </a:p>
        </p:txBody>
      </p:sp>
      <p:sp>
        <p:nvSpPr>
          <p:cNvPr id="51" name="Shape 49"/>
          <p:cNvSpPr/>
          <p:nvPr/>
        </p:nvSpPr>
        <p:spPr>
          <a:xfrm>
            <a:off x="4315968" y="3767328"/>
            <a:ext cx="3566160" cy="1783080"/>
          </a:xfrm>
          <a:prstGeom prst="roundRect">
            <a:avLst>
              <a:gd name="adj" fmla="val 3590"/>
            </a:avLst>
          </a:prstGeom>
          <a:solidFill>
            <a:srgbClr val="15151B"/>
          </a:solidFill>
          <a:ln w="12700">
            <a:solidFill>
              <a:srgbClr val="26262F"/>
            </a:solidFill>
            <a:prstDash val="solid"/>
          </a:ln>
        </p:spPr>
      </p:sp>
      <p:sp>
        <p:nvSpPr>
          <p:cNvPr id="52" name="Shape 50"/>
          <p:cNvSpPr/>
          <p:nvPr/>
        </p:nvSpPr>
        <p:spPr>
          <a:xfrm>
            <a:off x="4517136" y="3950208"/>
            <a:ext cx="502920" cy="502920"/>
          </a:xfrm>
          <a:prstGeom prst="ellipse">
            <a:avLst/>
          </a:prstGeom>
          <a:solidFill>
            <a:srgbClr val="2A2412"/>
          </a:solidFill>
          <a:ln w="12700">
            <a:solidFill>
              <a:srgbClr val="4A3D18"/>
            </a:solidFill>
            <a:prstDash val="solid"/>
          </a:ln>
        </p:spPr>
      </p:sp>
      <p:sp>
        <p:nvSpPr>
          <p:cNvPr id="53" name="Text 51"/>
          <p:cNvSpPr/>
          <p:nvPr/>
        </p:nvSpPr>
        <p:spPr>
          <a:xfrm>
            <a:off x="4590288" y="4014216"/>
            <a:ext cx="365760" cy="365760"/>
          </a:xfrm>
          <a:prstGeom prst="rect">
            <a:avLst/>
          </a:prstGeom>
          <a:noFill/>
          <a:ln/>
        </p:spPr>
        <p:txBody>
          <a:bodyPr wrap="square" lIns="0" tIns="0" rIns="0" bIns="0" rtlCol="0" anchor="ctr"/>
          <a:lstStyle/>
          <a:p>
            <a:pPr algn="ctr" indent="0" marL="0">
              <a:buNone/>
            </a:pPr>
            <a:r>
              <a:rPr lang="en-US" sz="2592" dirty="0">
                <a:solidFill>
                  <a:srgbClr val="FFC62A"/>
                </a:solidFill>
                <a:latin typeface="Segoe UI Symbol" pitchFamily="34" charset="0"/>
                <a:ea typeface="Segoe UI Symbol" pitchFamily="34" charset="-122"/>
                <a:cs typeface="Segoe UI Symbol" pitchFamily="34" charset="-120"/>
              </a:rPr>
              <a:t>♟</a:t>
            </a:r>
            <a:endParaRPr lang="en-US" sz="2592" dirty="0"/>
          </a:p>
        </p:txBody>
      </p:sp>
      <p:sp>
        <p:nvSpPr>
          <p:cNvPr id="54" name="Text 52"/>
          <p:cNvSpPr/>
          <p:nvPr/>
        </p:nvSpPr>
        <p:spPr>
          <a:xfrm>
            <a:off x="5157216" y="3950208"/>
            <a:ext cx="2514600" cy="274320"/>
          </a:xfrm>
          <a:prstGeom prst="rect">
            <a:avLst/>
          </a:prstGeom>
          <a:noFill/>
          <a:ln/>
        </p:spPr>
        <p:txBody>
          <a:bodyPr wrap="square" lIns="0" tIns="0" rIns="0" bIns="0" rtlCol="0" anchor="ctr"/>
          <a:lstStyle/>
          <a:p>
            <a:pPr indent="0" marL="0">
              <a:buNone/>
            </a:pPr>
            <a:r>
              <a:rPr lang="en-US" sz="1300" b="1" dirty="0">
                <a:solidFill>
                  <a:srgbClr val="F5F2EA"/>
                </a:solidFill>
                <a:latin typeface="Bahnschrift" pitchFamily="34" charset="0"/>
                <a:ea typeface="Bahnschrift" pitchFamily="34" charset="-122"/>
                <a:cs typeface="Bahnschrift" pitchFamily="34" charset="-120"/>
              </a:rPr>
              <a:t>Shareable Report Cards</a:t>
            </a:r>
            <a:endParaRPr lang="en-US" sz="1300" dirty="0"/>
          </a:p>
        </p:txBody>
      </p:sp>
      <p:sp>
        <p:nvSpPr>
          <p:cNvPr id="55" name="Shape 53"/>
          <p:cNvSpPr/>
          <p:nvPr/>
        </p:nvSpPr>
        <p:spPr>
          <a:xfrm>
            <a:off x="5157216" y="4224528"/>
            <a:ext cx="1043788" cy="246888"/>
          </a:xfrm>
          <a:prstGeom prst="roundRect">
            <a:avLst>
              <a:gd name="adj" fmla="val 50000"/>
            </a:avLst>
          </a:prstGeom>
          <a:solidFill>
            <a:srgbClr val="0E2418"/>
          </a:solidFill>
          <a:ln w="9525">
            <a:solidFill>
              <a:srgbClr val="1F5C38"/>
            </a:solidFill>
            <a:prstDash val="solid"/>
          </a:ln>
        </p:spPr>
      </p:sp>
      <p:sp>
        <p:nvSpPr>
          <p:cNvPr id="56" name="Text 54"/>
          <p:cNvSpPr/>
          <p:nvPr/>
        </p:nvSpPr>
        <p:spPr>
          <a:xfrm>
            <a:off x="5157216" y="4213555"/>
            <a:ext cx="1043788" cy="269748"/>
          </a:xfrm>
          <a:prstGeom prst="rect">
            <a:avLst/>
          </a:prstGeom>
          <a:noFill/>
          <a:ln/>
        </p:spPr>
        <p:txBody>
          <a:bodyPr wrap="square" lIns="0" tIns="0" rIns="0" bIns="0" rtlCol="0" anchor="ctr"/>
          <a:lstStyle/>
          <a:p>
            <a:pPr algn="ctr" indent="0" marL="0">
              <a:buNone/>
            </a:pPr>
            <a:r>
              <a:rPr lang="en-US" sz="850" b="1" spc="80" kern="0" dirty="0">
                <a:solidFill>
                  <a:srgbClr val="3DDC84"/>
                </a:solidFill>
                <a:latin typeface="Segoe UI" pitchFamily="34" charset="0"/>
                <a:ea typeface="Segoe UI" pitchFamily="34" charset="-122"/>
                <a:cs typeface="Segoe UI" pitchFamily="34" charset="-120"/>
              </a:rPr>
              <a:t>IMPLEMENTED</a:t>
            </a:r>
            <a:endParaRPr lang="en-US" sz="850" dirty="0"/>
          </a:p>
        </p:txBody>
      </p:sp>
      <p:sp>
        <p:nvSpPr>
          <p:cNvPr id="57" name="Text 55"/>
          <p:cNvSpPr/>
          <p:nvPr/>
        </p:nvSpPr>
        <p:spPr>
          <a:xfrm>
            <a:off x="4535424" y="4636008"/>
            <a:ext cx="3127248" cy="822960"/>
          </a:xfrm>
          <a:prstGeom prst="rect">
            <a:avLst/>
          </a:prstGeom>
          <a:noFill/>
          <a:ln/>
        </p:spPr>
        <p:txBody>
          <a:bodyPr wrap="square" lIns="0" tIns="0" rIns="0" bIns="0" rtlCol="0" anchor="t"/>
          <a:lstStyle/>
          <a:p>
            <a:pPr indent="0" marL="0">
              <a:lnSpc>
                <a:spcPct val="110000"/>
              </a:lnSpc>
              <a:buNone/>
            </a:pPr>
            <a:r>
              <a:rPr lang="en-US" sz="1050" dirty="0">
                <a:solidFill>
                  <a:srgbClr val="9A97A6"/>
                </a:solidFill>
                <a:latin typeface="Segoe UI" pitchFamily="34" charset="0"/>
                <a:ea typeface="Segoe UI" pitchFamily="34" charset="-122"/>
                <a:cs typeface="Segoe UI" pitchFamily="34" charset="-120"/>
              </a:rPr>
              <a:t>Accuracy, grades and opening summary rendered as shareable images.</a:t>
            </a:r>
            <a:endParaRPr lang="en-US" sz="1050" dirty="0"/>
          </a:p>
        </p:txBody>
      </p:sp>
      <p:sp>
        <p:nvSpPr>
          <p:cNvPr id="58" name="Shape 56"/>
          <p:cNvSpPr/>
          <p:nvPr/>
        </p:nvSpPr>
        <p:spPr>
          <a:xfrm>
            <a:off x="8065008" y="3767328"/>
            <a:ext cx="3566160" cy="1783080"/>
          </a:xfrm>
          <a:prstGeom prst="roundRect">
            <a:avLst>
              <a:gd name="adj" fmla="val 3590"/>
            </a:avLst>
          </a:prstGeom>
          <a:solidFill>
            <a:srgbClr val="15151B"/>
          </a:solidFill>
          <a:ln w="12700">
            <a:solidFill>
              <a:srgbClr val="26262F"/>
            </a:solidFill>
            <a:prstDash val="solid"/>
          </a:ln>
        </p:spPr>
      </p:sp>
      <p:sp>
        <p:nvSpPr>
          <p:cNvPr id="59" name="Shape 57"/>
          <p:cNvSpPr/>
          <p:nvPr/>
        </p:nvSpPr>
        <p:spPr>
          <a:xfrm>
            <a:off x="8266176" y="3950208"/>
            <a:ext cx="502920" cy="502920"/>
          </a:xfrm>
          <a:prstGeom prst="ellipse">
            <a:avLst/>
          </a:prstGeom>
          <a:solidFill>
            <a:srgbClr val="2A2412"/>
          </a:solidFill>
          <a:ln w="12700">
            <a:solidFill>
              <a:srgbClr val="4A3D18"/>
            </a:solidFill>
            <a:prstDash val="solid"/>
          </a:ln>
        </p:spPr>
      </p:sp>
      <p:sp>
        <p:nvSpPr>
          <p:cNvPr id="60" name="Text 58"/>
          <p:cNvSpPr/>
          <p:nvPr/>
        </p:nvSpPr>
        <p:spPr>
          <a:xfrm>
            <a:off x="8339328" y="4014216"/>
            <a:ext cx="365760" cy="365760"/>
          </a:xfrm>
          <a:prstGeom prst="rect">
            <a:avLst/>
          </a:prstGeom>
          <a:noFill/>
          <a:ln/>
        </p:spPr>
        <p:txBody>
          <a:bodyPr wrap="square" lIns="0" tIns="0" rIns="0" bIns="0" rtlCol="0" anchor="ctr"/>
          <a:lstStyle/>
          <a:p>
            <a:pPr algn="ctr" indent="0" marL="0">
              <a:buNone/>
            </a:pPr>
            <a:r>
              <a:rPr lang="en-US" sz="2592" dirty="0">
                <a:solidFill>
                  <a:srgbClr val="FFC62A"/>
                </a:solidFill>
                <a:latin typeface="Segoe UI Symbol" pitchFamily="34" charset="0"/>
                <a:ea typeface="Segoe UI Symbol" pitchFamily="34" charset="-122"/>
                <a:cs typeface="Segoe UI Symbol" pitchFamily="34" charset="-120"/>
              </a:rPr>
              <a:t>♔</a:t>
            </a:r>
            <a:endParaRPr lang="en-US" sz="2592" dirty="0"/>
          </a:p>
        </p:txBody>
      </p:sp>
      <p:sp>
        <p:nvSpPr>
          <p:cNvPr id="61" name="Text 59"/>
          <p:cNvSpPr/>
          <p:nvPr/>
        </p:nvSpPr>
        <p:spPr>
          <a:xfrm>
            <a:off x="8906256" y="3950208"/>
            <a:ext cx="2514600" cy="274320"/>
          </a:xfrm>
          <a:prstGeom prst="rect">
            <a:avLst/>
          </a:prstGeom>
          <a:noFill/>
          <a:ln/>
        </p:spPr>
        <p:txBody>
          <a:bodyPr wrap="square" lIns="0" tIns="0" rIns="0" bIns="0" rtlCol="0" anchor="ctr"/>
          <a:lstStyle/>
          <a:p>
            <a:pPr indent="0" marL="0">
              <a:buNone/>
            </a:pPr>
            <a:r>
              <a:rPr lang="en-US" sz="1300" b="1" dirty="0">
                <a:solidFill>
                  <a:srgbClr val="F5F2EA"/>
                </a:solidFill>
                <a:latin typeface="Bahnschrift" pitchFamily="34" charset="0"/>
                <a:ea typeface="Bahnschrift" pitchFamily="34" charset="-122"/>
                <a:cs typeface="Bahnschrift" pitchFamily="34" charset="-120"/>
              </a:rPr>
              <a:t>Free, No Account</a:t>
            </a:r>
            <a:endParaRPr lang="en-US" sz="1300" dirty="0"/>
          </a:p>
        </p:txBody>
      </p:sp>
      <p:sp>
        <p:nvSpPr>
          <p:cNvPr id="62" name="Shape 60"/>
          <p:cNvSpPr/>
          <p:nvPr/>
        </p:nvSpPr>
        <p:spPr>
          <a:xfrm>
            <a:off x="8906256" y="4224528"/>
            <a:ext cx="1043788" cy="246888"/>
          </a:xfrm>
          <a:prstGeom prst="roundRect">
            <a:avLst>
              <a:gd name="adj" fmla="val 50000"/>
            </a:avLst>
          </a:prstGeom>
          <a:solidFill>
            <a:srgbClr val="0E2418"/>
          </a:solidFill>
          <a:ln w="9525">
            <a:solidFill>
              <a:srgbClr val="1F5C38"/>
            </a:solidFill>
            <a:prstDash val="solid"/>
          </a:ln>
        </p:spPr>
      </p:sp>
      <p:sp>
        <p:nvSpPr>
          <p:cNvPr id="63" name="Text 61"/>
          <p:cNvSpPr/>
          <p:nvPr/>
        </p:nvSpPr>
        <p:spPr>
          <a:xfrm>
            <a:off x="8906256" y="4213555"/>
            <a:ext cx="1043788" cy="269748"/>
          </a:xfrm>
          <a:prstGeom prst="rect">
            <a:avLst/>
          </a:prstGeom>
          <a:noFill/>
          <a:ln/>
        </p:spPr>
        <p:txBody>
          <a:bodyPr wrap="square" lIns="0" tIns="0" rIns="0" bIns="0" rtlCol="0" anchor="ctr"/>
          <a:lstStyle/>
          <a:p>
            <a:pPr algn="ctr" indent="0" marL="0">
              <a:buNone/>
            </a:pPr>
            <a:r>
              <a:rPr lang="en-US" sz="850" b="1" spc="80" kern="0" dirty="0">
                <a:solidFill>
                  <a:srgbClr val="3DDC84"/>
                </a:solidFill>
                <a:latin typeface="Segoe UI" pitchFamily="34" charset="0"/>
                <a:ea typeface="Segoe UI" pitchFamily="34" charset="-122"/>
                <a:cs typeface="Segoe UI" pitchFamily="34" charset="-120"/>
              </a:rPr>
              <a:t>IMPLEMENTED</a:t>
            </a:r>
            <a:endParaRPr lang="en-US" sz="850" dirty="0"/>
          </a:p>
        </p:txBody>
      </p:sp>
      <p:sp>
        <p:nvSpPr>
          <p:cNvPr id="64" name="Text 62"/>
          <p:cNvSpPr/>
          <p:nvPr/>
        </p:nvSpPr>
        <p:spPr>
          <a:xfrm>
            <a:off x="8284464" y="4636008"/>
            <a:ext cx="3127248" cy="822960"/>
          </a:xfrm>
          <a:prstGeom prst="rect">
            <a:avLst/>
          </a:prstGeom>
          <a:noFill/>
          <a:ln/>
        </p:spPr>
        <p:txBody>
          <a:bodyPr wrap="square" lIns="0" tIns="0" rIns="0" bIns="0" rtlCol="0" anchor="t"/>
          <a:lstStyle/>
          <a:p>
            <a:pPr indent="0" marL="0">
              <a:lnSpc>
                <a:spcPct val="110000"/>
              </a:lnSpc>
              <a:buNone/>
            </a:pPr>
            <a:r>
              <a:rPr lang="en-US" sz="1050" dirty="0">
                <a:solidFill>
                  <a:srgbClr val="9A97A6"/>
                </a:solidFill>
                <a:latin typeface="Segoe UI" pitchFamily="34" charset="0"/>
                <a:ea typeface="Segoe UI" pitchFamily="34" charset="-122"/>
                <a:cs typeface="Segoe UI" pitchFamily="34" charset="-120"/>
              </a:rPr>
              <a:t>Guest analysis from the homepage — import PGN or usernames instantly.</a:t>
            </a:r>
            <a:endParaRPr lang="en-US" sz="1050" dirty="0"/>
          </a:p>
        </p:txBody>
      </p:sp>
      <p:sp>
        <p:nvSpPr>
          <p:cNvPr id="65" name="Shape 63"/>
          <p:cNvSpPr/>
          <p:nvPr/>
        </p:nvSpPr>
        <p:spPr>
          <a:xfrm>
            <a:off x="566928" y="5870448"/>
            <a:ext cx="11064240" cy="502920"/>
          </a:xfrm>
          <a:prstGeom prst="roundRect">
            <a:avLst>
              <a:gd name="adj" fmla="val 14545"/>
            </a:avLst>
          </a:prstGeom>
          <a:solidFill>
            <a:srgbClr val="12141A"/>
          </a:solidFill>
          <a:ln w="12700">
            <a:solidFill>
              <a:srgbClr val="2A2A35"/>
            </a:solidFill>
            <a:prstDash val="solid"/>
          </a:ln>
        </p:spPr>
      </p:sp>
      <p:sp>
        <p:nvSpPr>
          <p:cNvPr id="66" name="Text 64"/>
          <p:cNvSpPr/>
          <p:nvPr/>
        </p:nvSpPr>
        <p:spPr>
          <a:xfrm>
            <a:off x="822960" y="5870448"/>
            <a:ext cx="10515600" cy="502920"/>
          </a:xfrm>
          <a:prstGeom prst="rect">
            <a:avLst/>
          </a:prstGeom>
          <a:noFill/>
          <a:ln/>
        </p:spPr>
        <p:txBody>
          <a:bodyPr wrap="square" lIns="0" tIns="0" rIns="0" bIns="0" rtlCol="0" anchor="ctr"/>
          <a:lstStyle/>
          <a:p>
            <a:pPr indent="0" marL="0">
              <a:buNone/>
            </a:pPr>
            <a:r>
              <a:rPr lang="en-US" sz="1100" b="1" spc="200" kern="0" dirty="0">
                <a:solidFill>
                  <a:srgbClr val="FFC62A"/>
                </a:solidFill>
                <a:latin typeface="Bahnschrift" pitchFamily="34" charset="0"/>
                <a:ea typeface="Bahnschrift" pitchFamily="34" charset="-122"/>
                <a:cs typeface="Bahnschrift" pitchFamily="34" charset="-120"/>
              </a:rPr>
              <a:t>KEY RESULT  </a:t>
            </a:r>
            <a:pPr indent="0" marL="0">
              <a:buNone/>
            </a:pPr>
            <a:r>
              <a:rPr lang="en-US" sz="1150" dirty="0">
                <a:solidFill>
                  <a:srgbClr val="F5F2EA"/>
                </a:solidFill>
              </a:rPr>
              <a:t>One unified loop: import → analyze → understand → train → improve.</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0B0F"/>
        </a:solidFill>
      </p:bgPr>
    </p:bg>
    <p:spTree>
      <p:nvGrpSpPr>
        <p:cNvPr id="1" name=""/>
        <p:cNvGrpSpPr/>
        <p:nvPr/>
      </p:nvGrpSpPr>
      <p:grpSpPr>
        <a:xfrm>
          <a:off x="0" y="0"/>
          <a:ext cx="0" cy="0"/>
          <a:chOff x="0" y="0"/>
          <a:chExt cx="0" cy="0"/>
        </a:xfrm>
      </p:grpSpPr>
      <p:sp>
        <p:nvSpPr>
          <p:cNvPr id="2" name="Shape 0"/>
          <p:cNvSpPr/>
          <p:nvPr/>
        </p:nvSpPr>
        <p:spPr>
          <a:xfrm>
            <a:off x="10716768" y="292608"/>
            <a:ext cx="155448" cy="155448"/>
          </a:xfrm>
          <a:prstGeom prst="rect">
            <a:avLst/>
          </a:prstGeom>
          <a:solidFill>
            <a:srgbClr val="14141A"/>
          </a:solidFill>
          <a:ln/>
        </p:spPr>
      </p:sp>
      <p:sp>
        <p:nvSpPr>
          <p:cNvPr id="3" name="Shape 1"/>
          <p:cNvSpPr/>
          <p:nvPr/>
        </p:nvSpPr>
        <p:spPr>
          <a:xfrm>
            <a:off x="11027664" y="292608"/>
            <a:ext cx="155448" cy="155448"/>
          </a:xfrm>
          <a:prstGeom prst="rect">
            <a:avLst/>
          </a:prstGeom>
          <a:solidFill>
            <a:srgbClr val="14141A"/>
          </a:solidFill>
          <a:ln/>
        </p:spPr>
      </p:sp>
      <p:sp>
        <p:nvSpPr>
          <p:cNvPr id="4" name="Shape 2"/>
          <p:cNvSpPr/>
          <p:nvPr/>
        </p:nvSpPr>
        <p:spPr>
          <a:xfrm>
            <a:off x="10561320" y="448056"/>
            <a:ext cx="155448" cy="155448"/>
          </a:xfrm>
          <a:prstGeom prst="rect">
            <a:avLst/>
          </a:prstGeom>
          <a:solidFill>
            <a:srgbClr val="14141A"/>
          </a:solidFill>
          <a:ln/>
        </p:spPr>
      </p:sp>
      <p:sp>
        <p:nvSpPr>
          <p:cNvPr id="5" name="Shape 3"/>
          <p:cNvSpPr/>
          <p:nvPr/>
        </p:nvSpPr>
        <p:spPr>
          <a:xfrm>
            <a:off x="10872216" y="448056"/>
            <a:ext cx="155448" cy="155448"/>
          </a:xfrm>
          <a:prstGeom prst="rect">
            <a:avLst/>
          </a:prstGeom>
          <a:solidFill>
            <a:srgbClr val="14141A"/>
          </a:solidFill>
          <a:ln/>
        </p:spPr>
      </p:sp>
      <p:sp>
        <p:nvSpPr>
          <p:cNvPr id="6" name="Shape 4"/>
          <p:cNvSpPr/>
          <p:nvPr/>
        </p:nvSpPr>
        <p:spPr>
          <a:xfrm>
            <a:off x="11183112" y="448056"/>
            <a:ext cx="155448" cy="155448"/>
          </a:xfrm>
          <a:prstGeom prst="rect">
            <a:avLst/>
          </a:prstGeom>
          <a:solidFill>
            <a:srgbClr val="14141A"/>
          </a:solidFill>
          <a:ln/>
        </p:spPr>
      </p:sp>
      <p:sp>
        <p:nvSpPr>
          <p:cNvPr id="7" name="Shape 5"/>
          <p:cNvSpPr/>
          <p:nvPr/>
        </p:nvSpPr>
        <p:spPr>
          <a:xfrm>
            <a:off x="10716768" y="603504"/>
            <a:ext cx="155448" cy="155448"/>
          </a:xfrm>
          <a:prstGeom prst="rect">
            <a:avLst/>
          </a:prstGeom>
          <a:solidFill>
            <a:srgbClr val="14141A"/>
          </a:solidFill>
          <a:ln/>
        </p:spPr>
      </p:sp>
      <p:sp>
        <p:nvSpPr>
          <p:cNvPr id="8" name="Shape 6"/>
          <p:cNvSpPr/>
          <p:nvPr/>
        </p:nvSpPr>
        <p:spPr>
          <a:xfrm>
            <a:off x="11027664" y="603504"/>
            <a:ext cx="155448" cy="155448"/>
          </a:xfrm>
          <a:prstGeom prst="rect">
            <a:avLst/>
          </a:prstGeom>
          <a:solidFill>
            <a:srgbClr val="14141A"/>
          </a:solidFill>
          <a:ln/>
        </p:spPr>
      </p:sp>
      <p:sp>
        <p:nvSpPr>
          <p:cNvPr id="9" name="Shape 7"/>
          <p:cNvSpPr/>
          <p:nvPr/>
        </p:nvSpPr>
        <p:spPr>
          <a:xfrm>
            <a:off x="10561320" y="758952"/>
            <a:ext cx="155448" cy="155448"/>
          </a:xfrm>
          <a:prstGeom prst="rect">
            <a:avLst/>
          </a:prstGeom>
          <a:solidFill>
            <a:srgbClr val="14141A"/>
          </a:solidFill>
          <a:ln/>
        </p:spPr>
      </p:sp>
      <p:sp>
        <p:nvSpPr>
          <p:cNvPr id="10" name="Shape 8"/>
          <p:cNvSpPr/>
          <p:nvPr/>
        </p:nvSpPr>
        <p:spPr>
          <a:xfrm>
            <a:off x="10872216" y="758952"/>
            <a:ext cx="155448" cy="155448"/>
          </a:xfrm>
          <a:prstGeom prst="rect">
            <a:avLst/>
          </a:prstGeom>
          <a:solidFill>
            <a:srgbClr val="14141A"/>
          </a:solidFill>
          <a:ln/>
        </p:spPr>
      </p:sp>
      <p:sp>
        <p:nvSpPr>
          <p:cNvPr id="11" name="Shape 9"/>
          <p:cNvSpPr/>
          <p:nvPr/>
        </p:nvSpPr>
        <p:spPr>
          <a:xfrm>
            <a:off x="11183112" y="758952"/>
            <a:ext cx="155448" cy="155448"/>
          </a:xfrm>
          <a:prstGeom prst="rect">
            <a:avLst/>
          </a:prstGeom>
          <a:solidFill>
            <a:srgbClr val="14141A"/>
          </a:solidFill>
          <a:ln/>
        </p:spPr>
      </p:sp>
      <p:sp>
        <p:nvSpPr>
          <p:cNvPr id="12" name="Shape 10"/>
          <p:cNvSpPr/>
          <p:nvPr/>
        </p:nvSpPr>
        <p:spPr>
          <a:xfrm>
            <a:off x="10716768" y="914400"/>
            <a:ext cx="155448" cy="155448"/>
          </a:xfrm>
          <a:prstGeom prst="rect">
            <a:avLst/>
          </a:prstGeom>
          <a:solidFill>
            <a:srgbClr val="14141A"/>
          </a:solidFill>
          <a:ln/>
        </p:spPr>
      </p:sp>
      <p:sp>
        <p:nvSpPr>
          <p:cNvPr id="13" name="Shape 11"/>
          <p:cNvSpPr/>
          <p:nvPr/>
        </p:nvSpPr>
        <p:spPr>
          <a:xfrm>
            <a:off x="11027664" y="914400"/>
            <a:ext cx="155448" cy="155448"/>
          </a:xfrm>
          <a:prstGeom prst="rect">
            <a:avLst/>
          </a:prstGeom>
          <a:solidFill>
            <a:srgbClr val="14141A"/>
          </a:solidFill>
          <a:ln/>
        </p:spPr>
      </p:sp>
      <p:sp>
        <p:nvSpPr>
          <p:cNvPr id="14" name="Shape 12"/>
          <p:cNvSpPr/>
          <p:nvPr/>
        </p:nvSpPr>
        <p:spPr>
          <a:xfrm>
            <a:off x="9859975" y="310896"/>
            <a:ext cx="1783080" cy="292608"/>
          </a:xfrm>
          <a:prstGeom prst="roundRect">
            <a:avLst>
              <a:gd name="adj" fmla="val 50000"/>
            </a:avLst>
          </a:prstGeom>
          <a:solidFill>
            <a:srgbClr val="2A2412"/>
          </a:solidFill>
          <a:ln w="9525">
            <a:solidFill>
              <a:srgbClr val="4A3D18"/>
            </a:solidFill>
            <a:prstDash val="solid"/>
          </a:ln>
        </p:spPr>
      </p:sp>
      <p:sp>
        <p:nvSpPr>
          <p:cNvPr id="15" name="Text 13"/>
          <p:cNvSpPr/>
          <p:nvPr/>
        </p:nvSpPr>
        <p:spPr>
          <a:xfrm>
            <a:off x="9859975" y="301752"/>
            <a:ext cx="1783080" cy="310896"/>
          </a:xfrm>
          <a:prstGeom prst="rect">
            <a:avLst/>
          </a:prstGeom>
          <a:noFill/>
          <a:ln/>
        </p:spPr>
        <p:txBody>
          <a:bodyPr wrap="square" lIns="0" tIns="0" rIns="0" bIns="0" rtlCol="0" anchor="ctr"/>
          <a:lstStyle/>
          <a:p>
            <a:pPr algn="ctr" indent="0" marL="0">
              <a:buNone/>
            </a:pPr>
            <a:r>
              <a:rPr lang="en-US" sz="800" b="1" spc="120" kern="0" dirty="0">
                <a:solidFill>
                  <a:srgbClr val="FFC62A"/>
                </a:solidFill>
                <a:latin typeface="Bahnschrift" pitchFamily="34" charset="0"/>
                <a:ea typeface="Bahnschrift" pitchFamily="34" charset="-122"/>
                <a:cs typeface="Bahnschrift" pitchFamily="34" charset="-120"/>
              </a:rPr>
              <a:t>VERIFIED · FROM SOURCE CODE</a:t>
            </a:r>
            <a:endParaRPr lang="en-US" sz="800" dirty="0"/>
          </a:p>
        </p:txBody>
      </p:sp>
      <p:sp>
        <p:nvSpPr>
          <p:cNvPr id="16" name="Text 14"/>
          <p:cNvSpPr/>
          <p:nvPr/>
        </p:nvSpPr>
        <p:spPr>
          <a:xfrm>
            <a:off x="566928" y="384048"/>
            <a:ext cx="8229600" cy="274320"/>
          </a:xfrm>
          <a:prstGeom prst="rect">
            <a:avLst/>
          </a:prstGeom>
          <a:noFill/>
          <a:ln/>
        </p:spPr>
        <p:txBody>
          <a:bodyPr wrap="square" lIns="0" tIns="0" rIns="0" bIns="0" rtlCol="0" anchor="ctr"/>
          <a:lstStyle/>
          <a:p>
            <a:pPr indent="0" marL="0">
              <a:buNone/>
            </a:pPr>
            <a:r>
              <a:rPr lang="en-US" sz="1100" b="1" spc="300" kern="0" dirty="0">
                <a:solidFill>
                  <a:srgbClr val="FFC62A"/>
                </a:solidFill>
                <a:latin typeface="Bahnschrift" pitchFamily="34" charset="0"/>
                <a:ea typeface="Bahnschrift" pitchFamily="34" charset="-122"/>
                <a:cs typeface="Bahnschrift" pitchFamily="34" charset="-120"/>
              </a:rPr>
              <a:t>04 · ARCHITECTURE</a:t>
            </a:r>
            <a:endParaRPr lang="en-US" sz="1100" dirty="0"/>
          </a:p>
        </p:txBody>
      </p:sp>
      <p:sp>
        <p:nvSpPr>
          <p:cNvPr id="17" name="Shape 15"/>
          <p:cNvSpPr/>
          <p:nvPr/>
        </p:nvSpPr>
        <p:spPr>
          <a:xfrm>
            <a:off x="566928" y="713232"/>
            <a:ext cx="384048" cy="45720"/>
          </a:xfrm>
          <a:prstGeom prst="rect">
            <a:avLst/>
          </a:prstGeom>
          <a:solidFill>
            <a:srgbClr val="FFC62A"/>
          </a:solidFill>
          <a:ln/>
        </p:spPr>
      </p:sp>
      <p:sp>
        <p:nvSpPr>
          <p:cNvPr id="18" name="Text 16"/>
          <p:cNvSpPr/>
          <p:nvPr/>
        </p:nvSpPr>
        <p:spPr>
          <a:xfrm>
            <a:off x="548640" y="841248"/>
            <a:ext cx="11064240" cy="566928"/>
          </a:xfrm>
          <a:prstGeom prst="rect">
            <a:avLst/>
          </a:prstGeom>
          <a:noFill/>
          <a:ln/>
        </p:spPr>
        <p:txBody>
          <a:bodyPr wrap="square" lIns="0" tIns="0" rIns="0" bIns="0" rtlCol="0" anchor="ctr"/>
          <a:lstStyle/>
          <a:p>
            <a:pPr indent="0" marL="0">
              <a:buNone/>
            </a:pPr>
            <a:r>
              <a:rPr lang="en-US" sz="2700" b="1" dirty="0">
                <a:solidFill>
                  <a:srgbClr val="F5F2EA"/>
                </a:solidFill>
                <a:latin typeface="Bahnschrift" pitchFamily="34" charset="0"/>
                <a:ea typeface="Bahnschrift" pitchFamily="34" charset="-122"/>
                <a:cs typeface="Bahnschrift" pitchFamily="34" charset="-120"/>
              </a:rPr>
              <a:t>System architecture — end to end</a:t>
            </a:r>
            <a:endParaRPr lang="en-US" sz="2700" dirty="0"/>
          </a:p>
        </p:txBody>
      </p:sp>
      <p:sp>
        <p:nvSpPr>
          <p:cNvPr id="19" name="Text 17"/>
          <p:cNvSpPr/>
          <p:nvPr/>
        </p:nvSpPr>
        <p:spPr>
          <a:xfrm>
            <a:off x="566928" y="1389888"/>
            <a:ext cx="11064240" cy="274320"/>
          </a:xfrm>
          <a:prstGeom prst="rect">
            <a:avLst/>
          </a:prstGeom>
          <a:noFill/>
          <a:ln/>
        </p:spPr>
        <p:txBody>
          <a:bodyPr wrap="square" lIns="0" tIns="0" rIns="0" bIns="0" rtlCol="0" anchor="ctr"/>
          <a:lstStyle/>
          <a:p>
            <a:pPr indent="0" marL="0">
              <a:buNone/>
            </a:pPr>
            <a:r>
              <a:rPr lang="en-US" sz="1250" dirty="0">
                <a:solidFill>
                  <a:srgbClr val="9A97A6"/>
                </a:solidFill>
                <a:latin typeface="Segoe UI" pitchFamily="34" charset="0"/>
                <a:ea typeface="Segoe UI" pitchFamily="34" charset="-122"/>
                <a:cs typeface="Segoe UI" pitchFamily="34" charset="-120"/>
              </a:rPr>
              <a:t>Next.js 16 App Router platform; engine and AI compose the analysis pipeline.</a:t>
            </a:r>
            <a:endParaRPr lang="en-US" sz="1250" dirty="0"/>
          </a:p>
        </p:txBody>
      </p:sp>
      <p:sp>
        <p:nvSpPr>
          <p:cNvPr id="20" name="Text 18"/>
          <p:cNvSpPr/>
          <p:nvPr/>
        </p:nvSpPr>
        <p:spPr>
          <a:xfrm>
            <a:off x="566928" y="6492240"/>
            <a:ext cx="2743200" cy="256032"/>
          </a:xfrm>
          <a:prstGeom prst="rect">
            <a:avLst/>
          </a:prstGeom>
          <a:noFill/>
          <a:ln/>
        </p:spPr>
        <p:txBody>
          <a:bodyPr wrap="square" lIns="0" tIns="0" rIns="0" bIns="0" rtlCol="0" anchor="ctr"/>
          <a:lstStyle/>
          <a:p>
            <a:pPr indent="0" marL="0">
              <a:buNone/>
            </a:pPr>
            <a:r>
              <a:rPr lang="en-US" sz="850" b="1" spc="300" kern="0" dirty="0">
                <a:solidFill>
                  <a:srgbClr val="5C5966"/>
                </a:solidFill>
                <a:latin typeface="Bahnschrift" pitchFamily="34" charset="0"/>
                <a:ea typeface="Bahnschrift" pitchFamily="34" charset="-122"/>
                <a:cs typeface="Bahnschrift" pitchFamily="34" charset="-120"/>
              </a:rPr>
              <a:t>CHESSFORK</a:t>
            </a:r>
            <a:endParaRPr lang="en-US" sz="850" dirty="0"/>
          </a:p>
        </p:txBody>
      </p:sp>
      <p:sp>
        <p:nvSpPr>
          <p:cNvPr id="21" name="Text 19"/>
          <p:cNvSpPr/>
          <p:nvPr/>
        </p:nvSpPr>
        <p:spPr>
          <a:xfrm>
            <a:off x="3840480" y="6492240"/>
            <a:ext cx="4572000" cy="256032"/>
          </a:xfrm>
          <a:prstGeom prst="rect">
            <a:avLst/>
          </a:prstGeom>
          <a:noFill/>
          <a:ln/>
        </p:spPr>
        <p:txBody>
          <a:bodyPr wrap="square" lIns="0" tIns="0" rIns="0" bIns="0" rtlCol="0" anchor="ctr"/>
          <a:lstStyle/>
          <a:p>
            <a:pPr indent="0" marL="0">
              <a:buNone/>
            </a:pPr>
            <a:r>
              <a:rPr lang="en-US" sz="800" spc="150" kern="0" dirty="0">
                <a:solidFill>
                  <a:srgbClr val="5C5966"/>
                </a:solidFill>
                <a:latin typeface="Segoe UI" pitchFamily="34" charset="0"/>
                <a:ea typeface="Segoe UI" pitchFamily="34" charset="-122"/>
                <a:cs typeface="Segoe UI" pitchFamily="34" charset="-120"/>
              </a:rPr>
              <a:t>BCA FINAL YEAR PROJECT · 2026</a:t>
            </a:r>
            <a:endParaRPr lang="en-US" sz="800" dirty="0"/>
          </a:p>
        </p:txBody>
      </p:sp>
      <p:sp>
        <p:nvSpPr>
          <p:cNvPr id="22" name="Text 20"/>
          <p:cNvSpPr/>
          <p:nvPr/>
        </p:nvSpPr>
        <p:spPr>
          <a:xfrm>
            <a:off x="11292840" y="6473952"/>
            <a:ext cx="365760" cy="274320"/>
          </a:xfrm>
          <a:prstGeom prst="rect">
            <a:avLst/>
          </a:prstGeom>
          <a:noFill/>
          <a:ln/>
        </p:spPr>
        <p:txBody>
          <a:bodyPr wrap="square" lIns="0" tIns="0" rIns="0" bIns="0" rtlCol="0" anchor="ctr"/>
          <a:lstStyle/>
          <a:p>
            <a:pPr algn="r" indent="0" marL="0">
              <a:buNone/>
            </a:pPr>
            <a:r>
              <a:rPr lang="en-US" sz="900" b="1" dirty="0">
                <a:solidFill>
                  <a:srgbClr val="5C5966"/>
                </a:solidFill>
                <a:latin typeface="Bahnschrift" pitchFamily="34" charset="0"/>
                <a:ea typeface="Bahnschrift" pitchFamily="34" charset="-122"/>
                <a:cs typeface="Bahnschrift" pitchFamily="34" charset="-120"/>
              </a:rPr>
              <a:t>05</a:t>
            </a:r>
            <a:endParaRPr lang="en-US" sz="900" dirty="0"/>
          </a:p>
        </p:txBody>
      </p:sp>
      <p:sp>
        <p:nvSpPr>
          <p:cNvPr id="23" name="Text 21"/>
          <p:cNvSpPr/>
          <p:nvPr/>
        </p:nvSpPr>
        <p:spPr>
          <a:xfrm>
            <a:off x="566928" y="1664208"/>
            <a:ext cx="1737360" cy="274320"/>
          </a:xfrm>
          <a:prstGeom prst="rect">
            <a:avLst/>
          </a:prstGeom>
          <a:noFill/>
          <a:ln/>
        </p:spPr>
        <p:txBody>
          <a:bodyPr wrap="square" lIns="0" tIns="0" rIns="0" bIns="0" rtlCol="0" anchor="ctr"/>
          <a:lstStyle/>
          <a:p>
            <a:pPr algn="r" indent="0" marL="0">
              <a:buNone/>
            </a:pPr>
            <a:r>
              <a:rPr lang="en-US" sz="1100" b="1" spc="250" kern="0" dirty="0">
                <a:solidFill>
                  <a:srgbClr val="FFC62A"/>
                </a:solidFill>
                <a:latin typeface="Bahnschrift" pitchFamily="34" charset="0"/>
                <a:ea typeface="Bahnschrift" pitchFamily="34" charset="-122"/>
                <a:cs typeface="Bahnschrift" pitchFamily="34" charset="-120"/>
              </a:rPr>
              <a:t>CLIENT</a:t>
            </a:r>
            <a:endParaRPr lang="en-US" sz="1100" dirty="0"/>
          </a:p>
        </p:txBody>
      </p:sp>
      <p:sp>
        <p:nvSpPr>
          <p:cNvPr id="24" name="Shape 22"/>
          <p:cNvSpPr/>
          <p:nvPr/>
        </p:nvSpPr>
        <p:spPr>
          <a:xfrm>
            <a:off x="2514600" y="1572768"/>
            <a:ext cx="8549640" cy="786384"/>
          </a:xfrm>
          <a:prstGeom prst="roundRect">
            <a:avLst>
              <a:gd name="adj" fmla="val 6977"/>
            </a:avLst>
          </a:prstGeom>
          <a:solidFill>
            <a:srgbClr val="15151B"/>
          </a:solidFill>
          <a:ln w="12700">
            <a:solidFill>
              <a:srgbClr val="26262F"/>
            </a:solidFill>
            <a:prstDash val="solid"/>
          </a:ln>
        </p:spPr>
      </p:sp>
      <p:sp>
        <p:nvSpPr>
          <p:cNvPr id="25" name="Shape 23"/>
          <p:cNvSpPr/>
          <p:nvPr/>
        </p:nvSpPr>
        <p:spPr>
          <a:xfrm>
            <a:off x="2514600" y="1572768"/>
            <a:ext cx="54864" cy="786384"/>
          </a:xfrm>
          <a:prstGeom prst="rect">
            <a:avLst/>
          </a:prstGeom>
          <a:solidFill>
            <a:srgbClr val="FFC62A"/>
          </a:solidFill>
          <a:ln/>
        </p:spPr>
      </p:sp>
      <p:sp>
        <p:nvSpPr>
          <p:cNvPr id="26" name="Text 24"/>
          <p:cNvSpPr/>
          <p:nvPr/>
        </p:nvSpPr>
        <p:spPr>
          <a:xfrm>
            <a:off x="2770632" y="1645920"/>
            <a:ext cx="8092440" cy="274320"/>
          </a:xfrm>
          <a:prstGeom prst="rect">
            <a:avLst/>
          </a:prstGeom>
          <a:noFill/>
          <a:ln/>
        </p:spPr>
        <p:txBody>
          <a:bodyPr wrap="square" lIns="0" tIns="0" rIns="0" bIns="0" rtlCol="0" anchor="ctr"/>
          <a:lstStyle/>
          <a:p>
            <a:pPr indent="0" marL="0">
              <a:buNone/>
            </a:pPr>
            <a:r>
              <a:rPr lang="en-US" sz="1300" b="1" dirty="0">
                <a:solidFill>
                  <a:srgbClr val="F5F2EA"/>
                </a:solidFill>
                <a:latin typeface="Bahnschrift" pitchFamily="34" charset="0"/>
                <a:ea typeface="Bahnschrift" pitchFamily="34" charset="-122"/>
                <a:cs typeface="Bahnschrift" pitchFamily="34" charset="-120"/>
              </a:rPr>
              <a:t>Browser UI</a:t>
            </a:r>
            <a:endParaRPr lang="en-US" sz="1300" dirty="0"/>
          </a:p>
        </p:txBody>
      </p:sp>
      <p:sp>
        <p:nvSpPr>
          <p:cNvPr id="27" name="Text 25"/>
          <p:cNvSpPr/>
          <p:nvPr/>
        </p:nvSpPr>
        <p:spPr>
          <a:xfrm>
            <a:off x="2770632" y="1938528"/>
            <a:ext cx="8046720" cy="365760"/>
          </a:xfrm>
          <a:prstGeom prst="rect">
            <a:avLst/>
          </a:prstGeom>
          <a:noFill/>
          <a:ln/>
        </p:spPr>
        <p:txBody>
          <a:bodyPr wrap="square" lIns="0" tIns="0" rIns="0" bIns="0" rtlCol="0" anchor="ctr"/>
          <a:lstStyle/>
          <a:p>
            <a:pPr indent="0" marL="0">
              <a:buNone/>
            </a:pPr>
            <a:r>
              <a:rPr lang="en-US" sz="950" dirty="0">
                <a:solidFill>
                  <a:srgbClr val="9A97A6"/>
                </a:solidFill>
                <a:latin typeface="Segoe UI" pitchFamily="34" charset="0"/>
                <a:ea typeface="Segoe UI" pitchFamily="34" charset="-122"/>
                <a:cs typeface="Segoe UI" pitchFamily="34" charset="-120"/>
              </a:rPr>
              <a:t>Next.js 16 App Router · React 19 · Tailwind CSS v4 · react-chessboard · PWA shell</a:t>
            </a:r>
            <a:endParaRPr lang="en-US" sz="950" dirty="0"/>
          </a:p>
        </p:txBody>
      </p:sp>
      <p:sp>
        <p:nvSpPr>
          <p:cNvPr id="28" name="Shape 26"/>
          <p:cNvSpPr/>
          <p:nvPr/>
        </p:nvSpPr>
        <p:spPr>
          <a:xfrm>
            <a:off x="2542032" y="2377440"/>
            <a:ext cx="0" cy="210312"/>
          </a:xfrm>
          <a:prstGeom prst="line">
            <a:avLst/>
          </a:prstGeom>
          <a:noFill/>
          <a:ln w="25400">
            <a:solidFill>
              <a:srgbClr val="5C5966"/>
            </a:solidFill>
            <a:prstDash val="solid"/>
            <a:tailEnd type="triangle"/>
          </a:ln>
        </p:spPr>
      </p:sp>
      <p:sp>
        <p:nvSpPr>
          <p:cNvPr id="29" name="Text 27"/>
          <p:cNvSpPr/>
          <p:nvPr/>
        </p:nvSpPr>
        <p:spPr>
          <a:xfrm>
            <a:off x="566928" y="2697480"/>
            <a:ext cx="1737360" cy="274320"/>
          </a:xfrm>
          <a:prstGeom prst="rect">
            <a:avLst/>
          </a:prstGeom>
          <a:noFill/>
          <a:ln/>
        </p:spPr>
        <p:txBody>
          <a:bodyPr wrap="square" lIns="0" tIns="0" rIns="0" bIns="0" rtlCol="0" anchor="ctr"/>
          <a:lstStyle/>
          <a:p>
            <a:pPr algn="r" indent="0" marL="0">
              <a:buNone/>
            </a:pPr>
            <a:r>
              <a:rPr lang="en-US" sz="1100" b="1" spc="250" kern="0" dirty="0">
                <a:solidFill>
                  <a:srgbClr val="FFC62A"/>
                </a:solidFill>
                <a:latin typeface="Bahnschrift" pitchFamily="34" charset="0"/>
                <a:ea typeface="Bahnschrift" pitchFamily="34" charset="-122"/>
                <a:cs typeface="Bahnschrift" pitchFamily="34" charset="-120"/>
              </a:rPr>
              <a:t>SERVER</a:t>
            </a:r>
            <a:endParaRPr lang="en-US" sz="1100" dirty="0"/>
          </a:p>
        </p:txBody>
      </p:sp>
      <p:sp>
        <p:nvSpPr>
          <p:cNvPr id="30" name="Shape 28"/>
          <p:cNvSpPr/>
          <p:nvPr/>
        </p:nvSpPr>
        <p:spPr>
          <a:xfrm>
            <a:off x="2514600" y="2606040"/>
            <a:ext cx="8549640" cy="786384"/>
          </a:xfrm>
          <a:prstGeom prst="roundRect">
            <a:avLst>
              <a:gd name="adj" fmla="val 6977"/>
            </a:avLst>
          </a:prstGeom>
          <a:solidFill>
            <a:srgbClr val="15151B"/>
          </a:solidFill>
          <a:ln w="12700">
            <a:solidFill>
              <a:srgbClr val="26262F"/>
            </a:solidFill>
            <a:prstDash val="solid"/>
          </a:ln>
        </p:spPr>
      </p:sp>
      <p:sp>
        <p:nvSpPr>
          <p:cNvPr id="31" name="Shape 29"/>
          <p:cNvSpPr/>
          <p:nvPr/>
        </p:nvSpPr>
        <p:spPr>
          <a:xfrm>
            <a:off x="2514600" y="2606040"/>
            <a:ext cx="54864" cy="786384"/>
          </a:xfrm>
          <a:prstGeom prst="rect">
            <a:avLst/>
          </a:prstGeom>
          <a:solidFill>
            <a:srgbClr val="FFC62A"/>
          </a:solidFill>
          <a:ln/>
        </p:spPr>
      </p:sp>
      <p:sp>
        <p:nvSpPr>
          <p:cNvPr id="32" name="Text 30"/>
          <p:cNvSpPr/>
          <p:nvPr/>
        </p:nvSpPr>
        <p:spPr>
          <a:xfrm>
            <a:off x="2770632" y="2679192"/>
            <a:ext cx="8092440" cy="274320"/>
          </a:xfrm>
          <a:prstGeom prst="rect">
            <a:avLst/>
          </a:prstGeom>
          <a:noFill/>
          <a:ln/>
        </p:spPr>
        <p:txBody>
          <a:bodyPr wrap="square" lIns="0" tIns="0" rIns="0" bIns="0" rtlCol="0" anchor="ctr"/>
          <a:lstStyle/>
          <a:p>
            <a:pPr indent="0" marL="0">
              <a:buNone/>
            </a:pPr>
            <a:r>
              <a:rPr lang="en-US" sz="1300" b="1" dirty="0">
                <a:solidFill>
                  <a:srgbClr val="F5F2EA"/>
                </a:solidFill>
                <a:latin typeface="Bahnschrift" pitchFamily="34" charset="0"/>
                <a:ea typeface="Bahnschrift" pitchFamily="34" charset="-122"/>
                <a:cs typeface="Bahnschrift" pitchFamily="34" charset="-120"/>
              </a:rPr>
              <a:t>API Layer</a:t>
            </a:r>
            <a:endParaRPr lang="en-US" sz="1300" dirty="0"/>
          </a:p>
        </p:txBody>
      </p:sp>
      <p:sp>
        <p:nvSpPr>
          <p:cNvPr id="33" name="Text 31"/>
          <p:cNvSpPr/>
          <p:nvPr/>
        </p:nvSpPr>
        <p:spPr>
          <a:xfrm>
            <a:off x="2770632" y="2971800"/>
            <a:ext cx="8046720" cy="365760"/>
          </a:xfrm>
          <a:prstGeom prst="rect">
            <a:avLst/>
          </a:prstGeom>
          <a:noFill/>
          <a:ln/>
        </p:spPr>
        <p:txBody>
          <a:bodyPr wrap="square" lIns="0" tIns="0" rIns="0" bIns="0" rtlCol="0" anchor="ctr"/>
          <a:lstStyle/>
          <a:p>
            <a:pPr indent="0" marL="0">
              <a:buNone/>
            </a:pPr>
            <a:r>
              <a:rPr lang="en-US" sz="950" dirty="0">
                <a:solidFill>
                  <a:srgbClr val="9A97A6"/>
                </a:solidFill>
                <a:latin typeface="Segoe UI" pitchFamily="34" charset="0"/>
                <a:ea typeface="Segoe UI" pitchFamily="34" charset="-122"/>
                <a:cs typeface="Segoe UI" pitchFamily="34" charset="-120"/>
              </a:rPr>
              <a:t>25 REST / SSE routes — analysis, coach, imports, puzzles, leaderboards, auth</a:t>
            </a:r>
            <a:endParaRPr lang="en-US" sz="950" dirty="0"/>
          </a:p>
        </p:txBody>
      </p:sp>
      <p:sp>
        <p:nvSpPr>
          <p:cNvPr id="34" name="Shape 32"/>
          <p:cNvSpPr/>
          <p:nvPr/>
        </p:nvSpPr>
        <p:spPr>
          <a:xfrm>
            <a:off x="2542032" y="3410712"/>
            <a:ext cx="0" cy="210312"/>
          </a:xfrm>
          <a:prstGeom prst="line">
            <a:avLst/>
          </a:prstGeom>
          <a:noFill/>
          <a:ln w="25400">
            <a:solidFill>
              <a:srgbClr val="5C5966"/>
            </a:solidFill>
            <a:prstDash val="solid"/>
            <a:tailEnd type="triangle"/>
          </a:ln>
        </p:spPr>
      </p:sp>
      <p:sp>
        <p:nvSpPr>
          <p:cNvPr id="35" name="Text 33"/>
          <p:cNvSpPr/>
          <p:nvPr/>
        </p:nvSpPr>
        <p:spPr>
          <a:xfrm>
            <a:off x="566928" y="3730752"/>
            <a:ext cx="1737360" cy="274320"/>
          </a:xfrm>
          <a:prstGeom prst="rect">
            <a:avLst/>
          </a:prstGeom>
          <a:noFill/>
          <a:ln/>
        </p:spPr>
        <p:txBody>
          <a:bodyPr wrap="square" lIns="0" tIns="0" rIns="0" bIns="0" rtlCol="0" anchor="ctr"/>
          <a:lstStyle/>
          <a:p>
            <a:pPr algn="r" indent="0" marL="0">
              <a:buNone/>
            </a:pPr>
            <a:r>
              <a:rPr lang="en-US" sz="1100" b="1" spc="250" kern="0" dirty="0">
                <a:solidFill>
                  <a:srgbClr val="FFC62A"/>
                </a:solidFill>
                <a:latin typeface="Bahnschrift" pitchFamily="34" charset="0"/>
                <a:ea typeface="Bahnschrift" pitchFamily="34" charset="-122"/>
                <a:cs typeface="Bahnschrift" pitchFamily="34" charset="-120"/>
              </a:rPr>
              <a:t>ENGINE + AI</a:t>
            </a:r>
            <a:endParaRPr lang="en-US" sz="1100" dirty="0"/>
          </a:p>
        </p:txBody>
      </p:sp>
      <p:sp>
        <p:nvSpPr>
          <p:cNvPr id="36" name="Shape 34"/>
          <p:cNvSpPr/>
          <p:nvPr/>
        </p:nvSpPr>
        <p:spPr>
          <a:xfrm>
            <a:off x="2514600" y="3639312"/>
            <a:ext cx="8549640" cy="786384"/>
          </a:xfrm>
          <a:prstGeom prst="roundRect">
            <a:avLst>
              <a:gd name="adj" fmla="val 6977"/>
            </a:avLst>
          </a:prstGeom>
          <a:solidFill>
            <a:srgbClr val="1B1609"/>
          </a:solidFill>
          <a:ln w="12700">
            <a:solidFill>
              <a:srgbClr val="4A3D18"/>
            </a:solidFill>
            <a:prstDash val="solid"/>
          </a:ln>
        </p:spPr>
      </p:sp>
      <p:sp>
        <p:nvSpPr>
          <p:cNvPr id="37" name="Shape 35"/>
          <p:cNvSpPr/>
          <p:nvPr/>
        </p:nvSpPr>
        <p:spPr>
          <a:xfrm>
            <a:off x="2514600" y="3639312"/>
            <a:ext cx="54864" cy="786384"/>
          </a:xfrm>
          <a:prstGeom prst="rect">
            <a:avLst/>
          </a:prstGeom>
          <a:solidFill>
            <a:srgbClr val="FFC62A"/>
          </a:solidFill>
          <a:ln/>
        </p:spPr>
      </p:sp>
      <p:sp>
        <p:nvSpPr>
          <p:cNvPr id="38" name="Text 36"/>
          <p:cNvSpPr/>
          <p:nvPr/>
        </p:nvSpPr>
        <p:spPr>
          <a:xfrm>
            <a:off x="2770632" y="3712464"/>
            <a:ext cx="8092440" cy="274320"/>
          </a:xfrm>
          <a:prstGeom prst="rect">
            <a:avLst/>
          </a:prstGeom>
          <a:noFill/>
          <a:ln/>
        </p:spPr>
        <p:txBody>
          <a:bodyPr wrap="square" lIns="0" tIns="0" rIns="0" bIns="0" rtlCol="0" anchor="ctr"/>
          <a:lstStyle/>
          <a:p>
            <a:pPr indent="0" marL="0">
              <a:buNone/>
            </a:pPr>
            <a:r>
              <a:rPr lang="en-US" sz="1300" b="1" dirty="0">
                <a:solidFill>
                  <a:srgbClr val="F5F2EA"/>
                </a:solidFill>
                <a:latin typeface="Bahnschrift" pitchFamily="34" charset="0"/>
                <a:ea typeface="Bahnschrift" pitchFamily="34" charset="-122"/>
                <a:cs typeface="Bahnschrift" pitchFamily="34" charset="-120"/>
              </a:rPr>
              <a:t>Analysis Pipeline</a:t>
            </a:r>
            <a:endParaRPr lang="en-US" sz="1300" dirty="0"/>
          </a:p>
        </p:txBody>
      </p:sp>
      <p:sp>
        <p:nvSpPr>
          <p:cNvPr id="39" name="Text 37"/>
          <p:cNvSpPr/>
          <p:nvPr/>
        </p:nvSpPr>
        <p:spPr>
          <a:xfrm>
            <a:off x="2770632" y="4005072"/>
            <a:ext cx="8046720" cy="365760"/>
          </a:xfrm>
          <a:prstGeom prst="rect">
            <a:avLst/>
          </a:prstGeom>
          <a:noFill/>
          <a:ln/>
        </p:spPr>
        <p:txBody>
          <a:bodyPr wrap="square" lIns="0" tIns="0" rIns="0" bIns="0" rtlCol="0" anchor="ctr"/>
          <a:lstStyle/>
          <a:p>
            <a:pPr indent="0" marL="0">
              <a:buNone/>
            </a:pPr>
            <a:r>
              <a:rPr lang="en-US" sz="950" dirty="0">
                <a:solidFill>
                  <a:srgbClr val="9A97A6"/>
                </a:solidFill>
                <a:latin typeface="Segoe UI" pitchFamily="34" charset="0"/>
                <a:ea typeface="Segoe UI" pitchFamily="34" charset="-122"/>
                <a:cs typeface="Segoe UI" pitchFamily="34" charset="-120"/>
              </a:rPr>
              <a:t>Stockfish 18 (UCI · MultiPV · Syzygy · WASM worker) + LLM layer (Claude / DeepSeek / OpenRouter)</a:t>
            </a:r>
            <a:endParaRPr lang="en-US" sz="950" dirty="0"/>
          </a:p>
        </p:txBody>
      </p:sp>
      <p:sp>
        <p:nvSpPr>
          <p:cNvPr id="40" name="Shape 38"/>
          <p:cNvSpPr/>
          <p:nvPr/>
        </p:nvSpPr>
        <p:spPr>
          <a:xfrm>
            <a:off x="2542032" y="4443984"/>
            <a:ext cx="0" cy="210312"/>
          </a:xfrm>
          <a:prstGeom prst="line">
            <a:avLst/>
          </a:prstGeom>
          <a:noFill/>
          <a:ln w="25400">
            <a:solidFill>
              <a:srgbClr val="5C5966"/>
            </a:solidFill>
            <a:prstDash val="solid"/>
            <a:tailEnd type="triangle"/>
          </a:ln>
        </p:spPr>
      </p:sp>
      <p:sp>
        <p:nvSpPr>
          <p:cNvPr id="41" name="Text 39"/>
          <p:cNvSpPr/>
          <p:nvPr/>
        </p:nvSpPr>
        <p:spPr>
          <a:xfrm>
            <a:off x="566928" y="4764024"/>
            <a:ext cx="1737360" cy="274320"/>
          </a:xfrm>
          <a:prstGeom prst="rect">
            <a:avLst/>
          </a:prstGeom>
          <a:noFill/>
          <a:ln/>
        </p:spPr>
        <p:txBody>
          <a:bodyPr wrap="square" lIns="0" tIns="0" rIns="0" bIns="0" rtlCol="0" anchor="ctr"/>
          <a:lstStyle/>
          <a:p>
            <a:pPr algn="r" indent="0" marL="0">
              <a:buNone/>
            </a:pPr>
            <a:r>
              <a:rPr lang="en-US" sz="1100" b="1" spc="250" kern="0" dirty="0">
                <a:solidFill>
                  <a:srgbClr val="FFC62A"/>
                </a:solidFill>
                <a:latin typeface="Bahnschrift" pitchFamily="34" charset="0"/>
                <a:ea typeface="Bahnschrift" pitchFamily="34" charset="-122"/>
                <a:cs typeface="Bahnschrift" pitchFamily="34" charset="-120"/>
              </a:rPr>
              <a:t>DATA</a:t>
            </a:r>
            <a:endParaRPr lang="en-US" sz="1100" dirty="0"/>
          </a:p>
        </p:txBody>
      </p:sp>
      <p:sp>
        <p:nvSpPr>
          <p:cNvPr id="42" name="Shape 40"/>
          <p:cNvSpPr/>
          <p:nvPr/>
        </p:nvSpPr>
        <p:spPr>
          <a:xfrm>
            <a:off x="2514600" y="4672584"/>
            <a:ext cx="8549640" cy="786384"/>
          </a:xfrm>
          <a:prstGeom prst="roundRect">
            <a:avLst>
              <a:gd name="adj" fmla="val 6977"/>
            </a:avLst>
          </a:prstGeom>
          <a:solidFill>
            <a:srgbClr val="15151B"/>
          </a:solidFill>
          <a:ln w="12700">
            <a:solidFill>
              <a:srgbClr val="26262F"/>
            </a:solidFill>
            <a:prstDash val="solid"/>
          </a:ln>
        </p:spPr>
      </p:sp>
      <p:sp>
        <p:nvSpPr>
          <p:cNvPr id="43" name="Shape 41"/>
          <p:cNvSpPr/>
          <p:nvPr/>
        </p:nvSpPr>
        <p:spPr>
          <a:xfrm>
            <a:off x="2514600" y="4672584"/>
            <a:ext cx="54864" cy="786384"/>
          </a:xfrm>
          <a:prstGeom prst="rect">
            <a:avLst/>
          </a:prstGeom>
          <a:solidFill>
            <a:srgbClr val="FFC62A"/>
          </a:solidFill>
          <a:ln/>
        </p:spPr>
      </p:sp>
      <p:sp>
        <p:nvSpPr>
          <p:cNvPr id="44" name="Text 42"/>
          <p:cNvSpPr/>
          <p:nvPr/>
        </p:nvSpPr>
        <p:spPr>
          <a:xfrm>
            <a:off x="2770632" y="4745736"/>
            <a:ext cx="8092440" cy="274320"/>
          </a:xfrm>
          <a:prstGeom prst="rect">
            <a:avLst/>
          </a:prstGeom>
          <a:noFill/>
          <a:ln/>
        </p:spPr>
        <p:txBody>
          <a:bodyPr wrap="square" lIns="0" tIns="0" rIns="0" bIns="0" rtlCol="0" anchor="ctr"/>
          <a:lstStyle/>
          <a:p>
            <a:pPr indent="0" marL="0">
              <a:buNone/>
            </a:pPr>
            <a:r>
              <a:rPr lang="en-US" sz="1300" b="1" dirty="0">
                <a:solidFill>
                  <a:srgbClr val="F5F2EA"/>
                </a:solidFill>
                <a:latin typeface="Bahnschrift" pitchFamily="34" charset="0"/>
                <a:ea typeface="Bahnschrift" pitchFamily="34" charset="-122"/>
                <a:cs typeface="Bahnschrift" pitchFamily="34" charset="-120"/>
              </a:rPr>
              <a:t>Persistence &amp; Queue</a:t>
            </a:r>
            <a:endParaRPr lang="en-US" sz="1300" dirty="0"/>
          </a:p>
        </p:txBody>
      </p:sp>
      <p:sp>
        <p:nvSpPr>
          <p:cNvPr id="45" name="Text 43"/>
          <p:cNvSpPr/>
          <p:nvPr/>
        </p:nvSpPr>
        <p:spPr>
          <a:xfrm>
            <a:off x="2770632" y="5038344"/>
            <a:ext cx="8046720" cy="365760"/>
          </a:xfrm>
          <a:prstGeom prst="rect">
            <a:avLst/>
          </a:prstGeom>
          <a:noFill/>
          <a:ln/>
        </p:spPr>
        <p:txBody>
          <a:bodyPr wrap="square" lIns="0" tIns="0" rIns="0" bIns="0" rtlCol="0" anchor="ctr"/>
          <a:lstStyle/>
          <a:p>
            <a:pPr indent="0" marL="0">
              <a:buNone/>
            </a:pPr>
            <a:r>
              <a:rPr lang="en-US" sz="950" dirty="0">
                <a:solidFill>
                  <a:srgbClr val="9A97A6"/>
                </a:solidFill>
                <a:latin typeface="Segoe UI" pitchFamily="34" charset="0"/>
                <a:ea typeface="Segoe UI" pitchFamily="34" charset="-122"/>
                <a:cs typeface="Segoe UI" pitchFamily="34" charset="-120"/>
              </a:rPr>
              <a:t>Drizzle ORM + PostgreSQL 16 (12 tables) · BullMQ + Redis deep-analysis queue</a:t>
            </a:r>
            <a:endParaRPr lang="en-US" sz="950" dirty="0"/>
          </a:p>
        </p:txBody>
      </p:sp>
      <p:sp>
        <p:nvSpPr>
          <p:cNvPr id="46" name="Shape 44"/>
          <p:cNvSpPr/>
          <p:nvPr/>
        </p:nvSpPr>
        <p:spPr>
          <a:xfrm>
            <a:off x="2542032" y="5477256"/>
            <a:ext cx="0" cy="210312"/>
          </a:xfrm>
          <a:prstGeom prst="line">
            <a:avLst/>
          </a:prstGeom>
          <a:noFill/>
          <a:ln w="25400">
            <a:solidFill>
              <a:srgbClr val="5C5966"/>
            </a:solidFill>
            <a:prstDash val="solid"/>
            <a:tailEnd type="triangle"/>
          </a:ln>
        </p:spPr>
      </p:sp>
      <p:sp>
        <p:nvSpPr>
          <p:cNvPr id="47" name="Text 45"/>
          <p:cNvSpPr/>
          <p:nvPr/>
        </p:nvSpPr>
        <p:spPr>
          <a:xfrm>
            <a:off x="566928" y="5797296"/>
            <a:ext cx="1737360" cy="274320"/>
          </a:xfrm>
          <a:prstGeom prst="rect">
            <a:avLst/>
          </a:prstGeom>
          <a:noFill/>
          <a:ln/>
        </p:spPr>
        <p:txBody>
          <a:bodyPr wrap="square" lIns="0" tIns="0" rIns="0" bIns="0" rtlCol="0" anchor="ctr"/>
          <a:lstStyle/>
          <a:p>
            <a:pPr algn="r" indent="0" marL="0">
              <a:buNone/>
            </a:pPr>
            <a:r>
              <a:rPr lang="en-US" sz="1100" b="1" spc="250" kern="0" dirty="0">
                <a:solidFill>
                  <a:srgbClr val="FFC62A"/>
                </a:solidFill>
                <a:latin typeface="Bahnschrift" pitchFamily="34" charset="0"/>
                <a:ea typeface="Bahnschrift" pitchFamily="34" charset="-122"/>
                <a:cs typeface="Bahnschrift" pitchFamily="34" charset="-120"/>
              </a:rPr>
              <a:t>OUTPUT</a:t>
            </a:r>
            <a:endParaRPr lang="en-US" sz="1100" dirty="0"/>
          </a:p>
        </p:txBody>
      </p:sp>
      <p:sp>
        <p:nvSpPr>
          <p:cNvPr id="48" name="Shape 46"/>
          <p:cNvSpPr/>
          <p:nvPr/>
        </p:nvSpPr>
        <p:spPr>
          <a:xfrm>
            <a:off x="2514600" y="5705856"/>
            <a:ext cx="8549640" cy="786384"/>
          </a:xfrm>
          <a:prstGeom prst="roundRect">
            <a:avLst>
              <a:gd name="adj" fmla="val 6977"/>
            </a:avLst>
          </a:prstGeom>
          <a:solidFill>
            <a:srgbClr val="15151B"/>
          </a:solidFill>
          <a:ln w="12700">
            <a:solidFill>
              <a:srgbClr val="26262F"/>
            </a:solidFill>
            <a:prstDash val="solid"/>
          </a:ln>
        </p:spPr>
      </p:sp>
      <p:sp>
        <p:nvSpPr>
          <p:cNvPr id="49" name="Shape 47"/>
          <p:cNvSpPr/>
          <p:nvPr/>
        </p:nvSpPr>
        <p:spPr>
          <a:xfrm>
            <a:off x="2514600" y="5705856"/>
            <a:ext cx="54864" cy="786384"/>
          </a:xfrm>
          <a:prstGeom prst="rect">
            <a:avLst/>
          </a:prstGeom>
          <a:solidFill>
            <a:srgbClr val="FFC62A"/>
          </a:solidFill>
          <a:ln/>
        </p:spPr>
      </p:sp>
      <p:sp>
        <p:nvSpPr>
          <p:cNvPr id="50" name="Text 48"/>
          <p:cNvSpPr/>
          <p:nvPr/>
        </p:nvSpPr>
        <p:spPr>
          <a:xfrm>
            <a:off x="2770632" y="5779008"/>
            <a:ext cx="8092440" cy="274320"/>
          </a:xfrm>
          <a:prstGeom prst="rect">
            <a:avLst/>
          </a:prstGeom>
          <a:noFill/>
          <a:ln/>
        </p:spPr>
        <p:txBody>
          <a:bodyPr wrap="square" lIns="0" tIns="0" rIns="0" bIns="0" rtlCol="0" anchor="ctr"/>
          <a:lstStyle/>
          <a:p>
            <a:pPr indent="0" marL="0">
              <a:buNone/>
            </a:pPr>
            <a:r>
              <a:rPr lang="en-US" sz="1300" b="1" dirty="0">
                <a:solidFill>
                  <a:srgbClr val="F5F2EA"/>
                </a:solidFill>
                <a:latin typeface="Bahnschrift" pitchFamily="34" charset="0"/>
                <a:ea typeface="Bahnschrift" pitchFamily="34" charset="-122"/>
                <a:cs typeface="Bahnschrift" pitchFamily="34" charset="-120"/>
              </a:rPr>
              <a:t>Products</a:t>
            </a:r>
            <a:endParaRPr lang="en-US" sz="1300" dirty="0"/>
          </a:p>
        </p:txBody>
      </p:sp>
      <p:sp>
        <p:nvSpPr>
          <p:cNvPr id="51" name="Text 49"/>
          <p:cNvSpPr/>
          <p:nvPr/>
        </p:nvSpPr>
        <p:spPr>
          <a:xfrm>
            <a:off x="2770632" y="6071616"/>
            <a:ext cx="8046720" cy="365760"/>
          </a:xfrm>
          <a:prstGeom prst="rect">
            <a:avLst/>
          </a:prstGeom>
          <a:noFill/>
          <a:ln/>
        </p:spPr>
        <p:txBody>
          <a:bodyPr wrap="square" lIns="0" tIns="0" rIns="0" bIns="0" rtlCol="0" anchor="ctr"/>
          <a:lstStyle/>
          <a:p>
            <a:pPr indent="0" marL="0">
              <a:buNone/>
            </a:pPr>
            <a:r>
              <a:rPr lang="en-US" sz="950" dirty="0">
                <a:solidFill>
                  <a:srgbClr val="9A97A6"/>
                </a:solidFill>
                <a:latin typeface="Segoe UI" pitchFamily="34" charset="0"/>
                <a:ea typeface="Segoe UI" pitchFamily="34" charset="-122"/>
                <a:cs typeface="Segoe UI" pitchFamily="34" charset="-120"/>
              </a:rPr>
              <a:t>Game Reports · AI Coach · Dashboard · Puzzles · Leaderboards · Opening Explorer · Shop</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0B0F"/>
        </a:solidFill>
      </p:bgPr>
    </p:bg>
    <p:spTree>
      <p:nvGrpSpPr>
        <p:cNvPr id="1" name=""/>
        <p:cNvGrpSpPr/>
        <p:nvPr/>
      </p:nvGrpSpPr>
      <p:grpSpPr>
        <a:xfrm>
          <a:off x="0" y="0"/>
          <a:ext cx="0" cy="0"/>
          <a:chOff x="0" y="0"/>
          <a:chExt cx="0" cy="0"/>
        </a:xfrm>
      </p:grpSpPr>
      <p:sp>
        <p:nvSpPr>
          <p:cNvPr id="2" name="Shape 0"/>
          <p:cNvSpPr/>
          <p:nvPr/>
        </p:nvSpPr>
        <p:spPr>
          <a:xfrm>
            <a:off x="10716768" y="292608"/>
            <a:ext cx="155448" cy="155448"/>
          </a:xfrm>
          <a:prstGeom prst="rect">
            <a:avLst/>
          </a:prstGeom>
          <a:solidFill>
            <a:srgbClr val="14141A"/>
          </a:solidFill>
          <a:ln/>
        </p:spPr>
      </p:sp>
      <p:sp>
        <p:nvSpPr>
          <p:cNvPr id="3" name="Shape 1"/>
          <p:cNvSpPr/>
          <p:nvPr/>
        </p:nvSpPr>
        <p:spPr>
          <a:xfrm>
            <a:off x="11027664" y="292608"/>
            <a:ext cx="155448" cy="155448"/>
          </a:xfrm>
          <a:prstGeom prst="rect">
            <a:avLst/>
          </a:prstGeom>
          <a:solidFill>
            <a:srgbClr val="14141A"/>
          </a:solidFill>
          <a:ln/>
        </p:spPr>
      </p:sp>
      <p:sp>
        <p:nvSpPr>
          <p:cNvPr id="4" name="Shape 2"/>
          <p:cNvSpPr/>
          <p:nvPr/>
        </p:nvSpPr>
        <p:spPr>
          <a:xfrm>
            <a:off x="10561320" y="448056"/>
            <a:ext cx="155448" cy="155448"/>
          </a:xfrm>
          <a:prstGeom prst="rect">
            <a:avLst/>
          </a:prstGeom>
          <a:solidFill>
            <a:srgbClr val="14141A"/>
          </a:solidFill>
          <a:ln/>
        </p:spPr>
      </p:sp>
      <p:sp>
        <p:nvSpPr>
          <p:cNvPr id="5" name="Shape 3"/>
          <p:cNvSpPr/>
          <p:nvPr/>
        </p:nvSpPr>
        <p:spPr>
          <a:xfrm>
            <a:off x="10872216" y="448056"/>
            <a:ext cx="155448" cy="155448"/>
          </a:xfrm>
          <a:prstGeom prst="rect">
            <a:avLst/>
          </a:prstGeom>
          <a:solidFill>
            <a:srgbClr val="14141A"/>
          </a:solidFill>
          <a:ln/>
        </p:spPr>
      </p:sp>
      <p:sp>
        <p:nvSpPr>
          <p:cNvPr id="6" name="Shape 4"/>
          <p:cNvSpPr/>
          <p:nvPr/>
        </p:nvSpPr>
        <p:spPr>
          <a:xfrm>
            <a:off x="11183112" y="448056"/>
            <a:ext cx="155448" cy="155448"/>
          </a:xfrm>
          <a:prstGeom prst="rect">
            <a:avLst/>
          </a:prstGeom>
          <a:solidFill>
            <a:srgbClr val="14141A"/>
          </a:solidFill>
          <a:ln/>
        </p:spPr>
      </p:sp>
      <p:sp>
        <p:nvSpPr>
          <p:cNvPr id="7" name="Shape 5"/>
          <p:cNvSpPr/>
          <p:nvPr/>
        </p:nvSpPr>
        <p:spPr>
          <a:xfrm>
            <a:off x="10716768" y="603504"/>
            <a:ext cx="155448" cy="155448"/>
          </a:xfrm>
          <a:prstGeom prst="rect">
            <a:avLst/>
          </a:prstGeom>
          <a:solidFill>
            <a:srgbClr val="14141A"/>
          </a:solidFill>
          <a:ln/>
        </p:spPr>
      </p:sp>
      <p:sp>
        <p:nvSpPr>
          <p:cNvPr id="8" name="Shape 6"/>
          <p:cNvSpPr/>
          <p:nvPr/>
        </p:nvSpPr>
        <p:spPr>
          <a:xfrm>
            <a:off x="11027664" y="603504"/>
            <a:ext cx="155448" cy="155448"/>
          </a:xfrm>
          <a:prstGeom prst="rect">
            <a:avLst/>
          </a:prstGeom>
          <a:solidFill>
            <a:srgbClr val="14141A"/>
          </a:solidFill>
          <a:ln/>
        </p:spPr>
      </p:sp>
      <p:sp>
        <p:nvSpPr>
          <p:cNvPr id="9" name="Shape 7"/>
          <p:cNvSpPr/>
          <p:nvPr/>
        </p:nvSpPr>
        <p:spPr>
          <a:xfrm>
            <a:off x="10561320" y="758952"/>
            <a:ext cx="155448" cy="155448"/>
          </a:xfrm>
          <a:prstGeom prst="rect">
            <a:avLst/>
          </a:prstGeom>
          <a:solidFill>
            <a:srgbClr val="14141A"/>
          </a:solidFill>
          <a:ln/>
        </p:spPr>
      </p:sp>
      <p:sp>
        <p:nvSpPr>
          <p:cNvPr id="10" name="Shape 8"/>
          <p:cNvSpPr/>
          <p:nvPr/>
        </p:nvSpPr>
        <p:spPr>
          <a:xfrm>
            <a:off x="10872216" y="758952"/>
            <a:ext cx="155448" cy="155448"/>
          </a:xfrm>
          <a:prstGeom prst="rect">
            <a:avLst/>
          </a:prstGeom>
          <a:solidFill>
            <a:srgbClr val="14141A"/>
          </a:solidFill>
          <a:ln/>
        </p:spPr>
      </p:sp>
      <p:sp>
        <p:nvSpPr>
          <p:cNvPr id="11" name="Shape 9"/>
          <p:cNvSpPr/>
          <p:nvPr/>
        </p:nvSpPr>
        <p:spPr>
          <a:xfrm>
            <a:off x="11183112" y="758952"/>
            <a:ext cx="155448" cy="155448"/>
          </a:xfrm>
          <a:prstGeom prst="rect">
            <a:avLst/>
          </a:prstGeom>
          <a:solidFill>
            <a:srgbClr val="14141A"/>
          </a:solidFill>
          <a:ln/>
        </p:spPr>
      </p:sp>
      <p:sp>
        <p:nvSpPr>
          <p:cNvPr id="12" name="Shape 10"/>
          <p:cNvSpPr/>
          <p:nvPr/>
        </p:nvSpPr>
        <p:spPr>
          <a:xfrm>
            <a:off x="10716768" y="914400"/>
            <a:ext cx="155448" cy="155448"/>
          </a:xfrm>
          <a:prstGeom prst="rect">
            <a:avLst/>
          </a:prstGeom>
          <a:solidFill>
            <a:srgbClr val="14141A"/>
          </a:solidFill>
          <a:ln/>
        </p:spPr>
      </p:sp>
      <p:sp>
        <p:nvSpPr>
          <p:cNvPr id="13" name="Shape 11"/>
          <p:cNvSpPr/>
          <p:nvPr/>
        </p:nvSpPr>
        <p:spPr>
          <a:xfrm>
            <a:off x="11027664" y="914400"/>
            <a:ext cx="155448" cy="155448"/>
          </a:xfrm>
          <a:prstGeom prst="rect">
            <a:avLst/>
          </a:prstGeom>
          <a:solidFill>
            <a:srgbClr val="14141A"/>
          </a:solidFill>
          <a:ln/>
        </p:spPr>
      </p:sp>
      <p:sp>
        <p:nvSpPr>
          <p:cNvPr id="14" name="Shape 12"/>
          <p:cNvSpPr/>
          <p:nvPr/>
        </p:nvSpPr>
        <p:spPr>
          <a:xfrm>
            <a:off x="9859975" y="310896"/>
            <a:ext cx="1783080" cy="292608"/>
          </a:xfrm>
          <a:prstGeom prst="roundRect">
            <a:avLst>
              <a:gd name="adj" fmla="val 50000"/>
            </a:avLst>
          </a:prstGeom>
          <a:solidFill>
            <a:srgbClr val="2A2412"/>
          </a:solidFill>
          <a:ln w="9525">
            <a:solidFill>
              <a:srgbClr val="4A3D18"/>
            </a:solidFill>
            <a:prstDash val="solid"/>
          </a:ln>
        </p:spPr>
      </p:sp>
      <p:sp>
        <p:nvSpPr>
          <p:cNvPr id="15" name="Text 13"/>
          <p:cNvSpPr/>
          <p:nvPr/>
        </p:nvSpPr>
        <p:spPr>
          <a:xfrm>
            <a:off x="9859975" y="301752"/>
            <a:ext cx="1783080" cy="310896"/>
          </a:xfrm>
          <a:prstGeom prst="rect">
            <a:avLst/>
          </a:prstGeom>
          <a:noFill/>
          <a:ln/>
        </p:spPr>
        <p:txBody>
          <a:bodyPr wrap="square" lIns="0" tIns="0" rIns="0" bIns="0" rtlCol="0" anchor="ctr"/>
          <a:lstStyle/>
          <a:p>
            <a:pPr algn="ctr" indent="0" marL="0">
              <a:buNone/>
            </a:pPr>
            <a:r>
              <a:rPr lang="en-US" sz="800" b="1" spc="120" kern="0" dirty="0">
                <a:solidFill>
                  <a:srgbClr val="FFC62A"/>
                </a:solidFill>
                <a:latin typeface="Bahnschrift" pitchFamily="34" charset="0"/>
                <a:ea typeface="Bahnschrift" pitchFamily="34" charset="-122"/>
                <a:cs typeface="Bahnschrift" pitchFamily="34" charset="-120"/>
              </a:rPr>
              <a:t>VERIFIED · FROM SOURCE CODE</a:t>
            </a:r>
            <a:endParaRPr lang="en-US" sz="800" dirty="0"/>
          </a:p>
        </p:txBody>
      </p:sp>
      <p:sp>
        <p:nvSpPr>
          <p:cNvPr id="16" name="Text 14"/>
          <p:cNvSpPr/>
          <p:nvPr/>
        </p:nvSpPr>
        <p:spPr>
          <a:xfrm>
            <a:off x="566928" y="384048"/>
            <a:ext cx="8229600" cy="274320"/>
          </a:xfrm>
          <a:prstGeom prst="rect">
            <a:avLst/>
          </a:prstGeom>
          <a:noFill/>
          <a:ln/>
        </p:spPr>
        <p:txBody>
          <a:bodyPr wrap="square" lIns="0" tIns="0" rIns="0" bIns="0" rtlCol="0" anchor="ctr"/>
          <a:lstStyle/>
          <a:p>
            <a:pPr indent="0" marL="0">
              <a:buNone/>
            </a:pPr>
            <a:r>
              <a:rPr lang="en-US" sz="1100" b="1" spc="300" kern="0" dirty="0">
                <a:solidFill>
                  <a:srgbClr val="FFC62A"/>
                </a:solidFill>
                <a:latin typeface="Bahnschrift" pitchFamily="34" charset="0"/>
                <a:ea typeface="Bahnschrift" pitchFamily="34" charset="-122"/>
                <a:cs typeface="Bahnschrift" pitchFamily="34" charset="-120"/>
              </a:rPr>
              <a:t>05 · ENGINE &amp; AI PIPELINE</a:t>
            </a:r>
            <a:endParaRPr lang="en-US" sz="1100" dirty="0"/>
          </a:p>
        </p:txBody>
      </p:sp>
      <p:sp>
        <p:nvSpPr>
          <p:cNvPr id="17" name="Shape 15"/>
          <p:cNvSpPr/>
          <p:nvPr/>
        </p:nvSpPr>
        <p:spPr>
          <a:xfrm>
            <a:off x="566928" y="713232"/>
            <a:ext cx="384048" cy="45720"/>
          </a:xfrm>
          <a:prstGeom prst="rect">
            <a:avLst/>
          </a:prstGeom>
          <a:solidFill>
            <a:srgbClr val="FFC62A"/>
          </a:solidFill>
          <a:ln/>
        </p:spPr>
      </p:sp>
      <p:sp>
        <p:nvSpPr>
          <p:cNvPr id="18" name="Text 16"/>
          <p:cNvSpPr/>
          <p:nvPr/>
        </p:nvSpPr>
        <p:spPr>
          <a:xfrm>
            <a:off x="548640" y="841248"/>
            <a:ext cx="11064240" cy="566928"/>
          </a:xfrm>
          <a:prstGeom prst="rect">
            <a:avLst/>
          </a:prstGeom>
          <a:noFill/>
          <a:ln/>
        </p:spPr>
        <p:txBody>
          <a:bodyPr wrap="square" lIns="0" tIns="0" rIns="0" bIns="0" rtlCol="0" anchor="ctr"/>
          <a:lstStyle/>
          <a:p>
            <a:pPr indent="0" marL="0">
              <a:buNone/>
            </a:pPr>
            <a:r>
              <a:rPr lang="en-US" sz="2700" b="1" dirty="0">
                <a:solidFill>
                  <a:srgbClr val="F5F2EA"/>
                </a:solidFill>
                <a:latin typeface="Bahnschrift" pitchFamily="34" charset="0"/>
                <a:ea typeface="Bahnschrift" pitchFamily="34" charset="-122"/>
                <a:cs typeface="Bahnschrift" pitchFamily="34" charset="-120"/>
              </a:rPr>
              <a:t>How the analysis actually works</a:t>
            </a:r>
            <a:endParaRPr lang="en-US" sz="2700" dirty="0"/>
          </a:p>
        </p:txBody>
      </p:sp>
      <p:sp>
        <p:nvSpPr>
          <p:cNvPr id="19" name="Text 17"/>
          <p:cNvSpPr/>
          <p:nvPr/>
        </p:nvSpPr>
        <p:spPr>
          <a:xfrm>
            <a:off x="566928" y="1389888"/>
            <a:ext cx="11064240" cy="274320"/>
          </a:xfrm>
          <a:prstGeom prst="rect">
            <a:avLst/>
          </a:prstGeom>
          <a:noFill/>
          <a:ln/>
        </p:spPr>
        <p:txBody>
          <a:bodyPr wrap="square" lIns="0" tIns="0" rIns="0" bIns="0" rtlCol="0" anchor="ctr"/>
          <a:lstStyle/>
          <a:p>
            <a:pPr indent="0" marL="0">
              <a:buNone/>
            </a:pPr>
            <a:r>
              <a:rPr lang="en-US" sz="1250" dirty="0">
                <a:solidFill>
                  <a:srgbClr val="9A97A6"/>
                </a:solidFill>
                <a:latin typeface="Segoe UI" pitchFamily="34" charset="0"/>
                <a:ea typeface="Segoe UI" pitchFamily="34" charset="-122"/>
                <a:cs typeface="Segoe UI" pitchFamily="34" charset="-120"/>
              </a:rPr>
              <a:t>Five stages — every stage implemented in src/lib and src/server.</a:t>
            </a:r>
            <a:endParaRPr lang="en-US" sz="1250" dirty="0"/>
          </a:p>
        </p:txBody>
      </p:sp>
      <p:sp>
        <p:nvSpPr>
          <p:cNvPr id="20" name="Text 18"/>
          <p:cNvSpPr/>
          <p:nvPr/>
        </p:nvSpPr>
        <p:spPr>
          <a:xfrm>
            <a:off x="566928" y="6492240"/>
            <a:ext cx="2743200" cy="256032"/>
          </a:xfrm>
          <a:prstGeom prst="rect">
            <a:avLst/>
          </a:prstGeom>
          <a:noFill/>
          <a:ln/>
        </p:spPr>
        <p:txBody>
          <a:bodyPr wrap="square" lIns="0" tIns="0" rIns="0" bIns="0" rtlCol="0" anchor="ctr"/>
          <a:lstStyle/>
          <a:p>
            <a:pPr indent="0" marL="0">
              <a:buNone/>
            </a:pPr>
            <a:r>
              <a:rPr lang="en-US" sz="850" b="1" spc="300" kern="0" dirty="0">
                <a:solidFill>
                  <a:srgbClr val="5C5966"/>
                </a:solidFill>
                <a:latin typeface="Bahnschrift" pitchFamily="34" charset="0"/>
                <a:ea typeface="Bahnschrift" pitchFamily="34" charset="-122"/>
                <a:cs typeface="Bahnschrift" pitchFamily="34" charset="-120"/>
              </a:rPr>
              <a:t>CHESSFORK</a:t>
            </a:r>
            <a:endParaRPr lang="en-US" sz="850" dirty="0"/>
          </a:p>
        </p:txBody>
      </p:sp>
      <p:sp>
        <p:nvSpPr>
          <p:cNvPr id="21" name="Text 19"/>
          <p:cNvSpPr/>
          <p:nvPr/>
        </p:nvSpPr>
        <p:spPr>
          <a:xfrm>
            <a:off x="3840480" y="6492240"/>
            <a:ext cx="4572000" cy="256032"/>
          </a:xfrm>
          <a:prstGeom prst="rect">
            <a:avLst/>
          </a:prstGeom>
          <a:noFill/>
          <a:ln/>
        </p:spPr>
        <p:txBody>
          <a:bodyPr wrap="square" lIns="0" tIns="0" rIns="0" bIns="0" rtlCol="0" anchor="ctr"/>
          <a:lstStyle/>
          <a:p>
            <a:pPr indent="0" marL="0">
              <a:buNone/>
            </a:pPr>
            <a:r>
              <a:rPr lang="en-US" sz="800" spc="150" kern="0" dirty="0">
                <a:solidFill>
                  <a:srgbClr val="5C5966"/>
                </a:solidFill>
                <a:latin typeface="Segoe UI" pitchFamily="34" charset="0"/>
                <a:ea typeface="Segoe UI" pitchFamily="34" charset="-122"/>
                <a:cs typeface="Segoe UI" pitchFamily="34" charset="-120"/>
              </a:rPr>
              <a:t>BCA FINAL YEAR PROJECT · 2026</a:t>
            </a:r>
            <a:endParaRPr lang="en-US" sz="800" dirty="0"/>
          </a:p>
        </p:txBody>
      </p:sp>
      <p:sp>
        <p:nvSpPr>
          <p:cNvPr id="22" name="Text 20"/>
          <p:cNvSpPr/>
          <p:nvPr/>
        </p:nvSpPr>
        <p:spPr>
          <a:xfrm>
            <a:off x="11292840" y="6473952"/>
            <a:ext cx="365760" cy="274320"/>
          </a:xfrm>
          <a:prstGeom prst="rect">
            <a:avLst/>
          </a:prstGeom>
          <a:noFill/>
          <a:ln/>
        </p:spPr>
        <p:txBody>
          <a:bodyPr wrap="square" lIns="0" tIns="0" rIns="0" bIns="0" rtlCol="0" anchor="ctr"/>
          <a:lstStyle/>
          <a:p>
            <a:pPr algn="r" indent="0" marL="0">
              <a:buNone/>
            </a:pPr>
            <a:r>
              <a:rPr lang="en-US" sz="900" b="1" dirty="0">
                <a:solidFill>
                  <a:srgbClr val="5C5966"/>
                </a:solidFill>
                <a:latin typeface="Bahnschrift" pitchFamily="34" charset="0"/>
                <a:ea typeface="Bahnschrift" pitchFamily="34" charset="-122"/>
                <a:cs typeface="Bahnschrift" pitchFamily="34" charset="-120"/>
              </a:rPr>
              <a:t>06</a:t>
            </a:r>
            <a:endParaRPr lang="en-US" sz="900" dirty="0"/>
          </a:p>
        </p:txBody>
      </p:sp>
      <p:sp>
        <p:nvSpPr>
          <p:cNvPr id="23" name="Shape 21"/>
          <p:cNvSpPr/>
          <p:nvPr/>
        </p:nvSpPr>
        <p:spPr>
          <a:xfrm>
            <a:off x="566928" y="1691640"/>
            <a:ext cx="1993392" cy="2286000"/>
          </a:xfrm>
          <a:prstGeom prst="roundRect">
            <a:avLst>
              <a:gd name="adj" fmla="val 3211"/>
            </a:avLst>
          </a:prstGeom>
          <a:solidFill>
            <a:srgbClr val="15151B"/>
          </a:solidFill>
          <a:ln w="12700">
            <a:solidFill>
              <a:srgbClr val="26262F"/>
            </a:solidFill>
            <a:prstDash val="solid"/>
          </a:ln>
        </p:spPr>
      </p:sp>
      <p:sp>
        <p:nvSpPr>
          <p:cNvPr id="24" name="Text 22"/>
          <p:cNvSpPr/>
          <p:nvPr/>
        </p:nvSpPr>
        <p:spPr>
          <a:xfrm>
            <a:off x="731520" y="1819656"/>
            <a:ext cx="914400" cy="365760"/>
          </a:xfrm>
          <a:prstGeom prst="rect">
            <a:avLst/>
          </a:prstGeom>
          <a:noFill/>
          <a:ln/>
        </p:spPr>
        <p:txBody>
          <a:bodyPr wrap="square" lIns="0" tIns="0" rIns="0" bIns="0" rtlCol="0" anchor="ctr"/>
          <a:lstStyle/>
          <a:p>
            <a:pPr indent="0" marL="0">
              <a:buNone/>
            </a:pPr>
            <a:r>
              <a:rPr lang="en-US" sz="2000" b="1" dirty="0">
                <a:solidFill>
                  <a:srgbClr val="FFC62A"/>
                </a:solidFill>
                <a:latin typeface="Bahnschrift" pitchFamily="34" charset="0"/>
                <a:ea typeface="Bahnschrift" pitchFamily="34" charset="-122"/>
                <a:cs typeface="Bahnschrift" pitchFamily="34" charset="-120"/>
              </a:rPr>
              <a:t>01</a:t>
            </a:r>
            <a:endParaRPr lang="en-US" sz="2000" dirty="0"/>
          </a:p>
        </p:txBody>
      </p:sp>
      <p:sp>
        <p:nvSpPr>
          <p:cNvPr id="25" name="Text 23"/>
          <p:cNvSpPr/>
          <p:nvPr/>
        </p:nvSpPr>
        <p:spPr>
          <a:xfrm>
            <a:off x="731520" y="2240280"/>
            <a:ext cx="1664208" cy="320040"/>
          </a:xfrm>
          <a:prstGeom prst="rect">
            <a:avLst/>
          </a:prstGeom>
          <a:noFill/>
          <a:ln/>
        </p:spPr>
        <p:txBody>
          <a:bodyPr wrap="square" lIns="0" tIns="0" rIns="0" bIns="0" rtlCol="0" anchor="ctr"/>
          <a:lstStyle/>
          <a:p>
            <a:pPr indent="0" marL="0">
              <a:buNone/>
            </a:pPr>
            <a:r>
              <a:rPr lang="en-US" sz="1350" b="1" dirty="0">
                <a:solidFill>
                  <a:srgbClr val="F5F2EA"/>
                </a:solidFill>
                <a:latin typeface="Bahnschrift" pitchFamily="34" charset="0"/>
                <a:ea typeface="Bahnschrift" pitchFamily="34" charset="-122"/>
                <a:cs typeface="Bahnschrift" pitchFamily="34" charset="-120"/>
              </a:rPr>
              <a:t>Import</a:t>
            </a:r>
            <a:endParaRPr lang="en-US" sz="1350" dirty="0"/>
          </a:p>
        </p:txBody>
      </p:sp>
      <p:sp>
        <p:nvSpPr>
          <p:cNvPr id="26" name="Text 24"/>
          <p:cNvSpPr/>
          <p:nvPr/>
        </p:nvSpPr>
        <p:spPr>
          <a:xfrm>
            <a:off x="731520" y="2606040"/>
            <a:ext cx="1664208" cy="1234440"/>
          </a:xfrm>
          <a:prstGeom prst="rect">
            <a:avLst/>
          </a:prstGeom>
          <a:noFill/>
          <a:ln/>
        </p:spPr>
        <p:txBody>
          <a:bodyPr wrap="square" lIns="0" tIns="0" rIns="0" bIns="0" rtlCol="0" anchor="t"/>
          <a:lstStyle/>
          <a:p>
            <a:pPr indent="0" marL="0">
              <a:lnSpc>
                <a:spcPct val="112000"/>
              </a:lnSpc>
              <a:buNone/>
            </a:pPr>
            <a:r>
              <a:rPr lang="en-US" sz="1000" dirty="0">
                <a:solidFill>
                  <a:srgbClr val="9A97A6"/>
                </a:solidFill>
                <a:latin typeface="Segoe UI" pitchFamily="34" charset="0"/>
                <a:ea typeface="Segoe UI" pitchFamily="34" charset="-122"/>
                <a:cs typeface="Segoe UI" pitchFamily="34" charset="-120"/>
              </a:rPr>
              <a:t>PGN paste · Chess.com · Lichess fetch (with sample fallback)</a:t>
            </a:r>
            <a:endParaRPr lang="en-US" sz="1000" dirty="0"/>
          </a:p>
        </p:txBody>
      </p:sp>
      <p:sp>
        <p:nvSpPr>
          <p:cNvPr id="27" name="Shape 25"/>
          <p:cNvSpPr/>
          <p:nvPr/>
        </p:nvSpPr>
        <p:spPr>
          <a:xfrm>
            <a:off x="2587752" y="2834640"/>
            <a:ext cx="274320" cy="0"/>
          </a:xfrm>
          <a:prstGeom prst="line">
            <a:avLst/>
          </a:prstGeom>
          <a:noFill/>
          <a:ln w="25400">
            <a:solidFill>
              <a:srgbClr val="5C5966"/>
            </a:solidFill>
            <a:prstDash val="solid"/>
            <a:tailEnd type="triangle"/>
          </a:ln>
        </p:spPr>
      </p:sp>
      <p:sp>
        <p:nvSpPr>
          <p:cNvPr id="28" name="Shape 26"/>
          <p:cNvSpPr/>
          <p:nvPr/>
        </p:nvSpPr>
        <p:spPr>
          <a:xfrm>
            <a:off x="2889504" y="1691640"/>
            <a:ext cx="1993392" cy="2286000"/>
          </a:xfrm>
          <a:prstGeom prst="roundRect">
            <a:avLst>
              <a:gd name="adj" fmla="val 3211"/>
            </a:avLst>
          </a:prstGeom>
          <a:solidFill>
            <a:srgbClr val="15151B"/>
          </a:solidFill>
          <a:ln w="12700">
            <a:solidFill>
              <a:srgbClr val="26262F"/>
            </a:solidFill>
            <a:prstDash val="solid"/>
          </a:ln>
        </p:spPr>
      </p:sp>
      <p:sp>
        <p:nvSpPr>
          <p:cNvPr id="29" name="Text 27"/>
          <p:cNvSpPr/>
          <p:nvPr/>
        </p:nvSpPr>
        <p:spPr>
          <a:xfrm>
            <a:off x="3054096" y="1819656"/>
            <a:ext cx="914400" cy="365760"/>
          </a:xfrm>
          <a:prstGeom prst="rect">
            <a:avLst/>
          </a:prstGeom>
          <a:noFill/>
          <a:ln/>
        </p:spPr>
        <p:txBody>
          <a:bodyPr wrap="square" lIns="0" tIns="0" rIns="0" bIns="0" rtlCol="0" anchor="ctr"/>
          <a:lstStyle/>
          <a:p>
            <a:pPr indent="0" marL="0">
              <a:buNone/>
            </a:pPr>
            <a:r>
              <a:rPr lang="en-US" sz="2000" b="1" dirty="0">
                <a:solidFill>
                  <a:srgbClr val="FFC62A"/>
                </a:solidFill>
                <a:latin typeface="Bahnschrift" pitchFamily="34" charset="0"/>
                <a:ea typeface="Bahnschrift" pitchFamily="34" charset="-122"/>
                <a:cs typeface="Bahnschrift" pitchFamily="34" charset="-120"/>
              </a:rPr>
              <a:t>02</a:t>
            </a:r>
            <a:endParaRPr lang="en-US" sz="2000" dirty="0"/>
          </a:p>
        </p:txBody>
      </p:sp>
      <p:sp>
        <p:nvSpPr>
          <p:cNvPr id="30" name="Text 28"/>
          <p:cNvSpPr/>
          <p:nvPr/>
        </p:nvSpPr>
        <p:spPr>
          <a:xfrm>
            <a:off x="3054096" y="2240280"/>
            <a:ext cx="1664208" cy="320040"/>
          </a:xfrm>
          <a:prstGeom prst="rect">
            <a:avLst/>
          </a:prstGeom>
          <a:noFill/>
          <a:ln/>
        </p:spPr>
        <p:txBody>
          <a:bodyPr wrap="square" lIns="0" tIns="0" rIns="0" bIns="0" rtlCol="0" anchor="ctr"/>
          <a:lstStyle/>
          <a:p>
            <a:pPr indent="0" marL="0">
              <a:buNone/>
            </a:pPr>
            <a:r>
              <a:rPr lang="en-US" sz="1350" b="1" dirty="0">
                <a:solidFill>
                  <a:srgbClr val="F5F2EA"/>
                </a:solidFill>
                <a:latin typeface="Bahnschrift" pitchFamily="34" charset="0"/>
                <a:ea typeface="Bahnschrift" pitchFamily="34" charset="-122"/>
                <a:cs typeface="Bahnschrift" pitchFamily="34" charset="-120"/>
              </a:rPr>
              <a:t>Evaluate</a:t>
            </a:r>
            <a:endParaRPr lang="en-US" sz="1350" dirty="0"/>
          </a:p>
        </p:txBody>
      </p:sp>
      <p:sp>
        <p:nvSpPr>
          <p:cNvPr id="31" name="Text 29"/>
          <p:cNvSpPr/>
          <p:nvPr/>
        </p:nvSpPr>
        <p:spPr>
          <a:xfrm>
            <a:off x="3054096" y="2606040"/>
            <a:ext cx="1664208" cy="1234440"/>
          </a:xfrm>
          <a:prstGeom prst="rect">
            <a:avLst/>
          </a:prstGeom>
          <a:noFill/>
          <a:ln/>
        </p:spPr>
        <p:txBody>
          <a:bodyPr wrap="square" lIns="0" tIns="0" rIns="0" bIns="0" rtlCol="0" anchor="t"/>
          <a:lstStyle/>
          <a:p>
            <a:pPr indent="0" marL="0">
              <a:lnSpc>
                <a:spcPct val="112000"/>
              </a:lnSpc>
              <a:buNone/>
            </a:pPr>
            <a:r>
              <a:rPr lang="en-US" sz="1000" dirty="0">
                <a:solidFill>
                  <a:srgbClr val="9A97A6"/>
                </a:solidFill>
                <a:latin typeface="Segoe UI" pitchFamily="34" charset="0"/>
                <a:ea typeface="Segoe UI" pitchFamily="34" charset="-122"/>
                <a:cs typeface="Segoe UI" pitchFamily="34" charset="-120"/>
              </a:rPr>
              <a:t>Stockfish 18 per move · depth 15–24 · MultiPV 1–3 lines</a:t>
            </a:r>
            <a:endParaRPr lang="en-US" sz="1000" dirty="0"/>
          </a:p>
        </p:txBody>
      </p:sp>
      <p:sp>
        <p:nvSpPr>
          <p:cNvPr id="32" name="Shape 30"/>
          <p:cNvSpPr/>
          <p:nvPr/>
        </p:nvSpPr>
        <p:spPr>
          <a:xfrm>
            <a:off x="4910328" y="2834640"/>
            <a:ext cx="274320" cy="0"/>
          </a:xfrm>
          <a:prstGeom prst="line">
            <a:avLst/>
          </a:prstGeom>
          <a:noFill/>
          <a:ln w="25400">
            <a:solidFill>
              <a:srgbClr val="5C5966"/>
            </a:solidFill>
            <a:prstDash val="solid"/>
            <a:tailEnd type="triangle"/>
          </a:ln>
        </p:spPr>
      </p:sp>
      <p:sp>
        <p:nvSpPr>
          <p:cNvPr id="33" name="Shape 31"/>
          <p:cNvSpPr/>
          <p:nvPr/>
        </p:nvSpPr>
        <p:spPr>
          <a:xfrm>
            <a:off x="5212080" y="1691640"/>
            <a:ext cx="1993392" cy="2286000"/>
          </a:xfrm>
          <a:prstGeom prst="roundRect">
            <a:avLst>
              <a:gd name="adj" fmla="val 3211"/>
            </a:avLst>
          </a:prstGeom>
          <a:solidFill>
            <a:srgbClr val="15151B"/>
          </a:solidFill>
          <a:ln w="12700">
            <a:solidFill>
              <a:srgbClr val="26262F"/>
            </a:solidFill>
            <a:prstDash val="solid"/>
          </a:ln>
        </p:spPr>
      </p:sp>
      <p:sp>
        <p:nvSpPr>
          <p:cNvPr id="34" name="Text 32"/>
          <p:cNvSpPr/>
          <p:nvPr/>
        </p:nvSpPr>
        <p:spPr>
          <a:xfrm>
            <a:off x="5376672" y="1819656"/>
            <a:ext cx="914400" cy="365760"/>
          </a:xfrm>
          <a:prstGeom prst="rect">
            <a:avLst/>
          </a:prstGeom>
          <a:noFill/>
          <a:ln/>
        </p:spPr>
        <p:txBody>
          <a:bodyPr wrap="square" lIns="0" tIns="0" rIns="0" bIns="0" rtlCol="0" anchor="ctr"/>
          <a:lstStyle/>
          <a:p>
            <a:pPr indent="0" marL="0">
              <a:buNone/>
            </a:pPr>
            <a:r>
              <a:rPr lang="en-US" sz="2000" b="1" dirty="0">
                <a:solidFill>
                  <a:srgbClr val="FFC62A"/>
                </a:solidFill>
                <a:latin typeface="Bahnschrift" pitchFamily="34" charset="0"/>
                <a:ea typeface="Bahnschrift" pitchFamily="34" charset="-122"/>
                <a:cs typeface="Bahnschrift" pitchFamily="34" charset="-120"/>
              </a:rPr>
              <a:t>03</a:t>
            </a:r>
            <a:endParaRPr lang="en-US" sz="2000" dirty="0"/>
          </a:p>
        </p:txBody>
      </p:sp>
      <p:sp>
        <p:nvSpPr>
          <p:cNvPr id="35" name="Text 33"/>
          <p:cNvSpPr/>
          <p:nvPr/>
        </p:nvSpPr>
        <p:spPr>
          <a:xfrm>
            <a:off x="5376672" y="2240280"/>
            <a:ext cx="1664208" cy="320040"/>
          </a:xfrm>
          <a:prstGeom prst="rect">
            <a:avLst/>
          </a:prstGeom>
          <a:noFill/>
          <a:ln/>
        </p:spPr>
        <p:txBody>
          <a:bodyPr wrap="square" lIns="0" tIns="0" rIns="0" bIns="0" rtlCol="0" anchor="ctr"/>
          <a:lstStyle/>
          <a:p>
            <a:pPr indent="0" marL="0">
              <a:buNone/>
            </a:pPr>
            <a:r>
              <a:rPr lang="en-US" sz="1350" b="1" dirty="0">
                <a:solidFill>
                  <a:srgbClr val="F5F2EA"/>
                </a:solidFill>
                <a:latin typeface="Bahnschrift" pitchFamily="34" charset="0"/>
                <a:ea typeface="Bahnschrift" pitchFamily="34" charset="-122"/>
                <a:cs typeface="Bahnschrift" pitchFamily="34" charset="-120"/>
              </a:rPr>
              <a:t>Grade</a:t>
            </a:r>
            <a:endParaRPr lang="en-US" sz="1350" dirty="0"/>
          </a:p>
        </p:txBody>
      </p:sp>
      <p:sp>
        <p:nvSpPr>
          <p:cNvPr id="36" name="Text 34"/>
          <p:cNvSpPr/>
          <p:nvPr/>
        </p:nvSpPr>
        <p:spPr>
          <a:xfrm>
            <a:off x="5376672" y="2606040"/>
            <a:ext cx="1664208" cy="1234440"/>
          </a:xfrm>
          <a:prstGeom prst="rect">
            <a:avLst/>
          </a:prstGeom>
          <a:noFill/>
          <a:ln/>
        </p:spPr>
        <p:txBody>
          <a:bodyPr wrap="square" lIns="0" tIns="0" rIns="0" bIns="0" rtlCol="0" anchor="t"/>
          <a:lstStyle/>
          <a:p>
            <a:pPr indent="0" marL="0">
              <a:lnSpc>
                <a:spcPct val="112000"/>
              </a:lnSpc>
              <a:buNone/>
            </a:pPr>
            <a:r>
              <a:rPr lang="en-US" sz="1000" dirty="0">
                <a:solidFill>
                  <a:srgbClr val="9A97A6"/>
                </a:solidFill>
                <a:latin typeface="Segoe UI" pitchFamily="34" charset="0"/>
                <a:ea typeface="Segoe UI" pitchFamily="34" charset="-122"/>
                <a:cs typeface="Segoe UI" pitchFamily="34" charset="-120"/>
              </a:rPr>
              <a:t>Centipawn loss → 7-level grade (Brilliant → Blunder)</a:t>
            </a:r>
            <a:endParaRPr lang="en-US" sz="1000" dirty="0"/>
          </a:p>
        </p:txBody>
      </p:sp>
      <p:sp>
        <p:nvSpPr>
          <p:cNvPr id="37" name="Shape 35"/>
          <p:cNvSpPr/>
          <p:nvPr/>
        </p:nvSpPr>
        <p:spPr>
          <a:xfrm>
            <a:off x="7232904" y="2834640"/>
            <a:ext cx="274320" cy="0"/>
          </a:xfrm>
          <a:prstGeom prst="line">
            <a:avLst/>
          </a:prstGeom>
          <a:noFill/>
          <a:ln w="25400">
            <a:solidFill>
              <a:srgbClr val="5C5966"/>
            </a:solidFill>
            <a:prstDash val="solid"/>
            <a:tailEnd type="triangle"/>
          </a:ln>
        </p:spPr>
      </p:sp>
      <p:sp>
        <p:nvSpPr>
          <p:cNvPr id="38" name="Shape 36"/>
          <p:cNvSpPr/>
          <p:nvPr/>
        </p:nvSpPr>
        <p:spPr>
          <a:xfrm>
            <a:off x="7534656" y="1691640"/>
            <a:ext cx="1993392" cy="2286000"/>
          </a:xfrm>
          <a:prstGeom prst="roundRect">
            <a:avLst>
              <a:gd name="adj" fmla="val 3211"/>
            </a:avLst>
          </a:prstGeom>
          <a:solidFill>
            <a:srgbClr val="15151B"/>
          </a:solidFill>
          <a:ln w="12700">
            <a:solidFill>
              <a:srgbClr val="26262F"/>
            </a:solidFill>
            <a:prstDash val="solid"/>
          </a:ln>
        </p:spPr>
      </p:sp>
      <p:sp>
        <p:nvSpPr>
          <p:cNvPr id="39" name="Text 37"/>
          <p:cNvSpPr/>
          <p:nvPr/>
        </p:nvSpPr>
        <p:spPr>
          <a:xfrm>
            <a:off x="7699248" y="1819656"/>
            <a:ext cx="914400" cy="365760"/>
          </a:xfrm>
          <a:prstGeom prst="rect">
            <a:avLst/>
          </a:prstGeom>
          <a:noFill/>
          <a:ln/>
        </p:spPr>
        <p:txBody>
          <a:bodyPr wrap="square" lIns="0" tIns="0" rIns="0" bIns="0" rtlCol="0" anchor="ctr"/>
          <a:lstStyle/>
          <a:p>
            <a:pPr indent="0" marL="0">
              <a:buNone/>
            </a:pPr>
            <a:r>
              <a:rPr lang="en-US" sz="2000" b="1" dirty="0">
                <a:solidFill>
                  <a:srgbClr val="FFC62A"/>
                </a:solidFill>
                <a:latin typeface="Bahnschrift" pitchFamily="34" charset="0"/>
                <a:ea typeface="Bahnschrift" pitchFamily="34" charset="-122"/>
                <a:cs typeface="Bahnschrift" pitchFamily="34" charset="-120"/>
              </a:rPr>
              <a:t>04</a:t>
            </a:r>
            <a:endParaRPr lang="en-US" sz="2000" dirty="0"/>
          </a:p>
        </p:txBody>
      </p:sp>
      <p:sp>
        <p:nvSpPr>
          <p:cNvPr id="40" name="Text 38"/>
          <p:cNvSpPr/>
          <p:nvPr/>
        </p:nvSpPr>
        <p:spPr>
          <a:xfrm>
            <a:off x="7699248" y="2240280"/>
            <a:ext cx="1664208" cy="320040"/>
          </a:xfrm>
          <a:prstGeom prst="rect">
            <a:avLst/>
          </a:prstGeom>
          <a:noFill/>
          <a:ln/>
        </p:spPr>
        <p:txBody>
          <a:bodyPr wrap="square" lIns="0" tIns="0" rIns="0" bIns="0" rtlCol="0" anchor="ctr"/>
          <a:lstStyle/>
          <a:p>
            <a:pPr indent="0" marL="0">
              <a:buNone/>
            </a:pPr>
            <a:r>
              <a:rPr lang="en-US" sz="1350" b="1" dirty="0">
                <a:solidFill>
                  <a:srgbClr val="F5F2EA"/>
                </a:solidFill>
                <a:latin typeface="Bahnschrift" pitchFamily="34" charset="0"/>
                <a:ea typeface="Bahnschrift" pitchFamily="34" charset="-122"/>
                <a:cs typeface="Bahnschrift" pitchFamily="34" charset="-120"/>
              </a:rPr>
              <a:t>Explain</a:t>
            </a:r>
            <a:endParaRPr lang="en-US" sz="1350" dirty="0"/>
          </a:p>
        </p:txBody>
      </p:sp>
      <p:sp>
        <p:nvSpPr>
          <p:cNvPr id="41" name="Text 39"/>
          <p:cNvSpPr/>
          <p:nvPr/>
        </p:nvSpPr>
        <p:spPr>
          <a:xfrm>
            <a:off x="7699248" y="2606040"/>
            <a:ext cx="1664208" cy="1234440"/>
          </a:xfrm>
          <a:prstGeom prst="rect">
            <a:avLst/>
          </a:prstGeom>
          <a:noFill/>
          <a:ln/>
        </p:spPr>
        <p:txBody>
          <a:bodyPr wrap="square" lIns="0" tIns="0" rIns="0" bIns="0" rtlCol="0" anchor="t"/>
          <a:lstStyle/>
          <a:p>
            <a:pPr indent="0" marL="0">
              <a:lnSpc>
                <a:spcPct val="112000"/>
              </a:lnSpc>
              <a:buNone/>
            </a:pPr>
            <a:r>
              <a:rPr lang="en-US" sz="1000" dirty="0">
                <a:solidFill>
                  <a:srgbClr val="9A97A6"/>
                </a:solidFill>
                <a:latin typeface="Segoe UI" pitchFamily="34" charset="0"/>
                <a:ea typeface="Segoe UI" pitchFamily="34" charset="-122"/>
                <a:cs typeface="Segoe UI" pitchFamily="34" charset="-120"/>
              </a:rPr>
              <a:t>LLM writes plain-language coaching text per move</a:t>
            </a:r>
            <a:endParaRPr lang="en-US" sz="1000" dirty="0"/>
          </a:p>
        </p:txBody>
      </p:sp>
      <p:sp>
        <p:nvSpPr>
          <p:cNvPr id="42" name="Shape 40"/>
          <p:cNvSpPr/>
          <p:nvPr/>
        </p:nvSpPr>
        <p:spPr>
          <a:xfrm>
            <a:off x="9555480" y="2834640"/>
            <a:ext cx="274320" cy="0"/>
          </a:xfrm>
          <a:prstGeom prst="line">
            <a:avLst/>
          </a:prstGeom>
          <a:noFill/>
          <a:ln w="25400">
            <a:solidFill>
              <a:srgbClr val="5C5966"/>
            </a:solidFill>
            <a:prstDash val="solid"/>
            <a:tailEnd type="triangle"/>
          </a:ln>
        </p:spPr>
      </p:sp>
      <p:sp>
        <p:nvSpPr>
          <p:cNvPr id="43" name="Shape 41"/>
          <p:cNvSpPr/>
          <p:nvPr/>
        </p:nvSpPr>
        <p:spPr>
          <a:xfrm>
            <a:off x="9857232" y="1691640"/>
            <a:ext cx="1993392" cy="2286000"/>
          </a:xfrm>
          <a:prstGeom prst="roundRect">
            <a:avLst>
              <a:gd name="adj" fmla="val 3211"/>
            </a:avLst>
          </a:prstGeom>
          <a:solidFill>
            <a:srgbClr val="15151B"/>
          </a:solidFill>
          <a:ln w="12700">
            <a:solidFill>
              <a:srgbClr val="26262F"/>
            </a:solidFill>
            <a:prstDash val="solid"/>
          </a:ln>
        </p:spPr>
      </p:sp>
      <p:sp>
        <p:nvSpPr>
          <p:cNvPr id="44" name="Text 42"/>
          <p:cNvSpPr/>
          <p:nvPr/>
        </p:nvSpPr>
        <p:spPr>
          <a:xfrm>
            <a:off x="10021824" y="1819656"/>
            <a:ext cx="914400" cy="365760"/>
          </a:xfrm>
          <a:prstGeom prst="rect">
            <a:avLst/>
          </a:prstGeom>
          <a:noFill/>
          <a:ln/>
        </p:spPr>
        <p:txBody>
          <a:bodyPr wrap="square" lIns="0" tIns="0" rIns="0" bIns="0" rtlCol="0" anchor="ctr"/>
          <a:lstStyle/>
          <a:p>
            <a:pPr indent="0" marL="0">
              <a:buNone/>
            </a:pPr>
            <a:r>
              <a:rPr lang="en-US" sz="2000" b="1" dirty="0">
                <a:solidFill>
                  <a:srgbClr val="FFC62A"/>
                </a:solidFill>
                <a:latin typeface="Bahnschrift" pitchFamily="34" charset="0"/>
                <a:ea typeface="Bahnschrift" pitchFamily="34" charset="-122"/>
                <a:cs typeface="Bahnschrift" pitchFamily="34" charset="-120"/>
              </a:rPr>
              <a:t>05</a:t>
            </a:r>
            <a:endParaRPr lang="en-US" sz="2000" dirty="0"/>
          </a:p>
        </p:txBody>
      </p:sp>
      <p:sp>
        <p:nvSpPr>
          <p:cNvPr id="45" name="Text 43"/>
          <p:cNvSpPr/>
          <p:nvPr/>
        </p:nvSpPr>
        <p:spPr>
          <a:xfrm>
            <a:off x="10021824" y="2240280"/>
            <a:ext cx="1664208" cy="320040"/>
          </a:xfrm>
          <a:prstGeom prst="rect">
            <a:avLst/>
          </a:prstGeom>
          <a:noFill/>
          <a:ln/>
        </p:spPr>
        <p:txBody>
          <a:bodyPr wrap="square" lIns="0" tIns="0" rIns="0" bIns="0" rtlCol="0" anchor="ctr"/>
          <a:lstStyle/>
          <a:p>
            <a:pPr indent="0" marL="0">
              <a:buNone/>
            </a:pPr>
            <a:r>
              <a:rPr lang="en-US" sz="1350" b="1" dirty="0">
                <a:solidFill>
                  <a:srgbClr val="F5F2EA"/>
                </a:solidFill>
                <a:latin typeface="Bahnschrift" pitchFamily="34" charset="0"/>
                <a:ea typeface="Bahnschrift" pitchFamily="34" charset="-122"/>
                <a:cs typeface="Bahnschrift" pitchFamily="34" charset="-120"/>
              </a:rPr>
              <a:t>Report</a:t>
            </a:r>
            <a:endParaRPr lang="en-US" sz="1350" dirty="0"/>
          </a:p>
        </p:txBody>
      </p:sp>
      <p:sp>
        <p:nvSpPr>
          <p:cNvPr id="46" name="Text 44"/>
          <p:cNvSpPr/>
          <p:nvPr/>
        </p:nvSpPr>
        <p:spPr>
          <a:xfrm>
            <a:off x="10021824" y="2606040"/>
            <a:ext cx="1664208" cy="1234440"/>
          </a:xfrm>
          <a:prstGeom prst="rect">
            <a:avLst/>
          </a:prstGeom>
          <a:noFill/>
          <a:ln/>
        </p:spPr>
        <p:txBody>
          <a:bodyPr wrap="square" lIns="0" tIns="0" rIns="0" bIns="0" rtlCol="0" anchor="t"/>
          <a:lstStyle/>
          <a:p>
            <a:pPr indent="0" marL="0">
              <a:lnSpc>
                <a:spcPct val="112000"/>
              </a:lnSpc>
              <a:buNone/>
            </a:pPr>
            <a:r>
              <a:rPr lang="en-US" sz="1000" dirty="0">
                <a:solidFill>
                  <a:srgbClr val="9A97A6"/>
                </a:solidFill>
                <a:latin typeface="Segoe UI" pitchFamily="34" charset="0"/>
                <a:ea typeface="Segoe UI" pitchFamily="34" charset="-122"/>
                <a:cs typeface="Segoe UI" pitchFamily="34" charset="-120"/>
              </a:rPr>
              <a:t>Accuracy %, critical moments, alternatives, insights</a:t>
            </a:r>
            <a:endParaRPr lang="en-US" sz="1000" dirty="0"/>
          </a:p>
        </p:txBody>
      </p:sp>
      <p:sp>
        <p:nvSpPr>
          <p:cNvPr id="47" name="Shape 45"/>
          <p:cNvSpPr/>
          <p:nvPr/>
        </p:nvSpPr>
        <p:spPr>
          <a:xfrm>
            <a:off x="566928" y="4343400"/>
            <a:ext cx="11064240" cy="822960"/>
          </a:xfrm>
          <a:prstGeom prst="roundRect">
            <a:avLst>
              <a:gd name="adj" fmla="val 10000"/>
            </a:avLst>
          </a:prstGeom>
          <a:solidFill>
            <a:srgbClr val="12141A"/>
          </a:solidFill>
          <a:ln w="12700">
            <a:solidFill>
              <a:srgbClr val="2A2A35"/>
            </a:solidFill>
            <a:prstDash val="solid"/>
          </a:ln>
        </p:spPr>
      </p:sp>
      <p:sp>
        <p:nvSpPr>
          <p:cNvPr id="48" name="Text 46"/>
          <p:cNvSpPr/>
          <p:nvPr/>
        </p:nvSpPr>
        <p:spPr>
          <a:xfrm>
            <a:off x="822960" y="4434840"/>
            <a:ext cx="3657600" cy="274320"/>
          </a:xfrm>
          <a:prstGeom prst="rect">
            <a:avLst/>
          </a:prstGeom>
          <a:noFill/>
          <a:ln/>
        </p:spPr>
        <p:txBody>
          <a:bodyPr wrap="square" lIns="0" tIns="0" rIns="0" bIns="0" rtlCol="0" anchor="ctr"/>
          <a:lstStyle/>
          <a:p>
            <a:pPr indent="0" marL="0">
              <a:buNone/>
            </a:pPr>
            <a:r>
              <a:rPr lang="en-US" sz="1050" b="1" spc="200" kern="0" dirty="0">
                <a:solidFill>
                  <a:srgbClr val="FFC62A"/>
                </a:solidFill>
                <a:latin typeface="Bahnschrift" pitchFamily="34" charset="0"/>
                <a:ea typeface="Bahnschrift" pitchFamily="34" charset="-122"/>
                <a:cs typeface="Bahnschrift" pitchFamily="34" charset="-120"/>
              </a:rPr>
              <a:t>ACCURACY FORMULA</a:t>
            </a:r>
            <a:endParaRPr lang="en-US" sz="1050" dirty="0"/>
          </a:p>
        </p:txBody>
      </p:sp>
      <p:sp>
        <p:nvSpPr>
          <p:cNvPr id="49" name="Text 47"/>
          <p:cNvSpPr/>
          <p:nvPr/>
        </p:nvSpPr>
        <p:spPr>
          <a:xfrm>
            <a:off x="822960" y="4709160"/>
            <a:ext cx="10424160" cy="365760"/>
          </a:xfrm>
          <a:prstGeom prst="rect">
            <a:avLst/>
          </a:prstGeom>
          <a:noFill/>
          <a:ln/>
        </p:spPr>
        <p:txBody>
          <a:bodyPr wrap="square" lIns="0" tIns="0" rIns="0" bIns="0" rtlCol="0" anchor="ctr"/>
          <a:lstStyle/>
          <a:p>
            <a:pPr indent="0" marL="0">
              <a:buNone/>
            </a:pPr>
            <a:r>
              <a:rPr lang="en-US" sz="1700" b="1" dirty="0">
                <a:solidFill>
                  <a:srgbClr val="F5F2EA"/>
                </a:solidFill>
                <a:latin typeface="Bahnschrift" pitchFamily="34" charset="0"/>
                <a:ea typeface="Bahnschrift" pitchFamily="34" charset="-122"/>
                <a:cs typeface="Bahnschrift" pitchFamily="34" charset="-120"/>
              </a:rPr>
              <a:t>Accuracy = 100 − (average centipawn loss × 0.15)</a:t>
            </a:r>
            <a:pPr indent="0" marL="0">
              <a:buNone/>
            </a:pPr>
            <a:r>
              <a:rPr lang="en-US" sz="1050" dirty="0">
                <a:solidFill>
                  <a:srgbClr val="9A97A6"/>
                </a:solidFill>
              </a:rPr>
              <a:t>   — capped 0–100, computed per player (src/lib/game-analyzer.ts)</a:t>
            </a:r>
            <a:endParaRPr lang="en-US" sz="1700" dirty="0"/>
          </a:p>
        </p:txBody>
      </p:sp>
      <p:sp>
        <p:nvSpPr>
          <p:cNvPr id="50" name="Text 48"/>
          <p:cNvSpPr/>
          <p:nvPr/>
        </p:nvSpPr>
        <p:spPr>
          <a:xfrm>
            <a:off x="822960" y="5349240"/>
            <a:ext cx="10515600" cy="457200"/>
          </a:xfrm>
          <a:prstGeom prst="rect">
            <a:avLst/>
          </a:prstGeom>
          <a:noFill/>
          <a:ln/>
        </p:spPr>
        <p:txBody>
          <a:bodyPr wrap="square" lIns="0" tIns="0" rIns="0" bIns="0" rtlCol="0" anchor="ctr"/>
          <a:lstStyle/>
          <a:p>
            <a:pPr indent="0" marL="0">
              <a:buNone/>
            </a:pPr>
            <a:r>
              <a:rPr lang="en-US" sz="1050" b="1" spc="200" kern="0" dirty="0">
                <a:solidFill>
                  <a:srgbClr val="FFC62A"/>
                </a:solidFill>
                <a:latin typeface="Bahnschrift" pitchFamily="34" charset="0"/>
                <a:ea typeface="Bahnschrift" pitchFamily="34" charset="-122"/>
                <a:cs typeface="Bahnschrift" pitchFamily="34" charset="-120"/>
              </a:rPr>
              <a:t>SUPPORTING PIPELINES  </a:t>
            </a:r>
            <a:pPr indent="0" marL="0">
              <a:buNone/>
            </a:pPr>
            <a:r>
              <a:rPr lang="en-US" sz="1050" dirty="0">
                <a:solidFill>
                  <a:srgbClr val="9A97A6"/>
                </a:solidFill>
              </a:rPr>
              <a:t>SSE streaming progress (/api/analyze-stream) · deep jobs via BullMQ worker · win-probability chart from centipawns (recharts) · Syzygy tablebases for perfect endgame play</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0B0F"/>
        </a:solidFill>
      </p:bgPr>
    </p:bg>
    <p:spTree>
      <p:nvGrpSpPr>
        <p:cNvPr id="1" name=""/>
        <p:cNvGrpSpPr/>
        <p:nvPr/>
      </p:nvGrpSpPr>
      <p:grpSpPr>
        <a:xfrm>
          <a:off x="0" y="0"/>
          <a:ext cx="0" cy="0"/>
          <a:chOff x="0" y="0"/>
          <a:chExt cx="0" cy="0"/>
        </a:xfrm>
      </p:grpSpPr>
      <p:sp>
        <p:nvSpPr>
          <p:cNvPr id="2" name="Shape 0"/>
          <p:cNvSpPr/>
          <p:nvPr/>
        </p:nvSpPr>
        <p:spPr>
          <a:xfrm>
            <a:off x="10716768" y="292608"/>
            <a:ext cx="155448" cy="155448"/>
          </a:xfrm>
          <a:prstGeom prst="rect">
            <a:avLst/>
          </a:prstGeom>
          <a:solidFill>
            <a:srgbClr val="14141A"/>
          </a:solidFill>
          <a:ln/>
        </p:spPr>
      </p:sp>
      <p:sp>
        <p:nvSpPr>
          <p:cNvPr id="3" name="Shape 1"/>
          <p:cNvSpPr/>
          <p:nvPr/>
        </p:nvSpPr>
        <p:spPr>
          <a:xfrm>
            <a:off x="11027664" y="292608"/>
            <a:ext cx="155448" cy="155448"/>
          </a:xfrm>
          <a:prstGeom prst="rect">
            <a:avLst/>
          </a:prstGeom>
          <a:solidFill>
            <a:srgbClr val="14141A"/>
          </a:solidFill>
          <a:ln/>
        </p:spPr>
      </p:sp>
      <p:sp>
        <p:nvSpPr>
          <p:cNvPr id="4" name="Shape 2"/>
          <p:cNvSpPr/>
          <p:nvPr/>
        </p:nvSpPr>
        <p:spPr>
          <a:xfrm>
            <a:off x="10561320" y="448056"/>
            <a:ext cx="155448" cy="155448"/>
          </a:xfrm>
          <a:prstGeom prst="rect">
            <a:avLst/>
          </a:prstGeom>
          <a:solidFill>
            <a:srgbClr val="14141A"/>
          </a:solidFill>
          <a:ln/>
        </p:spPr>
      </p:sp>
      <p:sp>
        <p:nvSpPr>
          <p:cNvPr id="5" name="Shape 3"/>
          <p:cNvSpPr/>
          <p:nvPr/>
        </p:nvSpPr>
        <p:spPr>
          <a:xfrm>
            <a:off x="10872216" y="448056"/>
            <a:ext cx="155448" cy="155448"/>
          </a:xfrm>
          <a:prstGeom prst="rect">
            <a:avLst/>
          </a:prstGeom>
          <a:solidFill>
            <a:srgbClr val="14141A"/>
          </a:solidFill>
          <a:ln/>
        </p:spPr>
      </p:sp>
      <p:sp>
        <p:nvSpPr>
          <p:cNvPr id="6" name="Shape 4"/>
          <p:cNvSpPr/>
          <p:nvPr/>
        </p:nvSpPr>
        <p:spPr>
          <a:xfrm>
            <a:off x="11183112" y="448056"/>
            <a:ext cx="155448" cy="155448"/>
          </a:xfrm>
          <a:prstGeom prst="rect">
            <a:avLst/>
          </a:prstGeom>
          <a:solidFill>
            <a:srgbClr val="14141A"/>
          </a:solidFill>
          <a:ln/>
        </p:spPr>
      </p:sp>
      <p:sp>
        <p:nvSpPr>
          <p:cNvPr id="7" name="Shape 5"/>
          <p:cNvSpPr/>
          <p:nvPr/>
        </p:nvSpPr>
        <p:spPr>
          <a:xfrm>
            <a:off x="10716768" y="603504"/>
            <a:ext cx="155448" cy="155448"/>
          </a:xfrm>
          <a:prstGeom prst="rect">
            <a:avLst/>
          </a:prstGeom>
          <a:solidFill>
            <a:srgbClr val="14141A"/>
          </a:solidFill>
          <a:ln/>
        </p:spPr>
      </p:sp>
      <p:sp>
        <p:nvSpPr>
          <p:cNvPr id="8" name="Shape 6"/>
          <p:cNvSpPr/>
          <p:nvPr/>
        </p:nvSpPr>
        <p:spPr>
          <a:xfrm>
            <a:off x="11027664" y="603504"/>
            <a:ext cx="155448" cy="155448"/>
          </a:xfrm>
          <a:prstGeom prst="rect">
            <a:avLst/>
          </a:prstGeom>
          <a:solidFill>
            <a:srgbClr val="14141A"/>
          </a:solidFill>
          <a:ln/>
        </p:spPr>
      </p:sp>
      <p:sp>
        <p:nvSpPr>
          <p:cNvPr id="9" name="Shape 7"/>
          <p:cNvSpPr/>
          <p:nvPr/>
        </p:nvSpPr>
        <p:spPr>
          <a:xfrm>
            <a:off x="10561320" y="758952"/>
            <a:ext cx="155448" cy="155448"/>
          </a:xfrm>
          <a:prstGeom prst="rect">
            <a:avLst/>
          </a:prstGeom>
          <a:solidFill>
            <a:srgbClr val="14141A"/>
          </a:solidFill>
          <a:ln/>
        </p:spPr>
      </p:sp>
      <p:sp>
        <p:nvSpPr>
          <p:cNvPr id="10" name="Shape 8"/>
          <p:cNvSpPr/>
          <p:nvPr/>
        </p:nvSpPr>
        <p:spPr>
          <a:xfrm>
            <a:off x="10872216" y="758952"/>
            <a:ext cx="155448" cy="155448"/>
          </a:xfrm>
          <a:prstGeom prst="rect">
            <a:avLst/>
          </a:prstGeom>
          <a:solidFill>
            <a:srgbClr val="14141A"/>
          </a:solidFill>
          <a:ln/>
        </p:spPr>
      </p:sp>
      <p:sp>
        <p:nvSpPr>
          <p:cNvPr id="11" name="Shape 9"/>
          <p:cNvSpPr/>
          <p:nvPr/>
        </p:nvSpPr>
        <p:spPr>
          <a:xfrm>
            <a:off x="11183112" y="758952"/>
            <a:ext cx="155448" cy="155448"/>
          </a:xfrm>
          <a:prstGeom prst="rect">
            <a:avLst/>
          </a:prstGeom>
          <a:solidFill>
            <a:srgbClr val="14141A"/>
          </a:solidFill>
          <a:ln/>
        </p:spPr>
      </p:sp>
      <p:sp>
        <p:nvSpPr>
          <p:cNvPr id="12" name="Shape 10"/>
          <p:cNvSpPr/>
          <p:nvPr/>
        </p:nvSpPr>
        <p:spPr>
          <a:xfrm>
            <a:off x="10716768" y="914400"/>
            <a:ext cx="155448" cy="155448"/>
          </a:xfrm>
          <a:prstGeom prst="rect">
            <a:avLst/>
          </a:prstGeom>
          <a:solidFill>
            <a:srgbClr val="14141A"/>
          </a:solidFill>
          <a:ln/>
        </p:spPr>
      </p:sp>
      <p:sp>
        <p:nvSpPr>
          <p:cNvPr id="13" name="Shape 11"/>
          <p:cNvSpPr/>
          <p:nvPr/>
        </p:nvSpPr>
        <p:spPr>
          <a:xfrm>
            <a:off x="11027664" y="914400"/>
            <a:ext cx="155448" cy="155448"/>
          </a:xfrm>
          <a:prstGeom prst="rect">
            <a:avLst/>
          </a:prstGeom>
          <a:solidFill>
            <a:srgbClr val="14141A"/>
          </a:solidFill>
          <a:ln/>
        </p:spPr>
      </p:sp>
      <p:sp>
        <p:nvSpPr>
          <p:cNvPr id="14" name="Shape 12"/>
          <p:cNvSpPr/>
          <p:nvPr/>
        </p:nvSpPr>
        <p:spPr>
          <a:xfrm>
            <a:off x="9859975" y="310896"/>
            <a:ext cx="1783080" cy="292608"/>
          </a:xfrm>
          <a:prstGeom prst="roundRect">
            <a:avLst>
              <a:gd name="adj" fmla="val 50000"/>
            </a:avLst>
          </a:prstGeom>
          <a:solidFill>
            <a:srgbClr val="2A2412"/>
          </a:solidFill>
          <a:ln w="9525">
            <a:solidFill>
              <a:srgbClr val="4A3D18"/>
            </a:solidFill>
            <a:prstDash val="solid"/>
          </a:ln>
        </p:spPr>
      </p:sp>
      <p:sp>
        <p:nvSpPr>
          <p:cNvPr id="15" name="Text 13"/>
          <p:cNvSpPr/>
          <p:nvPr/>
        </p:nvSpPr>
        <p:spPr>
          <a:xfrm>
            <a:off x="9859975" y="301752"/>
            <a:ext cx="1783080" cy="310896"/>
          </a:xfrm>
          <a:prstGeom prst="rect">
            <a:avLst/>
          </a:prstGeom>
          <a:noFill/>
          <a:ln/>
        </p:spPr>
        <p:txBody>
          <a:bodyPr wrap="square" lIns="0" tIns="0" rIns="0" bIns="0" rtlCol="0" anchor="ctr"/>
          <a:lstStyle/>
          <a:p>
            <a:pPr algn="ctr" indent="0" marL="0">
              <a:buNone/>
            </a:pPr>
            <a:r>
              <a:rPr lang="en-US" sz="800" b="1" spc="120" kern="0" dirty="0">
                <a:solidFill>
                  <a:srgbClr val="FFC62A"/>
                </a:solidFill>
                <a:latin typeface="Bahnschrift" pitchFamily="34" charset="0"/>
                <a:ea typeface="Bahnschrift" pitchFamily="34" charset="-122"/>
                <a:cs typeface="Bahnschrift" pitchFamily="34" charset="-120"/>
              </a:rPr>
              <a:t>VERIFIED · FROM SOURCE CODE</a:t>
            </a:r>
            <a:endParaRPr lang="en-US" sz="800" dirty="0"/>
          </a:p>
        </p:txBody>
      </p:sp>
      <p:sp>
        <p:nvSpPr>
          <p:cNvPr id="16" name="Text 14"/>
          <p:cNvSpPr/>
          <p:nvPr/>
        </p:nvSpPr>
        <p:spPr>
          <a:xfrm>
            <a:off x="566928" y="384048"/>
            <a:ext cx="8229600" cy="274320"/>
          </a:xfrm>
          <a:prstGeom prst="rect">
            <a:avLst/>
          </a:prstGeom>
          <a:noFill/>
          <a:ln/>
        </p:spPr>
        <p:txBody>
          <a:bodyPr wrap="square" lIns="0" tIns="0" rIns="0" bIns="0" rtlCol="0" anchor="ctr"/>
          <a:lstStyle/>
          <a:p>
            <a:pPr indent="0" marL="0">
              <a:buNone/>
            </a:pPr>
            <a:r>
              <a:rPr lang="en-US" sz="1100" b="1" spc="300" kern="0" dirty="0">
                <a:solidFill>
                  <a:srgbClr val="FFC62A"/>
                </a:solidFill>
                <a:latin typeface="Bahnschrift" pitchFamily="34" charset="0"/>
                <a:ea typeface="Bahnschrift" pitchFamily="34" charset="-122"/>
                <a:cs typeface="Bahnschrift" pitchFamily="34" charset="-120"/>
              </a:rPr>
              <a:t>06 · ENGINE SCORING</a:t>
            </a:r>
            <a:endParaRPr lang="en-US" sz="1100" dirty="0"/>
          </a:p>
        </p:txBody>
      </p:sp>
      <p:sp>
        <p:nvSpPr>
          <p:cNvPr id="17" name="Shape 15"/>
          <p:cNvSpPr/>
          <p:nvPr/>
        </p:nvSpPr>
        <p:spPr>
          <a:xfrm>
            <a:off x="566928" y="713232"/>
            <a:ext cx="384048" cy="45720"/>
          </a:xfrm>
          <a:prstGeom prst="rect">
            <a:avLst/>
          </a:prstGeom>
          <a:solidFill>
            <a:srgbClr val="FFC62A"/>
          </a:solidFill>
          <a:ln/>
        </p:spPr>
      </p:sp>
      <p:sp>
        <p:nvSpPr>
          <p:cNvPr id="18" name="Text 16"/>
          <p:cNvSpPr/>
          <p:nvPr/>
        </p:nvSpPr>
        <p:spPr>
          <a:xfrm>
            <a:off x="548640" y="841248"/>
            <a:ext cx="11064240" cy="566928"/>
          </a:xfrm>
          <a:prstGeom prst="rect">
            <a:avLst/>
          </a:prstGeom>
          <a:noFill/>
          <a:ln/>
        </p:spPr>
        <p:txBody>
          <a:bodyPr wrap="square" lIns="0" tIns="0" rIns="0" bIns="0" rtlCol="0" anchor="ctr"/>
          <a:lstStyle/>
          <a:p>
            <a:pPr indent="0" marL="0">
              <a:buNone/>
            </a:pPr>
            <a:r>
              <a:rPr lang="en-US" sz="2700" b="1" dirty="0">
                <a:solidFill>
                  <a:srgbClr val="F5F2EA"/>
                </a:solidFill>
                <a:latin typeface="Bahnschrift" pitchFamily="34" charset="0"/>
                <a:ea typeface="Bahnschrift" pitchFamily="34" charset="-122"/>
                <a:cs typeface="Bahnschrift" pitchFamily="34" charset="-120"/>
              </a:rPr>
              <a:t>The 7-level move grading system</a:t>
            </a:r>
            <a:endParaRPr lang="en-US" sz="2700" dirty="0"/>
          </a:p>
        </p:txBody>
      </p:sp>
      <p:sp>
        <p:nvSpPr>
          <p:cNvPr id="19" name="Text 17"/>
          <p:cNvSpPr/>
          <p:nvPr/>
        </p:nvSpPr>
        <p:spPr>
          <a:xfrm>
            <a:off x="566928" y="1389888"/>
            <a:ext cx="11064240" cy="274320"/>
          </a:xfrm>
          <a:prstGeom prst="rect">
            <a:avLst/>
          </a:prstGeom>
          <a:noFill/>
          <a:ln/>
        </p:spPr>
        <p:txBody>
          <a:bodyPr wrap="square" lIns="0" tIns="0" rIns="0" bIns="0" rtlCol="0" anchor="ctr"/>
          <a:lstStyle/>
          <a:p>
            <a:pPr indent="0" marL="0">
              <a:buNone/>
            </a:pPr>
            <a:r>
              <a:rPr lang="en-US" sz="1250" dirty="0">
                <a:solidFill>
                  <a:srgbClr val="9A97A6"/>
                </a:solidFill>
                <a:latin typeface="Segoe UI" pitchFamily="34" charset="0"/>
                <a:ea typeface="Segoe UI" pitchFamily="34" charset="-122"/>
                <a:cs typeface="Segoe UI" pitchFamily="34" charset="-120"/>
              </a:rPr>
              <a:t>Thresholds verified from src/lib/move-classifier.ts.</a:t>
            </a:r>
            <a:endParaRPr lang="en-US" sz="1250" dirty="0"/>
          </a:p>
        </p:txBody>
      </p:sp>
      <p:sp>
        <p:nvSpPr>
          <p:cNvPr id="20" name="Text 18"/>
          <p:cNvSpPr/>
          <p:nvPr/>
        </p:nvSpPr>
        <p:spPr>
          <a:xfrm>
            <a:off x="566928" y="6492240"/>
            <a:ext cx="2743200" cy="256032"/>
          </a:xfrm>
          <a:prstGeom prst="rect">
            <a:avLst/>
          </a:prstGeom>
          <a:noFill/>
          <a:ln/>
        </p:spPr>
        <p:txBody>
          <a:bodyPr wrap="square" lIns="0" tIns="0" rIns="0" bIns="0" rtlCol="0" anchor="ctr"/>
          <a:lstStyle/>
          <a:p>
            <a:pPr indent="0" marL="0">
              <a:buNone/>
            </a:pPr>
            <a:r>
              <a:rPr lang="en-US" sz="850" b="1" spc="300" kern="0" dirty="0">
                <a:solidFill>
                  <a:srgbClr val="5C5966"/>
                </a:solidFill>
                <a:latin typeface="Bahnschrift" pitchFamily="34" charset="0"/>
                <a:ea typeface="Bahnschrift" pitchFamily="34" charset="-122"/>
                <a:cs typeface="Bahnschrift" pitchFamily="34" charset="-120"/>
              </a:rPr>
              <a:t>CHESSFORK</a:t>
            </a:r>
            <a:endParaRPr lang="en-US" sz="850" dirty="0"/>
          </a:p>
        </p:txBody>
      </p:sp>
      <p:sp>
        <p:nvSpPr>
          <p:cNvPr id="21" name="Text 19"/>
          <p:cNvSpPr/>
          <p:nvPr/>
        </p:nvSpPr>
        <p:spPr>
          <a:xfrm>
            <a:off x="3840480" y="6492240"/>
            <a:ext cx="4572000" cy="256032"/>
          </a:xfrm>
          <a:prstGeom prst="rect">
            <a:avLst/>
          </a:prstGeom>
          <a:noFill/>
          <a:ln/>
        </p:spPr>
        <p:txBody>
          <a:bodyPr wrap="square" lIns="0" tIns="0" rIns="0" bIns="0" rtlCol="0" anchor="ctr"/>
          <a:lstStyle/>
          <a:p>
            <a:pPr indent="0" marL="0">
              <a:buNone/>
            </a:pPr>
            <a:r>
              <a:rPr lang="en-US" sz="800" spc="150" kern="0" dirty="0">
                <a:solidFill>
                  <a:srgbClr val="5C5966"/>
                </a:solidFill>
                <a:latin typeface="Segoe UI" pitchFamily="34" charset="0"/>
                <a:ea typeface="Segoe UI" pitchFamily="34" charset="-122"/>
                <a:cs typeface="Segoe UI" pitchFamily="34" charset="-120"/>
              </a:rPr>
              <a:t>BCA FINAL YEAR PROJECT · 2026</a:t>
            </a:r>
            <a:endParaRPr lang="en-US" sz="800" dirty="0"/>
          </a:p>
        </p:txBody>
      </p:sp>
      <p:sp>
        <p:nvSpPr>
          <p:cNvPr id="22" name="Text 20"/>
          <p:cNvSpPr/>
          <p:nvPr/>
        </p:nvSpPr>
        <p:spPr>
          <a:xfrm>
            <a:off x="11292840" y="6473952"/>
            <a:ext cx="365760" cy="274320"/>
          </a:xfrm>
          <a:prstGeom prst="rect">
            <a:avLst/>
          </a:prstGeom>
          <a:noFill/>
          <a:ln/>
        </p:spPr>
        <p:txBody>
          <a:bodyPr wrap="square" lIns="0" tIns="0" rIns="0" bIns="0" rtlCol="0" anchor="ctr"/>
          <a:lstStyle/>
          <a:p>
            <a:pPr algn="r" indent="0" marL="0">
              <a:buNone/>
            </a:pPr>
            <a:r>
              <a:rPr lang="en-US" sz="900" b="1" dirty="0">
                <a:solidFill>
                  <a:srgbClr val="5C5966"/>
                </a:solidFill>
                <a:latin typeface="Bahnschrift" pitchFamily="34" charset="0"/>
                <a:ea typeface="Bahnschrift" pitchFamily="34" charset="-122"/>
                <a:cs typeface="Bahnschrift" pitchFamily="34" charset="-120"/>
              </a:rPr>
              <a:t>07</a:t>
            </a:r>
            <a:endParaRPr lang="en-US" sz="9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66928" y="1783080"/>
          <a:ext cx="6675120" cy="914400"/>
        </p:xfrm>
        <a:graphic>
          <a:graphicData uri="http://schemas.openxmlformats.org/drawingml/2006/table">
            <a:tbl>
              <a:tblPr/>
              <a:tblGrid>
                <a:gridCol w="2011680"/>
                <a:gridCol w="2103120"/>
                <a:gridCol w="2560320"/>
              </a:tblGrid>
              <a:tr h="384048">
                <a:tc>
                  <a:txBody>
                    <a:bodyPr/>
                    <a:lstStyle/>
                    <a:p>
                      <a:pPr algn="l" indent="0" marL="0">
                        <a:buNone/>
                      </a:pPr>
                      <a:r>
                        <a:rPr lang="en-US" sz="1150" b="1" spc="100" kern="0" dirty="0">
                          <a:solidFill>
                            <a:srgbClr val="FFC62A"/>
                          </a:solidFill>
                          <a:latin typeface="Bahnschrift" pitchFamily="34" charset="0"/>
                          <a:ea typeface="Bahnschrift" pitchFamily="34" charset="-122"/>
                          <a:cs typeface="Bahnschrift" pitchFamily="34" charset="-120"/>
                        </a:rPr>
                        <a:t>Grade</a:t>
                      </a:r>
                      <a:endParaRPr lang="en-US" sz="1150" dirty="0">
                        <a:latin typeface="Bahnschrift" charset="0"/>
                        <a:ea typeface="Bahnschrift" charset="0"/>
                        <a:cs typeface="Bahnschrift" charset="0"/>
                      </a:endParaRPr>
                    </a:p>
                  </a:txBody>
                  <a:tcPr marL="36576" marR="36576" marT="36576" marB="36576" anchor="ctr">
                    <a:lnL w="6350" cap="flat" cmpd="sng" algn="ctr">
                      <a:solidFill>
                        <a:srgbClr val="26262F"/>
                      </a:solidFill>
                      <a:prstDash val="solid"/>
                      <a:round/>
                      <a:headEnd type="none" w="med" len="med"/>
                      <a:tailEnd type="none" w="med" len="med"/>
                    </a:lnL>
                    <a:lnR w="6350" cap="flat" cmpd="sng" algn="ctr">
                      <a:solidFill>
                        <a:srgbClr val="26262F"/>
                      </a:solidFill>
                      <a:prstDash val="solid"/>
                      <a:round/>
                      <a:headEnd type="none" w="med" len="med"/>
                      <a:tailEnd type="none" w="med" len="med"/>
                    </a:lnR>
                    <a:lnT w="6350" cap="flat" cmpd="sng" algn="ctr">
                      <a:solidFill>
                        <a:srgbClr val="26262F"/>
                      </a:solidFill>
                      <a:prstDash val="solid"/>
                      <a:round/>
                      <a:headEnd type="none" w="med" len="med"/>
                      <a:tailEnd type="none" w="med" len="med"/>
                    </a:lnT>
                    <a:lnB w="6350" cap="flat" cmpd="sng" algn="ctr">
                      <a:solidFill>
                        <a:srgbClr val="26262F"/>
                      </a:solidFill>
                      <a:prstDash val="solid"/>
                      <a:round/>
                      <a:headEnd type="none" w="med" len="med"/>
                      <a:tailEnd type="none" w="med" len="med"/>
                    </a:lnB>
                    <a:solidFill>
                      <a:srgbClr val="1E1E26"/>
                    </a:solidFill>
                  </a:tcPr>
                </a:tc>
                <a:tc>
                  <a:txBody>
                    <a:bodyPr/>
                    <a:lstStyle/>
                    <a:p>
                      <a:pPr algn="l" indent="0" marL="0">
                        <a:buNone/>
                      </a:pPr>
                      <a:r>
                        <a:rPr lang="en-US" sz="1150" b="1" spc="100" kern="0" dirty="0">
                          <a:solidFill>
                            <a:srgbClr val="FFC62A"/>
                          </a:solidFill>
                          <a:latin typeface="Bahnschrift" pitchFamily="34" charset="0"/>
                          <a:ea typeface="Bahnschrift" pitchFamily="34" charset="-122"/>
                          <a:cs typeface="Bahnschrift" pitchFamily="34" charset="-120"/>
                        </a:rPr>
                        <a:t>Max Centipawn Loss</a:t>
                      </a:r>
                      <a:endParaRPr lang="en-US" sz="1150" dirty="0">
                        <a:latin typeface="Bahnschrift" charset="0"/>
                        <a:ea typeface="Bahnschrift" charset="0"/>
                        <a:cs typeface="Bahnschrift" charset="0"/>
                      </a:endParaRPr>
                    </a:p>
                  </a:txBody>
                  <a:tcPr marL="36576" marR="36576" marT="36576" marB="36576" anchor="ctr">
                    <a:lnL w="6350" cap="flat" cmpd="sng" algn="ctr">
                      <a:solidFill>
                        <a:srgbClr val="26262F"/>
                      </a:solidFill>
                      <a:prstDash val="solid"/>
                      <a:round/>
                      <a:headEnd type="none" w="med" len="med"/>
                      <a:tailEnd type="none" w="med" len="med"/>
                    </a:lnL>
                    <a:lnR w="6350" cap="flat" cmpd="sng" algn="ctr">
                      <a:solidFill>
                        <a:srgbClr val="26262F"/>
                      </a:solidFill>
                      <a:prstDash val="solid"/>
                      <a:round/>
                      <a:headEnd type="none" w="med" len="med"/>
                      <a:tailEnd type="none" w="med" len="med"/>
                    </a:lnR>
                    <a:lnT w="6350" cap="flat" cmpd="sng" algn="ctr">
                      <a:solidFill>
                        <a:srgbClr val="26262F"/>
                      </a:solidFill>
                      <a:prstDash val="solid"/>
                      <a:round/>
                      <a:headEnd type="none" w="med" len="med"/>
                      <a:tailEnd type="none" w="med" len="med"/>
                    </a:lnT>
                    <a:lnB w="6350" cap="flat" cmpd="sng" algn="ctr">
                      <a:solidFill>
                        <a:srgbClr val="26262F"/>
                      </a:solidFill>
                      <a:prstDash val="solid"/>
                      <a:round/>
                      <a:headEnd type="none" w="med" len="med"/>
                      <a:tailEnd type="none" w="med" len="med"/>
                    </a:lnB>
                    <a:solidFill>
                      <a:srgbClr val="1E1E26"/>
                    </a:solidFill>
                  </a:tcPr>
                </a:tc>
                <a:tc>
                  <a:txBody>
                    <a:bodyPr/>
                    <a:lstStyle/>
                    <a:p>
                      <a:pPr algn="l" indent="0" marL="0">
                        <a:buNone/>
                      </a:pPr>
                      <a:r>
                        <a:rPr lang="en-US" sz="1150" b="1" spc="100" kern="0" dirty="0">
                          <a:solidFill>
                            <a:srgbClr val="FFC62A"/>
                          </a:solidFill>
                          <a:latin typeface="Bahnschrift" pitchFamily="34" charset="0"/>
                          <a:ea typeface="Bahnschrift" pitchFamily="34" charset="-122"/>
                          <a:cs typeface="Bahnschrift" pitchFamily="34" charset="-120"/>
                        </a:rPr>
                        <a:t>Meaning</a:t>
                      </a:r>
                      <a:endParaRPr lang="en-US" sz="1150" dirty="0">
                        <a:latin typeface="Bahnschrift" charset="0"/>
                        <a:ea typeface="Bahnschrift" charset="0"/>
                        <a:cs typeface="Bahnschrift" charset="0"/>
                      </a:endParaRPr>
                    </a:p>
                  </a:txBody>
                  <a:tcPr marL="36576" marR="36576" marT="36576" marB="36576" anchor="ctr">
                    <a:lnL w="6350" cap="flat" cmpd="sng" algn="ctr">
                      <a:solidFill>
                        <a:srgbClr val="26262F"/>
                      </a:solidFill>
                      <a:prstDash val="solid"/>
                      <a:round/>
                      <a:headEnd type="none" w="med" len="med"/>
                      <a:tailEnd type="none" w="med" len="med"/>
                    </a:lnL>
                    <a:lnR w="6350" cap="flat" cmpd="sng" algn="ctr">
                      <a:solidFill>
                        <a:srgbClr val="26262F"/>
                      </a:solidFill>
                      <a:prstDash val="solid"/>
                      <a:round/>
                      <a:headEnd type="none" w="med" len="med"/>
                      <a:tailEnd type="none" w="med" len="med"/>
                    </a:lnR>
                    <a:lnT w="6350" cap="flat" cmpd="sng" algn="ctr">
                      <a:solidFill>
                        <a:srgbClr val="26262F"/>
                      </a:solidFill>
                      <a:prstDash val="solid"/>
                      <a:round/>
                      <a:headEnd type="none" w="med" len="med"/>
                      <a:tailEnd type="none" w="med" len="med"/>
                    </a:lnT>
                    <a:lnB w="6350" cap="flat" cmpd="sng" algn="ctr">
                      <a:solidFill>
                        <a:srgbClr val="26262F"/>
                      </a:solidFill>
                      <a:prstDash val="solid"/>
                      <a:round/>
                      <a:headEnd type="none" w="med" len="med"/>
                      <a:tailEnd type="none" w="med" len="med"/>
                    </a:lnB>
                    <a:solidFill>
                      <a:srgbClr val="1E1E26"/>
                    </a:solidFill>
                  </a:tcPr>
                </a:tc>
              </a:tr>
              <a:tr h="384048">
                <a:tc>
                  <a:txBody>
                    <a:bodyPr/>
                    <a:lstStyle/>
                    <a:p>
                      <a:pPr indent="0" marL="0">
                        <a:buNone/>
                      </a:pPr>
                      <a:r>
                        <a:rPr lang="en-US" sz="1100" b="1" dirty="0">
                          <a:solidFill>
                            <a:srgbClr val="FFC62A"/>
                          </a:solidFill>
                          <a:latin typeface="Segoe UI Symbol" pitchFamily="34" charset="0"/>
                          <a:ea typeface="Segoe UI Symbol" pitchFamily="34" charset="-122"/>
                          <a:cs typeface="Segoe UI Symbol" pitchFamily="34" charset="-120"/>
                        </a:rPr>
                        <a:t>♛ Brilliant</a:t>
                      </a:r>
                      <a:endParaRPr lang="en-US" sz="1100" dirty="0">
                        <a:latin typeface="Segoe UI Symbol" charset="0"/>
                        <a:ea typeface="Segoe UI Symbol" charset="0"/>
                        <a:cs typeface="Segoe UI Symbol" charset="0"/>
                      </a:endParaRPr>
                    </a:p>
                  </a:txBody>
                  <a:tcPr marL="36576" marR="36576" marT="36576" marB="36576" anchor="ctr">
                    <a:lnL w="6350" cap="flat" cmpd="sng" algn="ctr">
                      <a:solidFill>
                        <a:srgbClr val="26262F"/>
                      </a:solidFill>
                      <a:prstDash val="solid"/>
                      <a:round/>
                      <a:headEnd type="none" w="med" len="med"/>
                      <a:tailEnd type="none" w="med" len="med"/>
                    </a:lnL>
                    <a:lnR w="6350" cap="flat" cmpd="sng" algn="ctr">
                      <a:solidFill>
                        <a:srgbClr val="26262F"/>
                      </a:solidFill>
                      <a:prstDash val="solid"/>
                      <a:round/>
                      <a:headEnd type="none" w="med" len="med"/>
                      <a:tailEnd type="none" w="med" len="med"/>
                    </a:lnR>
                    <a:lnT w="6350" cap="flat" cmpd="sng" algn="ctr">
                      <a:solidFill>
                        <a:srgbClr val="26262F"/>
                      </a:solidFill>
                      <a:prstDash val="solid"/>
                      <a:round/>
                      <a:headEnd type="none" w="med" len="med"/>
                      <a:tailEnd type="none" w="med" len="med"/>
                    </a:lnT>
                    <a:lnB w="6350" cap="flat" cmpd="sng" algn="ctr">
                      <a:solidFill>
                        <a:srgbClr val="26262F"/>
                      </a:solidFill>
                      <a:prstDash val="solid"/>
                      <a:round/>
                      <a:headEnd type="none" w="med" len="med"/>
                      <a:tailEnd type="none" w="med" len="med"/>
                    </a:lnB>
                  </a:tcPr>
                </a:tc>
                <a:tc>
                  <a:txBody>
                    <a:bodyPr/>
                    <a:lstStyle/>
                    <a:p>
                      <a:pPr algn="l" indent="0" marL="0">
                        <a:buNone/>
                      </a:pPr>
                      <a:r>
                        <a:rPr lang="en-US" sz="1050" dirty="0">
                          <a:solidFill>
                            <a:srgbClr val="F5F2EA"/>
                          </a:solidFill>
                          <a:latin typeface="Segoe UI" pitchFamily="34" charset="0"/>
                          <a:ea typeface="Segoe UI" pitchFamily="34" charset="-122"/>
                          <a:cs typeface="Segoe UI" pitchFamily="34" charset="-120"/>
                        </a:rPr>
                        <a:t>0</a:t>
                      </a:r>
                      <a:endParaRPr lang="en-US" sz="1050" dirty="0">
                        <a:latin typeface="Segoe UI" charset="0"/>
                        <a:ea typeface="Segoe UI" charset="0"/>
                        <a:cs typeface="Segoe UI" charset="0"/>
                      </a:endParaRPr>
                    </a:p>
                  </a:txBody>
                  <a:tcPr marL="36576" marR="36576" marT="36576" marB="36576" anchor="ctr">
                    <a:lnL w="6350" cap="flat" cmpd="sng" algn="ctr">
                      <a:solidFill>
                        <a:srgbClr val="26262F"/>
                      </a:solidFill>
                      <a:prstDash val="solid"/>
                      <a:round/>
                      <a:headEnd type="none" w="med" len="med"/>
                      <a:tailEnd type="none" w="med" len="med"/>
                    </a:lnL>
                    <a:lnR w="6350" cap="flat" cmpd="sng" algn="ctr">
                      <a:solidFill>
                        <a:srgbClr val="26262F"/>
                      </a:solidFill>
                      <a:prstDash val="solid"/>
                      <a:round/>
                      <a:headEnd type="none" w="med" len="med"/>
                      <a:tailEnd type="none" w="med" len="med"/>
                    </a:lnR>
                    <a:lnT w="6350" cap="flat" cmpd="sng" algn="ctr">
                      <a:solidFill>
                        <a:srgbClr val="26262F"/>
                      </a:solidFill>
                      <a:prstDash val="solid"/>
                      <a:round/>
                      <a:headEnd type="none" w="med" len="med"/>
                      <a:tailEnd type="none" w="med" len="med"/>
                    </a:lnT>
                    <a:lnB w="6350" cap="flat" cmpd="sng" algn="ctr">
                      <a:solidFill>
                        <a:srgbClr val="26262F"/>
                      </a:solidFill>
                      <a:prstDash val="solid"/>
                      <a:round/>
                      <a:headEnd type="none" w="med" len="med"/>
                      <a:tailEnd type="none" w="med" len="med"/>
                    </a:lnB>
                    <a:solidFill>
                      <a:srgbClr val="17171F"/>
                    </a:solidFill>
                  </a:tcPr>
                </a:tc>
                <a:tc>
                  <a:txBody>
                    <a:bodyPr/>
                    <a:lstStyle/>
                    <a:p>
                      <a:pPr algn="l" indent="0" marL="0">
                        <a:buNone/>
                      </a:pPr>
                      <a:r>
                        <a:rPr lang="en-US" sz="1050" dirty="0">
                          <a:solidFill>
                            <a:srgbClr val="F5F2EA"/>
                          </a:solidFill>
                          <a:latin typeface="Segoe UI" pitchFamily="34" charset="0"/>
                          <a:ea typeface="Segoe UI" pitchFamily="34" charset="-122"/>
                          <a:cs typeface="Segoe UI" pitchFamily="34" charset="-120"/>
                        </a:rPr>
                        <a:t>Only-engine move or sound sacrifice found at depth ≥ 16</a:t>
                      </a:r>
                      <a:endParaRPr lang="en-US" sz="1050" dirty="0">
                        <a:latin typeface="Segoe UI" charset="0"/>
                        <a:ea typeface="Segoe UI" charset="0"/>
                        <a:cs typeface="Segoe UI" charset="0"/>
                      </a:endParaRPr>
                    </a:p>
                  </a:txBody>
                  <a:tcPr marL="36576" marR="36576" marT="36576" marB="36576" anchor="ctr">
                    <a:lnL w="6350" cap="flat" cmpd="sng" algn="ctr">
                      <a:solidFill>
                        <a:srgbClr val="26262F"/>
                      </a:solidFill>
                      <a:prstDash val="solid"/>
                      <a:round/>
                      <a:headEnd type="none" w="med" len="med"/>
                      <a:tailEnd type="none" w="med" len="med"/>
                    </a:lnL>
                    <a:lnR w="6350" cap="flat" cmpd="sng" algn="ctr">
                      <a:solidFill>
                        <a:srgbClr val="26262F"/>
                      </a:solidFill>
                      <a:prstDash val="solid"/>
                      <a:round/>
                      <a:headEnd type="none" w="med" len="med"/>
                      <a:tailEnd type="none" w="med" len="med"/>
                    </a:lnR>
                    <a:lnT w="6350" cap="flat" cmpd="sng" algn="ctr">
                      <a:solidFill>
                        <a:srgbClr val="26262F"/>
                      </a:solidFill>
                      <a:prstDash val="solid"/>
                      <a:round/>
                      <a:headEnd type="none" w="med" len="med"/>
                      <a:tailEnd type="none" w="med" len="med"/>
                    </a:lnT>
                    <a:lnB w="6350" cap="flat" cmpd="sng" algn="ctr">
                      <a:solidFill>
                        <a:srgbClr val="26262F"/>
                      </a:solidFill>
                      <a:prstDash val="solid"/>
                      <a:round/>
                      <a:headEnd type="none" w="med" len="med"/>
                      <a:tailEnd type="none" w="med" len="med"/>
                    </a:lnB>
                    <a:solidFill>
                      <a:srgbClr val="15151B"/>
                    </a:solidFill>
                  </a:tcPr>
                </a:tc>
              </a:tr>
              <a:tr h="384048">
                <a:tc>
                  <a:txBody>
                    <a:bodyPr/>
                    <a:lstStyle/>
                    <a:p>
                      <a:pPr indent="0" marL="0">
                        <a:buNone/>
                      </a:pPr>
                      <a:r>
                        <a:rPr lang="en-US" sz="1150" b="1" dirty="0">
                          <a:solidFill>
                            <a:srgbClr val="3DDC84"/>
                          </a:solidFill>
                        </a:rPr>
                        <a:t>♞ Best</a:t>
                      </a:r>
                      <a:endParaRPr lang="en-US" sz="1150" dirty="0"/>
                    </a:p>
                  </a:txBody>
                  <a:tcPr marL="36576" marR="36576" marT="36576" marB="36576" anchor="ctr">
                    <a:lnL w="6350" cap="flat" cmpd="sng" algn="ctr">
                      <a:solidFill>
                        <a:srgbClr val="26262F"/>
                      </a:solidFill>
                      <a:prstDash val="solid"/>
                      <a:round/>
                      <a:headEnd type="none" w="med" len="med"/>
                      <a:tailEnd type="none" w="med" len="med"/>
                    </a:lnL>
                    <a:lnR w="6350" cap="flat" cmpd="sng" algn="ctr">
                      <a:solidFill>
                        <a:srgbClr val="26262F"/>
                      </a:solidFill>
                      <a:prstDash val="solid"/>
                      <a:round/>
                      <a:headEnd type="none" w="med" len="med"/>
                      <a:tailEnd type="none" w="med" len="med"/>
                    </a:lnR>
                    <a:lnT w="6350" cap="flat" cmpd="sng" algn="ctr">
                      <a:solidFill>
                        <a:srgbClr val="26262F"/>
                      </a:solidFill>
                      <a:prstDash val="solid"/>
                      <a:round/>
                      <a:headEnd type="none" w="med" len="med"/>
                      <a:tailEnd type="none" w="med" len="med"/>
                    </a:lnT>
                    <a:lnB w="6350" cap="flat" cmpd="sng" algn="ctr">
                      <a:solidFill>
                        <a:srgbClr val="26262F"/>
                      </a:solidFill>
                      <a:prstDash val="solid"/>
                      <a:round/>
                      <a:headEnd type="none" w="med" len="med"/>
                      <a:tailEnd type="none" w="med" len="med"/>
                    </a:lnB>
                  </a:tcPr>
                </a:tc>
                <a:tc>
                  <a:txBody>
                    <a:bodyPr/>
                    <a:lstStyle/>
                    <a:p>
                      <a:pPr algn="l" indent="0" marL="0">
                        <a:buNone/>
                      </a:pPr>
                      <a:r>
                        <a:rPr lang="en-US" sz="1050" dirty="0">
                          <a:solidFill>
                            <a:srgbClr val="F5F2EA"/>
                          </a:solidFill>
                          <a:latin typeface="Segoe UI" pitchFamily="34" charset="0"/>
                          <a:ea typeface="Segoe UI" pitchFamily="34" charset="-122"/>
                          <a:cs typeface="Segoe UI" pitchFamily="34" charset="-120"/>
                        </a:rPr>
                        <a:t>8</a:t>
                      </a:r>
                      <a:endParaRPr lang="en-US" sz="1050" dirty="0">
                        <a:latin typeface="Segoe UI" charset="0"/>
                        <a:ea typeface="Segoe UI" charset="0"/>
                        <a:cs typeface="Segoe UI" charset="0"/>
                      </a:endParaRPr>
                    </a:p>
                  </a:txBody>
                  <a:tcPr marL="36576" marR="36576" marT="36576" marB="36576" anchor="ctr">
                    <a:lnL w="6350" cap="flat" cmpd="sng" algn="ctr">
                      <a:solidFill>
                        <a:srgbClr val="26262F"/>
                      </a:solidFill>
                      <a:prstDash val="solid"/>
                      <a:round/>
                      <a:headEnd type="none" w="med" len="med"/>
                      <a:tailEnd type="none" w="med" len="med"/>
                    </a:lnL>
                    <a:lnR w="6350" cap="flat" cmpd="sng" algn="ctr">
                      <a:solidFill>
                        <a:srgbClr val="26262F"/>
                      </a:solidFill>
                      <a:prstDash val="solid"/>
                      <a:round/>
                      <a:headEnd type="none" w="med" len="med"/>
                      <a:tailEnd type="none" w="med" len="med"/>
                    </a:lnR>
                    <a:lnT w="6350" cap="flat" cmpd="sng" algn="ctr">
                      <a:solidFill>
                        <a:srgbClr val="26262F"/>
                      </a:solidFill>
                      <a:prstDash val="solid"/>
                      <a:round/>
                      <a:headEnd type="none" w="med" len="med"/>
                      <a:tailEnd type="none" w="med" len="med"/>
                    </a:lnT>
                    <a:lnB w="6350" cap="flat" cmpd="sng" algn="ctr">
                      <a:solidFill>
                        <a:srgbClr val="26262F"/>
                      </a:solidFill>
                      <a:prstDash val="solid"/>
                      <a:round/>
                      <a:headEnd type="none" w="med" len="med"/>
                      <a:tailEnd type="none" w="med" len="med"/>
                    </a:lnB>
                    <a:solidFill>
                      <a:srgbClr val="17171F"/>
                    </a:solidFill>
                  </a:tcPr>
                </a:tc>
                <a:tc>
                  <a:txBody>
                    <a:bodyPr/>
                    <a:lstStyle/>
                    <a:p>
                      <a:pPr algn="l" indent="0" marL="0">
                        <a:buNone/>
                      </a:pPr>
                      <a:r>
                        <a:rPr lang="en-US" sz="1050" dirty="0">
                          <a:solidFill>
                            <a:srgbClr val="F5F2EA"/>
                          </a:solidFill>
                          <a:latin typeface="Segoe UI" pitchFamily="34" charset="0"/>
                          <a:ea typeface="Segoe UI" pitchFamily="34" charset="-122"/>
                          <a:cs typeface="Segoe UI" pitchFamily="34" charset="-120"/>
                        </a:rPr>
                        <a:t>The top engine move in the position</a:t>
                      </a:r>
                      <a:endParaRPr lang="en-US" sz="1050" dirty="0">
                        <a:latin typeface="Segoe UI" charset="0"/>
                        <a:ea typeface="Segoe UI" charset="0"/>
                        <a:cs typeface="Segoe UI" charset="0"/>
                      </a:endParaRPr>
                    </a:p>
                  </a:txBody>
                  <a:tcPr marL="36576" marR="36576" marT="36576" marB="36576" anchor="ctr">
                    <a:lnL w="6350" cap="flat" cmpd="sng" algn="ctr">
                      <a:solidFill>
                        <a:srgbClr val="26262F"/>
                      </a:solidFill>
                      <a:prstDash val="solid"/>
                      <a:round/>
                      <a:headEnd type="none" w="med" len="med"/>
                      <a:tailEnd type="none" w="med" len="med"/>
                    </a:lnL>
                    <a:lnR w="6350" cap="flat" cmpd="sng" algn="ctr">
                      <a:solidFill>
                        <a:srgbClr val="26262F"/>
                      </a:solidFill>
                      <a:prstDash val="solid"/>
                      <a:round/>
                      <a:headEnd type="none" w="med" len="med"/>
                      <a:tailEnd type="none" w="med" len="med"/>
                    </a:lnR>
                    <a:lnT w="6350" cap="flat" cmpd="sng" algn="ctr">
                      <a:solidFill>
                        <a:srgbClr val="26262F"/>
                      </a:solidFill>
                      <a:prstDash val="solid"/>
                      <a:round/>
                      <a:headEnd type="none" w="med" len="med"/>
                      <a:tailEnd type="none" w="med" len="med"/>
                    </a:lnT>
                    <a:lnB w="6350" cap="flat" cmpd="sng" algn="ctr">
                      <a:solidFill>
                        <a:srgbClr val="26262F"/>
                      </a:solidFill>
                      <a:prstDash val="solid"/>
                      <a:round/>
                      <a:headEnd type="none" w="med" len="med"/>
                      <a:tailEnd type="none" w="med" len="med"/>
                    </a:lnB>
                    <a:solidFill>
                      <a:srgbClr val="15151B"/>
                    </a:solidFill>
                  </a:tcPr>
                </a:tc>
              </a:tr>
              <a:tr h="384048">
                <a:tc>
                  <a:txBody>
                    <a:bodyPr/>
                    <a:lstStyle/>
                    <a:p>
                      <a:pPr indent="0" marL="0">
                        <a:buNone/>
                      </a:pPr>
                      <a:r>
                        <a:rPr lang="en-US" sz="1150" b="1" dirty="0">
                          <a:solidFill>
                            <a:srgbClr val="3DDC84"/>
                          </a:solidFill>
                        </a:rPr>
                        <a:t>♜ Excellent</a:t>
                      </a:r>
                      <a:endParaRPr lang="en-US" sz="1150" dirty="0"/>
                    </a:p>
                  </a:txBody>
                  <a:tcPr marL="36576" marR="36576" marT="36576" marB="36576" anchor="ctr">
                    <a:lnL w="6350" cap="flat" cmpd="sng" algn="ctr">
                      <a:solidFill>
                        <a:srgbClr val="26262F"/>
                      </a:solidFill>
                      <a:prstDash val="solid"/>
                      <a:round/>
                      <a:headEnd type="none" w="med" len="med"/>
                      <a:tailEnd type="none" w="med" len="med"/>
                    </a:lnL>
                    <a:lnR w="6350" cap="flat" cmpd="sng" algn="ctr">
                      <a:solidFill>
                        <a:srgbClr val="26262F"/>
                      </a:solidFill>
                      <a:prstDash val="solid"/>
                      <a:round/>
                      <a:headEnd type="none" w="med" len="med"/>
                      <a:tailEnd type="none" w="med" len="med"/>
                    </a:lnR>
                    <a:lnT w="6350" cap="flat" cmpd="sng" algn="ctr">
                      <a:solidFill>
                        <a:srgbClr val="26262F"/>
                      </a:solidFill>
                      <a:prstDash val="solid"/>
                      <a:round/>
                      <a:headEnd type="none" w="med" len="med"/>
                      <a:tailEnd type="none" w="med" len="med"/>
                    </a:lnT>
                    <a:lnB w="6350" cap="flat" cmpd="sng" algn="ctr">
                      <a:solidFill>
                        <a:srgbClr val="26262F"/>
                      </a:solidFill>
                      <a:prstDash val="solid"/>
                      <a:round/>
                      <a:headEnd type="none" w="med" len="med"/>
                      <a:tailEnd type="none" w="med" len="med"/>
                    </a:lnB>
                  </a:tcPr>
                </a:tc>
                <a:tc>
                  <a:txBody>
                    <a:bodyPr/>
                    <a:lstStyle/>
                    <a:p>
                      <a:pPr algn="l" indent="0" marL="0">
                        <a:buNone/>
                      </a:pPr>
                      <a:r>
                        <a:rPr lang="en-US" sz="1050" dirty="0">
                          <a:solidFill>
                            <a:srgbClr val="F5F2EA"/>
                          </a:solidFill>
                          <a:latin typeface="Segoe UI" pitchFamily="34" charset="0"/>
                          <a:ea typeface="Segoe UI" pitchFamily="34" charset="-122"/>
                          <a:cs typeface="Segoe UI" pitchFamily="34" charset="-120"/>
                        </a:rPr>
                        <a:t>25</a:t>
                      </a:r>
                      <a:endParaRPr lang="en-US" sz="1050" dirty="0">
                        <a:latin typeface="Segoe UI" charset="0"/>
                        <a:ea typeface="Segoe UI" charset="0"/>
                        <a:cs typeface="Segoe UI" charset="0"/>
                      </a:endParaRPr>
                    </a:p>
                  </a:txBody>
                  <a:tcPr marL="36576" marR="36576" marT="36576" marB="36576" anchor="ctr">
                    <a:lnL w="6350" cap="flat" cmpd="sng" algn="ctr">
                      <a:solidFill>
                        <a:srgbClr val="26262F"/>
                      </a:solidFill>
                      <a:prstDash val="solid"/>
                      <a:round/>
                      <a:headEnd type="none" w="med" len="med"/>
                      <a:tailEnd type="none" w="med" len="med"/>
                    </a:lnL>
                    <a:lnR w="6350" cap="flat" cmpd="sng" algn="ctr">
                      <a:solidFill>
                        <a:srgbClr val="26262F"/>
                      </a:solidFill>
                      <a:prstDash val="solid"/>
                      <a:round/>
                      <a:headEnd type="none" w="med" len="med"/>
                      <a:tailEnd type="none" w="med" len="med"/>
                    </a:lnR>
                    <a:lnT w="6350" cap="flat" cmpd="sng" algn="ctr">
                      <a:solidFill>
                        <a:srgbClr val="26262F"/>
                      </a:solidFill>
                      <a:prstDash val="solid"/>
                      <a:round/>
                      <a:headEnd type="none" w="med" len="med"/>
                      <a:tailEnd type="none" w="med" len="med"/>
                    </a:lnT>
                    <a:lnB w="6350" cap="flat" cmpd="sng" algn="ctr">
                      <a:solidFill>
                        <a:srgbClr val="26262F"/>
                      </a:solidFill>
                      <a:prstDash val="solid"/>
                      <a:round/>
                      <a:headEnd type="none" w="med" len="med"/>
                      <a:tailEnd type="none" w="med" len="med"/>
                    </a:lnB>
                    <a:solidFill>
                      <a:srgbClr val="17171F"/>
                    </a:solidFill>
                  </a:tcPr>
                </a:tc>
                <a:tc>
                  <a:txBody>
                    <a:bodyPr/>
                    <a:lstStyle/>
                    <a:p>
                      <a:pPr algn="l" indent="0" marL="0">
                        <a:buNone/>
                      </a:pPr>
                      <a:r>
                        <a:rPr lang="en-US" sz="1050" dirty="0">
                          <a:solidFill>
                            <a:srgbClr val="F5F2EA"/>
                          </a:solidFill>
                          <a:latin typeface="Segoe UI" pitchFamily="34" charset="0"/>
                          <a:ea typeface="Segoe UI" pitchFamily="34" charset="-122"/>
                          <a:cs typeface="Segoe UI" pitchFamily="34" charset="-120"/>
                        </a:rPr>
                        <a:t>Near-optimal — negligible loss</a:t>
                      </a:r>
                      <a:endParaRPr lang="en-US" sz="1050" dirty="0">
                        <a:latin typeface="Segoe UI" charset="0"/>
                        <a:ea typeface="Segoe UI" charset="0"/>
                        <a:cs typeface="Segoe UI" charset="0"/>
                      </a:endParaRPr>
                    </a:p>
                  </a:txBody>
                  <a:tcPr marL="36576" marR="36576" marT="36576" marB="36576" anchor="ctr">
                    <a:lnL w="6350" cap="flat" cmpd="sng" algn="ctr">
                      <a:solidFill>
                        <a:srgbClr val="26262F"/>
                      </a:solidFill>
                      <a:prstDash val="solid"/>
                      <a:round/>
                      <a:headEnd type="none" w="med" len="med"/>
                      <a:tailEnd type="none" w="med" len="med"/>
                    </a:lnL>
                    <a:lnR w="6350" cap="flat" cmpd="sng" algn="ctr">
                      <a:solidFill>
                        <a:srgbClr val="26262F"/>
                      </a:solidFill>
                      <a:prstDash val="solid"/>
                      <a:round/>
                      <a:headEnd type="none" w="med" len="med"/>
                      <a:tailEnd type="none" w="med" len="med"/>
                    </a:lnR>
                    <a:lnT w="6350" cap="flat" cmpd="sng" algn="ctr">
                      <a:solidFill>
                        <a:srgbClr val="26262F"/>
                      </a:solidFill>
                      <a:prstDash val="solid"/>
                      <a:round/>
                      <a:headEnd type="none" w="med" len="med"/>
                      <a:tailEnd type="none" w="med" len="med"/>
                    </a:lnT>
                    <a:lnB w="6350" cap="flat" cmpd="sng" algn="ctr">
                      <a:solidFill>
                        <a:srgbClr val="26262F"/>
                      </a:solidFill>
                      <a:prstDash val="solid"/>
                      <a:round/>
                      <a:headEnd type="none" w="med" len="med"/>
                      <a:tailEnd type="none" w="med" len="med"/>
                    </a:lnB>
                    <a:solidFill>
                      <a:srgbClr val="15151B"/>
                    </a:solidFill>
                  </a:tcPr>
                </a:tc>
              </a:tr>
              <a:tr h="384048">
                <a:tc>
                  <a:txBody>
                    <a:bodyPr/>
                    <a:lstStyle/>
                    <a:p>
                      <a:pPr indent="0" marL="0">
                        <a:buNone/>
                      </a:pPr>
                      <a:r>
                        <a:rPr lang="en-US" sz="1150" b="1" dirty="0">
                          <a:solidFill>
                            <a:srgbClr val="B8D4FF"/>
                          </a:solidFill>
                        </a:rPr>
                        <a:t>♟ Good</a:t>
                      </a:r>
                      <a:endParaRPr lang="en-US" sz="1150" dirty="0"/>
                    </a:p>
                  </a:txBody>
                  <a:tcPr marL="36576" marR="36576" marT="36576" marB="36576" anchor="ctr">
                    <a:lnL w="6350" cap="flat" cmpd="sng" algn="ctr">
                      <a:solidFill>
                        <a:srgbClr val="26262F"/>
                      </a:solidFill>
                      <a:prstDash val="solid"/>
                      <a:round/>
                      <a:headEnd type="none" w="med" len="med"/>
                      <a:tailEnd type="none" w="med" len="med"/>
                    </a:lnL>
                    <a:lnR w="6350" cap="flat" cmpd="sng" algn="ctr">
                      <a:solidFill>
                        <a:srgbClr val="26262F"/>
                      </a:solidFill>
                      <a:prstDash val="solid"/>
                      <a:round/>
                      <a:headEnd type="none" w="med" len="med"/>
                      <a:tailEnd type="none" w="med" len="med"/>
                    </a:lnR>
                    <a:lnT w="6350" cap="flat" cmpd="sng" algn="ctr">
                      <a:solidFill>
                        <a:srgbClr val="26262F"/>
                      </a:solidFill>
                      <a:prstDash val="solid"/>
                      <a:round/>
                      <a:headEnd type="none" w="med" len="med"/>
                      <a:tailEnd type="none" w="med" len="med"/>
                    </a:lnT>
                    <a:lnB w="6350" cap="flat" cmpd="sng" algn="ctr">
                      <a:solidFill>
                        <a:srgbClr val="26262F"/>
                      </a:solidFill>
                      <a:prstDash val="solid"/>
                      <a:round/>
                      <a:headEnd type="none" w="med" len="med"/>
                      <a:tailEnd type="none" w="med" len="med"/>
                    </a:lnB>
                  </a:tcPr>
                </a:tc>
                <a:tc>
                  <a:txBody>
                    <a:bodyPr/>
                    <a:lstStyle/>
                    <a:p>
                      <a:pPr algn="l" indent="0" marL="0">
                        <a:buNone/>
                      </a:pPr>
                      <a:r>
                        <a:rPr lang="en-US" sz="1050" dirty="0">
                          <a:solidFill>
                            <a:srgbClr val="F5F2EA"/>
                          </a:solidFill>
                          <a:latin typeface="Segoe UI" pitchFamily="34" charset="0"/>
                          <a:ea typeface="Segoe UI" pitchFamily="34" charset="-122"/>
                          <a:cs typeface="Segoe UI" pitchFamily="34" charset="-120"/>
                        </a:rPr>
                        <a:t>50</a:t>
                      </a:r>
                      <a:endParaRPr lang="en-US" sz="1050" dirty="0">
                        <a:latin typeface="Segoe UI" charset="0"/>
                        <a:ea typeface="Segoe UI" charset="0"/>
                        <a:cs typeface="Segoe UI" charset="0"/>
                      </a:endParaRPr>
                    </a:p>
                  </a:txBody>
                  <a:tcPr marL="36576" marR="36576" marT="36576" marB="36576" anchor="ctr">
                    <a:lnL w="6350" cap="flat" cmpd="sng" algn="ctr">
                      <a:solidFill>
                        <a:srgbClr val="26262F"/>
                      </a:solidFill>
                      <a:prstDash val="solid"/>
                      <a:round/>
                      <a:headEnd type="none" w="med" len="med"/>
                      <a:tailEnd type="none" w="med" len="med"/>
                    </a:lnL>
                    <a:lnR w="6350" cap="flat" cmpd="sng" algn="ctr">
                      <a:solidFill>
                        <a:srgbClr val="26262F"/>
                      </a:solidFill>
                      <a:prstDash val="solid"/>
                      <a:round/>
                      <a:headEnd type="none" w="med" len="med"/>
                      <a:tailEnd type="none" w="med" len="med"/>
                    </a:lnR>
                    <a:lnT w="6350" cap="flat" cmpd="sng" algn="ctr">
                      <a:solidFill>
                        <a:srgbClr val="26262F"/>
                      </a:solidFill>
                      <a:prstDash val="solid"/>
                      <a:round/>
                      <a:headEnd type="none" w="med" len="med"/>
                      <a:tailEnd type="none" w="med" len="med"/>
                    </a:lnT>
                    <a:lnB w="6350" cap="flat" cmpd="sng" algn="ctr">
                      <a:solidFill>
                        <a:srgbClr val="26262F"/>
                      </a:solidFill>
                      <a:prstDash val="solid"/>
                      <a:round/>
                      <a:headEnd type="none" w="med" len="med"/>
                      <a:tailEnd type="none" w="med" len="med"/>
                    </a:lnB>
                    <a:solidFill>
                      <a:srgbClr val="17171F"/>
                    </a:solidFill>
                  </a:tcPr>
                </a:tc>
                <a:tc>
                  <a:txBody>
                    <a:bodyPr/>
                    <a:lstStyle/>
                    <a:p>
                      <a:pPr algn="l" indent="0" marL="0">
                        <a:buNone/>
                      </a:pPr>
                      <a:r>
                        <a:rPr lang="en-US" sz="1050" dirty="0">
                          <a:solidFill>
                            <a:srgbClr val="F5F2EA"/>
                          </a:solidFill>
                          <a:latin typeface="Segoe UI" pitchFamily="34" charset="0"/>
                          <a:ea typeface="Segoe UI" pitchFamily="34" charset="-122"/>
                          <a:cs typeface="Segoe UI" pitchFamily="34" charset="-120"/>
                        </a:rPr>
                        <a:t>Solid move, keeps the game balanced</a:t>
                      </a:r>
                      <a:endParaRPr lang="en-US" sz="1050" dirty="0">
                        <a:latin typeface="Segoe UI" charset="0"/>
                        <a:ea typeface="Segoe UI" charset="0"/>
                        <a:cs typeface="Segoe UI" charset="0"/>
                      </a:endParaRPr>
                    </a:p>
                  </a:txBody>
                  <a:tcPr marL="36576" marR="36576" marT="36576" marB="36576" anchor="ctr">
                    <a:lnL w="6350" cap="flat" cmpd="sng" algn="ctr">
                      <a:solidFill>
                        <a:srgbClr val="26262F"/>
                      </a:solidFill>
                      <a:prstDash val="solid"/>
                      <a:round/>
                      <a:headEnd type="none" w="med" len="med"/>
                      <a:tailEnd type="none" w="med" len="med"/>
                    </a:lnL>
                    <a:lnR w="6350" cap="flat" cmpd="sng" algn="ctr">
                      <a:solidFill>
                        <a:srgbClr val="26262F"/>
                      </a:solidFill>
                      <a:prstDash val="solid"/>
                      <a:round/>
                      <a:headEnd type="none" w="med" len="med"/>
                      <a:tailEnd type="none" w="med" len="med"/>
                    </a:lnR>
                    <a:lnT w="6350" cap="flat" cmpd="sng" algn="ctr">
                      <a:solidFill>
                        <a:srgbClr val="26262F"/>
                      </a:solidFill>
                      <a:prstDash val="solid"/>
                      <a:round/>
                      <a:headEnd type="none" w="med" len="med"/>
                      <a:tailEnd type="none" w="med" len="med"/>
                    </a:lnT>
                    <a:lnB w="6350" cap="flat" cmpd="sng" algn="ctr">
                      <a:solidFill>
                        <a:srgbClr val="26262F"/>
                      </a:solidFill>
                      <a:prstDash val="solid"/>
                      <a:round/>
                      <a:headEnd type="none" w="med" len="med"/>
                      <a:tailEnd type="none" w="med" len="med"/>
                    </a:lnB>
                    <a:solidFill>
                      <a:srgbClr val="15151B"/>
                    </a:solidFill>
                  </a:tcPr>
                </a:tc>
              </a:tr>
              <a:tr h="384048">
                <a:tc>
                  <a:txBody>
                    <a:bodyPr/>
                    <a:lstStyle/>
                    <a:p>
                      <a:pPr indent="0" marL="0">
                        <a:buNone/>
                      </a:pPr>
                      <a:r>
                        <a:rPr lang="en-US" sz="1150" b="1" dirty="0">
                          <a:solidFill>
                            <a:srgbClr val="FFD166"/>
                          </a:solidFill>
                        </a:rPr>
                        <a:t>♝ Inaccuracy</a:t>
                      </a:r>
                      <a:endParaRPr lang="en-US" sz="1150" dirty="0"/>
                    </a:p>
                  </a:txBody>
                  <a:tcPr marL="36576" marR="36576" marT="36576" marB="36576" anchor="ctr">
                    <a:lnL w="6350" cap="flat" cmpd="sng" algn="ctr">
                      <a:solidFill>
                        <a:srgbClr val="26262F"/>
                      </a:solidFill>
                      <a:prstDash val="solid"/>
                      <a:round/>
                      <a:headEnd type="none" w="med" len="med"/>
                      <a:tailEnd type="none" w="med" len="med"/>
                    </a:lnL>
                    <a:lnR w="6350" cap="flat" cmpd="sng" algn="ctr">
                      <a:solidFill>
                        <a:srgbClr val="26262F"/>
                      </a:solidFill>
                      <a:prstDash val="solid"/>
                      <a:round/>
                      <a:headEnd type="none" w="med" len="med"/>
                      <a:tailEnd type="none" w="med" len="med"/>
                    </a:lnR>
                    <a:lnT w="6350" cap="flat" cmpd="sng" algn="ctr">
                      <a:solidFill>
                        <a:srgbClr val="26262F"/>
                      </a:solidFill>
                      <a:prstDash val="solid"/>
                      <a:round/>
                      <a:headEnd type="none" w="med" len="med"/>
                      <a:tailEnd type="none" w="med" len="med"/>
                    </a:lnT>
                    <a:lnB w="6350" cap="flat" cmpd="sng" algn="ctr">
                      <a:solidFill>
                        <a:srgbClr val="26262F"/>
                      </a:solidFill>
                      <a:prstDash val="solid"/>
                      <a:round/>
                      <a:headEnd type="none" w="med" len="med"/>
                      <a:tailEnd type="none" w="med" len="med"/>
                    </a:lnB>
                  </a:tcPr>
                </a:tc>
                <a:tc>
                  <a:txBody>
                    <a:bodyPr/>
                    <a:lstStyle/>
                    <a:p>
                      <a:pPr algn="l" indent="0" marL="0">
                        <a:buNone/>
                      </a:pPr>
                      <a:r>
                        <a:rPr lang="en-US" sz="1050" dirty="0">
                          <a:solidFill>
                            <a:srgbClr val="F5F2EA"/>
                          </a:solidFill>
                          <a:latin typeface="Segoe UI" pitchFamily="34" charset="0"/>
                          <a:ea typeface="Segoe UI" pitchFamily="34" charset="-122"/>
                          <a:cs typeface="Segoe UI" pitchFamily="34" charset="-120"/>
                        </a:rPr>
                        <a:t>100</a:t>
                      </a:r>
                      <a:endParaRPr lang="en-US" sz="1050" dirty="0">
                        <a:latin typeface="Segoe UI" charset="0"/>
                        <a:ea typeface="Segoe UI" charset="0"/>
                        <a:cs typeface="Segoe UI" charset="0"/>
                      </a:endParaRPr>
                    </a:p>
                  </a:txBody>
                  <a:tcPr marL="36576" marR="36576" marT="36576" marB="36576" anchor="ctr">
                    <a:lnL w="6350" cap="flat" cmpd="sng" algn="ctr">
                      <a:solidFill>
                        <a:srgbClr val="26262F"/>
                      </a:solidFill>
                      <a:prstDash val="solid"/>
                      <a:round/>
                      <a:headEnd type="none" w="med" len="med"/>
                      <a:tailEnd type="none" w="med" len="med"/>
                    </a:lnL>
                    <a:lnR w="6350" cap="flat" cmpd="sng" algn="ctr">
                      <a:solidFill>
                        <a:srgbClr val="26262F"/>
                      </a:solidFill>
                      <a:prstDash val="solid"/>
                      <a:round/>
                      <a:headEnd type="none" w="med" len="med"/>
                      <a:tailEnd type="none" w="med" len="med"/>
                    </a:lnR>
                    <a:lnT w="6350" cap="flat" cmpd="sng" algn="ctr">
                      <a:solidFill>
                        <a:srgbClr val="26262F"/>
                      </a:solidFill>
                      <a:prstDash val="solid"/>
                      <a:round/>
                      <a:headEnd type="none" w="med" len="med"/>
                      <a:tailEnd type="none" w="med" len="med"/>
                    </a:lnT>
                    <a:lnB w="6350" cap="flat" cmpd="sng" algn="ctr">
                      <a:solidFill>
                        <a:srgbClr val="26262F"/>
                      </a:solidFill>
                      <a:prstDash val="solid"/>
                      <a:round/>
                      <a:headEnd type="none" w="med" len="med"/>
                      <a:tailEnd type="none" w="med" len="med"/>
                    </a:lnB>
                    <a:solidFill>
                      <a:srgbClr val="17171F"/>
                    </a:solidFill>
                  </a:tcPr>
                </a:tc>
                <a:tc>
                  <a:txBody>
                    <a:bodyPr/>
                    <a:lstStyle/>
                    <a:p>
                      <a:pPr algn="l" indent="0" marL="0">
                        <a:buNone/>
                      </a:pPr>
                      <a:r>
                        <a:rPr lang="en-US" sz="1050" dirty="0">
                          <a:solidFill>
                            <a:srgbClr val="F5F2EA"/>
                          </a:solidFill>
                          <a:latin typeface="Segoe UI" pitchFamily="34" charset="0"/>
                          <a:ea typeface="Segoe UI" pitchFamily="34" charset="-122"/>
                          <a:cs typeface="Segoe UI" pitchFamily="34" charset="-120"/>
                        </a:rPr>
                        <a:t>Missed a better plan</a:t>
                      </a:r>
                      <a:endParaRPr lang="en-US" sz="1050" dirty="0">
                        <a:latin typeface="Segoe UI" charset="0"/>
                        <a:ea typeface="Segoe UI" charset="0"/>
                        <a:cs typeface="Segoe UI" charset="0"/>
                      </a:endParaRPr>
                    </a:p>
                  </a:txBody>
                  <a:tcPr marL="36576" marR="36576" marT="36576" marB="36576" anchor="ctr">
                    <a:lnL w="6350" cap="flat" cmpd="sng" algn="ctr">
                      <a:solidFill>
                        <a:srgbClr val="26262F"/>
                      </a:solidFill>
                      <a:prstDash val="solid"/>
                      <a:round/>
                      <a:headEnd type="none" w="med" len="med"/>
                      <a:tailEnd type="none" w="med" len="med"/>
                    </a:lnL>
                    <a:lnR w="6350" cap="flat" cmpd="sng" algn="ctr">
                      <a:solidFill>
                        <a:srgbClr val="26262F"/>
                      </a:solidFill>
                      <a:prstDash val="solid"/>
                      <a:round/>
                      <a:headEnd type="none" w="med" len="med"/>
                      <a:tailEnd type="none" w="med" len="med"/>
                    </a:lnR>
                    <a:lnT w="6350" cap="flat" cmpd="sng" algn="ctr">
                      <a:solidFill>
                        <a:srgbClr val="26262F"/>
                      </a:solidFill>
                      <a:prstDash val="solid"/>
                      <a:round/>
                      <a:headEnd type="none" w="med" len="med"/>
                      <a:tailEnd type="none" w="med" len="med"/>
                    </a:lnT>
                    <a:lnB w="6350" cap="flat" cmpd="sng" algn="ctr">
                      <a:solidFill>
                        <a:srgbClr val="26262F"/>
                      </a:solidFill>
                      <a:prstDash val="solid"/>
                      <a:round/>
                      <a:headEnd type="none" w="med" len="med"/>
                      <a:tailEnd type="none" w="med" len="med"/>
                    </a:lnB>
                    <a:solidFill>
                      <a:srgbClr val="15151B"/>
                    </a:solidFill>
                  </a:tcPr>
                </a:tc>
              </a:tr>
              <a:tr h="384048">
                <a:tc>
                  <a:txBody>
                    <a:bodyPr/>
                    <a:lstStyle/>
                    <a:p>
                      <a:pPr indent="0" marL="0">
                        <a:buNone/>
                      </a:pPr>
                      <a:r>
                        <a:rPr lang="en-US" sz="1150" b="1" dirty="0">
                          <a:solidFill>
                            <a:srgbClr val="FF9F45"/>
                          </a:solidFill>
                        </a:rPr>
                        <a:t>♞ Mistake</a:t>
                      </a:r>
                      <a:endParaRPr lang="en-US" sz="1150" dirty="0"/>
                    </a:p>
                  </a:txBody>
                  <a:tcPr marL="36576" marR="36576" marT="36576" marB="36576" anchor="ctr">
                    <a:lnL w="6350" cap="flat" cmpd="sng" algn="ctr">
                      <a:solidFill>
                        <a:srgbClr val="26262F"/>
                      </a:solidFill>
                      <a:prstDash val="solid"/>
                      <a:round/>
                      <a:headEnd type="none" w="med" len="med"/>
                      <a:tailEnd type="none" w="med" len="med"/>
                    </a:lnL>
                    <a:lnR w="6350" cap="flat" cmpd="sng" algn="ctr">
                      <a:solidFill>
                        <a:srgbClr val="26262F"/>
                      </a:solidFill>
                      <a:prstDash val="solid"/>
                      <a:round/>
                      <a:headEnd type="none" w="med" len="med"/>
                      <a:tailEnd type="none" w="med" len="med"/>
                    </a:lnR>
                    <a:lnT w="6350" cap="flat" cmpd="sng" algn="ctr">
                      <a:solidFill>
                        <a:srgbClr val="26262F"/>
                      </a:solidFill>
                      <a:prstDash val="solid"/>
                      <a:round/>
                      <a:headEnd type="none" w="med" len="med"/>
                      <a:tailEnd type="none" w="med" len="med"/>
                    </a:lnT>
                    <a:lnB w="6350" cap="flat" cmpd="sng" algn="ctr">
                      <a:solidFill>
                        <a:srgbClr val="26262F"/>
                      </a:solidFill>
                      <a:prstDash val="solid"/>
                      <a:round/>
                      <a:headEnd type="none" w="med" len="med"/>
                      <a:tailEnd type="none" w="med" len="med"/>
                    </a:lnB>
                  </a:tcPr>
                </a:tc>
                <a:tc>
                  <a:txBody>
                    <a:bodyPr/>
                    <a:lstStyle/>
                    <a:p>
                      <a:pPr algn="l" indent="0" marL="0">
                        <a:buNone/>
                      </a:pPr>
                      <a:r>
                        <a:rPr lang="en-US" sz="1050" dirty="0">
                          <a:solidFill>
                            <a:srgbClr val="F5F2EA"/>
                          </a:solidFill>
                          <a:latin typeface="Segoe UI" pitchFamily="34" charset="0"/>
                          <a:ea typeface="Segoe UI" pitchFamily="34" charset="-122"/>
                          <a:cs typeface="Segoe UI" pitchFamily="34" charset="-120"/>
                        </a:rPr>
                        <a:t>200</a:t>
                      </a:r>
                      <a:endParaRPr lang="en-US" sz="1050" dirty="0">
                        <a:latin typeface="Segoe UI" charset="0"/>
                        <a:ea typeface="Segoe UI" charset="0"/>
                        <a:cs typeface="Segoe UI" charset="0"/>
                      </a:endParaRPr>
                    </a:p>
                  </a:txBody>
                  <a:tcPr marL="36576" marR="36576" marT="36576" marB="36576" anchor="ctr">
                    <a:lnL w="6350" cap="flat" cmpd="sng" algn="ctr">
                      <a:solidFill>
                        <a:srgbClr val="26262F"/>
                      </a:solidFill>
                      <a:prstDash val="solid"/>
                      <a:round/>
                      <a:headEnd type="none" w="med" len="med"/>
                      <a:tailEnd type="none" w="med" len="med"/>
                    </a:lnL>
                    <a:lnR w="6350" cap="flat" cmpd="sng" algn="ctr">
                      <a:solidFill>
                        <a:srgbClr val="26262F"/>
                      </a:solidFill>
                      <a:prstDash val="solid"/>
                      <a:round/>
                      <a:headEnd type="none" w="med" len="med"/>
                      <a:tailEnd type="none" w="med" len="med"/>
                    </a:lnR>
                    <a:lnT w="6350" cap="flat" cmpd="sng" algn="ctr">
                      <a:solidFill>
                        <a:srgbClr val="26262F"/>
                      </a:solidFill>
                      <a:prstDash val="solid"/>
                      <a:round/>
                      <a:headEnd type="none" w="med" len="med"/>
                      <a:tailEnd type="none" w="med" len="med"/>
                    </a:lnT>
                    <a:lnB w="6350" cap="flat" cmpd="sng" algn="ctr">
                      <a:solidFill>
                        <a:srgbClr val="26262F"/>
                      </a:solidFill>
                      <a:prstDash val="solid"/>
                      <a:round/>
                      <a:headEnd type="none" w="med" len="med"/>
                      <a:tailEnd type="none" w="med" len="med"/>
                    </a:lnB>
                    <a:solidFill>
                      <a:srgbClr val="17171F"/>
                    </a:solidFill>
                  </a:tcPr>
                </a:tc>
                <a:tc>
                  <a:txBody>
                    <a:bodyPr/>
                    <a:lstStyle/>
                    <a:p>
                      <a:pPr algn="l" indent="0" marL="0">
                        <a:buNone/>
                      </a:pPr>
                      <a:r>
                        <a:rPr lang="en-US" sz="1050" dirty="0">
                          <a:solidFill>
                            <a:srgbClr val="F5F2EA"/>
                          </a:solidFill>
                          <a:latin typeface="Segoe UI" pitchFamily="34" charset="0"/>
                          <a:ea typeface="Segoe UI" pitchFamily="34" charset="-122"/>
                          <a:cs typeface="Segoe UI" pitchFamily="34" charset="-120"/>
                        </a:rPr>
                        <a:t>Position clearly worsens</a:t>
                      </a:r>
                      <a:endParaRPr lang="en-US" sz="1050" dirty="0">
                        <a:latin typeface="Segoe UI" charset="0"/>
                        <a:ea typeface="Segoe UI" charset="0"/>
                        <a:cs typeface="Segoe UI" charset="0"/>
                      </a:endParaRPr>
                    </a:p>
                  </a:txBody>
                  <a:tcPr marL="36576" marR="36576" marT="36576" marB="36576" anchor="ctr">
                    <a:lnL w="6350" cap="flat" cmpd="sng" algn="ctr">
                      <a:solidFill>
                        <a:srgbClr val="26262F"/>
                      </a:solidFill>
                      <a:prstDash val="solid"/>
                      <a:round/>
                      <a:headEnd type="none" w="med" len="med"/>
                      <a:tailEnd type="none" w="med" len="med"/>
                    </a:lnL>
                    <a:lnR w="6350" cap="flat" cmpd="sng" algn="ctr">
                      <a:solidFill>
                        <a:srgbClr val="26262F"/>
                      </a:solidFill>
                      <a:prstDash val="solid"/>
                      <a:round/>
                      <a:headEnd type="none" w="med" len="med"/>
                      <a:tailEnd type="none" w="med" len="med"/>
                    </a:lnR>
                    <a:lnT w="6350" cap="flat" cmpd="sng" algn="ctr">
                      <a:solidFill>
                        <a:srgbClr val="26262F"/>
                      </a:solidFill>
                      <a:prstDash val="solid"/>
                      <a:round/>
                      <a:headEnd type="none" w="med" len="med"/>
                      <a:tailEnd type="none" w="med" len="med"/>
                    </a:lnT>
                    <a:lnB w="6350" cap="flat" cmpd="sng" algn="ctr">
                      <a:solidFill>
                        <a:srgbClr val="26262F"/>
                      </a:solidFill>
                      <a:prstDash val="solid"/>
                      <a:round/>
                      <a:headEnd type="none" w="med" len="med"/>
                      <a:tailEnd type="none" w="med" len="med"/>
                    </a:lnB>
                    <a:solidFill>
                      <a:srgbClr val="15151B"/>
                    </a:solidFill>
                  </a:tcPr>
                </a:tc>
              </a:tr>
              <a:tr h="384048">
                <a:tc>
                  <a:txBody>
                    <a:bodyPr/>
                    <a:lstStyle/>
                    <a:p>
                      <a:pPr indent="0" marL="0">
                        <a:buNone/>
                      </a:pPr>
                      <a:r>
                        <a:rPr lang="en-US" sz="1150" b="1" dirty="0">
                          <a:solidFill>
                            <a:srgbClr val="FF6B6B"/>
                          </a:solidFill>
                        </a:rPr>
                        <a:t>♚ Blunder</a:t>
                      </a:r>
                      <a:endParaRPr lang="en-US" sz="1150" dirty="0"/>
                    </a:p>
                  </a:txBody>
                  <a:tcPr marL="36576" marR="36576" marT="36576" marB="36576" anchor="ctr">
                    <a:lnL w="6350" cap="flat" cmpd="sng" algn="ctr">
                      <a:solidFill>
                        <a:srgbClr val="26262F"/>
                      </a:solidFill>
                      <a:prstDash val="solid"/>
                      <a:round/>
                      <a:headEnd type="none" w="med" len="med"/>
                      <a:tailEnd type="none" w="med" len="med"/>
                    </a:lnL>
                    <a:lnR w="6350" cap="flat" cmpd="sng" algn="ctr">
                      <a:solidFill>
                        <a:srgbClr val="26262F"/>
                      </a:solidFill>
                      <a:prstDash val="solid"/>
                      <a:round/>
                      <a:headEnd type="none" w="med" len="med"/>
                      <a:tailEnd type="none" w="med" len="med"/>
                    </a:lnR>
                    <a:lnT w="6350" cap="flat" cmpd="sng" algn="ctr">
                      <a:solidFill>
                        <a:srgbClr val="26262F"/>
                      </a:solidFill>
                      <a:prstDash val="solid"/>
                      <a:round/>
                      <a:headEnd type="none" w="med" len="med"/>
                      <a:tailEnd type="none" w="med" len="med"/>
                    </a:lnT>
                    <a:lnB w="6350" cap="flat" cmpd="sng" algn="ctr">
                      <a:solidFill>
                        <a:srgbClr val="26262F"/>
                      </a:solidFill>
                      <a:prstDash val="solid"/>
                      <a:round/>
                      <a:headEnd type="none" w="med" len="med"/>
                      <a:tailEnd type="none" w="med" len="med"/>
                    </a:lnB>
                  </a:tcPr>
                </a:tc>
                <a:tc>
                  <a:txBody>
                    <a:bodyPr/>
                    <a:lstStyle/>
                    <a:p>
                      <a:pPr algn="l" indent="0" marL="0">
                        <a:buNone/>
                      </a:pPr>
                      <a:r>
                        <a:rPr lang="en-US" sz="1050" dirty="0">
                          <a:solidFill>
                            <a:srgbClr val="F5F2EA"/>
                          </a:solidFill>
                          <a:latin typeface="Segoe UI" pitchFamily="34" charset="0"/>
                          <a:ea typeface="Segoe UI" pitchFamily="34" charset="-122"/>
                          <a:cs typeface="Segoe UI" pitchFamily="34" charset="-120"/>
                        </a:rPr>
                        <a:t>∞</a:t>
                      </a:r>
                      <a:endParaRPr lang="en-US" sz="1050" dirty="0">
                        <a:latin typeface="Segoe UI" charset="0"/>
                        <a:ea typeface="Segoe UI" charset="0"/>
                        <a:cs typeface="Segoe UI" charset="0"/>
                      </a:endParaRPr>
                    </a:p>
                  </a:txBody>
                  <a:tcPr marL="36576" marR="36576" marT="36576" marB="36576" anchor="ctr">
                    <a:lnL w="6350" cap="flat" cmpd="sng" algn="ctr">
                      <a:solidFill>
                        <a:srgbClr val="26262F"/>
                      </a:solidFill>
                      <a:prstDash val="solid"/>
                      <a:round/>
                      <a:headEnd type="none" w="med" len="med"/>
                      <a:tailEnd type="none" w="med" len="med"/>
                    </a:lnL>
                    <a:lnR w="6350" cap="flat" cmpd="sng" algn="ctr">
                      <a:solidFill>
                        <a:srgbClr val="26262F"/>
                      </a:solidFill>
                      <a:prstDash val="solid"/>
                      <a:round/>
                      <a:headEnd type="none" w="med" len="med"/>
                      <a:tailEnd type="none" w="med" len="med"/>
                    </a:lnR>
                    <a:lnT w="6350" cap="flat" cmpd="sng" algn="ctr">
                      <a:solidFill>
                        <a:srgbClr val="26262F"/>
                      </a:solidFill>
                      <a:prstDash val="solid"/>
                      <a:round/>
                      <a:headEnd type="none" w="med" len="med"/>
                      <a:tailEnd type="none" w="med" len="med"/>
                    </a:lnT>
                    <a:lnB w="6350" cap="flat" cmpd="sng" algn="ctr">
                      <a:solidFill>
                        <a:srgbClr val="26262F"/>
                      </a:solidFill>
                      <a:prstDash val="solid"/>
                      <a:round/>
                      <a:headEnd type="none" w="med" len="med"/>
                      <a:tailEnd type="none" w="med" len="med"/>
                    </a:lnB>
                    <a:solidFill>
                      <a:srgbClr val="17171F"/>
                    </a:solidFill>
                  </a:tcPr>
                </a:tc>
                <a:tc>
                  <a:txBody>
                    <a:bodyPr/>
                    <a:lstStyle/>
                    <a:p>
                      <a:pPr algn="l" indent="0" marL="0">
                        <a:buNone/>
                      </a:pPr>
                      <a:r>
                        <a:rPr lang="en-US" sz="1050" dirty="0">
                          <a:solidFill>
                            <a:srgbClr val="F5F2EA"/>
                          </a:solidFill>
                          <a:latin typeface="Segoe UI" pitchFamily="34" charset="0"/>
                          <a:ea typeface="Segoe UI" pitchFamily="34" charset="-122"/>
                          <a:cs typeface="Segoe UI" pitchFamily="34" charset="-120"/>
                        </a:rPr>
                        <a:t>Game-losing error, missed mate or hung piece</a:t>
                      </a:r>
                      <a:endParaRPr lang="en-US" sz="1050" dirty="0">
                        <a:latin typeface="Segoe UI" charset="0"/>
                        <a:ea typeface="Segoe UI" charset="0"/>
                        <a:cs typeface="Segoe UI" charset="0"/>
                      </a:endParaRPr>
                    </a:p>
                  </a:txBody>
                  <a:tcPr marL="36576" marR="36576" marT="36576" marB="36576" anchor="ctr">
                    <a:lnL w="6350" cap="flat" cmpd="sng" algn="ctr">
                      <a:solidFill>
                        <a:srgbClr val="26262F"/>
                      </a:solidFill>
                      <a:prstDash val="solid"/>
                      <a:round/>
                      <a:headEnd type="none" w="med" len="med"/>
                      <a:tailEnd type="none" w="med" len="med"/>
                    </a:lnL>
                    <a:lnR w="6350" cap="flat" cmpd="sng" algn="ctr">
                      <a:solidFill>
                        <a:srgbClr val="26262F"/>
                      </a:solidFill>
                      <a:prstDash val="solid"/>
                      <a:round/>
                      <a:headEnd type="none" w="med" len="med"/>
                      <a:tailEnd type="none" w="med" len="med"/>
                    </a:lnR>
                    <a:lnT w="6350" cap="flat" cmpd="sng" algn="ctr">
                      <a:solidFill>
                        <a:srgbClr val="26262F"/>
                      </a:solidFill>
                      <a:prstDash val="solid"/>
                      <a:round/>
                      <a:headEnd type="none" w="med" len="med"/>
                      <a:tailEnd type="none" w="med" len="med"/>
                    </a:lnT>
                    <a:lnB w="6350" cap="flat" cmpd="sng" algn="ctr">
                      <a:solidFill>
                        <a:srgbClr val="26262F"/>
                      </a:solidFill>
                      <a:prstDash val="solid"/>
                      <a:round/>
                      <a:headEnd type="none" w="med" len="med"/>
                      <a:tailEnd type="none" w="med" len="med"/>
                    </a:lnB>
                    <a:solidFill>
                      <a:srgbClr val="15151B"/>
                    </a:solidFill>
                  </a:tcPr>
                </a:tc>
              </a:tr>
            </a:tbl>
          </a:graphicData>
        </a:graphic>
      </p:graphicFrame>
      <p:sp>
        <p:nvSpPr>
          <p:cNvPr id="24" name="Shape 21"/>
          <p:cNvSpPr/>
          <p:nvPr/>
        </p:nvSpPr>
        <p:spPr>
          <a:xfrm>
            <a:off x="7452360" y="1783080"/>
            <a:ext cx="4178808" cy="2788920"/>
          </a:xfrm>
          <a:prstGeom prst="roundRect">
            <a:avLst>
              <a:gd name="adj" fmla="val 2295"/>
            </a:avLst>
          </a:prstGeom>
          <a:solidFill>
            <a:srgbClr val="15151B"/>
          </a:solidFill>
          <a:ln w="12700">
            <a:solidFill>
              <a:srgbClr val="26262F"/>
            </a:solidFill>
            <a:prstDash val="solid"/>
          </a:ln>
        </p:spPr>
      </p:sp>
      <p:sp>
        <p:nvSpPr>
          <p:cNvPr id="25" name="Text 22"/>
          <p:cNvSpPr/>
          <p:nvPr/>
        </p:nvSpPr>
        <p:spPr>
          <a:xfrm>
            <a:off x="7680960" y="1920240"/>
            <a:ext cx="3749040" cy="292608"/>
          </a:xfrm>
          <a:prstGeom prst="rect">
            <a:avLst/>
          </a:prstGeom>
          <a:noFill/>
          <a:ln/>
        </p:spPr>
        <p:txBody>
          <a:bodyPr wrap="square" lIns="0" tIns="0" rIns="0" bIns="0" rtlCol="0" anchor="ctr"/>
          <a:lstStyle/>
          <a:p>
            <a:pPr indent="0" marL="0">
              <a:buNone/>
            </a:pPr>
            <a:r>
              <a:rPr lang="en-US" sz="1200" b="1" dirty="0">
                <a:solidFill>
                  <a:srgbClr val="FFC62A"/>
                </a:solidFill>
                <a:latin typeface="Bahnschrift" pitchFamily="34" charset="0"/>
                <a:ea typeface="Bahnschrift" pitchFamily="34" charset="-122"/>
                <a:cs typeface="Bahnschrift" pitchFamily="34" charset="-120"/>
              </a:rPr>
              <a:t>BEYOND THRESHOLDS</a:t>
            </a:r>
            <a:endParaRPr lang="en-US" sz="1200" dirty="0"/>
          </a:p>
        </p:txBody>
      </p:sp>
      <p:sp>
        <p:nvSpPr>
          <p:cNvPr id="26" name="Text 23"/>
          <p:cNvSpPr/>
          <p:nvPr/>
        </p:nvSpPr>
        <p:spPr>
          <a:xfrm>
            <a:off x="7699248" y="2331720"/>
            <a:ext cx="3749040" cy="2103120"/>
          </a:xfrm>
          <a:prstGeom prst="rect">
            <a:avLst/>
          </a:prstGeom>
          <a:noFill/>
          <a:ln/>
        </p:spPr>
        <p:txBody>
          <a:bodyPr wrap="square" lIns="0" tIns="0" rIns="0" bIns="0" rtlCol="0" anchor="ctr"/>
          <a:lstStyle/>
          <a:p>
            <a:pPr marL="342900" indent="-342900">
              <a:lnSpc>
                <a:spcPct val="108000"/>
              </a:lnSpc>
              <a:spcAft>
                <a:spcPts val="700"/>
              </a:spcAft>
              <a:buSzPct val="100000"/>
              <a:buChar char="•"/>
            </a:pPr>
            <a:r>
              <a:rPr lang="en-US" sz="1050" dirty="0">
                <a:solidFill>
                  <a:srgbClr val="F5F2EA"/>
                </a:solidFill>
                <a:latin typeface="Segoe UI" pitchFamily="34" charset="0"/>
                <a:ea typeface="Segoe UI" pitchFamily="34" charset="-122"/>
                <a:cs typeface="Segoe UI" pitchFamily="34" charset="-120"/>
              </a:rPr>
              <a:t>Mates handled separately — missed mate is always a blunder</a:t>
            </a:r>
            <a:endParaRPr lang="en-US" sz="1050" dirty="0"/>
          </a:p>
          <a:p>
            <a:pPr marL="342900" indent="-342900">
              <a:lnSpc>
                <a:spcPct val="108000"/>
              </a:lnSpc>
              <a:spcAft>
                <a:spcPts val="700"/>
              </a:spcAft>
              <a:buSzPct val="100000"/>
              <a:buChar char="•"/>
            </a:pPr>
            <a:r>
              <a:rPr lang="en-US" sz="1050" dirty="0">
                <a:solidFill>
                  <a:srgbClr val="F5F2EA"/>
                </a:solidFill>
                <a:latin typeface="Segoe UI" pitchFamily="34" charset="0"/>
                <a:ea typeface="Segoe UI" pitchFamily="34" charset="-122"/>
                <a:cs typeface="Segoe UI" pitchFamily="34" charset="-120"/>
              </a:rPr>
              <a:t>Brilliant requires a sacrifice + engine-only move (depth ≥ 16)</a:t>
            </a:r>
            <a:endParaRPr lang="en-US" sz="1050" dirty="0"/>
          </a:p>
          <a:p>
            <a:pPr marL="342900" indent="-342900">
              <a:lnSpc>
                <a:spcPct val="108000"/>
              </a:lnSpc>
              <a:spcAft>
                <a:spcPts val="700"/>
              </a:spcAft>
              <a:buSzPct val="100000"/>
              <a:buChar char="•"/>
            </a:pPr>
            <a:r>
              <a:rPr lang="en-US" sz="1050" dirty="0">
                <a:solidFill>
                  <a:srgbClr val="F5F2EA"/>
                </a:solidFill>
                <a:latin typeface="Segoe UI" pitchFamily="34" charset="0"/>
                <a:ea typeface="Segoe UI" pitchFamily="34" charset="-122"/>
                <a:cs typeface="Segoe UI" pitchFamily="34" charset="-120"/>
              </a:rPr>
              <a:t>Forced/only-moves are auto-Excellent</a:t>
            </a:r>
            <a:endParaRPr lang="en-US" sz="1050" dirty="0"/>
          </a:p>
          <a:p>
            <a:pPr marL="342900" indent="-342900">
              <a:lnSpc>
                <a:spcPct val="108000"/>
              </a:lnSpc>
              <a:spcAft>
                <a:spcPts val="700"/>
              </a:spcAft>
              <a:buSzPct val="100000"/>
              <a:buChar char="•"/>
            </a:pPr>
            <a:r>
              <a:rPr lang="en-US" sz="1050" dirty="0">
                <a:solidFill>
                  <a:srgbClr val="F5F2EA"/>
                </a:solidFill>
                <a:latin typeface="Segoe UI" pitchFamily="34" charset="0"/>
                <a:ea typeface="Segoe UI" pitchFamily="34" charset="-122"/>
                <a:cs typeface="Segoe UI" pitchFamily="34" charset="-120"/>
              </a:rPr>
              <a:t>Missed wins (&gt;150cp gap) → Mistake</a:t>
            </a:r>
            <a:endParaRPr lang="en-US" sz="1050" dirty="0"/>
          </a:p>
          <a:p>
            <a:pPr marL="342900" indent="-342900">
              <a:lnSpc>
                <a:spcPct val="108000"/>
              </a:lnSpc>
              <a:spcAft>
                <a:spcPts val="700"/>
              </a:spcAft>
              <a:buSzPct val="100000"/>
              <a:buChar char="•"/>
            </a:pPr>
            <a:r>
              <a:rPr lang="en-US" sz="1050" dirty="0">
                <a:solidFill>
                  <a:srgbClr val="F5F2EA"/>
                </a:solidFill>
                <a:latin typeface="Segoe UI" pitchFamily="34" charset="0"/>
                <a:ea typeface="Segoe UI" pitchFamily="34" charset="-122"/>
                <a:cs typeface="Segoe UI" pitchFamily="34" charset="-120"/>
              </a:rPr>
              <a:t>Checkmates and escapes detected across both colors</a:t>
            </a:r>
            <a:endParaRPr lang="en-US" sz="1050" dirty="0"/>
          </a:p>
        </p:txBody>
      </p:sp>
      <p:sp>
        <p:nvSpPr>
          <p:cNvPr id="27" name="Shape 24"/>
          <p:cNvSpPr/>
          <p:nvPr/>
        </p:nvSpPr>
        <p:spPr>
          <a:xfrm>
            <a:off x="7452360" y="4709160"/>
            <a:ext cx="4178808" cy="914400"/>
          </a:xfrm>
          <a:prstGeom prst="roundRect">
            <a:avLst>
              <a:gd name="adj" fmla="val 9000"/>
            </a:avLst>
          </a:prstGeom>
          <a:solidFill>
            <a:srgbClr val="12141A"/>
          </a:solidFill>
          <a:ln w="12700">
            <a:solidFill>
              <a:srgbClr val="2A2A35"/>
            </a:solidFill>
            <a:prstDash val="solid"/>
          </a:ln>
        </p:spPr>
      </p:sp>
      <p:sp>
        <p:nvSpPr>
          <p:cNvPr id="28" name="Text 25"/>
          <p:cNvSpPr/>
          <p:nvPr/>
        </p:nvSpPr>
        <p:spPr>
          <a:xfrm>
            <a:off x="7680960" y="4709160"/>
            <a:ext cx="3749040" cy="914400"/>
          </a:xfrm>
          <a:prstGeom prst="rect">
            <a:avLst/>
          </a:prstGeom>
          <a:noFill/>
          <a:ln/>
        </p:spPr>
        <p:txBody>
          <a:bodyPr wrap="square" lIns="0" tIns="0" rIns="0" bIns="0" rtlCol="0" anchor="ctr"/>
          <a:lstStyle/>
          <a:p>
            <a:pPr indent="0" marL="0">
              <a:buNone/>
            </a:pPr>
            <a:r>
              <a:rPr lang="en-US" sz="1000" b="1" spc="150" kern="0" dirty="0">
                <a:solidFill>
                  <a:srgbClr val="FFC62A"/>
                </a:solidFill>
                <a:latin typeface="Bahnschrift" pitchFamily="34" charset="0"/>
                <a:ea typeface="Bahnschrift" pitchFamily="34" charset="-122"/>
                <a:cs typeface="Bahnschrift" pitchFamily="34" charset="-120"/>
              </a:rPr>
              <a:t>WHY IT MATTERS  </a:t>
            </a:r>
            <a:pPr indent="0" marL="0">
              <a:buNone/>
            </a:pPr>
            <a:r>
              <a:rPr lang="en-US" sz="1000" dirty="0">
                <a:solidFill>
                  <a:srgbClr val="9A97A6"/>
                </a:solidFill>
              </a:rPr>
              <a:t>Consistent grades drive accuracy %, the coach's weakness analysis and every badge.</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0B0F"/>
        </a:solidFill>
      </p:bgPr>
    </p:bg>
    <p:spTree>
      <p:nvGrpSpPr>
        <p:cNvPr id="1" name=""/>
        <p:cNvGrpSpPr/>
        <p:nvPr/>
      </p:nvGrpSpPr>
      <p:grpSpPr>
        <a:xfrm>
          <a:off x="0" y="0"/>
          <a:ext cx="0" cy="0"/>
          <a:chOff x="0" y="0"/>
          <a:chExt cx="0" cy="0"/>
        </a:xfrm>
      </p:grpSpPr>
      <p:sp>
        <p:nvSpPr>
          <p:cNvPr id="2" name="Shape 0"/>
          <p:cNvSpPr/>
          <p:nvPr/>
        </p:nvSpPr>
        <p:spPr>
          <a:xfrm>
            <a:off x="10716768" y="292608"/>
            <a:ext cx="155448" cy="155448"/>
          </a:xfrm>
          <a:prstGeom prst="rect">
            <a:avLst/>
          </a:prstGeom>
          <a:solidFill>
            <a:srgbClr val="14141A"/>
          </a:solidFill>
          <a:ln/>
        </p:spPr>
      </p:sp>
      <p:sp>
        <p:nvSpPr>
          <p:cNvPr id="3" name="Shape 1"/>
          <p:cNvSpPr/>
          <p:nvPr/>
        </p:nvSpPr>
        <p:spPr>
          <a:xfrm>
            <a:off x="11027664" y="292608"/>
            <a:ext cx="155448" cy="155448"/>
          </a:xfrm>
          <a:prstGeom prst="rect">
            <a:avLst/>
          </a:prstGeom>
          <a:solidFill>
            <a:srgbClr val="14141A"/>
          </a:solidFill>
          <a:ln/>
        </p:spPr>
      </p:sp>
      <p:sp>
        <p:nvSpPr>
          <p:cNvPr id="4" name="Shape 2"/>
          <p:cNvSpPr/>
          <p:nvPr/>
        </p:nvSpPr>
        <p:spPr>
          <a:xfrm>
            <a:off x="10561320" y="448056"/>
            <a:ext cx="155448" cy="155448"/>
          </a:xfrm>
          <a:prstGeom prst="rect">
            <a:avLst/>
          </a:prstGeom>
          <a:solidFill>
            <a:srgbClr val="14141A"/>
          </a:solidFill>
          <a:ln/>
        </p:spPr>
      </p:sp>
      <p:sp>
        <p:nvSpPr>
          <p:cNvPr id="5" name="Shape 3"/>
          <p:cNvSpPr/>
          <p:nvPr/>
        </p:nvSpPr>
        <p:spPr>
          <a:xfrm>
            <a:off x="10872216" y="448056"/>
            <a:ext cx="155448" cy="155448"/>
          </a:xfrm>
          <a:prstGeom prst="rect">
            <a:avLst/>
          </a:prstGeom>
          <a:solidFill>
            <a:srgbClr val="14141A"/>
          </a:solidFill>
          <a:ln/>
        </p:spPr>
      </p:sp>
      <p:sp>
        <p:nvSpPr>
          <p:cNvPr id="6" name="Shape 4"/>
          <p:cNvSpPr/>
          <p:nvPr/>
        </p:nvSpPr>
        <p:spPr>
          <a:xfrm>
            <a:off x="11183112" y="448056"/>
            <a:ext cx="155448" cy="155448"/>
          </a:xfrm>
          <a:prstGeom prst="rect">
            <a:avLst/>
          </a:prstGeom>
          <a:solidFill>
            <a:srgbClr val="14141A"/>
          </a:solidFill>
          <a:ln/>
        </p:spPr>
      </p:sp>
      <p:sp>
        <p:nvSpPr>
          <p:cNvPr id="7" name="Shape 5"/>
          <p:cNvSpPr/>
          <p:nvPr/>
        </p:nvSpPr>
        <p:spPr>
          <a:xfrm>
            <a:off x="10716768" y="603504"/>
            <a:ext cx="155448" cy="155448"/>
          </a:xfrm>
          <a:prstGeom prst="rect">
            <a:avLst/>
          </a:prstGeom>
          <a:solidFill>
            <a:srgbClr val="14141A"/>
          </a:solidFill>
          <a:ln/>
        </p:spPr>
      </p:sp>
      <p:sp>
        <p:nvSpPr>
          <p:cNvPr id="8" name="Shape 6"/>
          <p:cNvSpPr/>
          <p:nvPr/>
        </p:nvSpPr>
        <p:spPr>
          <a:xfrm>
            <a:off x="11027664" y="603504"/>
            <a:ext cx="155448" cy="155448"/>
          </a:xfrm>
          <a:prstGeom prst="rect">
            <a:avLst/>
          </a:prstGeom>
          <a:solidFill>
            <a:srgbClr val="14141A"/>
          </a:solidFill>
          <a:ln/>
        </p:spPr>
      </p:sp>
      <p:sp>
        <p:nvSpPr>
          <p:cNvPr id="9" name="Shape 7"/>
          <p:cNvSpPr/>
          <p:nvPr/>
        </p:nvSpPr>
        <p:spPr>
          <a:xfrm>
            <a:off x="10561320" y="758952"/>
            <a:ext cx="155448" cy="155448"/>
          </a:xfrm>
          <a:prstGeom prst="rect">
            <a:avLst/>
          </a:prstGeom>
          <a:solidFill>
            <a:srgbClr val="14141A"/>
          </a:solidFill>
          <a:ln/>
        </p:spPr>
      </p:sp>
      <p:sp>
        <p:nvSpPr>
          <p:cNvPr id="10" name="Shape 8"/>
          <p:cNvSpPr/>
          <p:nvPr/>
        </p:nvSpPr>
        <p:spPr>
          <a:xfrm>
            <a:off x="10872216" y="758952"/>
            <a:ext cx="155448" cy="155448"/>
          </a:xfrm>
          <a:prstGeom prst="rect">
            <a:avLst/>
          </a:prstGeom>
          <a:solidFill>
            <a:srgbClr val="14141A"/>
          </a:solidFill>
          <a:ln/>
        </p:spPr>
      </p:sp>
      <p:sp>
        <p:nvSpPr>
          <p:cNvPr id="11" name="Shape 9"/>
          <p:cNvSpPr/>
          <p:nvPr/>
        </p:nvSpPr>
        <p:spPr>
          <a:xfrm>
            <a:off x="11183112" y="758952"/>
            <a:ext cx="155448" cy="155448"/>
          </a:xfrm>
          <a:prstGeom prst="rect">
            <a:avLst/>
          </a:prstGeom>
          <a:solidFill>
            <a:srgbClr val="14141A"/>
          </a:solidFill>
          <a:ln/>
        </p:spPr>
      </p:sp>
      <p:sp>
        <p:nvSpPr>
          <p:cNvPr id="12" name="Shape 10"/>
          <p:cNvSpPr/>
          <p:nvPr/>
        </p:nvSpPr>
        <p:spPr>
          <a:xfrm>
            <a:off x="10716768" y="914400"/>
            <a:ext cx="155448" cy="155448"/>
          </a:xfrm>
          <a:prstGeom prst="rect">
            <a:avLst/>
          </a:prstGeom>
          <a:solidFill>
            <a:srgbClr val="14141A"/>
          </a:solidFill>
          <a:ln/>
        </p:spPr>
      </p:sp>
      <p:sp>
        <p:nvSpPr>
          <p:cNvPr id="13" name="Shape 11"/>
          <p:cNvSpPr/>
          <p:nvPr/>
        </p:nvSpPr>
        <p:spPr>
          <a:xfrm>
            <a:off x="11027664" y="914400"/>
            <a:ext cx="155448" cy="155448"/>
          </a:xfrm>
          <a:prstGeom prst="rect">
            <a:avLst/>
          </a:prstGeom>
          <a:solidFill>
            <a:srgbClr val="14141A"/>
          </a:solidFill>
          <a:ln/>
        </p:spPr>
      </p:sp>
      <p:sp>
        <p:nvSpPr>
          <p:cNvPr id="14" name="Shape 12"/>
          <p:cNvSpPr/>
          <p:nvPr/>
        </p:nvSpPr>
        <p:spPr>
          <a:xfrm>
            <a:off x="9859975" y="310896"/>
            <a:ext cx="1783080" cy="292608"/>
          </a:xfrm>
          <a:prstGeom prst="roundRect">
            <a:avLst>
              <a:gd name="adj" fmla="val 50000"/>
            </a:avLst>
          </a:prstGeom>
          <a:solidFill>
            <a:srgbClr val="2A2412"/>
          </a:solidFill>
          <a:ln w="9525">
            <a:solidFill>
              <a:srgbClr val="4A3D18"/>
            </a:solidFill>
            <a:prstDash val="solid"/>
          </a:ln>
        </p:spPr>
      </p:sp>
      <p:sp>
        <p:nvSpPr>
          <p:cNvPr id="15" name="Text 13"/>
          <p:cNvSpPr/>
          <p:nvPr/>
        </p:nvSpPr>
        <p:spPr>
          <a:xfrm>
            <a:off x="9859975" y="301752"/>
            <a:ext cx="1783080" cy="310896"/>
          </a:xfrm>
          <a:prstGeom prst="rect">
            <a:avLst/>
          </a:prstGeom>
          <a:noFill/>
          <a:ln/>
        </p:spPr>
        <p:txBody>
          <a:bodyPr wrap="square" lIns="0" tIns="0" rIns="0" bIns="0" rtlCol="0" anchor="ctr"/>
          <a:lstStyle/>
          <a:p>
            <a:pPr algn="ctr" indent="0" marL="0">
              <a:buNone/>
            </a:pPr>
            <a:r>
              <a:rPr lang="en-US" sz="800" b="1" spc="120" kern="0" dirty="0">
                <a:solidFill>
                  <a:srgbClr val="FFC62A"/>
                </a:solidFill>
                <a:latin typeface="Bahnschrift" pitchFamily="34" charset="0"/>
                <a:ea typeface="Bahnschrift" pitchFamily="34" charset="-122"/>
                <a:cs typeface="Bahnschrift" pitchFamily="34" charset="-120"/>
              </a:rPr>
              <a:t>VERIFIED · FROM SOURCE CODE</a:t>
            </a:r>
            <a:endParaRPr lang="en-US" sz="800" dirty="0"/>
          </a:p>
        </p:txBody>
      </p:sp>
      <p:sp>
        <p:nvSpPr>
          <p:cNvPr id="16" name="Text 14"/>
          <p:cNvSpPr/>
          <p:nvPr/>
        </p:nvSpPr>
        <p:spPr>
          <a:xfrm>
            <a:off x="566928" y="384048"/>
            <a:ext cx="8229600" cy="274320"/>
          </a:xfrm>
          <a:prstGeom prst="rect">
            <a:avLst/>
          </a:prstGeom>
          <a:noFill/>
          <a:ln/>
        </p:spPr>
        <p:txBody>
          <a:bodyPr wrap="square" lIns="0" tIns="0" rIns="0" bIns="0" rtlCol="0" anchor="ctr"/>
          <a:lstStyle/>
          <a:p>
            <a:pPr indent="0" marL="0">
              <a:buNone/>
            </a:pPr>
            <a:r>
              <a:rPr lang="en-US" sz="1100" b="1" spc="300" kern="0" dirty="0">
                <a:solidFill>
                  <a:srgbClr val="FFC62A"/>
                </a:solidFill>
                <a:latin typeface="Bahnschrift" pitchFamily="34" charset="0"/>
                <a:ea typeface="Bahnschrift" pitchFamily="34" charset="-122"/>
                <a:cs typeface="Bahnschrift" pitchFamily="34" charset="-120"/>
              </a:rPr>
              <a:t>07 · COACHING FEATURES</a:t>
            </a:r>
            <a:endParaRPr lang="en-US" sz="1100" dirty="0"/>
          </a:p>
        </p:txBody>
      </p:sp>
      <p:sp>
        <p:nvSpPr>
          <p:cNvPr id="17" name="Shape 15"/>
          <p:cNvSpPr/>
          <p:nvPr/>
        </p:nvSpPr>
        <p:spPr>
          <a:xfrm>
            <a:off x="566928" y="713232"/>
            <a:ext cx="384048" cy="45720"/>
          </a:xfrm>
          <a:prstGeom prst="rect">
            <a:avLst/>
          </a:prstGeom>
          <a:solidFill>
            <a:srgbClr val="FFC62A"/>
          </a:solidFill>
          <a:ln/>
        </p:spPr>
      </p:sp>
      <p:sp>
        <p:nvSpPr>
          <p:cNvPr id="18" name="Text 16"/>
          <p:cNvSpPr/>
          <p:nvPr/>
        </p:nvSpPr>
        <p:spPr>
          <a:xfrm>
            <a:off x="548640" y="841248"/>
            <a:ext cx="11064240" cy="566928"/>
          </a:xfrm>
          <a:prstGeom prst="rect">
            <a:avLst/>
          </a:prstGeom>
          <a:noFill/>
          <a:ln/>
        </p:spPr>
        <p:txBody>
          <a:bodyPr wrap="square" lIns="0" tIns="0" rIns="0" bIns="0" rtlCol="0" anchor="ctr"/>
          <a:lstStyle/>
          <a:p>
            <a:pPr indent="0" marL="0">
              <a:buNone/>
            </a:pPr>
            <a:r>
              <a:rPr lang="en-US" sz="2700" b="1" dirty="0">
                <a:solidFill>
                  <a:srgbClr val="F5F2EA"/>
                </a:solidFill>
                <a:latin typeface="Bahnschrift" pitchFamily="34" charset="0"/>
                <a:ea typeface="Bahnschrift" pitchFamily="34" charset="-122"/>
                <a:cs typeface="Bahnschrift" pitchFamily="34" charset="-120"/>
              </a:rPr>
              <a:t>Interactive What-If analysis + AI Coach</a:t>
            </a:r>
            <a:endParaRPr lang="en-US" sz="2700" dirty="0"/>
          </a:p>
        </p:txBody>
      </p:sp>
      <p:sp>
        <p:nvSpPr>
          <p:cNvPr id="19" name="Text 17"/>
          <p:cNvSpPr/>
          <p:nvPr/>
        </p:nvSpPr>
        <p:spPr>
          <a:xfrm>
            <a:off x="566928" y="1389888"/>
            <a:ext cx="11064240" cy="274320"/>
          </a:xfrm>
          <a:prstGeom prst="rect">
            <a:avLst/>
          </a:prstGeom>
          <a:noFill/>
          <a:ln/>
        </p:spPr>
        <p:txBody>
          <a:bodyPr wrap="square" lIns="0" tIns="0" rIns="0" bIns="0" rtlCol="0" anchor="ctr"/>
          <a:lstStyle/>
          <a:p>
            <a:pPr indent="0" marL="0">
              <a:buNone/>
            </a:pPr>
            <a:r>
              <a:rPr lang="en-US" sz="1250" dirty="0">
                <a:solidFill>
                  <a:srgbClr val="9A97A6"/>
                </a:solidFill>
                <a:latin typeface="Segoe UI" pitchFamily="34" charset="0"/>
                <a:ea typeface="Segoe UI" pitchFamily="34" charset="-122"/>
                <a:cs typeface="Segoe UI" pitchFamily="34" charset="-120"/>
              </a:rPr>
              <a:t>The two signature features — both fully implemented.</a:t>
            </a:r>
            <a:endParaRPr lang="en-US" sz="1250" dirty="0"/>
          </a:p>
        </p:txBody>
      </p:sp>
      <p:sp>
        <p:nvSpPr>
          <p:cNvPr id="20" name="Text 18"/>
          <p:cNvSpPr/>
          <p:nvPr/>
        </p:nvSpPr>
        <p:spPr>
          <a:xfrm>
            <a:off x="566928" y="6492240"/>
            <a:ext cx="2743200" cy="256032"/>
          </a:xfrm>
          <a:prstGeom prst="rect">
            <a:avLst/>
          </a:prstGeom>
          <a:noFill/>
          <a:ln/>
        </p:spPr>
        <p:txBody>
          <a:bodyPr wrap="square" lIns="0" tIns="0" rIns="0" bIns="0" rtlCol="0" anchor="ctr"/>
          <a:lstStyle/>
          <a:p>
            <a:pPr indent="0" marL="0">
              <a:buNone/>
            </a:pPr>
            <a:r>
              <a:rPr lang="en-US" sz="850" b="1" spc="300" kern="0" dirty="0">
                <a:solidFill>
                  <a:srgbClr val="5C5966"/>
                </a:solidFill>
                <a:latin typeface="Bahnschrift" pitchFamily="34" charset="0"/>
                <a:ea typeface="Bahnschrift" pitchFamily="34" charset="-122"/>
                <a:cs typeface="Bahnschrift" pitchFamily="34" charset="-120"/>
              </a:rPr>
              <a:t>CHESSFORK</a:t>
            </a:r>
            <a:endParaRPr lang="en-US" sz="850" dirty="0"/>
          </a:p>
        </p:txBody>
      </p:sp>
      <p:sp>
        <p:nvSpPr>
          <p:cNvPr id="21" name="Text 19"/>
          <p:cNvSpPr/>
          <p:nvPr/>
        </p:nvSpPr>
        <p:spPr>
          <a:xfrm>
            <a:off x="3840480" y="6492240"/>
            <a:ext cx="4572000" cy="256032"/>
          </a:xfrm>
          <a:prstGeom prst="rect">
            <a:avLst/>
          </a:prstGeom>
          <a:noFill/>
          <a:ln/>
        </p:spPr>
        <p:txBody>
          <a:bodyPr wrap="square" lIns="0" tIns="0" rIns="0" bIns="0" rtlCol="0" anchor="ctr"/>
          <a:lstStyle/>
          <a:p>
            <a:pPr indent="0" marL="0">
              <a:buNone/>
            </a:pPr>
            <a:r>
              <a:rPr lang="en-US" sz="800" spc="150" kern="0" dirty="0">
                <a:solidFill>
                  <a:srgbClr val="5C5966"/>
                </a:solidFill>
                <a:latin typeface="Segoe UI" pitchFamily="34" charset="0"/>
                <a:ea typeface="Segoe UI" pitchFamily="34" charset="-122"/>
                <a:cs typeface="Segoe UI" pitchFamily="34" charset="-120"/>
              </a:rPr>
              <a:t>BCA FINAL YEAR PROJECT · 2026</a:t>
            </a:r>
            <a:endParaRPr lang="en-US" sz="800" dirty="0"/>
          </a:p>
        </p:txBody>
      </p:sp>
      <p:sp>
        <p:nvSpPr>
          <p:cNvPr id="22" name="Text 20"/>
          <p:cNvSpPr/>
          <p:nvPr/>
        </p:nvSpPr>
        <p:spPr>
          <a:xfrm>
            <a:off x="11292840" y="6473952"/>
            <a:ext cx="365760" cy="274320"/>
          </a:xfrm>
          <a:prstGeom prst="rect">
            <a:avLst/>
          </a:prstGeom>
          <a:noFill/>
          <a:ln/>
        </p:spPr>
        <p:txBody>
          <a:bodyPr wrap="square" lIns="0" tIns="0" rIns="0" bIns="0" rtlCol="0" anchor="ctr"/>
          <a:lstStyle/>
          <a:p>
            <a:pPr algn="r" indent="0" marL="0">
              <a:buNone/>
            </a:pPr>
            <a:r>
              <a:rPr lang="en-US" sz="900" b="1" dirty="0">
                <a:solidFill>
                  <a:srgbClr val="5C5966"/>
                </a:solidFill>
                <a:latin typeface="Bahnschrift" pitchFamily="34" charset="0"/>
                <a:ea typeface="Bahnschrift" pitchFamily="34" charset="-122"/>
                <a:cs typeface="Bahnschrift" pitchFamily="34" charset="-120"/>
              </a:rPr>
              <a:t>08</a:t>
            </a:r>
            <a:endParaRPr lang="en-US" sz="900" dirty="0"/>
          </a:p>
        </p:txBody>
      </p:sp>
      <p:sp>
        <p:nvSpPr>
          <p:cNvPr id="23" name="Shape 21"/>
          <p:cNvSpPr/>
          <p:nvPr/>
        </p:nvSpPr>
        <p:spPr>
          <a:xfrm>
            <a:off x="566928" y="1783080"/>
            <a:ext cx="5440680" cy="3566160"/>
          </a:xfrm>
          <a:prstGeom prst="roundRect">
            <a:avLst>
              <a:gd name="adj" fmla="val 1795"/>
            </a:avLst>
          </a:prstGeom>
          <a:solidFill>
            <a:srgbClr val="15151B"/>
          </a:solidFill>
          <a:ln w="12700">
            <a:solidFill>
              <a:srgbClr val="26262F"/>
            </a:solidFill>
            <a:prstDash val="solid"/>
          </a:ln>
        </p:spPr>
      </p:sp>
      <p:sp>
        <p:nvSpPr>
          <p:cNvPr id="24" name="Shape 22"/>
          <p:cNvSpPr/>
          <p:nvPr/>
        </p:nvSpPr>
        <p:spPr>
          <a:xfrm>
            <a:off x="777240" y="1965960"/>
            <a:ext cx="548640" cy="548640"/>
          </a:xfrm>
          <a:prstGeom prst="ellipse">
            <a:avLst/>
          </a:prstGeom>
          <a:solidFill>
            <a:srgbClr val="2A2412"/>
          </a:solidFill>
          <a:ln w="12700">
            <a:solidFill>
              <a:srgbClr val="4A3D18"/>
            </a:solidFill>
            <a:prstDash val="solid"/>
          </a:ln>
        </p:spPr>
      </p:sp>
      <p:sp>
        <p:nvSpPr>
          <p:cNvPr id="25" name="Text 23"/>
          <p:cNvSpPr/>
          <p:nvPr/>
        </p:nvSpPr>
        <p:spPr>
          <a:xfrm>
            <a:off x="850392" y="2029968"/>
            <a:ext cx="402336" cy="402336"/>
          </a:xfrm>
          <a:prstGeom prst="rect">
            <a:avLst/>
          </a:prstGeom>
          <a:noFill/>
          <a:ln/>
        </p:spPr>
        <p:txBody>
          <a:bodyPr wrap="square" lIns="0" tIns="0" rIns="0" bIns="0" rtlCol="0" anchor="ctr"/>
          <a:lstStyle/>
          <a:p>
            <a:pPr algn="ctr" indent="0" marL="0">
              <a:buNone/>
            </a:pPr>
            <a:r>
              <a:rPr lang="en-US" sz="2851" dirty="0">
                <a:solidFill>
                  <a:srgbClr val="FFC62A"/>
                </a:solidFill>
                <a:latin typeface="Segoe UI Symbol" pitchFamily="34" charset="0"/>
                <a:ea typeface="Segoe UI Symbol" pitchFamily="34" charset="-122"/>
                <a:cs typeface="Segoe UI Symbol" pitchFamily="34" charset="-120"/>
              </a:rPr>
              <a:t>♞</a:t>
            </a:r>
            <a:endParaRPr lang="en-US" sz="2851" dirty="0"/>
          </a:p>
        </p:txBody>
      </p:sp>
      <p:sp>
        <p:nvSpPr>
          <p:cNvPr id="26" name="Text 24"/>
          <p:cNvSpPr/>
          <p:nvPr/>
        </p:nvSpPr>
        <p:spPr>
          <a:xfrm>
            <a:off x="1463040" y="1984248"/>
            <a:ext cx="3200400" cy="310896"/>
          </a:xfrm>
          <a:prstGeom prst="rect">
            <a:avLst/>
          </a:prstGeom>
          <a:noFill/>
          <a:ln/>
        </p:spPr>
        <p:txBody>
          <a:bodyPr wrap="square" lIns="0" tIns="0" rIns="0" bIns="0" rtlCol="0" anchor="ctr"/>
          <a:lstStyle/>
          <a:p>
            <a:pPr indent="0" marL="0">
              <a:buNone/>
            </a:pPr>
            <a:r>
              <a:rPr lang="en-US" sz="1500" b="1" dirty="0">
                <a:solidFill>
                  <a:srgbClr val="F5F2EA"/>
                </a:solidFill>
                <a:latin typeface="Bahnschrift" pitchFamily="34" charset="0"/>
                <a:ea typeface="Bahnschrift" pitchFamily="34" charset="-122"/>
                <a:cs typeface="Bahnschrift" pitchFamily="34" charset="-120"/>
              </a:rPr>
              <a:t>What-If Analysis</a:t>
            </a:r>
            <a:endParaRPr lang="en-US" sz="1500" dirty="0"/>
          </a:p>
        </p:txBody>
      </p:sp>
      <p:sp>
        <p:nvSpPr>
          <p:cNvPr id="27" name="Shape 25"/>
          <p:cNvSpPr/>
          <p:nvPr/>
        </p:nvSpPr>
        <p:spPr>
          <a:xfrm>
            <a:off x="1463040" y="2304288"/>
            <a:ext cx="1043788" cy="246888"/>
          </a:xfrm>
          <a:prstGeom prst="roundRect">
            <a:avLst>
              <a:gd name="adj" fmla="val 50000"/>
            </a:avLst>
          </a:prstGeom>
          <a:solidFill>
            <a:srgbClr val="0E2418"/>
          </a:solidFill>
          <a:ln w="9525">
            <a:solidFill>
              <a:srgbClr val="1F5C38"/>
            </a:solidFill>
            <a:prstDash val="solid"/>
          </a:ln>
        </p:spPr>
      </p:sp>
      <p:sp>
        <p:nvSpPr>
          <p:cNvPr id="28" name="Text 26"/>
          <p:cNvSpPr/>
          <p:nvPr/>
        </p:nvSpPr>
        <p:spPr>
          <a:xfrm>
            <a:off x="1463040" y="2293315"/>
            <a:ext cx="1043788" cy="269748"/>
          </a:xfrm>
          <a:prstGeom prst="rect">
            <a:avLst/>
          </a:prstGeom>
          <a:noFill/>
          <a:ln/>
        </p:spPr>
        <p:txBody>
          <a:bodyPr wrap="square" lIns="0" tIns="0" rIns="0" bIns="0" rtlCol="0" anchor="ctr"/>
          <a:lstStyle/>
          <a:p>
            <a:pPr algn="ctr" indent="0" marL="0">
              <a:buNone/>
            </a:pPr>
            <a:r>
              <a:rPr lang="en-US" sz="850" b="1" spc="80" kern="0" dirty="0">
                <a:solidFill>
                  <a:srgbClr val="3DDC84"/>
                </a:solidFill>
                <a:latin typeface="Segoe UI" pitchFamily="34" charset="0"/>
                <a:ea typeface="Segoe UI" pitchFamily="34" charset="-122"/>
                <a:cs typeface="Segoe UI" pitchFamily="34" charset="-120"/>
              </a:rPr>
              <a:t>IMPLEMENTED</a:t>
            </a:r>
            <a:endParaRPr lang="en-US" sz="850" dirty="0"/>
          </a:p>
        </p:txBody>
      </p:sp>
      <p:sp>
        <p:nvSpPr>
          <p:cNvPr id="29" name="Text 27"/>
          <p:cNvSpPr/>
          <p:nvPr/>
        </p:nvSpPr>
        <p:spPr>
          <a:xfrm>
            <a:off x="868680" y="2743200"/>
            <a:ext cx="4892040" cy="2468880"/>
          </a:xfrm>
          <a:prstGeom prst="rect">
            <a:avLst/>
          </a:prstGeom>
          <a:noFill/>
          <a:ln/>
        </p:spPr>
        <p:txBody>
          <a:bodyPr wrap="square" lIns="0" tIns="0" rIns="0" bIns="0" rtlCol="0" anchor="ctr"/>
          <a:lstStyle/>
          <a:p>
            <a:pPr marL="342900" indent="-342900">
              <a:lnSpc>
                <a:spcPct val="110000"/>
              </a:lnSpc>
              <a:spcAft>
                <a:spcPts val="900"/>
              </a:spcAft>
              <a:buSzPct val="100000"/>
              <a:buChar char="•"/>
            </a:pPr>
            <a:r>
              <a:rPr lang="en-US" sz="1150" dirty="0">
                <a:solidFill>
                  <a:srgbClr val="F5F2EA"/>
                </a:solidFill>
                <a:latin typeface="Segoe UI" pitchFamily="34" charset="0"/>
                <a:ea typeface="Segoe UI" pitchFamily="34" charset="-122"/>
                <a:cs typeface="Segoe UI" pitchFamily="34" charset="-120"/>
              </a:rPr>
              <a:t>Drag any piece to a new square on the review board</a:t>
            </a:r>
            <a:endParaRPr lang="en-US" sz="1150" dirty="0"/>
          </a:p>
          <a:p>
            <a:pPr marL="342900" indent="-342900">
              <a:lnSpc>
                <a:spcPct val="110000"/>
              </a:lnSpc>
              <a:spcAft>
                <a:spcPts val="900"/>
              </a:spcAft>
              <a:buSzPct val="100000"/>
              <a:buChar char="•"/>
            </a:pPr>
            <a:r>
              <a:rPr lang="en-US" sz="1150" dirty="0">
                <a:solidFill>
                  <a:srgbClr val="F5F2EA"/>
                </a:solidFill>
                <a:latin typeface="Segoe UI" pitchFamily="34" charset="0"/>
                <a:ea typeface="Segoe UI" pitchFamily="34" charset="-122"/>
                <a:cs typeface="Segoe UI" pitchFamily="34" charset="-120"/>
              </a:rPr>
              <a:t>Stockfish re-evaluates the variation live (depth 14 cap → responsive UI)</a:t>
            </a:r>
            <a:endParaRPr lang="en-US" sz="1150" dirty="0"/>
          </a:p>
          <a:p>
            <a:pPr marL="342900" indent="-342900">
              <a:lnSpc>
                <a:spcPct val="110000"/>
              </a:lnSpc>
              <a:spcAft>
                <a:spcPts val="900"/>
              </a:spcAft>
              <a:buSzPct val="100000"/>
              <a:buChar char="•"/>
            </a:pPr>
            <a:r>
              <a:rPr lang="en-US" sz="1150" dirty="0">
                <a:solidFill>
                  <a:srgbClr val="F5F2EA"/>
                </a:solidFill>
                <a:latin typeface="Segoe UI" pitchFamily="34" charset="0"/>
                <a:ea typeface="Segoe UI" pitchFamily="34" charset="-122"/>
                <a:cs typeface="Segoe UI" pitchFamily="34" charset="-120"/>
              </a:rPr>
              <a:t>8-step grader: sacrifices, mates, forced moves, missed wins</a:t>
            </a:r>
            <a:endParaRPr lang="en-US" sz="1150" dirty="0"/>
          </a:p>
          <a:p>
            <a:pPr marL="342900" indent="-342900">
              <a:lnSpc>
                <a:spcPct val="110000"/>
              </a:lnSpc>
              <a:spcAft>
                <a:spcPts val="900"/>
              </a:spcAft>
              <a:buSzPct val="100000"/>
              <a:buChar char="•"/>
            </a:pPr>
            <a:r>
              <a:rPr lang="en-US" sz="1150" dirty="0">
                <a:solidFill>
                  <a:srgbClr val="F5F2EA"/>
                </a:solidFill>
                <a:latin typeface="Segoe UI" pitchFamily="34" charset="0"/>
                <a:ea typeface="Segoe UI" pitchFamily="34" charset="-122"/>
                <a:cs typeface="Segoe UI" pitchFamily="34" charset="-120"/>
              </a:rPr>
              <a:t>Top-3 alternative lines (MultiPV) — click to explore</a:t>
            </a:r>
            <a:endParaRPr lang="en-US" sz="1150" dirty="0"/>
          </a:p>
          <a:p>
            <a:pPr marL="342900" indent="-342900">
              <a:lnSpc>
                <a:spcPct val="110000"/>
              </a:lnSpc>
              <a:spcAft>
                <a:spcPts val="900"/>
              </a:spcAft>
              <a:buSzPct val="100000"/>
              <a:buChar char="•"/>
            </a:pPr>
            <a:r>
              <a:rPr lang="en-US" sz="1150" dirty="0">
                <a:solidFill>
                  <a:srgbClr val="F5F2EA"/>
                </a:solidFill>
                <a:latin typeface="Segoe UI" pitchFamily="34" charset="0"/>
                <a:ea typeface="Segoe UI" pitchFamily="34" charset="-122"/>
                <a:cs typeface="Segoe UI" pitchFamily="34" charset="-120"/>
              </a:rPr>
              <a:t>Board &amp; panel stay consistent — variation is never lost</a:t>
            </a:r>
            <a:endParaRPr lang="en-US" sz="1150" dirty="0"/>
          </a:p>
        </p:txBody>
      </p:sp>
      <p:sp>
        <p:nvSpPr>
          <p:cNvPr id="30" name="Shape 28"/>
          <p:cNvSpPr/>
          <p:nvPr/>
        </p:nvSpPr>
        <p:spPr>
          <a:xfrm>
            <a:off x="6190488" y="1783080"/>
            <a:ext cx="5440680" cy="3566160"/>
          </a:xfrm>
          <a:prstGeom prst="roundRect">
            <a:avLst>
              <a:gd name="adj" fmla="val 1795"/>
            </a:avLst>
          </a:prstGeom>
          <a:solidFill>
            <a:srgbClr val="15151B"/>
          </a:solidFill>
          <a:ln w="12700">
            <a:solidFill>
              <a:srgbClr val="26262F"/>
            </a:solidFill>
            <a:prstDash val="solid"/>
          </a:ln>
        </p:spPr>
      </p:sp>
      <p:sp>
        <p:nvSpPr>
          <p:cNvPr id="31" name="Shape 29"/>
          <p:cNvSpPr/>
          <p:nvPr/>
        </p:nvSpPr>
        <p:spPr>
          <a:xfrm>
            <a:off x="6400800" y="1965960"/>
            <a:ext cx="548640" cy="548640"/>
          </a:xfrm>
          <a:prstGeom prst="ellipse">
            <a:avLst/>
          </a:prstGeom>
          <a:solidFill>
            <a:srgbClr val="2A2412"/>
          </a:solidFill>
          <a:ln w="12700">
            <a:solidFill>
              <a:srgbClr val="4A3D18"/>
            </a:solidFill>
            <a:prstDash val="solid"/>
          </a:ln>
        </p:spPr>
      </p:sp>
      <p:sp>
        <p:nvSpPr>
          <p:cNvPr id="32" name="Text 30"/>
          <p:cNvSpPr/>
          <p:nvPr/>
        </p:nvSpPr>
        <p:spPr>
          <a:xfrm>
            <a:off x="6473952" y="2029968"/>
            <a:ext cx="402336" cy="402336"/>
          </a:xfrm>
          <a:prstGeom prst="rect">
            <a:avLst/>
          </a:prstGeom>
          <a:noFill/>
          <a:ln/>
        </p:spPr>
        <p:txBody>
          <a:bodyPr wrap="square" lIns="0" tIns="0" rIns="0" bIns="0" rtlCol="0" anchor="ctr"/>
          <a:lstStyle/>
          <a:p>
            <a:pPr algn="ctr" indent="0" marL="0">
              <a:buNone/>
            </a:pPr>
            <a:r>
              <a:rPr lang="en-US" sz="2851" dirty="0">
                <a:solidFill>
                  <a:srgbClr val="FFC62A"/>
                </a:solidFill>
                <a:latin typeface="Segoe UI Symbol" pitchFamily="34" charset="0"/>
                <a:ea typeface="Segoe UI Symbol" pitchFamily="34" charset="-122"/>
                <a:cs typeface="Segoe UI Symbol" pitchFamily="34" charset="-120"/>
              </a:rPr>
              <a:t>♛</a:t>
            </a:r>
            <a:endParaRPr lang="en-US" sz="2851" dirty="0"/>
          </a:p>
        </p:txBody>
      </p:sp>
      <p:sp>
        <p:nvSpPr>
          <p:cNvPr id="33" name="Text 31"/>
          <p:cNvSpPr/>
          <p:nvPr/>
        </p:nvSpPr>
        <p:spPr>
          <a:xfrm>
            <a:off x="7086600" y="1984248"/>
            <a:ext cx="3200400" cy="310896"/>
          </a:xfrm>
          <a:prstGeom prst="rect">
            <a:avLst/>
          </a:prstGeom>
          <a:noFill/>
          <a:ln/>
        </p:spPr>
        <p:txBody>
          <a:bodyPr wrap="square" lIns="0" tIns="0" rIns="0" bIns="0" rtlCol="0" anchor="ctr"/>
          <a:lstStyle/>
          <a:p>
            <a:pPr indent="0" marL="0">
              <a:buNone/>
            </a:pPr>
            <a:r>
              <a:rPr lang="en-US" sz="1500" b="1" dirty="0">
                <a:solidFill>
                  <a:srgbClr val="F5F2EA"/>
                </a:solidFill>
                <a:latin typeface="Bahnschrift" pitchFamily="34" charset="0"/>
                <a:ea typeface="Bahnschrift" pitchFamily="34" charset="-122"/>
                <a:cs typeface="Bahnschrift" pitchFamily="34" charset="-120"/>
              </a:rPr>
              <a:t>AI Coach</a:t>
            </a:r>
            <a:endParaRPr lang="en-US" sz="1500" dirty="0"/>
          </a:p>
        </p:txBody>
      </p:sp>
      <p:sp>
        <p:nvSpPr>
          <p:cNvPr id="34" name="Shape 32"/>
          <p:cNvSpPr/>
          <p:nvPr/>
        </p:nvSpPr>
        <p:spPr>
          <a:xfrm>
            <a:off x="7086600" y="2304288"/>
            <a:ext cx="1043788" cy="246888"/>
          </a:xfrm>
          <a:prstGeom prst="roundRect">
            <a:avLst>
              <a:gd name="adj" fmla="val 50000"/>
            </a:avLst>
          </a:prstGeom>
          <a:solidFill>
            <a:srgbClr val="0E2418"/>
          </a:solidFill>
          <a:ln w="9525">
            <a:solidFill>
              <a:srgbClr val="1F5C38"/>
            </a:solidFill>
            <a:prstDash val="solid"/>
          </a:ln>
        </p:spPr>
      </p:sp>
      <p:sp>
        <p:nvSpPr>
          <p:cNvPr id="35" name="Text 33"/>
          <p:cNvSpPr/>
          <p:nvPr/>
        </p:nvSpPr>
        <p:spPr>
          <a:xfrm>
            <a:off x="7086600" y="2293315"/>
            <a:ext cx="1043788" cy="269748"/>
          </a:xfrm>
          <a:prstGeom prst="rect">
            <a:avLst/>
          </a:prstGeom>
          <a:noFill/>
          <a:ln/>
        </p:spPr>
        <p:txBody>
          <a:bodyPr wrap="square" lIns="0" tIns="0" rIns="0" bIns="0" rtlCol="0" anchor="ctr"/>
          <a:lstStyle/>
          <a:p>
            <a:pPr algn="ctr" indent="0" marL="0">
              <a:buNone/>
            </a:pPr>
            <a:r>
              <a:rPr lang="en-US" sz="850" b="1" spc="80" kern="0" dirty="0">
                <a:solidFill>
                  <a:srgbClr val="3DDC84"/>
                </a:solidFill>
                <a:latin typeface="Segoe UI" pitchFamily="34" charset="0"/>
                <a:ea typeface="Segoe UI" pitchFamily="34" charset="-122"/>
                <a:cs typeface="Segoe UI" pitchFamily="34" charset="-120"/>
              </a:rPr>
              <a:t>IMPLEMENTED</a:t>
            </a:r>
            <a:endParaRPr lang="en-US" sz="850" dirty="0"/>
          </a:p>
        </p:txBody>
      </p:sp>
      <p:sp>
        <p:nvSpPr>
          <p:cNvPr id="36" name="Text 34"/>
          <p:cNvSpPr/>
          <p:nvPr/>
        </p:nvSpPr>
        <p:spPr>
          <a:xfrm>
            <a:off x="6492240" y="2743200"/>
            <a:ext cx="4892040" cy="2468880"/>
          </a:xfrm>
          <a:prstGeom prst="rect">
            <a:avLst/>
          </a:prstGeom>
          <a:noFill/>
          <a:ln/>
        </p:spPr>
        <p:txBody>
          <a:bodyPr wrap="square" lIns="0" tIns="0" rIns="0" bIns="0" rtlCol="0" anchor="ctr"/>
          <a:lstStyle/>
          <a:p>
            <a:pPr marL="342900" indent="-342900">
              <a:lnSpc>
                <a:spcPct val="110000"/>
              </a:lnSpc>
              <a:spcAft>
                <a:spcPts val="900"/>
              </a:spcAft>
              <a:buSzPct val="100000"/>
              <a:buChar char="•"/>
            </a:pPr>
            <a:r>
              <a:rPr lang="en-US" sz="1150" dirty="0">
                <a:solidFill>
                  <a:srgbClr val="F5F2EA"/>
                </a:solidFill>
                <a:latin typeface="Segoe UI" pitchFamily="34" charset="0"/>
                <a:ea typeface="Segoe UI" pitchFamily="34" charset="-122"/>
                <a:cs typeface="Segoe UI" pitchFamily="34" charset="-120"/>
              </a:rPr>
              <a:t>Scans up to 50 past games for recurring patterns</a:t>
            </a:r>
            <a:endParaRPr lang="en-US" sz="1150" dirty="0"/>
          </a:p>
          <a:p>
            <a:pPr marL="342900" indent="-342900">
              <a:lnSpc>
                <a:spcPct val="110000"/>
              </a:lnSpc>
              <a:spcAft>
                <a:spcPts val="900"/>
              </a:spcAft>
              <a:buSzPct val="100000"/>
              <a:buChar char="•"/>
            </a:pPr>
            <a:r>
              <a:rPr lang="en-US" sz="1150" dirty="0">
                <a:solidFill>
                  <a:srgbClr val="F5F2EA"/>
                </a:solidFill>
                <a:latin typeface="Segoe UI" pitchFamily="34" charset="0"/>
                <a:ea typeface="Segoe UI" pitchFamily="34" charset="-122"/>
                <a:cs typeface="Segoe UI" pitchFamily="34" charset="-120"/>
              </a:rPr>
              <a:t>3 prioritized weaknesses — each with evidence and a drill</a:t>
            </a:r>
            <a:endParaRPr lang="en-US" sz="1150" dirty="0"/>
          </a:p>
          <a:p>
            <a:pPr marL="342900" indent="-342900">
              <a:lnSpc>
                <a:spcPct val="110000"/>
              </a:lnSpc>
              <a:spcAft>
                <a:spcPts val="900"/>
              </a:spcAft>
              <a:buSzPct val="100000"/>
              <a:buChar char="•"/>
            </a:pPr>
            <a:r>
              <a:rPr lang="en-US" sz="1150" dirty="0">
                <a:solidFill>
                  <a:srgbClr val="F5F2EA"/>
                </a:solidFill>
                <a:latin typeface="Segoe UI" pitchFamily="34" charset="0"/>
                <a:ea typeface="Segoe UI" pitchFamily="34" charset="-122"/>
                <a:cs typeface="Segoe UI" pitchFamily="34" charset="-120"/>
              </a:rPr>
              <a:t>Weekly focus plan with tracked checkboxes</a:t>
            </a:r>
            <a:endParaRPr lang="en-US" sz="1150" dirty="0"/>
          </a:p>
          <a:p>
            <a:pPr marL="342900" indent="-342900">
              <a:lnSpc>
                <a:spcPct val="110000"/>
              </a:lnSpc>
              <a:spcAft>
                <a:spcPts val="900"/>
              </a:spcAft>
              <a:buSzPct val="100000"/>
              <a:buChar char="•"/>
            </a:pPr>
            <a:r>
              <a:rPr lang="en-US" sz="1150" dirty="0">
                <a:solidFill>
                  <a:srgbClr val="F5F2EA"/>
                </a:solidFill>
                <a:latin typeface="Segoe UI" pitchFamily="34" charset="0"/>
                <a:ea typeface="Segoe UI" pitchFamily="34" charset="-122"/>
                <a:cs typeface="Segoe UI" pitchFamily="34" charset="-120"/>
              </a:rPr>
              <a:t>Opening recommendations and estimated rating level</a:t>
            </a:r>
            <a:endParaRPr lang="en-US" sz="1150" dirty="0"/>
          </a:p>
          <a:p>
            <a:pPr marL="342900" indent="-342900">
              <a:lnSpc>
                <a:spcPct val="110000"/>
              </a:lnSpc>
              <a:spcAft>
                <a:spcPts val="900"/>
              </a:spcAft>
              <a:buSzPct val="100000"/>
              <a:buChar char="•"/>
            </a:pPr>
            <a:r>
              <a:rPr lang="en-US" sz="1150" dirty="0">
                <a:solidFill>
                  <a:srgbClr val="F5F2EA"/>
                </a:solidFill>
                <a:latin typeface="Segoe UI" pitchFamily="34" charset="0"/>
                <a:ea typeface="Segoe UI" pitchFamily="34" charset="-122"/>
                <a:cs typeface="Segoe UI" pitchFamily="34" charset="-120"/>
              </a:rPr>
              <a:t>Reports cached locally for 24 hours (fast re-views)</a:t>
            </a:r>
            <a:endParaRPr lang="en-US" sz="1150" dirty="0"/>
          </a:p>
        </p:txBody>
      </p:sp>
      <p:sp>
        <p:nvSpPr>
          <p:cNvPr id="37" name="Shape 35"/>
          <p:cNvSpPr/>
          <p:nvPr/>
        </p:nvSpPr>
        <p:spPr>
          <a:xfrm>
            <a:off x="566928" y="5532120"/>
            <a:ext cx="11064240" cy="566928"/>
          </a:xfrm>
          <a:prstGeom prst="roundRect">
            <a:avLst>
              <a:gd name="adj" fmla="val 12903"/>
            </a:avLst>
          </a:prstGeom>
          <a:solidFill>
            <a:srgbClr val="12141A"/>
          </a:solidFill>
          <a:ln w="12700">
            <a:solidFill>
              <a:srgbClr val="2A2A35"/>
            </a:solidFill>
            <a:prstDash val="solid"/>
          </a:ln>
        </p:spPr>
      </p:sp>
      <p:sp>
        <p:nvSpPr>
          <p:cNvPr id="38" name="Text 36"/>
          <p:cNvSpPr/>
          <p:nvPr/>
        </p:nvSpPr>
        <p:spPr>
          <a:xfrm>
            <a:off x="822960" y="5532120"/>
            <a:ext cx="10515600" cy="566928"/>
          </a:xfrm>
          <a:prstGeom prst="rect">
            <a:avLst/>
          </a:prstGeom>
          <a:noFill/>
          <a:ln/>
        </p:spPr>
        <p:txBody>
          <a:bodyPr wrap="square" lIns="0" tIns="0" rIns="0" bIns="0" rtlCol="0" anchor="ctr"/>
          <a:lstStyle/>
          <a:p>
            <a:pPr indent="0" marL="0">
              <a:buNone/>
            </a:pPr>
            <a:r>
              <a:rPr lang="en-US" sz="1050" b="1" spc="200" kern="0" dirty="0">
                <a:solidFill>
                  <a:srgbClr val="FFC62A"/>
                </a:solidFill>
                <a:latin typeface="Bahnschrift" pitchFamily="34" charset="0"/>
                <a:ea typeface="Bahnschrift" pitchFamily="34" charset="-122"/>
                <a:cs typeface="Bahnschrift" pitchFamily="34" charset="-120"/>
              </a:rPr>
              <a:t>POWERED BY  </a:t>
            </a:r>
            <a:pPr indent="0" marL="0">
              <a:buNone/>
            </a:pPr>
            <a:r>
              <a:rPr lang="en-US" sz="1050" dirty="0">
                <a:solidFill>
                  <a:srgbClr val="9A97A6"/>
                </a:solidFill>
              </a:rPr>
              <a:t>client-side WASM Stockfish worker for instant interaction · server LLM calls (Claude / OpenRouter deepseek-chat) for coach reports.</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0B0F"/>
        </a:solidFill>
      </p:bgPr>
    </p:bg>
    <p:spTree>
      <p:nvGrpSpPr>
        <p:cNvPr id="1" name=""/>
        <p:cNvGrpSpPr/>
        <p:nvPr/>
      </p:nvGrpSpPr>
      <p:grpSpPr>
        <a:xfrm>
          <a:off x="0" y="0"/>
          <a:ext cx="0" cy="0"/>
          <a:chOff x="0" y="0"/>
          <a:chExt cx="0" cy="0"/>
        </a:xfrm>
      </p:grpSpPr>
      <p:sp>
        <p:nvSpPr>
          <p:cNvPr id="2" name="Shape 0"/>
          <p:cNvSpPr/>
          <p:nvPr/>
        </p:nvSpPr>
        <p:spPr>
          <a:xfrm>
            <a:off x="10716768" y="292608"/>
            <a:ext cx="155448" cy="155448"/>
          </a:xfrm>
          <a:prstGeom prst="rect">
            <a:avLst/>
          </a:prstGeom>
          <a:solidFill>
            <a:srgbClr val="14141A"/>
          </a:solidFill>
          <a:ln/>
        </p:spPr>
      </p:sp>
      <p:sp>
        <p:nvSpPr>
          <p:cNvPr id="3" name="Shape 1"/>
          <p:cNvSpPr/>
          <p:nvPr/>
        </p:nvSpPr>
        <p:spPr>
          <a:xfrm>
            <a:off x="11027664" y="292608"/>
            <a:ext cx="155448" cy="155448"/>
          </a:xfrm>
          <a:prstGeom prst="rect">
            <a:avLst/>
          </a:prstGeom>
          <a:solidFill>
            <a:srgbClr val="14141A"/>
          </a:solidFill>
          <a:ln/>
        </p:spPr>
      </p:sp>
      <p:sp>
        <p:nvSpPr>
          <p:cNvPr id="4" name="Shape 2"/>
          <p:cNvSpPr/>
          <p:nvPr/>
        </p:nvSpPr>
        <p:spPr>
          <a:xfrm>
            <a:off x="10561320" y="448056"/>
            <a:ext cx="155448" cy="155448"/>
          </a:xfrm>
          <a:prstGeom prst="rect">
            <a:avLst/>
          </a:prstGeom>
          <a:solidFill>
            <a:srgbClr val="14141A"/>
          </a:solidFill>
          <a:ln/>
        </p:spPr>
      </p:sp>
      <p:sp>
        <p:nvSpPr>
          <p:cNvPr id="5" name="Shape 3"/>
          <p:cNvSpPr/>
          <p:nvPr/>
        </p:nvSpPr>
        <p:spPr>
          <a:xfrm>
            <a:off x="10872216" y="448056"/>
            <a:ext cx="155448" cy="155448"/>
          </a:xfrm>
          <a:prstGeom prst="rect">
            <a:avLst/>
          </a:prstGeom>
          <a:solidFill>
            <a:srgbClr val="14141A"/>
          </a:solidFill>
          <a:ln/>
        </p:spPr>
      </p:sp>
      <p:sp>
        <p:nvSpPr>
          <p:cNvPr id="6" name="Shape 4"/>
          <p:cNvSpPr/>
          <p:nvPr/>
        </p:nvSpPr>
        <p:spPr>
          <a:xfrm>
            <a:off x="11183112" y="448056"/>
            <a:ext cx="155448" cy="155448"/>
          </a:xfrm>
          <a:prstGeom prst="rect">
            <a:avLst/>
          </a:prstGeom>
          <a:solidFill>
            <a:srgbClr val="14141A"/>
          </a:solidFill>
          <a:ln/>
        </p:spPr>
      </p:sp>
      <p:sp>
        <p:nvSpPr>
          <p:cNvPr id="7" name="Shape 5"/>
          <p:cNvSpPr/>
          <p:nvPr/>
        </p:nvSpPr>
        <p:spPr>
          <a:xfrm>
            <a:off x="10716768" y="603504"/>
            <a:ext cx="155448" cy="155448"/>
          </a:xfrm>
          <a:prstGeom prst="rect">
            <a:avLst/>
          </a:prstGeom>
          <a:solidFill>
            <a:srgbClr val="14141A"/>
          </a:solidFill>
          <a:ln/>
        </p:spPr>
      </p:sp>
      <p:sp>
        <p:nvSpPr>
          <p:cNvPr id="8" name="Shape 6"/>
          <p:cNvSpPr/>
          <p:nvPr/>
        </p:nvSpPr>
        <p:spPr>
          <a:xfrm>
            <a:off x="11027664" y="603504"/>
            <a:ext cx="155448" cy="155448"/>
          </a:xfrm>
          <a:prstGeom prst="rect">
            <a:avLst/>
          </a:prstGeom>
          <a:solidFill>
            <a:srgbClr val="14141A"/>
          </a:solidFill>
          <a:ln/>
        </p:spPr>
      </p:sp>
      <p:sp>
        <p:nvSpPr>
          <p:cNvPr id="9" name="Shape 7"/>
          <p:cNvSpPr/>
          <p:nvPr/>
        </p:nvSpPr>
        <p:spPr>
          <a:xfrm>
            <a:off x="10561320" y="758952"/>
            <a:ext cx="155448" cy="155448"/>
          </a:xfrm>
          <a:prstGeom prst="rect">
            <a:avLst/>
          </a:prstGeom>
          <a:solidFill>
            <a:srgbClr val="14141A"/>
          </a:solidFill>
          <a:ln/>
        </p:spPr>
      </p:sp>
      <p:sp>
        <p:nvSpPr>
          <p:cNvPr id="10" name="Shape 8"/>
          <p:cNvSpPr/>
          <p:nvPr/>
        </p:nvSpPr>
        <p:spPr>
          <a:xfrm>
            <a:off x="10872216" y="758952"/>
            <a:ext cx="155448" cy="155448"/>
          </a:xfrm>
          <a:prstGeom prst="rect">
            <a:avLst/>
          </a:prstGeom>
          <a:solidFill>
            <a:srgbClr val="14141A"/>
          </a:solidFill>
          <a:ln/>
        </p:spPr>
      </p:sp>
      <p:sp>
        <p:nvSpPr>
          <p:cNvPr id="11" name="Shape 9"/>
          <p:cNvSpPr/>
          <p:nvPr/>
        </p:nvSpPr>
        <p:spPr>
          <a:xfrm>
            <a:off x="11183112" y="758952"/>
            <a:ext cx="155448" cy="155448"/>
          </a:xfrm>
          <a:prstGeom prst="rect">
            <a:avLst/>
          </a:prstGeom>
          <a:solidFill>
            <a:srgbClr val="14141A"/>
          </a:solidFill>
          <a:ln/>
        </p:spPr>
      </p:sp>
      <p:sp>
        <p:nvSpPr>
          <p:cNvPr id="12" name="Shape 10"/>
          <p:cNvSpPr/>
          <p:nvPr/>
        </p:nvSpPr>
        <p:spPr>
          <a:xfrm>
            <a:off x="10716768" y="914400"/>
            <a:ext cx="155448" cy="155448"/>
          </a:xfrm>
          <a:prstGeom prst="rect">
            <a:avLst/>
          </a:prstGeom>
          <a:solidFill>
            <a:srgbClr val="14141A"/>
          </a:solidFill>
          <a:ln/>
        </p:spPr>
      </p:sp>
      <p:sp>
        <p:nvSpPr>
          <p:cNvPr id="13" name="Shape 11"/>
          <p:cNvSpPr/>
          <p:nvPr/>
        </p:nvSpPr>
        <p:spPr>
          <a:xfrm>
            <a:off x="11027664" y="914400"/>
            <a:ext cx="155448" cy="155448"/>
          </a:xfrm>
          <a:prstGeom prst="rect">
            <a:avLst/>
          </a:prstGeom>
          <a:solidFill>
            <a:srgbClr val="14141A"/>
          </a:solidFill>
          <a:ln/>
        </p:spPr>
      </p:sp>
      <p:sp>
        <p:nvSpPr>
          <p:cNvPr id="14" name="Shape 12"/>
          <p:cNvSpPr/>
          <p:nvPr/>
        </p:nvSpPr>
        <p:spPr>
          <a:xfrm>
            <a:off x="9859975" y="310896"/>
            <a:ext cx="1783080" cy="292608"/>
          </a:xfrm>
          <a:prstGeom prst="roundRect">
            <a:avLst>
              <a:gd name="adj" fmla="val 50000"/>
            </a:avLst>
          </a:prstGeom>
          <a:solidFill>
            <a:srgbClr val="2A2412"/>
          </a:solidFill>
          <a:ln w="9525">
            <a:solidFill>
              <a:srgbClr val="4A3D18"/>
            </a:solidFill>
            <a:prstDash val="solid"/>
          </a:ln>
        </p:spPr>
      </p:sp>
      <p:sp>
        <p:nvSpPr>
          <p:cNvPr id="15" name="Text 13"/>
          <p:cNvSpPr/>
          <p:nvPr/>
        </p:nvSpPr>
        <p:spPr>
          <a:xfrm>
            <a:off x="9859975" y="301752"/>
            <a:ext cx="1783080" cy="310896"/>
          </a:xfrm>
          <a:prstGeom prst="rect">
            <a:avLst/>
          </a:prstGeom>
          <a:noFill/>
          <a:ln/>
        </p:spPr>
        <p:txBody>
          <a:bodyPr wrap="square" lIns="0" tIns="0" rIns="0" bIns="0" rtlCol="0" anchor="ctr"/>
          <a:lstStyle/>
          <a:p>
            <a:pPr algn="ctr" indent="0" marL="0">
              <a:buNone/>
            </a:pPr>
            <a:r>
              <a:rPr lang="en-US" sz="800" b="1" spc="120" kern="0" dirty="0">
                <a:solidFill>
                  <a:srgbClr val="FFC62A"/>
                </a:solidFill>
                <a:latin typeface="Bahnschrift" pitchFamily="34" charset="0"/>
                <a:ea typeface="Bahnschrift" pitchFamily="34" charset="-122"/>
                <a:cs typeface="Bahnschrift" pitchFamily="34" charset="-120"/>
              </a:rPr>
              <a:t>VERIFIED · FROM SOURCE CODE</a:t>
            </a:r>
            <a:endParaRPr lang="en-US" sz="800" dirty="0"/>
          </a:p>
        </p:txBody>
      </p:sp>
      <p:sp>
        <p:nvSpPr>
          <p:cNvPr id="16" name="Text 14"/>
          <p:cNvSpPr/>
          <p:nvPr/>
        </p:nvSpPr>
        <p:spPr>
          <a:xfrm>
            <a:off x="566928" y="384048"/>
            <a:ext cx="8229600" cy="274320"/>
          </a:xfrm>
          <a:prstGeom prst="rect">
            <a:avLst/>
          </a:prstGeom>
          <a:noFill/>
          <a:ln/>
        </p:spPr>
        <p:txBody>
          <a:bodyPr wrap="square" lIns="0" tIns="0" rIns="0" bIns="0" rtlCol="0" anchor="ctr"/>
          <a:lstStyle/>
          <a:p>
            <a:pPr indent="0" marL="0">
              <a:buNone/>
            </a:pPr>
            <a:r>
              <a:rPr lang="en-US" sz="1100" b="1" spc="300" kern="0" dirty="0">
                <a:solidFill>
                  <a:srgbClr val="FFC62A"/>
                </a:solidFill>
                <a:latin typeface="Bahnschrift" pitchFamily="34" charset="0"/>
                <a:ea typeface="Bahnschrift" pitchFamily="34" charset="-122"/>
                <a:cs typeface="Bahnschrift" pitchFamily="34" charset="-120"/>
              </a:rPr>
              <a:t>08 · TECHNOLOGY STACK</a:t>
            </a:r>
            <a:endParaRPr lang="en-US" sz="1100" dirty="0"/>
          </a:p>
        </p:txBody>
      </p:sp>
      <p:sp>
        <p:nvSpPr>
          <p:cNvPr id="17" name="Shape 15"/>
          <p:cNvSpPr/>
          <p:nvPr/>
        </p:nvSpPr>
        <p:spPr>
          <a:xfrm>
            <a:off x="566928" y="713232"/>
            <a:ext cx="384048" cy="45720"/>
          </a:xfrm>
          <a:prstGeom prst="rect">
            <a:avLst/>
          </a:prstGeom>
          <a:solidFill>
            <a:srgbClr val="FFC62A"/>
          </a:solidFill>
          <a:ln/>
        </p:spPr>
      </p:sp>
      <p:sp>
        <p:nvSpPr>
          <p:cNvPr id="18" name="Text 16"/>
          <p:cNvSpPr/>
          <p:nvPr/>
        </p:nvSpPr>
        <p:spPr>
          <a:xfrm>
            <a:off x="548640" y="841248"/>
            <a:ext cx="11064240" cy="566928"/>
          </a:xfrm>
          <a:prstGeom prst="rect">
            <a:avLst/>
          </a:prstGeom>
          <a:noFill/>
          <a:ln/>
        </p:spPr>
        <p:txBody>
          <a:bodyPr wrap="square" lIns="0" tIns="0" rIns="0" bIns="0" rtlCol="0" anchor="ctr"/>
          <a:lstStyle/>
          <a:p>
            <a:pPr indent="0" marL="0">
              <a:buNone/>
            </a:pPr>
            <a:r>
              <a:rPr lang="en-US" sz="2700" b="1" dirty="0">
                <a:solidFill>
                  <a:srgbClr val="F5F2EA"/>
                </a:solidFill>
                <a:latin typeface="Bahnschrift" pitchFamily="34" charset="0"/>
                <a:ea typeface="Bahnschrift" pitchFamily="34" charset="-122"/>
                <a:cs typeface="Bahnschrift" pitchFamily="34" charset="-120"/>
              </a:rPr>
              <a:t>Technologies used — every entry verified from package.json</a:t>
            </a:r>
            <a:endParaRPr lang="en-US" sz="2700" dirty="0"/>
          </a:p>
        </p:txBody>
      </p:sp>
      <p:sp>
        <p:nvSpPr>
          <p:cNvPr id="19" name="Text 17"/>
          <p:cNvSpPr/>
          <p:nvPr/>
        </p:nvSpPr>
        <p:spPr>
          <a:xfrm>
            <a:off x="566928" y="1389888"/>
            <a:ext cx="11064240" cy="274320"/>
          </a:xfrm>
          <a:prstGeom prst="rect">
            <a:avLst/>
          </a:prstGeom>
          <a:noFill/>
          <a:ln/>
        </p:spPr>
        <p:txBody>
          <a:bodyPr wrap="square" lIns="0" tIns="0" rIns="0" bIns="0" rtlCol="0" anchor="ctr"/>
          <a:lstStyle/>
          <a:p>
            <a:pPr indent="0" marL="0">
              <a:buNone/>
            </a:pPr>
            <a:r>
              <a:rPr lang="en-US" sz="1250" dirty="0">
                <a:solidFill>
                  <a:srgbClr val="9A97A6"/>
                </a:solidFill>
                <a:latin typeface="Segoe UI" pitchFamily="34" charset="0"/>
                <a:ea typeface="Segoe UI" pitchFamily="34" charset="-122"/>
                <a:cs typeface="Segoe UI" pitchFamily="34" charset="-120"/>
              </a:rPr>
              <a:t>Versions as locked in the repository.</a:t>
            </a:r>
            <a:endParaRPr lang="en-US" sz="1250" dirty="0"/>
          </a:p>
        </p:txBody>
      </p:sp>
      <p:sp>
        <p:nvSpPr>
          <p:cNvPr id="20" name="Text 18"/>
          <p:cNvSpPr/>
          <p:nvPr/>
        </p:nvSpPr>
        <p:spPr>
          <a:xfrm>
            <a:off x="566928" y="6492240"/>
            <a:ext cx="2743200" cy="256032"/>
          </a:xfrm>
          <a:prstGeom prst="rect">
            <a:avLst/>
          </a:prstGeom>
          <a:noFill/>
          <a:ln/>
        </p:spPr>
        <p:txBody>
          <a:bodyPr wrap="square" lIns="0" tIns="0" rIns="0" bIns="0" rtlCol="0" anchor="ctr"/>
          <a:lstStyle/>
          <a:p>
            <a:pPr indent="0" marL="0">
              <a:buNone/>
            </a:pPr>
            <a:r>
              <a:rPr lang="en-US" sz="850" b="1" spc="300" kern="0" dirty="0">
                <a:solidFill>
                  <a:srgbClr val="5C5966"/>
                </a:solidFill>
                <a:latin typeface="Bahnschrift" pitchFamily="34" charset="0"/>
                <a:ea typeface="Bahnschrift" pitchFamily="34" charset="-122"/>
                <a:cs typeface="Bahnschrift" pitchFamily="34" charset="-120"/>
              </a:rPr>
              <a:t>CHESSFORK</a:t>
            </a:r>
            <a:endParaRPr lang="en-US" sz="850" dirty="0"/>
          </a:p>
        </p:txBody>
      </p:sp>
      <p:sp>
        <p:nvSpPr>
          <p:cNvPr id="21" name="Text 19"/>
          <p:cNvSpPr/>
          <p:nvPr/>
        </p:nvSpPr>
        <p:spPr>
          <a:xfrm>
            <a:off x="3840480" y="6492240"/>
            <a:ext cx="4572000" cy="256032"/>
          </a:xfrm>
          <a:prstGeom prst="rect">
            <a:avLst/>
          </a:prstGeom>
          <a:noFill/>
          <a:ln/>
        </p:spPr>
        <p:txBody>
          <a:bodyPr wrap="square" lIns="0" tIns="0" rIns="0" bIns="0" rtlCol="0" anchor="ctr"/>
          <a:lstStyle/>
          <a:p>
            <a:pPr indent="0" marL="0">
              <a:buNone/>
            </a:pPr>
            <a:r>
              <a:rPr lang="en-US" sz="800" spc="150" kern="0" dirty="0">
                <a:solidFill>
                  <a:srgbClr val="5C5966"/>
                </a:solidFill>
                <a:latin typeface="Segoe UI" pitchFamily="34" charset="0"/>
                <a:ea typeface="Segoe UI" pitchFamily="34" charset="-122"/>
                <a:cs typeface="Segoe UI" pitchFamily="34" charset="-120"/>
              </a:rPr>
              <a:t>BCA FINAL YEAR PROJECT · 2026</a:t>
            </a:r>
            <a:endParaRPr lang="en-US" sz="800" dirty="0"/>
          </a:p>
        </p:txBody>
      </p:sp>
      <p:sp>
        <p:nvSpPr>
          <p:cNvPr id="22" name="Text 20"/>
          <p:cNvSpPr/>
          <p:nvPr/>
        </p:nvSpPr>
        <p:spPr>
          <a:xfrm>
            <a:off x="11292840" y="6473952"/>
            <a:ext cx="365760" cy="274320"/>
          </a:xfrm>
          <a:prstGeom prst="rect">
            <a:avLst/>
          </a:prstGeom>
          <a:noFill/>
          <a:ln/>
        </p:spPr>
        <p:txBody>
          <a:bodyPr wrap="square" lIns="0" tIns="0" rIns="0" bIns="0" rtlCol="0" anchor="ctr"/>
          <a:lstStyle/>
          <a:p>
            <a:pPr algn="r" indent="0" marL="0">
              <a:buNone/>
            </a:pPr>
            <a:r>
              <a:rPr lang="en-US" sz="900" b="1" dirty="0">
                <a:solidFill>
                  <a:srgbClr val="5C5966"/>
                </a:solidFill>
                <a:latin typeface="Bahnschrift" pitchFamily="34" charset="0"/>
                <a:ea typeface="Bahnschrift" pitchFamily="34" charset="-122"/>
                <a:cs typeface="Bahnschrift" pitchFamily="34" charset="-120"/>
              </a:rPr>
              <a:t>09</a:t>
            </a:r>
            <a:endParaRPr lang="en-US" sz="9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66928" y="1783080"/>
          <a:ext cx="11064240" cy="914400"/>
        </p:xfrm>
        <a:graphic>
          <a:graphicData uri="http://schemas.openxmlformats.org/drawingml/2006/table">
            <a:tbl>
              <a:tblPr/>
              <a:tblGrid>
                <a:gridCol w="2377440"/>
                <a:gridCol w="8686800"/>
              </a:tblGrid>
              <a:tr h="365760">
                <a:tc>
                  <a:txBody>
                    <a:bodyPr/>
                    <a:lstStyle/>
                    <a:p>
                      <a:pPr algn="l" indent="0" marL="0">
                        <a:buNone/>
                      </a:pPr>
                      <a:r>
                        <a:rPr lang="en-US" sz="1150" b="1" spc="100" kern="0" dirty="0">
                          <a:solidFill>
                            <a:srgbClr val="FFC62A"/>
                          </a:solidFill>
                          <a:latin typeface="Bahnschrift" pitchFamily="34" charset="0"/>
                          <a:ea typeface="Bahnschrift" pitchFamily="34" charset="-122"/>
                          <a:cs typeface="Bahnschrift" pitchFamily="34" charset="-120"/>
                        </a:rPr>
                        <a:t>Layer</a:t>
                      </a:r>
                      <a:endParaRPr lang="en-US" sz="1150" dirty="0">
                        <a:latin typeface="Bahnschrift" charset="0"/>
                        <a:ea typeface="Bahnschrift" charset="0"/>
                        <a:cs typeface="Bahnschrift" charset="0"/>
                      </a:endParaRPr>
                    </a:p>
                  </a:txBody>
                  <a:tcPr marL="36576" marR="36576" marT="36576" marB="36576" anchor="ctr">
                    <a:lnL w="6350" cap="flat" cmpd="sng" algn="ctr">
                      <a:solidFill>
                        <a:srgbClr val="26262F"/>
                      </a:solidFill>
                      <a:prstDash val="solid"/>
                      <a:round/>
                      <a:headEnd type="none" w="med" len="med"/>
                      <a:tailEnd type="none" w="med" len="med"/>
                    </a:lnL>
                    <a:lnR w="6350" cap="flat" cmpd="sng" algn="ctr">
                      <a:solidFill>
                        <a:srgbClr val="26262F"/>
                      </a:solidFill>
                      <a:prstDash val="solid"/>
                      <a:round/>
                      <a:headEnd type="none" w="med" len="med"/>
                      <a:tailEnd type="none" w="med" len="med"/>
                    </a:lnR>
                    <a:lnT w="6350" cap="flat" cmpd="sng" algn="ctr">
                      <a:solidFill>
                        <a:srgbClr val="26262F"/>
                      </a:solidFill>
                      <a:prstDash val="solid"/>
                      <a:round/>
                      <a:headEnd type="none" w="med" len="med"/>
                      <a:tailEnd type="none" w="med" len="med"/>
                    </a:lnT>
                    <a:lnB w="6350" cap="flat" cmpd="sng" algn="ctr">
                      <a:solidFill>
                        <a:srgbClr val="26262F"/>
                      </a:solidFill>
                      <a:prstDash val="solid"/>
                      <a:round/>
                      <a:headEnd type="none" w="med" len="med"/>
                      <a:tailEnd type="none" w="med" len="med"/>
                    </a:lnB>
                    <a:solidFill>
                      <a:srgbClr val="1E1E26"/>
                    </a:solidFill>
                  </a:tcPr>
                </a:tc>
                <a:tc>
                  <a:txBody>
                    <a:bodyPr/>
                    <a:lstStyle/>
                    <a:p>
                      <a:pPr algn="l" indent="0" marL="0">
                        <a:buNone/>
                      </a:pPr>
                      <a:r>
                        <a:rPr lang="en-US" sz="1150" b="1" spc="100" kern="0" dirty="0">
                          <a:solidFill>
                            <a:srgbClr val="FFC62A"/>
                          </a:solidFill>
                          <a:latin typeface="Bahnschrift" pitchFamily="34" charset="0"/>
                          <a:ea typeface="Bahnschrift" pitchFamily="34" charset="-122"/>
                          <a:cs typeface="Bahnschrift" pitchFamily="34" charset="-120"/>
                        </a:rPr>
                        <a:t>Technology</a:t>
                      </a:r>
                      <a:endParaRPr lang="en-US" sz="1150" dirty="0">
                        <a:latin typeface="Bahnschrift" charset="0"/>
                        <a:ea typeface="Bahnschrift" charset="0"/>
                        <a:cs typeface="Bahnschrift" charset="0"/>
                      </a:endParaRPr>
                    </a:p>
                  </a:txBody>
                  <a:tcPr marL="36576" marR="36576" marT="36576" marB="36576" anchor="ctr">
                    <a:lnL w="6350" cap="flat" cmpd="sng" algn="ctr">
                      <a:solidFill>
                        <a:srgbClr val="26262F"/>
                      </a:solidFill>
                      <a:prstDash val="solid"/>
                      <a:round/>
                      <a:headEnd type="none" w="med" len="med"/>
                      <a:tailEnd type="none" w="med" len="med"/>
                    </a:lnL>
                    <a:lnR w="6350" cap="flat" cmpd="sng" algn="ctr">
                      <a:solidFill>
                        <a:srgbClr val="26262F"/>
                      </a:solidFill>
                      <a:prstDash val="solid"/>
                      <a:round/>
                      <a:headEnd type="none" w="med" len="med"/>
                      <a:tailEnd type="none" w="med" len="med"/>
                    </a:lnR>
                    <a:lnT w="6350" cap="flat" cmpd="sng" algn="ctr">
                      <a:solidFill>
                        <a:srgbClr val="26262F"/>
                      </a:solidFill>
                      <a:prstDash val="solid"/>
                      <a:round/>
                      <a:headEnd type="none" w="med" len="med"/>
                      <a:tailEnd type="none" w="med" len="med"/>
                    </a:lnT>
                    <a:lnB w="6350" cap="flat" cmpd="sng" algn="ctr">
                      <a:solidFill>
                        <a:srgbClr val="26262F"/>
                      </a:solidFill>
                      <a:prstDash val="solid"/>
                      <a:round/>
                      <a:headEnd type="none" w="med" len="med"/>
                      <a:tailEnd type="none" w="med" len="med"/>
                    </a:lnB>
                    <a:solidFill>
                      <a:srgbClr val="1E1E26"/>
                    </a:solidFill>
                  </a:tcPr>
                </a:tc>
              </a:tr>
              <a:tr h="365760">
                <a:tc>
                  <a:txBody>
                    <a:bodyPr/>
                    <a:lstStyle/>
                    <a:p>
                      <a:pPr algn="l" indent="0" marL="0">
                        <a:buNone/>
                      </a:pPr>
                      <a:r>
                        <a:rPr lang="en-US" sz="1050" dirty="0">
                          <a:solidFill>
                            <a:srgbClr val="F5F2EA"/>
                          </a:solidFill>
                          <a:latin typeface="Segoe UI" pitchFamily="34" charset="0"/>
                          <a:ea typeface="Segoe UI" pitchFamily="34" charset="-122"/>
                          <a:cs typeface="Segoe UI" pitchFamily="34" charset="-120"/>
                        </a:rPr>
                        <a:t>Frontend</a:t>
                      </a:r>
                      <a:endParaRPr lang="en-US" sz="1050" dirty="0">
                        <a:latin typeface="Segoe UI" charset="0"/>
                        <a:ea typeface="Segoe UI" charset="0"/>
                        <a:cs typeface="Segoe UI" charset="0"/>
                      </a:endParaRPr>
                    </a:p>
                  </a:txBody>
                  <a:tcPr marL="36576" marR="36576" marT="36576" marB="36576" anchor="ctr">
                    <a:lnL w="6350" cap="flat" cmpd="sng" algn="ctr">
                      <a:solidFill>
                        <a:srgbClr val="26262F"/>
                      </a:solidFill>
                      <a:prstDash val="solid"/>
                      <a:round/>
                      <a:headEnd type="none" w="med" len="med"/>
                      <a:tailEnd type="none" w="med" len="med"/>
                    </a:lnL>
                    <a:lnR w="6350" cap="flat" cmpd="sng" algn="ctr">
                      <a:solidFill>
                        <a:srgbClr val="26262F"/>
                      </a:solidFill>
                      <a:prstDash val="solid"/>
                      <a:round/>
                      <a:headEnd type="none" w="med" len="med"/>
                      <a:tailEnd type="none" w="med" len="med"/>
                    </a:lnR>
                    <a:lnT w="6350" cap="flat" cmpd="sng" algn="ctr">
                      <a:solidFill>
                        <a:srgbClr val="26262F"/>
                      </a:solidFill>
                      <a:prstDash val="solid"/>
                      <a:round/>
                      <a:headEnd type="none" w="med" len="med"/>
                      <a:tailEnd type="none" w="med" len="med"/>
                    </a:lnT>
                    <a:lnB w="6350" cap="flat" cmpd="sng" algn="ctr">
                      <a:solidFill>
                        <a:srgbClr val="26262F"/>
                      </a:solidFill>
                      <a:prstDash val="solid"/>
                      <a:round/>
                      <a:headEnd type="none" w="med" len="med"/>
                      <a:tailEnd type="none" w="med" len="med"/>
                    </a:lnB>
                    <a:solidFill>
                      <a:srgbClr val="15151B"/>
                    </a:solidFill>
                  </a:tcPr>
                </a:tc>
                <a:tc>
                  <a:txBody>
                    <a:bodyPr/>
                    <a:lstStyle/>
                    <a:p>
                      <a:pPr algn="l" indent="0" marL="0">
                        <a:buNone/>
                      </a:pPr>
                      <a:r>
                        <a:rPr lang="en-US" sz="1050" dirty="0">
                          <a:solidFill>
                            <a:srgbClr val="F5F2EA"/>
                          </a:solidFill>
                          <a:latin typeface="Segoe UI" pitchFamily="34" charset="0"/>
                          <a:ea typeface="Segoe UI" pitchFamily="34" charset="-122"/>
                          <a:cs typeface="Segoe UI" pitchFamily="34" charset="-120"/>
                        </a:rPr>
                        <a:t>Next.js 16 · React 19 · TypeScript · Tailwind CSS v4 · react-chessboard</a:t>
                      </a:r>
                      <a:endParaRPr lang="en-US" sz="1050" dirty="0">
                        <a:latin typeface="Segoe UI" charset="0"/>
                        <a:ea typeface="Segoe UI" charset="0"/>
                        <a:cs typeface="Segoe UI" charset="0"/>
                      </a:endParaRPr>
                    </a:p>
                  </a:txBody>
                  <a:tcPr marL="36576" marR="36576" marT="36576" marB="36576" anchor="ctr">
                    <a:lnL w="6350" cap="flat" cmpd="sng" algn="ctr">
                      <a:solidFill>
                        <a:srgbClr val="26262F"/>
                      </a:solidFill>
                      <a:prstDash val="solid"/>
                      <a:round/>
                      <a:headEnd type="none" w="med" len="med"/>
                      <a:tailEnd type="none" w="med" len="med"/>
                    </a:lnL>
                    <a:lnR w="6350" cap="flat" cmpd="sng" algn="ctr">
                      <a:solidFill>
                        <a:srgbClr val="26262F"/>
                      </a:solidFill>
                      <a:prstDash val="solid"/>
                      <a:round/>
                      <a:headEnd type="none" w="med" len="med"/>
                      <a:tailEnd type="none" w="med" len="med"/>
                    </a:lnR>
                    <a:lnT w="6350" cap="flat" cmpd="sng" algn="ctr">
                      <a:solidFill>
                        <a:srgbClr val="26262F"/>
                      </a:solidFill>
                      <a:prstDash val="solid"/>
                      <a:round/>
                      <a:headEnd type="none" w="med" len="med"/>
                      <a:tailEnd type="none" w="med" len="med"/>
                    </a:lnT>
                    <a:lnB w="6350" cap="flat" cmpd="sng" algn="ctr">
                      <a:solidFill>
                        <a:srgbClr val="26262F"/>
                      </a:solidFill>
                      <a:prstDash val="solid"/>
                      <a:round/>
                      <a:headEnd type="none" w="med" len="med"/>
                      <a:tailEnd type="none" w="med" len="med"/>
                    </a:lnB>
                    <a:solidFill>
                      <a:srgbClr val="17171F"/>
                    </a:solidFill>
                  </a:tcPr>
                </a:tc>
              </a:tr>
              <a:tr h="365760">
                <a:tc>
                  <a:txBody>
                    <a:bodyPr/>
                    <a:lstStyle/>
                    <a:p>
                      <a:pPr algn="l" indent="0" marL="0">
                        <a:buNone/>
                      </a:pPr>
                      <a:r>
                        <a:rPr lang="en-US" sz="1050" dirty="0">
                          <a:solidFill>
                            <a:srgbClr val="F5F2EA"/>
                          </a:solidFill>
                          <a:latin typeface="Segoe UI" pitchFamily="34" charset="0"/>
                          <a:ea typeface="Segoe UI" pitchFamily="34" charset="-122"/>
                          <a:cs typeface="Segoe UI" pitchFamily="34" charset="-120"/>
                        </a:rPr>
                        <a:t>Backend</a:t>
                      </a:r>
                      <a:endParaRPr lang="en-US" sz="1050" dirty="0">
                        <a:latin typeface="Segoe UI" charset="0"/>
                        <a:ea typeface="Segoe UI" charset="0"/>
                        <a:cs typeface="Segoe UI" charset="0"/>
                      </a:endParaRPr>
                    </a:p>
                  </a:txBody>
                  <a:tcPr marL="36576" marR="36576" marT="36576" marB="36576" anchor="ctr">
                    <a:lnL w="6350" cap="flat" cmpd="sng" algn="ctr">
                      <a:solidFill>
                        <a:srgbClr val="26262F"/>
                      </a:solidFill>
                      <a:prstDash val="solid"/>
                      <a:round/>
                      <a:headEnd type="none" w="med" len="med"/>
                      <a:tailEnd type="none" w="med" len="med"/>
                    </a:lnL>
                    <a:lnR w="6350" cap="flat" cmpd="sng" algn="ctr">
                      <a:solidFill>
                        <a:srgbClr val="26262F"/>
                      </a:solidFill>
                      <a:prstDash val="solid"/>
                      <a:round/>
                      <a:headEnd type="none" w="med" len="med"/>
                      <a:tailEnd type="none" w="med" len="med"/>
                    </a:lnR>
                    <a:lnT w="6350" cap="flat" cmpd="sng" algn="ctr">
                      <a:solidFill>
                        <a:srgbClr val="26262F"/>
                      </a:solidFill>
                      <a:prstDash val="solid"/>
                      <a:round/>
                      <a:headEnd type="none" w="med" len="med"/>
                      <a:tailEnd type="none" w="med" len="med"/>
                    </a:lnT>
                    <a:lnB w="6350" cap="flat" cmpd="sng" algn="ctr">
                      <a:solidFill>
                        <a:srgbClr val="26262F"/>
                      </a:solidFill>
                      <a:prstDash val="solid"/>
                      <a:round/>
                      <a:headEnd type="none" w="med" len="med"/>
                      <a:tailEnd type="none" w="med" len="med"/>
                    </a:lnB>
                    <a:solidFill>
                      <a:srgbClr val="15151B"/>
                    </a:solidFill>
                  </a:tcPr>
                </a:tc>
                <a:tc>
                  <a:txBody>
                    <a:bodyPr/>
                    <a:lstStyle/>
                    <a:p>
                      <a:pPr algn="l" indent="0" marL="0">
                        <a:buNone/>
                      </a:pPr>
                      <a:r>
                        <a:rPr lang="en-US" sz="1050" dirty="0">
                          <a:solidFill>
                            <a:srgbClr val="F5F2EA"/>
                          </a:solidFill>
                          <a:latin typeface="Segoe UI" pitchFamily="34" charset="0"/>
                          <a:ea typeface="Segoe UI" pitchFamily="34" charset="-122"/>
                          <a:cs typeface="Segoe UI" pitchFamily="34" charset="-120"/>
                        </a:rPr>
                        <a:t>Next.js API Routes · BullMQ + Redis queue · Node worker (tsx)</a:t>
                      </a:r>
                      <a:endParaRPr lang="en-US" sz="1050" dirty="0">
                        <a:latin typeface="Segoe UI" charset="0"/>
                        <a:ea typeface="Segoe UI" charset="0"/>
                        <a:cs typeface="Segoe UI" charset="0"/>
                      </a:endParaRPr>
                    </a:p>
                  </a:txBody>
                  <a:tcPr marL="36576" marR="36576" marT="36576" marB="36576" anchor="ctr">
                    <a:lnL w="6350" cap="flat" cmpd="sng" algn="ctr">
                      <a:solidFill>
                        <a:srgbClr val="26262F"/>
                      </a:solidFill>
                      <a:prstDash val="solid"/>
                      <a:round/>
                      <a:headEnd type="none" w="med" len="med"/>
                      <a:tailEnd type="none" w="med" len="med"/>
                    </a:lnL>
                    <a:lnR w="6350" cap="flat" cmpd="sng" algn="ctr">
                      <a:solidFill>
                        <a:srgbClr val="26262F"/>
                      </a:solidFill>
                      <a:prstDash val="solid"/>
                      <a:round/>
                      <a:headEnd type="none" w="med" len="med"/>
                      <a:tailEnd type="none" w="med" len="med"/>
                    </a:lnR>
                    <a:lnT w="6350" cap="flat" cmpd="sng" algn="ctr">
                      <a:solidFill>
                        <a:srgbClr val="26262F"/>
                      </a:solidFill>
                      <a:prstDash val="solid"/>
                      <a:round/>
                      <a:headEnd type="none" w="med" len="med"/>
                      <a:tailEnd type="none" w="med" len="med"/>
                    </a:lnT>
                    <a:lnB w="6350" cap="flat" cmpd="sng" algn="ctr">
                      <a:solidFill>
                        <a:srgbClr val="26262F"/>
                      </a:solidFill>
                      <a:prstDash val="solid"/>
                      <a:round/>
                      <a:headEnd type="none" w="med" len="med"/>
                      <a:tailEnd type="none" w="med" len="med"/>
                    </a:lnB>
                    <a:solidFill>
                      <a:srgbClr val="17171F"/>
                    </a:solidFill>
                  </a:tcPr>
                </a:tc>
              </a:tr>
              <a:tr h="365760">
                <a:tc>
                  <a:txBody>
                    <a:bodyPr/>
                    <a:lstStyle/>
                    <a:p>
                      <a:pPr algn="l" indent="0" marL="0">
                        <a:buNone/>
                      </a:pPr>
                      <a:r>
                        <a:rPr lang="en-US" sz="1050" dirty="0">
                          <a:solidFill>
                            <a:srgbClr val="F5F2EA"/>
                          </a:solidFill>
                          <a:latin typeface="Segoe UI" pitchFamily="34" charset="0"/>
                          <a:ea typeface="Segoe UI" pitchFamily="34" charset="-122"/>
                          <a:cs typeface="Segoe UI" pitchFamily="34" charset="-120"/>
                        </a:rPr>
                        <a:t>Database</a:t>
                      </a:r>
                      <a:endParaRPr lang="en-US" sz="1050" dirty="0">
                        <a:latin typeface="Segoe UI" charset="0"/>
                        <a:ea typeface="Segoe UI" charset="0"/>
                        <a:cs typeface="Segoe UI" charset="0"/>
                      </a:endParaRPr>
                    </a:p>
                  </a:txBody>
                  <a:tcPr marL="36576" marR="36576" marT="36576" marB="36576" anchor="ctr">
                    <a:lnL w="6350" cap="flat" cmpd="sng" algn="ctr">
                      <a:solidFill>
                        <a:srgbClr val="26262F"/>
                      </a:solidFill>
                      <a:prstDash val="solid"/>
                      <a:round/>
                      <a:headEnd type="none" w="med" len="med"/>
                      <a:tailEnd type="none" w="med" len="med"/>
                    </a:lnL>
                    <a:lnR w="6350" cap="flat" cmpd="sng" algn="ctr">
                      <a:solidFill>
                        <a:srgbClr val="26262F"/>
                      </a:solidFill>
                      <a:prstDash val="solid"/>
                      <a:round/>
                      <a:headEnd type="none" w="med" len="med"/>
                      <a:tailEnd type="none" w="med" len="med"/>
                    </a:lnR>
                    <a:lnT w="6350" cap="flat" cmpd="sng" algn="ctr">
                      <a:solidFill>
                        <a:srgbClr val="26262F"/>
                      </a:solidFill>
                      <a:prstDash val="solid"/>
                      <a:round/>
                      <a:headEnd type="none" w="med" len="med"/>
                      <a:tailEnd type="none" w="med" len="med"/>
                    </a:lnT>
                    <a:lnB w="6350" cap="flat" cmpd="sng" algn="ctr">
                      <a:solidFill>
                        <a:srgbClr val="26262F"/>
                      </a:solidFill>
                      <a:prstDash val="solid"/>
                      <a:round/>
                      <a:headEnd type="none" w="med" len="med"/>
                      <a:tailEnd type="none" w="med" len="med"/>
                    </a:lnB>
                    <a:solidFill>
                      <a:srgbClr val="15151B"/>
                    </a:solidFill>
                  </a:tcPr>
                </a:tc>
                <a:tc>
                  <a:txBody>
                    <a:bodyPr/>
                    <a:lstStyle/>
                    <a:p>
                      <a:pPr algn="l" indent="0" marL="0">
                        <a:buNone/>
                      </a:pPr>
                      <a:r>
                        <a:rPr lang="en-US" sz="1050" dirty="0">
                          <a:solidFill>
                            <a:srgbClr val="F5F2EA"/>
                          </a:solidFill>
                          <a:latin typeface="Segoe UI" pitchFamily="34" charset="0"/>
                          <a:ea typeface="Segoe UI" pitchFamily="34" charset="-122"/>
                          <a:cs typeface="Segoe UI" pitchFamily="34" charset="-120"/>
                        </a:rPr>
                        <a:t>PostgreSQL 16 (Docker) · Drizzle ORM · optional MongoDB user store</a:t>
                      </a:r>
                      <a:endParaRPr lang="en-US" sz="1050" dirty="0">
                        <a:latin typeface="Segoe UI" charset="0"/>
                        <a:ea typeface="Segoe UI" charset="0"/>
                        <a:cs typeface="Segoe UI" charset="0"/>
                      </a:endParaRPr>
                    </a:p>
                  </a:txBody>
                  <a:tcPr marL="36576" marR="36576" marT="36576" marB="36576" anchor="ctr">
                    <a:lnL w="6350" cap="flat" cmpd="sng" algn="ctr">
                      <a:solidFill>
                        <a:srgbClr val="26262F"/>
                      </a:solidFill>
                      <a:prstDash val="solid"/>
                      <a:round/>
                      <a:headEnd type="none" w="med" len="med"/>
                      <a:tailEnd type="none" w="med" len="med"/>
                    </a:lnL>
                    <a:lnR w="6350" cap="flat" cmpd="sng" algn="ctr">
                      <a:solidFill>
                        <a:srgbClr val="26262F"/>
                      </a:solidFill>
                      <a:prstDash val="solid"/>
                      <a:round/>
                      <a:headEnd type="none" w="med" len="med"/>
                      <a:tailEnd type="none" w="med" len="med"/>
                    </a:lnR>
                    <a:lnT w="6350" cap="flat" cmpd="sng" algn="ctr">
                      <a:solidFill>
                        <a:srgbClr val="26262F"/>
                      </a:solidFill>
                      <a:prstDash val="solid"/>
                      <a:round/>
                      <a:headEnd type="none" w="med" len="med"/>
                      <a:tailEnd type="none" w="med" len="med"/>
                    </a:lnT>
                    <a:lnB w="6350" cap="flat" cmpd="sng" algn="ctr">
                      <a:solidFill>
                        <a:srgbClr val="26262F"/>
                      </a:solidFill>
                      <a:prstDash val="solid"/>
                      <a:round/>
                      <a:headEnd type="none" w="med" len="med"/>
                      <a:tailEnd type="none" w="med" len="med"/>
                    </a:lnB>
                    <a:solidFill>
                      <a:srgbClr val="17171F"/>
                    </a:solidFill>
                  </a:tcPr>
                </a:tc>
              </a:tr>
              <a:tr h="365760">
                <a:tc>
                  <a:txBody>
                    <a:bodyPr/>
                    <a:lstStyle/>
                    <a:p>
                      <a:pPr algn="l" indent="0" marL="0">
                        <a:buNone/>
                      </a:pPr>
                      <a:r>
                        <a:rPr lang="en-US" sz="1050" dirty="0">
                          <a:solidFill>
                            <a:srgbClr val="F5F2EA"/>
                          </a:solidFill>
                          <a:latin typeface="Segoe UI" pitchFamily="34" charset="0"/>
                          <a:ea typeface="Segoe UI" pitchFamily="34" charset="-122"/>
                          <a:cs typeface="Segoe UI" pitchFamily="34" charset="-120"/>
                        </a:rPr>
                        <a:t>Engine</a:t>
                      </a:r>
                      <a:endParaRPr lang="en-US" sz="1050" dirty="0">
                        <a:latin typeface="Segoe UI" charset="0"/>
                        <a:ea typeface="Segoe UI" charset="0"/>
                        <a:cs typeface="Segoe UI" charset="0"/>
                      </a:endParaRPr>
                    </a:p>
                  </a:txBody>
                  <a:tcPr marL="36576" marR="36576" marT="36576" marB="36576" anchor="ctr">
                    <a:lnL w="6350" cap="flat" cmpd="sng" algn="ctr">
                      <a:solidFill>
                        <a:srgbClr val="26262F"/>
                      </a:solidFill>
                      <a:prstDash val="solid"/>
                      <a:round/>
                      <a:headEnd type="none" w="med" len="med"/>
                      <a:tailEnd type="none" w="med" len="med"/>
                    </a:lnL>
                    <a:lnR w="6350" cap="flat" cmpd="sng" algn="ctr">
                      <a:solidFill>
                        <a:srgbClr val="26262F"/>
                      </a:solidFill>
                      <a:prstDash val="solid"/>
                      <a:round/>
                      <a:headEnd type="none" w="med" len="med"/>
                      <a:tailEnd type="none" w="med" len="med"/>
                    </a:lnR>
                    <a:lnT w="6350" cap="flat" cmpd="sng" algn="ctr">
                      <a:solidFill>
                        <a:srgbClr val="26262F"/>
                      </a:solidFill>
                      <a:prstDash val="solid"/>
                      <a:round/>
                      <a:headEnd type="none" w="med" len="med"/>
                      <a:tailEnd type="none" w="med" len="med"/>
                    </a:lnT>
                    <a:lnB w="6350" cap="flat" cmpd="sng" algn="ctr">
                      <a:solidFill>
                        <a:srgbClr val="26262F"/>
                      </a:solidFill>
                      <a:prstDash val="solid"/>
                      <a:round/>
                      <a:headEnd type="none" w="med" len="med"/>
                      <a:tailEnd type="none" w="med" len="med"/>
                    </a:lnB>
                    <a:solidFill>
                      <a:srgbClr val="15151B"/>
                    </a:solidFill>
                  </a:tcPr>
                </a:tc>
                <a:tc>
                  <a:txBody>
                    <a:bodyPr/>
                    <a:lstStyle/>
                    <a:p>
                      <a:pPr algn="l" indent="0" marL="0">
                        <a:buNone/>
                      </a:pPr>
                      <a:r>
                        <a:rPr lang="en-US" sz="1050" dirty="0">
                          <a:solidFill>
                            <a:srgbClr val="F5F2EA"/>
                          </a:solidFill>
                          <a:latin typeface="Segoe UI" pitchFamily="34" charset="0"/>
                          <a:ea typeface="Segoe UI" pitchFamily="34" charset="-122"/>
                          <a:cs typeface="Segoe UI" pitchFamily="34" charset="-120"/>
                        </a:rPr>
                        <a:t>Stockfish 18 — server binary (UCI) + browser WASM worker</a:t>
                      </a:r>
                      <a:endParaRPr lang="en-US" sz="1050" dirty="0">
                        <a:latin typeface="Segoe UI" charset="0"/>
                        <a:ea typeface="Segoe UI" charset="0"/>
                        <a:cs typeface="Segoe UI" charset="0"/>
                      </a:endParaRPr>
                    </a:p>
                  </a:txBody>
                  <a:tcPr marL="36576" marR="36576" marT="36576" marB="36576" anchor="ctr">
                    <a:lnL w="6350" cap="flat" cmpd="sng" algn="ctr">
                      <a:solidFill>
                        <a:srgbClr val="26262F"/>
                      </a:solidFill>
                      <a:prstDash val="solid"/>
                      <a:round/>
                      <a:headEnd type="none" w="med" len="med"/>
                      <a:tailEnd type="none" w="med" len="med"/>
                    </a:lnL>
                    <a:lnR w="6350" cap="flat" cmpd="sng" algn="ctr">
                      <a:solidFill>
                        <a:srgbClr val="26262F"/>
                      </a:solidFill>
                      <a:prstDash val="solid"/>
                      <a:round/>
                      <a:headEnd type="none" w="med" len="med"/>
                      <a:tailEnd type="none" w="med" len="med"/>
                    </a:lnR>
                    <a:lnT w="6350" cap="flat" cmpd="sng" algn="ctr">
                      <a:solidFill>
                        <a:srgbClr val="26262F"/>
                      </a:solidFill>
                      <a:prstDash val="solid"/>
                      <a:round/>
                      <a:headEnd type="none" w="med" len="med"/>
                      <a:tailEnd type="none" w="med" len="med"/>
                    </a:lnT>
                    <a:lnB w="6350" cap="flat" cmpd="sng" algn="ctr">
                      <a:solidFill>
                        <a:srgbClr val="26262F"/>
                      </a:solidFill>
                      <a:prstDash val="solid"/>
                      <a:round/>
                      <a:headEnd type="none" w="med" len="med"/>
                      <a:tailEnd type="none" w="med" len="med"/>
                    </a:lnB>
                    <a:solidFill>
                      <a:srgbClr val="17171F"/>
                    </a:solidFill>
                  </a:tcPr>
                </a:tc>
              </a:tr>
              <a:tr h="365760">
                <a:tc>
                  <a:txBody>
                    <a:bodyPr/>
                    <a:lstStyle/>
                    <a:p>
                      <a:pPr algn="l" indent="0" marL="0">
                        <a:buNone/>
                      </a:pPr>
                      <a:r>
                        <a:rPr lang="en-US" sz="1050" dirty="0">
                          <a:solidFill>
                            <a:srgbClr val="F5F2EA"/>
                          </a:solidFill>
                          <a:latin typeface="Segoe UI" pitchFamily="34" charset="0"/>
                          <a:ea typeface="Segoe UI" pitchFamily="34" charset="-122"/>
                          <a:cs typeface="Segoe UI" pitchFamily="34" charset="-120"/>
                        </a:rPr>
                        <a:t>AI Layer</a:t>
                      </a:r>
                      <a:endParaRPr lang="en-US" sz="1050" dirty="0">
                        <a:latin typeface="Segoe UI" charset="0"/>
                        <a:ea typeface="Segoe UI" charset="0"/>
                        <a:cs typeface="Segoe UI" charset="0"/>
                      </a:endParaRPr>
                    </a:p>
                  </a:txBody>
                  <a:tcPr marL="36576" marR="36576" marT="36576" marB="36576" anchor="ctr">
                    <a:lnL w="6350" cap="flat" cmpd="sng" algn="ctr">
                      <a:solidFill>
                        <a:srgbClr val="26262F"/>
                      </a:solidFill>
                      <a:prstDash val="solid"/>
                      <a:round/>
                      <a:headEnd type="none" w="med" len="med"/>
                      <a:tailEnd type="none" w="med" len="med"/>
                    </a:lnL>
                    <a:lnR w="6350" cap="flat" cmpd="sng" algn="ctr">
                      <a:solidFill>
                        <a:srgbClr val="26262F"/>
                      </a:solidFill>
                      <a:prstDash val="solid"/>
                      <a:round/>
                      <a:headEnd type="none" w="med" len="med"/>
                      <a:tailEnd type="none" w="med" len="med"/>
                    </a:lnR>
                    <a:lnT w="6350" cap="flat" cmpd="sng" algn="ctr">
                      <a:solidFill>
                        <a:srgbClr val="26262F"/>
                      </a:solidFill>
                      <a:prstDash val="solid"/>
                      <a:round/>
                      <a:headEnd type="none" w="med" len="med"/>
                      <a:tailEnd type="none" w="med" len="med"/>
                    </a:lnT>
                    <a:lnB w="6350" cap="flat" cmpd="sng" algn="ctr">
                      <a:solidFill>
                        <a:srgbClr val="26262F"/>
                      </a:solidFill>
                      <a:prstDash val="solid"/>
                      <a:round/>
                      <a:headEnd type="none" w="med" len="med"/>
                      <a:tailEnd type="none" w="med" len="med"/>
                    </a:lnB>
                    <a:solidFill>
                      <a:srgbClr val="15151B"/>
                    </a:solidFill>
                  </a:tcPr>
                </a:tc>
                <a:tc>
                  <a:txBody>
                    <a:bodyPr/>
                    <a:lstStyle/>
                    <a:p>
                      <a:pPr algn="l" indent="0" marL="0">
                        <a:buNone/>
                      </a:pPr>
                      <a:r>
                        <a:rPr lang="en-US" sz="1050" dirty="0">
                          <a:solidFill>
                            <a:srgbClr val="F5F2EA"/>
                          </a:solidFill>
                          <a:latin typeface="Segoe UI" pitchFamily="34" charset="0"/>
                          <a:ea typeface="Segoe UI" pitchFamily="34" charset="-122"/>
                          <a:cs typeface="Segoe UI" pitchFamily="34" charset="-120"/>
                        </a:rPr>
                        <a:t>Anthropic Claude SDK · DeepSeek client · OpenRouter (deepseek-chat) · Groq</a:t>
                      </a:r>
                      <a:endParaRPr lang="en-US" sz="1050" dirty="0">
                        <a:latin typeface="Segoe UI" charset="0"/>
                        <a:ea typeface="Segoe UI" charset="0"/>
                        <a:cs typeface="Segoe UI" charset="0"/>
                      </a:endParaRPr>
                    </a:p>
                  </a:txBody>
                  <a:tcPr marL="36576" marR="36576" marT="36576" marB="36576" anchor="ctr">
                    <a:lnL w="6350" cap="flat" cmpd="sng" algn="ctr">
                      <a:solidFill>
                        <a:srgbClr val="26262F"/>
                      </a:solidFill>
                      <a:prstDash val="solid"/>
                      <a:round/>
                      <a:headEnd type="none" w="med" len="med"/>
                      <a:tailEnd type="none" w="med" len="med"/>
                    </a:lnL>
                    <a:lnR w="6350" cap="flat" cmpd="sng" algn="ctr">
                      <a:solidFill>
                        <a:srgbClr val="26262F"/>
                      </a:solidFill>
                      <a:prstDash val="solid"/>
                      <a:round/>
                      <a:headEnd type="none" w="med" len="med"/>
                      <a:tailEnd type="none" w="med" len="med"/>
                    </a:lnR>
                    <a:lnT w="6350" cap="flat" cmpd="sng" algn="ctr">
                      <a:solidFill>
                        <a:srgbClr val="26262F"/>
                      </a:solidFill>
                      <a:prstDash val="solid"/>
                      <a:round/>
                      <a:headEnd type="none" w="med" len="med"/>
                      <a:tailEnd type="none" w="med" len="med"/>
                    </a:lnT>
                    <a:lnB w="6350" cap="flat" cmpd="sng" algn="ctr">
                      <a:solidFill>
                        <a:srgbClr val="26262F"/>
                      </a:solidFill>
                      <a:prstDash val="solid"/>
                      <a:round/>
                      <a:headEnd type="none" w="med" len="med"/>
                      <a:tailEnd type="none" w="med" len="med"/>
                    </a:lnB>
                    <a:solidFill>
                      <a:srgbClr val="17171F"/>
                    </a:solidFill>
                  </a:tcPr>
                </a:tc>
              </a:tr>
              <a:tr h="365760">
                <a:tc>
                  <a:txBody>
                    <a:bodyPr/>
                    <a:lstStyle/>
                    <a:p>
                      <a:pPr algn="l" indent="0" marL="0">
                        <a:buNone/>
                      </a:pPr>
                      <a:r>
                        <a:rPr lang="en-US" sz="1050" dirty="0">
                          <a:solidFill>
                            <a:srgbClr val="F5F2EA"/>
                          </a:solidFill>
                          <a:latin typeface="Segoe UI" pitchFamily="34" charset="0"/>
                          <a:ea typeface="Segoe UI" pitchFamily="34" charset="-122"/>
                          <a:cs typeface="Segoe UI" pitchFamily="34" charset="-120"/>
                        </a:rPr>
                        <a:t>Authentication</a:t>
                      </a:r>
                      <a:endParaRPr lang="en-US" sz="1050" dirty="0">
                        <a:latin typeface="Segoe UI" charset="0"/>
                        <a:ea typeface="Segoe UI" charset="0"/>
                        <a:cs typeface="Segoe UI" charset="0"/>
                      </a:endParaRPr>
                    </a:p>
                  </a:txBody>
                  <a:tcPr marL="36576" marR="36576" marT="36576" marB="36576" anchor="ctr">
                    <a:lnL w="6350" cap="flat" cmpd="sng" algn="ctr">
                      <a:solidFill>
                        <a:srgbClr val="26262F"/>
                      </a:solidFill>
                      <a:prstDash val="solid"/>
                      <a:round/>
                      <a:headEnd type="none" w="med" len="med"/>
                      <a:tailEnd type="none" w="med" len="med"/>
                    </a:lnL>
                    <a:lnR w="6350" cap="flat" cmpd="sng" algn="ctr">
                      <a:solidFill>
                        <a:srgbClr val="26262F"/>
                      </a:solidFill>
                      <a:prstDash val="solid"/>
                      <a:round/>
                      <a:headEnd type="none" w="med" len="med"/>
                      <a:tailEnd type="none" w="med" len="med"/>
                    </a:lnR>
                    <a:lnT w="6350" cap="flat" cmpd="sng" algn="ctr">
                      <a:solidFill>
                        <a:srgbClr val="26262F"/>
                      </a:solidFill>
                      <a:prstDash val="solid"/>
                      <a:round/>
                      <a:headEnd type="none" w="med" len="med"/>
                      <a:tailEnd type="none" w="med" len="med"/>
                    </a:lnT>
                    <a:lnB w="6350" cap="flat" cmpd="sng" algn="ctr">
                      <a:solidFill>
                        <a:srgbClr val="26262F"/>
                      </a:solidFill>
                      <a:prstDash val="solid"/>
                      <a:round/>
                      <a:headEnd type="none" w="med" len="med"/>
                      <a:tailEnd type="none" w="med" len="med"/>
                    </a:lnB>
                    <a:solidFill>
                      <a:srgbClr val="15151B"/>
                    </a:solidFill>
                  </a:tcPr>
                </a:tc>
                <a:tc>
                  <a:txBody>
                    <a:bodyPr/>
                    <a:lstStyle/>
                    <a:p>
                      <a:pPr algn="l" indent="0" marL="0">
                        <a:buNone/>
                      </a:pPr>
                      <a:r>
                        <a:rPr lang="en-US" sz="1050" dirty="0">
                          <a:solidFill>
                            <a:srgbClr val="F5F2EA"/>
                          </a:solidFill>
                          <a:latin typeface="Segoe UI" pitchFamily="34" charset="0"/>
                          <a:ea typeface="Segoe UI" pitchFamily="34" charset="-122"/>
                          <a:cs typeface="Segoe UI" pitchFamily="34" charset="-120"/>
                        </a:rPr>
                        <a:t>Supabase Auth · OAuth Google / GitHub · scrypt password hashing</a:t>
                      </a:r>
                      <a:endParaRPr lang="en-US" sz="1050" dirty="0">
                        <a:latin typeface="Segoe UI" charset="0"/>
                        <a:ea typeface="Segoe UI" charset="0"/>
                        <a:cs typeface="Segoe UI" charset="0"/>
                      </a:endParaRPr>
                    </a:p>
                  </a:txBody>
                  <a:tcPr marL="36576" marR="36576" marT="36576" marB="36576" anchor="ctr">
                    <a:lnL w="6350" cap="flat" cmpd="sng" algn="ctr">
                      <a:solidFill>
                        <a:srgbClr val="26262F"/>
                      </a:solidFill>
                      <a:prstDash val="solid"/>
                      <a:round/>
                      <a:headEnd type="none" w="med" len="med"/>
                      <a:tailEnd type="none" w="med" len="med"/>
                    </a:lnL>
                    <a:lnR w="6350" cap="flat" cmpd="sng" algn="ctr">
                      <a:solidFill>
                        <a:srgbClr val="26262F"/>
                      </a:solidFill>
                      <a:prstDash val="solid"/>
                      <a:round/>
                      <a:headEnd type="none" w="med" len="med"/>
                      <a:tailEnd type="none" w="med" len="med"/>
                    </a:lnR>
                    <a:lnT w="6350" cap="flat" cmpd="sng" algn="ctr">
                      <a:solidFill>
                        <a:srgbClr val="26262F"/>
                      </a:solidFill>
                      <a:prstDash val="solid"/>
                      <a:round/>
                      <a:headEnd type="none" w="med" len="med"/>
                      <a:tailEnd type="none" w="med" len="med"/>
                    </a:lnT>
                    <a:lnB w="6350" cap="flat" cmpd="sng" algn="ctr">
                      <a:solidFill>
                        <a:srgbClr val="26262F"/>
                      </a:solidFill>
                      <a:prstDash val="solid"/>
                      <a:round/>
                      <a:headEnd type="none" w="med" len="med"/>
                      <a:tailEnd type="none" w="med" len="med"/>
                    </a:lnB>
                    <a:solidFill>
                      <a:srgbClr val="17171F"/>
                    </a:solidFill>
                  </a:tcPr>
                </a:tc>
              </a:tr>
              <a:tr h="365760">
                <a:tc>
                  <a:txBody>
                    <a:bodyPr/>
                    <a:lstStyle/>
                    <a:p>
                      <a:pPr algn="l" indent="0" marL="0">
                        <a:buNone/>
                      </a:pPr>
                      <a:r>
                        <a:rPr lang="en-US" sz="1050" dirty="0">
                          <a:solidFill>
                            <a:srgbClr val="F5F2EA"/>
                          </a:solidFill>
                          <a:latin typeface="Segoe UI" pitchFamily="34" charset="0"/>
                          <a:ea typeface="Segoe UI" pitchFamily="34" charset="-122"/>
                          <a:cs typeface="Segoe UI" pitchFamily="34" charset="-120"/>
                        </a:rPr>
                        <a:t>Billing</a:t>
                      </a:r>
                      <a:endParaRPr lang="en-US" sz="1050" dirty="0">
                        <a:latin typeface="Segoe UI" charset="0"/>
                        <a:ea typeface="Segoe UI" charset="0"/>
                        <a:cs typeface="Segoe UI" charset="0"/>
                      </a:endParaRPr>
                    </a:p>
                  </a:txBody>
                  <a:tcPr marL="36576" marR="36576" marT="36576" marB="36576" anchor="ctr">
                    <a:lnL w="6350" cap="flat" cmpd="sng" algn="ctr">
                      <a:solidFill>
                        <a:srgbClr val="26262F"/>
                      </a:solidFill>
                      <a:prstDash val="solid"/>
                      <a:round/>
                      <a:headEnd type="none" w="med" len="med"/>
                      <a:tailEnd type="none" w="med" len="med"/>
                    </a:lnL>
                    <a:lnR w="6350" cap="flat" cmpd="sng" algn="ctr">
                      <a:solidFill>
                        <a:srgbClr val="26262F"/>
                      </a:solidFill>
                      <a:prstDash val="solid"/>
                      <a:round/>
                      <a:headEnd type="none" w="med" len="med"/>
                      <a:tailEnd type="none" w="med" len="med"/>
                    </a:lnR>
                    <a:lnT w="6350" cap="flat" cmpd="sng" algn="ctr">
                      <a:solidFill>
                        <a:srgbClr val="26262F"/>
                      </a:solidFill>
                      <a:prstDash val="solid"/>
                      <a:round/>
                      <a:headEnd type="none" w="med" len="med"/>
                      <a:tailEnd type="none" w="med" len="med"/>
                    </a:lnT>
                    <a:lnB w="6350" cap="flat" cmpd="sng" algn="ctr">
                      <a:solidFill>
                        <a:srgbClr val="26262F"/>
                      </a:solidFill>
                      <a:prstDash val="solid"/>
                      <a:round/>
                      <a:headEnd type="none" w="med" len="med"/>
                      <a:tailEnd type="none" w="med" len="med"/>
                    </a:lnB>
                    <a:solidFill>
                      <a:srgbClr val="15151B"/>
                    </a:solidFill>
                  </a:tcPr>
                </a:tc>
                <a:tc>
                  <a:txBody>
                    <a:bodyPr/>
                    <a:lstStyle/>
                    <a:p>
                      <a:pPr algn="l" indent="0" marL="0">
                        <a:buNone/>
                      </a:pPr>
                      <a:r>
                        <a:rPr lang="en-US" sz="1050" dirty="0">
                          <a:solidFill>
                            <a:srgbClr val="F5F2EA"/>
                          </a:solidFill>
                          <a:latin typeface="Segoe UI" pitchFamily="34" charset="0"/>
                          <a:ea typeface="Segoe UI" pitchFamily="34" charset="-122"/>
                          <a:cs typeface="Segoe UI" pitchFamily="34" charset="-120"/>
                        </a:rPr>
                        <a:t>Stripe checkout (Pro / Coach tiers)</a:t>
                      </a:r>
                      <a:endParaRPr lang="en-US" sz="1050" dirty="0">
                        <a:latin typeface="Segoe UI" charset="0"/>
                        <a:ea typeface="Segoe UI" charset="0"/>
                        <a:cs typeface="Segoe UI" charset="0"/>
                      </a:endParaRPr>
                    </a:p>
                  </a:txBody>
                  <a:tcPr marL="36576" marR="36576" marT="36576" marB="36576" anchor="ctr">
                    <a:lnL w="6350" cap="flat" cmpd="sng" algn="ctr">
                      <a:solidFill>
                        <a:srgbClr val="26262F"/>
                      </a:solidFill>
                      <a:prstDash val="solid"/>
                      <a:round/>
                      <a:headEnd type="none" w="med" len="med"/>
                      <a:tailEnd type="none" w="med" len="med"/>
                    </a:lnL>
                    <a:lnR w="6350" cap="flat" cmpd="sng" algn="ctr">
                      <a:solidFill>
                        <a:srgbClr val="26262F"/>
                      </a:solidFill>
                      <a:prstDash val="solid"/>
                      <a:round/>
                      <a:headEnd type="none" w="med" len="med"/>
                      <a:tailEnd type="none" w="med" len="med"/>
                    </a:lnR>
                    <a:lnT w="6350" cap="flat" cmpd="sng" algn="ctr">
                      <a:solidFill>
                        <a:srgbClr val="26262F"/>
                      </a:solidFill>
                      <a:prstDash val="solid"/>
                      <a:round/>
                      <a:headEnd type="none" w="med" len="med"/>
                      <a:tailEnd type="none" w="med" len="med"/>
                    </a:lnT>
                    <a:lnB w="6350" cap="flat" cmpd="sng" algn="ctr">
                      <a:solidFill>
                        <a:srgbClr val="26262F"/>
                      </a:solidFill>
                      <a:prstDash val="solid"/>
                      <a:round/>
                      <a:headEnd type="none" w="med" len="med"/>
                      <a:tailEnd type="none" w="med" len="med"/>
                    </a:lnB>
                    <a:solidFill>
                      <a:srgbClr val="17171F"/>
                    </a:solidFill>
                  </a:tcPr>
                </a:tc>
              </a:tr>
              <a:tr h="365760">
                <a:tc>
                  <a:txBody>
                    <a:bodyPr/>
                    <a:lstStyle/>
                    <a:p>
                      <a:pPr algn="l" indent="0" marL="0">
                        <a:buNone/>
                      </a:pPr>
                      <a:r>
                        <a:rPr lang="en-US" sz="1050" dirty="0">
                          <a:solidFill>
                            <a:srgbClr val="F5F2EA"/>
                          </a:solidFill>
                          <a:latin typeface="Segoe UI" pitchFamily="34" charset="0"/>
                          <a:ea typeface="Segoe UI" pitchFamily="34" charset="-122"/>
                          <a:cs typeface="Segoe UI" pitchFamily="34" charset="-120"/>
                        </a:rPr>
                        <a:t>Styling &amp; UX</a:t>
                      </a:r>
                      <a:endParaRPr lang="en-US" sz="1050" dirty="0">
                        <a:latin typeface="Segoe UI" charset="0"/>
                        <a:ea typeface="Segoe UI" charset="0"/>
                        <a:cs typeface="Segoe UI" charset="0"/>
                      </a:endParaRPr>
                    </a:p>
                  </a:txBody>
                  <a:tcPr marL="36576" marR="36576" marT="36576" marB="36576" anchor="ctr">
                    <a:lnL w="6350" cap="flat" cmpd="sng" algn="ctr">
                      <a:solidFill>
                        <a:srgbClr val="26262F"/>
                      </a:solidFill>
                      <a:prstDash val="solid"/>
                      <a:round/>
                      <a:headEnd type="none" w="med" len="med"/>
                      <a:tailEnd type="none" w="med" len="med"/>
                    </a:lnL>
                    <a:lnR w="6350" cap="flat" cmpd="sng" algn="ctr">
                      <a:solidFill>
                        <a:srgbClr val="26262F"/>
                      </a:solidFill>
                      <a:prstDash val="solid"/>
                      <a:round/>
                      <a:headEnd type="none" w="med" len="med"/>
                      <a:tailEnd type="none" w="med" len="med"/>
                    </a:lnR>
                    <a:lnT w="6350" cap="flat" cmpd="sng" algn="ctr">
                      <a:solidFill>
                        <a:srgbClr val="26262F"/>
                      </a:solidFill>
                      <a:prstDash val="solid"/>
                      <a:round/>
                      <a:headEnd type="none" w="med" len="med"/>
                      <a:tailEnd type="none" w="med" len="med"/>
                    </a:lnT>
                    <a:lnB w="6350" cap="flat" cmpd="sng" algn="ctr">
                      <a:solidFill>
                        <a:srgbClr val="26262F"/>
                      </a:solidFill>
                      <a:prstDash val="solid"/>
                      <a:round/>
                      <a:headEnd type="none" w="med" len="med"/>
                      <a:tailEnd type="none" w="med" len="med"/>
                    </a:lnB>
                    <a:solidFill>
                      <a:srgbClr val="15151B"/>
                    </a:solidFill>
                  </a:tcPr>
                </a:tc>
                <a:tc>
                  <a:txBody>
                    <a:bodyPr/>
                    <a:lstStyle/>
                    <a:p>
                      <a:pPr algn="l" indent="0" marL="0">
                        <a:buNone/>
                      </a:pPr>
                      <a:r>
                        <a:rPr lang="en-US" sz="1050" dirty="0">
                          <a:solidFill>
                            <a:srgbClr val="F5F2EA"/>
                          </a:solidFill>
                          <a:latin typeface="Segoe UI" pitchFamily="34" charset="0"/>
                          <a:ea typeface="Segoe UI" pitchFamily="34" charset="-122"/>
                          <a:cs typeface="Segoe UI" pitchFamily="34" charset="-120"/>
                        </a:rPr>
                        <a:t>Tailwind v4 · Framer Motion · GSAP · Lenis smooth scroll</a:t>
                      </a:r>
                      <a:endParaRPr lang="en-US" sz="1050" dirty="0">
                        <a:latin typeface="Segoe UI" charset="0"/>
                        <a:ea typeface="Segoe UI" charset="0"/>
                        <a:cs typeface="Segoe UI" charset="0"/>
                      </a:endParaRPr>
                    </a:p>
                  </a:txBody>
                  <a:tcPr marL="36576" marR="36576" marT="36576" marB="36576" anchor="ctr">
                    <a:lnL w="6350" cap="flat" cmpd="sng" algn="ctr">
                      <a:solidFill>
                        <a:srgbClr val="26262F"/>
                      </a:solidFill>
                      <a:prstDash val="solid"/>
                      <a:round/>
                      <a:headEnd type="none" w="med" len="med"/>
                      <a:tailEnd type="none" w="med" len="med"/>
                    </a:lnL>
                    <a:lnR w="6350" cap="flat" cmpd="sng" algn="ctr">
                      <a:solidFill>
                        <a:srgbClr val="26262F"/>
                      </a:solidFill>
                      <a:prstDash val="solid"/>
                      <a:round/>
                      <a:headEnd type="none" w="med" len="med"/>
                      <a:tailEnd type="none" w="med" len="med"/>
                    </a:lnR>
                    <a:lnT w="6350" cap="flat" cmpd="sng" algn="ctr">
                      <a:solidFill>
                        <a:srgbClr val="26262F"/>
                      </a:solidFill>
                      <a:prstDash val="solid"/>
                      <a:round/>
                      <a:headEnd type="none" w="med" len="med"/>
                      <a:tailEnd type="none" w="med" len="med"/>
                    </a:lnT>
                    <a:lnB w="6350" cap="flat" cmpd="sng" algn="ctr">
                      <a:solidFill>
                        <a:srgbClr val="26262F"/>
                      </a:solidFill>
                      <a:prstDash val="solid"/>
                      <a:round/>
                      <a:headEnd type="none" w="med" len="med"/>
                      <a:tailEnd type="none" w="med" len="med"/>
                    </a:lnB>
                    <a:solidFill>
                      <a:srgbClr val="17171F"/>
                    </a:solidFill>
                  </a:tcPr>
                </a:tc>
              </a:tr>
              <a:tr h="365760">
                <a:tc>
                  <a:txBody>
                    <a:bodyPr/>
                    <a:lstStyle/>
                    <a:p>
                      <a:pPr algn="l" indent="0" marL="0">
                        <a:buNone/>
                      </a:pPr>
                      <a:r>
                        <a:rPr lang="en-US" sz="1050" dirty="0">
                          <a:solidFill>
                            <a:srgbClr val="F5F2EA"/>
                          </a:solidFill>
                          <a:latin typeface="Segoe UI" pitchFamily="34" charset="0"/>
                          <a:ea typeface="Segoe UI" pitchFamily="34" charset="-122"/>
                          <a:cs typeface="Segoe UI" pitchFamily="34" charset="-120"/>
                        </a:rPr>
                        <a:t>Libraries</a:t>
                      </a:r>
                      <a:endParaRPr lang="en-US" sz="1050" dirty="0">
                        <a:latin typeface="Segoe UI" charset="0"/>
                        <a:ea typeface="Segoe UI" charset="0"/>
                        <a:cs typeface="Segoe UI" charset="0"/>
                      </a:endParaRPr>
                    </a:p>
                  </a:txBody>
                  <a:tcPr marL="36576" marR="36576" marT="36576" marB="36576" anchor="ctr">
                    <a:lnL w="6350" cap="flat" cmpd="sng" algn="ctr">
                      <a:solidFill>
                        <a:srgbClr val="26262F"/>
                      </a:solidFill>
                      <a:prstDash val="solid"/>
                      <a:round/>
                      <a:headEnd type="none" w="med" len="med"/>
                      <a:tailEnd type="none" w="med" len="med"/>
                    </a:lnL>
                    <a:lnR w="6350" cap="flat" cmpd="sng" algn="ctr">
                      <a:solidFill>
                        <a:srgbClr val="26262F"/>
                      </a:solidFill>
                      <a:prstDash val="solid"/>
                      <a:round/>
                      <a:headEnd type="none" w="med" len="med"/>
                      <a:tailEnd type="none" w="med" len="med"/>
                    </a:lnR>
                    <a:lnT w="6350" cap="flat" cmpd="sng" algn="ctr">
                      <a:solidFill>
                        <a:srgbClr val="26262F"/>
                      </a:solidFill>
                      <a:prstDash val="solid"/>
                      <a:round/>
                      <a:headEnd type="none" w="med" len="med"/>
                      <a:tailEnd type="none" w="med" len="med"/>
                    </a:lnT>
                    <a:lnB w="6350" cap="flat" cmpd="sng" algn="ctr">
                      <a:solidFill>
                        <a:srgbClr val="26262F"/>
                      </a:solidFill>
                      <a:prstDash val="solid"/>
                      <a:round/>
                      <a:headEnd type="none" w="med" len="med"/>
                      <a:tailEnd type="none" w="med" len="med"/>
                    </a:lnB>
                    <a:solidFill>
                      <a:srgbClr val="15151B"/>
                    </a:solidFill>
                  </a:tcPr>
                </a:tc>
                <a:tc>
                  <a:txBody>
                    <a:bodyPr/>
                    <a:lstStyle/>
                    <a:p>
                      <a:pPr algn="l" indent="0" marL="0">
                        <a:buNone/>
                      </a:pPr>
                      <a:r>
                        <a:rPr lang="en-US" sz="1050" dirty="0">
                          <a:solidFill>
                            <a:srgbClr val="F5F2EA"/>
                          </a:solidFill>
                          <a:latin typeface="Segoe UI" pitchFamily="34" charset="0"/>
                          <a:ea typeface="Segoe UI" pitchFamily="34" charset="-122"/>
                          <a:cs typeface="Segoe UI" pitchFamily="34" charset="-120"/>
                        </a:rPr>
                        <a:t>chess.js · recharts · three.js / React Three Fiber · mapbox-gl · satori + resvg · zod</a:t>
                      </a:r>
                      <a:endParaRPr lang="en-US" sz="1050" dirty="0">
                        <a:latin typeface="Segoe UI" charset="0"/>
                        <a:ea typeface="Segoe UI" charset="0"/>
                        <a:cs typeface="Segoe UI" charset="0"/>
                      </a:endParaRPr>
                    </a:p>
                  </a:txBody>
                  <a:tcPr marL="36576" marR="36576" marT="36576" marB="36576" anchor="ctr">
                    <a:lnL w="6350" cap="flat" cmpd="sng" algn="ctr">
                      <a:solidFill>
                        <a:srgbClr val="26262F"/>
                      </a:solidFill>
                      <a:prstDash val="solid"/>
                      <a:round/>
                      <a:headEnd type="none" w="med" len="med"/>
                      <a:tailEnd type="none" w="med" len="med"/>
                    </a:lnL>
                    <a:lnR w="6350" cap="flat" cmpd="sng" algn="ctr">
                      <a:solidFill>
                        <a:srgbClr val="26262F"/>
                      </a:solidFill>
                      <a:prstDash val="solid"/>
                      <a:round/>
                      <a:headEnd type="none" w="med" len="med"/>
                      <a:tailEnd type="none" w="med" len="med"/>
                    </a:lnR>
                    <a:lnT w="6350" cap="flat" cmpd="sng" algn="ctr">
                      <a:solidFill>
                        <a:srgbClr val="26262F"/>
                      </a:solidFill>
                      <a:prstDash val="solid"/>
                      <a:round/>
                      <a:headEnd type="none" w="med" len="med"/>
                      <a:tailEnd type="none" w="med" len="med"/>
                    </a:lnT>
                    <a:lnB w="6350" cap="flat" cmpd="sng" algn="ctr">
                      <a:solidFill>
                        <a:srgbClr val="26262F"/>
                      </a:solidFill>
                      <a:prstDash val="solid"/>
                      <a:round/>
                      <a:headEnd type="none" w="med" len="med"/>
                      <a:tailEnd type="none" w="med" len="med"/>
                    </a:lnB>
                    <a:solidFill>
                      <a:srgbClr val="17171F"/>
                    </a:solidFill>
                  </a:tcPr>
                </a:tc>
              </a:tr>
              <a:tr h="365760">
                <a:tc>
                  <a:txBody>
                    <a:bodyPr/>
                    <a:lstStyle/>
                    <a:p>
                      <a:pPr algn="l" indent="0" marL="0">
                        <a:buNone/>
                      </a:pPr>
                      <a:r>
                        <a:rPr lang="en-US" sz="1050" dirty="0">
                          <a:solidFill>
                            <a:srgbClr val="F5F2EA"/>
                          </a:solidFill>
                          <a:latin typeface="Segoe UI" pitchFamily="34" charset="0"/>
                          <a:ea typeface="Segoe UI" pitchFamily="34" charset="-122"/>
                          <a:cs typeface="Segoe UI" pitchFamily="34" charset="-120"/>
                        </a:rPr>
                        <a:t>DevOps</a:t>
                      </a:r>
                      <a:endParaRPr lang="en-US" sz="1050" dirty="0">
                        <a:latin typeface="Segoe UI" charset="0"/>
                        <a:ea typeface="Segoe UI" charset="0"/>
                        <a:cs typeface="Segoe UI" charset="0"/>
                      </a:endParaRPr>
                    </a:p>
                  </a:txBody>
                  <a:tcPr marL="36576" marR="36576" marT="36576" marB="36576" anchor="ctr">
                    <a:lnL w="6350" cap="flat" cmpd="sng" algn="ctr">
                      <a:solidFill>
                        <a:srgbClr val="26262F"/>
                      </a:solidFill>
                      <a:prstDash val="solid"/>
                      <a:round/>
                      <a:headEnd type="none" w="med" len="med"/>
                      <a:tailEnd type="none" w="med" len="med"/>
                    </a:lnL>
                    <a:lnR w="6350" cap="flat" cmpd="sng" algn="ctr">
                      <a:solidFill>
                        <a:srgbClr val="26262F"/>
                      </a:solidFill>
                      <a:prstDash val="solid"/>
                      <a:round/>
                      <a:headEnd type="none" w="med" len="med"/>
                      <a:tailEnd type="none" w="med" len="med"/>
                    </a:lnR>
                    <a:lnT w="6350" cap="flat" cmpd="sng" algn="ctr">
                      <a:solidFill>
                        <a:srgbClr val="26262F"/>
                      </a:solidFill>
                      <a:prstDash val="solid"/>
                      <a:round/>
                      <a:headEnd type="none" w="med" len="med"/>
                      <a:tailEnd type="none" w="med" len="med"/>
                    </a:lnT>
                    <a:lnB w="6350" cap="flat" cmpd="sng" algn="ctr">
                      <a:solidFill>
                        <a:srgbClr val="26262F"/>
                      </a:solidFill>
                      <a:prstDash val="solid"/>
                      <a:round/>
                      <a:headEnd type="none" w="med" len="med"/>
                      <a:tailEnd type="none" w="med" len="med"/>
                    </a:lnB>
                    <a:solidFill>
                      <a:srgbClr val="15151B"/>
                    </a:solidFill>
                  </a:tcPr>
                </a:tc>
                <a:tc>
                  <a:txBody>
                    <a:bodyPr/>
                    <a:lstStyle/>
                    <a:p>
                      <a:pPr algn="l" indent="0" marL="0">
                        <a:buNone/>
                      </a:pPr>
                      <a:r>
                        <a:rPr lang="en-US" sz="1050" dirty="0">
                          <a:solidFill>
                            <a:srgbClr val="F5F2EA"/>
                          </a:solidFill>
                          <a:latin typeface="Segoe UI" pitchFamily="34" charset="0"/>
                          <a:ea typeface="Segoe UI" pitchFamily="34" charset="-122"/>
                          <a:cs typeface="Segoe UI" pitchFamily="34" charset="-120"/>
                        </a:rPr>
                        <a:t>Docker Compose (Postgres + Redis) · Playwright e2e · Vitest · ESLint 9 · PWA (next-pwa)</a:t>
                      </a:r>
                      <a:endParaRPr lang="en-US" sz="1050" dirty="0">
                        <a:latin typeface="Segoe UI" charset="0"/>
                        <a:ea typeface="Segoe UI" charset="0"/>
                        <a:cs typeface="Segoe UI" charset="0"/>
                      </a:endParaRPr>
                    </a:p>
                  </a:txBody>
                  <a:tcPr marL="36576" marR="36576" marT="36576" marB="36576" anchor="ctr">
                    <a:lnL w="6350" cap="flat" cmpd="sng" algn="ctr">
                      <a:solidFill>
                        <a:srgbClr val="26262F"/>
                      </a:solidFill>
                      <a:prstDash val="solid"/>
                      <a:round/>
                      <a:headEnd type="none" w="med" len="med"/>
                      <a:tailEnd type="none" w="med" len="med"/>
                    </a:lnL>
                    <a:lnR w="6350" cap="flat" cmpd="sng" algn="ctr">
                      <a:solidFill>
                        <a:srgbClr val="26262F"/>
                      </a:solidFill>
                      <a:prstDash val="solid"/>
                      <a:round/>
                      <a:headEnd type="none" w="med" len="med"/>
                      <a:tailEnd type="none" w="med" len="med"/>
                    </a:lnR>
                    <a:lnT w="6350" cap="flat" cmpd="sng" algn="ctr">
                      <a:solidFill>
                        <a:srgbClr val="26262F"/>
                      </a:solidFill>
                      <a:prstDash val="solid"/>
                      <a:round/>
                      <a:headEnd type="none" w="med" len="med"/>
                      <a:tailEnd type="none" w="med" len="med"/>
                    </a:lnT>
                    <a:lnB w="6350" cap="flat" cmpd="sng" algn="ctr">
                      <a:solidFill>
                        <a:srgbClr val="26262F"/>
                      </a:solidFill>
                      <a:prstDash val="solid"/>
                      <a:round/>
                      <a:headEnd type="none" w="med" len="med"/>
                      <a:tailEnd type="none" w="med" len="med"/>
                    </a:lnB>
                    <a:solidFill>
                      <a:srgbClr val="17171F"/>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0B0F"/>
        </a:solidFill>
      </p:bgPr>
    </p:bg>
    <p:spTree>
      <p:nvGrpSpPr>
        <p:cNvPr id="1" name=""/>
        <p:cNvGrpSpPr/>
        <p:nvPr/>
      </p:nvGrpSpPr>
      <p:grpSpPr>
        <a:xfrm>
          <a:off x="0" y="0"/>
          <a:ext cx="0" cy="0"/>
          <a:chOff x="0" y="0"/>
          <a:chExt cx="0" cy="0"/>
        </a:xfrm>
      </p:grpSpPr>
      <p:sp>
        <p:nvSpPr>
          <p:cNvPr id="2" name="Shape 0"/>
          <p:cNvSpPr/>
          <p:nvPr/>
        </p:nvSpPr>
        <p:spPr>
          <a:xfrm>
            <a:off x="10716768" y="292608"/>
            <a:ext cx="155448" cy="155448"/>
          </a:xfrm>
          <a:prstGeom prst="rect">
            <a:avLst/>
          </a:prstGeom>
          <a:solidFill>
            <a:srgbClr val="14141A"/>
          </a:solidFill>
          <a:ln/>
        </p:spPr>
      </p:sp>
      <p:sp>
        <p:nvSpPr>
          <p:cNvPr id="3" name="Shape 1"/>
          <p:cNvSpPr/>
          <p:nvPr/>
        </p:nvSpPr>
        <p:spPr>
          <a:xfrm>
            <a:off x="11027664" y="292608"/>
            <a:ext cx="155448" cy="155448"/>
          </a:xfrm>
          <a:prstGeom prst="rect">
            <a:avLst/>
          </a:prstGeom>
          <a:solidFill>
            <a:srgbClr val="14141A"/>
          </a:solidFill>
          <a:ln/>
        </p:spPr>
      </p:sp>
      <p:sp>
        <p:nvSpPr>
          <p:cNvPr id="4" name="Shape 2"/>
          <p:cNvSpPr/>
          <p:nvPr/>
        </p:nvSpPr>
        <p:spPr>
          <a:xfrm>
            <a:off x="10561320" y="448056"/>
            <a:ext cx="155448" cy="155448"/>
          </a:xfrm>
          <a:prstGeom prst="rect">
            <a:avLst/>
          </a:prstGeom>
          <a:solidFill>
            <a:srgbClr val="14141A"/>
          </a:solidFill>
          <a:ln/>
        </p:spPr>
      </p:sp>
      <p:sp>
        <p:nvSpPr>
          <p:cNvPr id="5" name="Shape 3"/>
          <p:cNvSpPr/>
          <p:nvPr/>
        </p:nvSpPr>
        <p:spPr>
          <a:xfrm>
            <a:off x="10872216" y="448056"/>
            <a:ext cx="155448" cy="155448"/>
          </a:xfrm>
          <a:prstGeom prst="rect">
            <a:avLst/>
          </a:prstGeom>
          <a:solidFill>
            <a:srgbClr val="14141A"/>
          </a:solidFill>
          <a:ln/>
        </p:spPr>
      </p:sp>
      <p:sp>
        <p:nvSpPr>
          <p:cNvPr id="6" name="Shape 4"/>
          <p:cNvSpPr/>
          <p:nvPr/>
        </p:nvSpPr>
        <p:spPr>
          <a:xfrm>
            <a:off x="11183112" y="448056"/>
            <a:ext cx="155448" cy="155448"/>
          </a:xfrm>
          <a:prstGeom prst="rect">
            <a:avLst/>
          </a:prstGeom>
          <a:solidFill>
            <a:srgbClr val="14141A"/>
          </a:solidFill>
          <a:ln/>
        </p:spPr>
      </p:sp>
      <p:sp>
        <p:nvSpPr>
          <p:cNvPr id="7" name="Shape 5"/>
          <p:cNvSpPr/>
          <p:nvPr/>
        </p:nvSpPr>
        <p:spPr>
          <a:xfrm>
            <a:off x="10716768" y="603504"/>
            <a:ext cx="155448" cy="155448"/>
          </a:xfrm>
          <a:prstGeom prst="rect">
            <a:avLst/>
          </a:prstGeom>
          <a:solidFill>
            <a:srgbClr val="14141A"/>
          </a:solidFill>
          <a:ln/>
        </p:spPr>
      </p:sp>
      <p:sp>
        <p:nvSpPr>
          <p:cNvPr id="8" name="Shape 6"/>
          <p:cNvSpPr/>
          <p:nvPr/>
        </p:nvSpPr>
        <p:spPr>
          <a:xfrm>
            <a:off x="11027664" y="603504"/>
            <a:ext cx="155448" cy="155448"/>
          </a:xfrm>
          <a:prstGeom prst="rect">
            <a:avLst/>
          </a:prstGeom>
          <a:solidFill>
            <a:srgbClr val="14141A"/>
          </a:solidFill>
          <a:ln/>
        </p:spPr>
      </p:sp>
      <p:sp>
        <p:nvSpPr>
          <p:cNvPr id="9" name="Shape 7"/>
          <p:cNvSpPr/>
          <p:nvPr/>
        </p:nvSpPr>
        <p:spPr>
          <a:xfrm>
            <a:off x="10561320" y="758952"/>
            <a:ext cx="155448" cy="155448"/>
          </a:xfrm>
          <a:prstGeom prst="rect">
            <a:avLst/>
          </a:prstGeom>
          <a:solidFill>
            <a:srgbClr val="14141A"/>
          </a:solidFill>
          <a:ln/>
        </p:spPr>
      </p:sp>
      <p:sp>
        <p:nvSpPr>
          <p:cNvPr id="10" name="Shape 8"/>
          <p:cNvSpPr/>
          <p:nvPr/>
        </p:nvSpPr>
        <p:spPr>
          <a:xfrm>
            <a:off x="10872216" y="758952"/>
            <a:ext cx="155448" cy="155448"/>
          </a:xfrm>
          <a:prstGeom prst="rect">
            <a:avLst/>
          </a:prstGeom>
          <a:solidFill>
            <a:srgbClr val="14141A"/>
          </a:solidFill>
          <a:ln/>
        </p:spPr>
      </p:sp>
      <p:sp>
        <p:nvSpPr>
          <p:cNvPr id="11" name="Shape 9"/>
          <p:cNvSpPr/>
          <p:nvPr/>
        </p:nvSpPr>
        <p:spPr>
          <a:xfrm>
            <a:off x="11183112" y="758952"/>
            <a:ext cx="155448" cy="155448"/>
          </a:xfrm>
          <a:prstGeom prst="rect">
            <a:avLst/>
          </a:prstGeom>
          <a:solidFill>
            <a:srgbClr val="14141A"/>
          </a:solidFill>
          <a:ln/>
        </p:spPr>
      </p:sp>
      <p:sp>
        <p:nvSpPr>
          <p:cNvPr id="12" name="Shape 10"/>
          <p:cNvSpPr/>
          <p:nvPr/>
        </p:nvSpPr>
        <p:spPr>
          <a:xfrm>
            <a:off x="10716768" y="914400"/>
            <a:ext cx="155448" cy="155448"/>
          </a:xfrm>
          <a:prstGeom prst="rect">
            <a:avLst/>
          </a:prstGeom>
          <a:solidFill>
            <a:srgbClr val="14141A"/>
          </a:solidFill>
          <a:ln/>
        </p:spPr>
      </p:sp>
      <p:sp>
        <p:nvSpPr>
          <p:cNvPr id="13" name="Shape 11"/>
          <p:cNvSpPr/>
          <p:nvPr/>
        </p:nvSpPr>
        <p:spPr>
          <a:xfrm>
            <a:off x="11027664" y="914400"/>
            <a:ext cx="155448" cy="155448"/>
          </a:xfrm>
          <a:prstGeom prst="rect">
            <a:avLst/>
          </a:prstGeom>
          <a:solidFill>
            <a:srgbClr val="14141A"/>
          </a:solidFill>
          <a:ln/>
        </p:spPr>
      </p:sp>
      <p:sp>
        <p:nvSpPr>
          <p:cNvPr id="14" name="Shape 12"/>
          <p:cNvSpPr/>
          <p:nvPr/>
        </p:nvSpPr>
        <p:spPr>
          <a:xfrm>
            <a:off x="9859975" y="310896"/>
            <a:ext cx="1783080" cy="292608"/>
          </a:xfrm>
          <a:prstGeom prst="roundRect">
            <a:avLst>
              <a:gd name="adj" fmla="val 50000"/>
            </a:avLst>
          </a:prstGeom>
          <a:solidFill>
            <a:srgbClr val="2A2412"/>
          </a:solidFill>
          <a:ln w="9525">
            <a:solidFill>
              <a:srgbClr val="4A3D18"/>
            </a:solidFill>
            <a:prstDash val="solid"/>
          </a:ln>
        </p:spPr>
      </p:sp>
      <p:sp>
        <p:nvSpPr>
          <p:cNvPr id="15" name="Text 13"/>
          <p:cNvSpPr/>
          <p:nvPr/>
        </p:nvSpPr>
        <p:spPr>
          <a:xfrm>
            <a:off x="9859975" y="301752"/>
            <a:ext cx="1783080" cy="310896"/>
          </a:xfrm>
          <a:prstGeom prst="rect">
            <a:avLst/>
          </a:prstGeom>
          <a:noFill/>
          <a:ln/>
        </p:spPr>
        <p:txBody>
          <a:bodyPr wrap="square" lIns="0" tIns="0" rIns="0" bIns="0" rtlCol="0" anchor="ctr"/>
          <a:lstStyle/>
          <a:p>
            <a:pPr algn="ctr" indent="0" marL="0">
              <a:buNone/>
            </a:pPr>
            <a:r>
              <a:rPr lang="en-US" sz="800" b="1" spc="120" kern="0" dirty="0">
                <a:solidFill>
                  <a:srgbClr val="FFC62A"/>
                </a:solidFill>
                <a:latin typeface="Bahnschrift" pitchFamily="34" charset="0"/>
                <a:ea typeface="Bahnschrift" pitchFamily="34" charset="-122"/>
                <a:cs typeface="Bahnschrift" pitchFamily="34" charset="-120"/>
              </a:rPr>
              <a:t>VERIFIED · FROM SOURCE CODE</a:t>
            </a:r>
            <a:endParaRPr lang="en-US" sz="800" dirty="0"/>
          </a:p>
        </p:txBody>
      </p:sp>
      <p:sp>
        <p:nvSpPr>
          <p:cNvPr id="16" name="Text 14"/>
          <p:cNvSpPr/>
          <p:nvPr/>
        </p:nvSpPr>
        <p:spPr>
          <a:xfrm>
            <a:off x="566928" y="384048"/>
            <a:ext cx="8229600" cy="274320"/>
          </a:xfrm>
          <a:prstGeom prst="rect">
            <a:avLst/>
          </a:prstGeom>
          <a:noFill/>
          <a:ln/>
        </p:spPr>
        <p:txBody>
          <a:bodyPr wrap="square" lIns="0" tIns="0" rIns="0" bIns="0" rtlCol="0" anchor="ctr"/>
          <a:lstStyle/>
          <a:p>
            <a:pPr indent="0" marL="0">
              <a:buNone/>
            </a:pPr>
            <a:r>
              <a:rPr lang="en-US" sz="1100" b="1" spc="300" kern="0" dirty="0">
                <a:solidFill>
                  <a:srgbClr val="FFC62A"/>
                </a:solidFill>
                <a:latin typeface="Bahnschrift" pitchFamily="34" charset="0"/>
                <a:ea typeface="Bahnschrift" pitchFamily="34" charset="-122"/>
                <a:cs typeface="Bahnschrift" pitchFamily="34" charset="-120"/>
              </a:rPr>
              <a:t>09 · LANGUAGES</a:t>
            </a:r>
            <a:endParaRPr lang="en-US" sz="1100" dirty="0"/>
          </a:p>
        </p:txBody>
      </p:sp>
      <p:sp>
        <p:nvSpPr>
          <p:cNvPr id="17" name="Shape 15"/>
          <p:cNvSpPr/>
          <p:nvPr/>
        </p:nvSpPr>
        <p:spPr>
          <a:xfrm>
            <a:off x="566928" y="713232"/>
            <a:ext cx="384048" cy="45720"/>
          </a:xfrm>
          <a:prstGeom prst="rect">
            <a:avLst/>
          </a:prstGeom>
          <a:solidFill>
            <a:srgbClr val="FFC62A"/>
          </a:solidFill>
          <a:ln/>
        </p:spPr>
      </p:sp>
      <p:sp>
        <p:nvSpPr>
          <p:cNvPr id="18" name="Text 16"/>
          <p:cNvSpPr/>
          <p:nvPr/>
        </p:nvSpPr>
        <p:spPr>
          <a:xfrm>
            <a:off x="548640" y="841248"/>
            <a:ext cx="11064240" cy="566928"/>
          </a:xfrm>
          <a:prstGeom prst="rect">
            <a:avLst/>
          </a:prstGeom>
          <a:noFill/>
          <a:ln/>
        </p:spPr>
        <p:txBody>
          <a:bodyPr wrap="square" lIns="0" tIns="0" rIns="0" bIns="0" rtlCol="0" anchor="ctr"/>
          <a:lstStyle/>
          <a:p>
            <a:pPr indent="0" marL="0">
              <a:buNone/>
            </a:pPr>
            <a:r>
              <a:rPr lang="en-US" sz="2700" b="1" dirty="0">
                <a:solidFill>
                  <a:srgbClr val="F5F2EA"/>
                </a:solidFill>
                <a:latin typeface="Bahnschrift" pitchFamily="34" charset="0"/>
                <a:ea typeface="Bahnschrift" pitchFamily="34" charset="-122"/>
                <a:cs typeface="Bahnschrift" pitchFamily="34" charset="-120"/>
              </a:rPr>
              <a:t>Programming languages used</a:t>
            </a:r>
            <a:endParaRPr lang="en-US" sz="2700" dirty="0"/>
          </a:p>
        </p:txBody>
      </p:sp>
      <p:sp>
        <p:nvSpPr>
          <p:cNvPr id="19" name="Text 17"/>
          <p:cNvSpPr/>
          <p:nvPr/>
        </p:nvSpPr>
        <p:spPr>
          <a:xfrm>
            <a:off x="566928" y="1389888"/>
            <a:ext cx="11064240" cy="274320"/>
          </a:xfrm>
          <a:prstGeom prst="rect">
            <a:avLst/>
          </a:prstGeom>
          <a:noFill/>
          <a:ln/>
        </p:spPr>
        <p:txBody>
          <a:bodyPr wrap="square" lIns="0" tIns="0" rIns="0" bIns="0" rtlCol="0" anchor="ctr"/>
          <a:lstStyle/>
          <a:p>
            <a:pPr indent="0" marL="0">
              <a:buNone/>
            </a:pPr>
            <a:r>
              <a:rPr lang="en-US" sz="1250" dirty="0">
                <a:solidFill>
                  <a:srgbClr val="9A97A6"/>
                </a:solidFill>
                <a:latin typeface="Segoe UI" pitchFamily="34" charset="0"/>
                <a:ea typeface="Segoe UI" pitchFamily="34" charset="-122"/>
                <a:cs typeface="Segoe UI" pitchFamily="34" charset="-120"/>
              </a:rPr>
              <a:t>Only languages present in the repository.</a:t>
            </a:r>
            <a:endParaRPr lang="en-US" sz="1250" dirty="0"/>
          </a:p>
        </p:txBody>
      </p:sp>
      <p:sp>
        <p:nvSpPr>
          <p:cNvPr id="20" name="Text 18"/>
          <p:cNvSpPr/>
          <p:nvPr/>
        </p:nvSpPr>
        <p:spPr>
          <a:xfrm>
            <a:off x="566928" y="6492240"/>
            <a:ext cx="2743200" cy="256032"/>
          </a:xfrm>
          <a:prstGeom prst="rect">
            <a:avLst/>
          </a:prstGeom>
          <a:noFill/>
          <a:ln/>
        </p:spPr>
        <p:txBody>
          <a:bodyPr wrap="square" lIns="0" tIns="0" rIns="0" bIns="0" rtlCol="0" anchor="ctr"/>
          <a:lstStyle/>
          <a:p>
            <a:pPr indent="0" marL="0">
              <a:buNone/>
            </a:pPr>
            <a:r>
              <a:rPr lang="en-US" sz="850" b="1" spc="300" kern="0" dirty="0">
                <a:solidFill>
                  <a:srgbClr val="5C5966"/>
                </a:solidFill>
                <a:latin typeface="Bahnschrift" pitchFamily="34" charset="0"/>
                <a:ea typeface="Bahnschrift" pitchFamily="34" charset="-122"/>
                <a:cs typeface="Bahnschrift" pitchFamily="34" charset="-120"/>
              </a:rPr>
              <a:t>CHESSFORK</a:t>
            </a:r>
            <a:endParaRPr lang="en-US" sz="850" dirty="0"/>
          </a:p>
        </p:txBody>
      </p:sp>
      <p:sp>
        <p:nvSpPr>
          <p:cNvPr id="21" name="Text 19"/>
          <p:cNvSpPr/>
          <p:nvPr/>
        </p:nvSpPr>
        <p:spPr>
          <a:xfrm>
            <a:off x="3840480" y="6492240"/>
            <a:ext cx="4572000" cy="256032"/>
          </a:xfrm>
          <a:prstGeom prst="rect">
            <a:avLst/>
          </a:prstGeom>
          <a:noFill/>
          <a:ln/>
        </p:spPr>
        <p:txBody>
          <a:bodyPr wrap="square" lIns="0" tIns="0" rIns="0" bIns="0" rtlCol="0" anchor="ctr"/>
          <a:lstStyle/>
          <a:p>
            <a:pPr indent="0" marL="0">
              <a:buNone/>
            </a:pPr>
            <a:r>
              <a:rPr lang="en-US" sz="800" spc="150" kern="0" dirty="0">
                <a:solidFill>
                  <a:srgbClr val="5C5966"/>
                </a:solidFill>
                <a:latin typeface="Segoe UI" pitchFamily="34" charset="0"/>
                <a:ea typeface="Segoe UI" pitchFamily="34" charset="-122"/>
                <a:cs typeface="Segoe UI" pitchFamily="34" charset="-120"/>
              </a:rPr>
              <a:t>BCA FINAL YEAR PROJECT · 2026</a:t>
            </a:r>
            <a:endParaRPr lang="en-US" sz="800" dirty="0"/>
          </a:p>
        </p:txBody>
      </p:sp>
      <p:sp>
        <p:nvSpPr>
          <p:cNvPr id="22" name="Text 20"/>
          <p:cNvSpPr/>
          <p:nvPr/>
        </p:nvSpPr>
        <p:spPr>
          <a:xfrm>
            <a:off x="11292840" y="6473952"/>
            <a:ext cx="365760" cy="274320"/>
          </a:xfrm>
          <a:prstGeom prst="rect">
            <a:avLst/>
          </a:prstGeom>
          <a:noFill/>
          <a:ln/>
        </p:spPr>
        <p:txBody>
          <a:bodyPr wrap="square" lIns="0" tIns="0" rIns="0" bIns="0" rtlCol="0" anchor="ctr"/>
          <a:lstStyle/>
          <a:p>
            <a:pPr algn="r" indent="0" marL="0">
              <a:buNone/>
            </a:pPr>
            <a:r>
              <a:rPr lang="en-US" sz="900" b="1" dirty="0">
                <a:solidFill>
                  <a:srgbClr val="5C5966"/>
                </a:solidFill>
                <a:latin typeface="Bahnschrift" pitchFamily="34" charset="0"/>
                <a:ea typeface="Bahnschrift" pitchFamily="34" charset="-122"/>
                <a:cs typeface="Bahnschrift" pitchFamily="34" charset="-120"/>
              </a:rPr>
              <a:t>10</a:t>
            </a:r>
            <a:endParaRPr lang="en-US" sz="900" dirty="0"/>
          </a:p>
        </p:txBody>
      </p:sp>
      <p:sp>
        <p:nvSpPr>
          <p:cNvPr id="23" name="Shape 21"/>
          <p:cNvSpPr/>
          <p:nvPr/>
        </p:nvSpPr>
        <p:spPr>
          <a:xfrm>
            <a:off x="566928" y="1874520"/>
            <a:ext cx="2121408" cy="3200400"/>
          </a:xfrm>
          <a:prstGeom prst="roundRect">
            <a:avLst>
              <a:gd name="adj" fmla="val 3017"/>
            </a:avLst>
          </a:prstGeom>
          <a:solidFill>
            <a:srgbClr val="15151B"/>
          </a:solidFill>
          <a:ln w="12700">
            <a:solidFill>
              <a:srgbClr val="26262F"/>
            </a:solidFill>
            <a:prstDash val="solid"/>
          </a:ln>
        </p:spPr>
      </p:sp>
      <p:sp>
        <p:nvSpPr>
          <p:cNvPr id="24" name="Text 22"/>
          <p:cNvSpPr/>
          <p:nvPr/>
        </p:nvSpPr>
        <p:spPr>
          <a:xfrm>
            <a:off x="749808" y="2057400"/>
            <a:ext cx="1371600" cy="365760"/>
          </a:xfrm>
          <a:prstGeom prst="rect">
            <a:avLst/>
          </a:prstGeom>
          <a:noFill/>
          <a:ln/>
        </p:spPr>
        <p:txBody>
          <a:bodyPr wrap="square" lIns="0" tIns="0" rIns="0" bIns="0" rtlCol="0" anchor="ctr"/>
          <a:lstStyle/>
          <a:p>
            <a:pPr indent="0" marL="0">
              <a:buNone/>
            </a:pPr>
            <a:r>
              <a:rPr lang="en-US" sz="2200" b="1" dirty="0">
                <a:solidFill>
                  <a:srgbClr val="FFC62A"/>
                </a:solidFill>
                <a:latin typeface="Bahnschrift" pitchFamily="34" charset="0"/>
                <a:ea typeface="Bahnschrift" pitchFamily="34" charset="-122"/>
                <a:cs typeface="Bahnschrift" pitchFamily="34" charset="-120"/>
              </a:rPr>
              <a:t>01</a:t>
            </a:r>
            <a:endParaRPr lang="en-US" sz="2200" dirty="0"/>
          </a:p>
        </p:txBody>
      </p:sp>
      <p:sp>
        <p:nvSpPr>
          <p:cNvPr id="25" name="Text 23"/>
          <p:cNvSpPr/>
          <p:nvPr/>
        </p:nvSpPr>
        <p:spPr>
          <a:xfrm>
            <a:off x="749808" y="2560320"/>
            <a:ext cx="1755648" cy="365760"/>
          </a:xfrm>
          <a:prstGeom prst="rect">
            <a:avLst/>
          </a:prstGeom>
          <a:noFill/>
          <a:ln/>
        </p:spPr>
        <p:txBody>
          <a:bodyPr wrap="square" lIns="0" tIns="0" rIns="0" bIns="0" rtlCol="0" anchor="ctr"/>
          <a:lstStyle/>
          <a:p>
            <a:pPr indent="0" marL="0">
              <a:buNone/>
            </a:pPr>
            <a:r>
              <a:rPr lang="en-US" sz="1500" b="1" dirty="0">
                <a:solidFill>
                  <a:srgbClr val="F5F2EA"/>
                </a:solidFill>
                <a:latin typeface="Bahnschrift" pitchFamily="34" charset="0"/>
                <a:ea typeface="Bahnschrift" pitchFamily="34" charset="-122"/>
                <a:cs typeface="Bahnschrift" pitchFamily="34" charset="-120"/>
              </a:rPr>
              <a:t>TypeScript</a:t>
            </a:r>
            <a:endParaRPr lang="en-US" sz="1500" dirty="0"/>
          </a:p>
        </p:txBody>
      </p:sp>
      <p:sp>
        <p:nvSpPr>
          <p:cNvPr id="26" name="Shape 24"/>
          <p:cNvSpPr/>
          <p:nvPr/>
        </p:nvSpPr>
        <p:spPr>
          <a:xfrm>
            <a:off x="749808" y="2971800"/>
            <a:ext cx="735178" cy="246888"/>
          </a:xfrm>
          <a:prstGeom prst="roundRect">
            <a:avLst>
              <a:gd name="adj" fmla="val 50000"/>
            </a:avLst>
          </a:prstGeom>
          <a:solidFill>
            <a:srgbClr val="2A2412"/>
          </a:solidFill>
          <a:ln w="9525">
            <a:solidFill>
              <a:srgbClr val="4A3D18"/>
            </a:solidFill>
            <a:prstDash val="solid"/>
          </a:ln>
        </p:spPr>
      </p:sp>
      <p:sp>
        <p:nvSpPr>
          <p:cNvPr id="27" name="Text 25"/>
          <p:cNvSpPr/>
          <p:nvPr/>
        </p:nvSpPr>
        <p:spPr>
          <a:xfrm>
            <a:off x="749808" y="2960827"/>
            <a:ext cx="735178" cy="269748"/>
          </a:xfrm>
          <a:prstGeom prst="rect">
            <a:avLst/>
          </a:prstGeom>
          <a:noFill/>
          <a:ln/>
        </p:spPr>
        <p:txBody>
          <a:bodyPr wrap="square" lIns="0" tIns="0" rIns="0" bIns="0" rtlCol="0" anchor="ctr"/>
          <a:lstStyle/>
          <a:p>
            <a:pPr algn="ctr" indent="0" marL="0">
              <a:buNone/>
            </a:pPr>
            <a:r>
              <a:rPr lang="en-US" sz="800" b="1" spc="80" kern="0" dirty="0">
                <a:solidFill>
                  <a:srgbClr val="FFC62A"/>
                </a:solidFill>
                <a:latin typeface="Segoe UI" pitchFamily="34" charset="0"/>
                <a:ea typeface="Segoe UI" pitchFamily="34" charset="-122"/>
                <a:cs typeface="Segoe UI" pitchFamily="34" charset="-120"/>
              </a:rPr>
              <a:t>PRIMARY</a:t>
            </a:r>
            <a:endParaRPr lang="en-US" sz="800" dirty="0"/>
          </a:p>
        </p:txBody>
      </p:sp>
      <p:sp>
        <p:nvSpPr>
          <p:cNvPr id="28" name="Text 26"/>
          <p:cNvSpPr/>
          <p:nvPr/>
        </p:nvSpPr>
        <p:spPr>
          <a:xfrm>
            <a:off x="749808" y="3355848"/>
            <a:ext cx="1755648" cy="1554480"/>
          </a:xfrm>
          <a:prstGeom prst="rect">
            <a:avLst/>
          </a:prstGeom>
          <a:noFill/>
          <a:ln/>
        </p:spPr>
        <p:txBody>
          <a:bodyPr wrap="square" lIns="0" tIns="0" rIns="0" bIns="0" rtlCol="0" anchor="t"/>
          <a:lstStyle/>
          <a:p>
            <a:pPr indent="0" marL="0">
              <a:lnSpc>
                <a:spcPct val="115000"/>
              </a:lnSpc>
              <a:buNone/>
            </a:pPr>
            <a:r>
              <a:rPr lang="en-US" sz="1000" dirty="0">
                <a:solidFill>
                  <a:srgbClr val="9A97A6"/>
                </a:solidFill>
                <a:latin typeface="Segoe UI" pitchFamily="34" charset="0"/>
                <a:ea typeface="Segoe UI" pitchFamily="34" charset="-122"/>
                <a:cs typeface="Segoe UI" pitchFamily="34" charset="-120"/>
              </a:rPr>
              <a:t>Entire application — Next.js pages, API routes, engine pipeline, Drizzle schema, tests.</a:t>
            </a:r>
            <a:endParaRPr lang="en-US" sz="1000" dirty="0"/>
          </a:p>
        </p:txBody>
      </p:sp>
      <p:sp>
        <p:nvSpPr>
          <p:cNvPr id="29" name="Shape 27"/>
          <p:cNvSpPr/>
          <p:nvPr/>
        </p:nvSpPr>
        <p:spPr>
          <a:xfrm>
            <a:off x="2852928" y="1874520"/>
            <a:ext cx="2121408" cy="3200400"/>
          </a:xfrm>
          <a:prstGeom prst="roundRect">
            <a:avLst>
              <a:gd name="adj" fmla="val 3017"/>
            </a:avLst>
          </a:prstGeom>
          <a:solidFill>
            <a:srgbClr val="15151B"/>
          </a:solidFill>
          <a:ln w="12700">
            <a:solidFill>
              <a:srgbClr val="26262F"/>
            </a:solidFill>
            <a:prstDash val="solid"/>
          </a:ln>
        </p:spPr>
      </p:sp>
      <p:sp>
        <p:nvSpPr>
          <p:cNvPr id="30" name="Text 28"/>
          <p:cNvSpPr/>
          <p:nvPr/>
        </p:nvSpPr>
        <p:spPr>
          <a:xfrm>
            <a:off x="3035808" y="2057400"/>
            <a:ext cx="1371600" cy="365760"/>
          </a:xfrm>
          <a:prstGeom prst="rect">
            <a:avLst/>
          </a:prstGeom>
          <a:noFill/>
          <a:ln/>
        </p:spPr>
        <p:txBody>
          <a:bodyPr wrap="square" lIns="0" tIns="0" rIns="0" bIns="0" rtlCol="0" anchor="ctr"/>
          <a:lstStyle/>
          <a:p>
            <a:pPr indent="0" marL="0">
              <a:buNone/>
            </a:pPr>
            <a:r>
              <a:rPr lang="en-US" sz="2200" b="1" dirty="0">
                <a:solidFill>
                  <a:srgbClr val="FFC62A"/>
                </a:solidFill>
                <a:latin typeface="Bahnschrift" pitchFamily="34" charset="0"/>
                <a:ea typeface="Bahnschrift" pitchFamily="34" charset="-122"/>
                <a:cs typeface="Bahnschrift" pitchFamily="34" charset="-120"/>
              </a:rPr>
              <a:t>02</a:t>
            </a:r>
            <a:endParaRPr lang="en-US" sz="2200" dirty="0"/>
          </a:p>
        </p:txBody>
      </p:sp>
      <p:sp>
        <p:nvSpPr>
          <p:cNvPr id="31" name="Text 29"/>
          <p:cNvSpPr/>
          <p:nvPr/>
        </p:nvSpPr>
        <p:spPr>
          <a:xfrm>
            <a:off x="3035808" y="2560320"/>
            <a:ext cx="1755648" cy="365760"/>
          </a:xfrm>
          <a:prstGeom prst="rect">
            <a:avLst/>
          </a:prstGeom>
          <a:noFill/>
          <a:ln/>
        </p:spPr>
        <p:txBody>
          <a:bodyPr wrap="square" lIns="0" tIns="0" rIns="0" bIns="0" rtlCol="0" anchor="ctr"/>
          <a:lstStyle/>
          <a:p>
            <a:pPr indent="0" marL="0">
              <a:buNone/>
            </a:pPr>
            <a:r>
              <a:rPr lang="en-US" sz="1500" b="1" dirty="0">
                <a:solidFill>
                  <a:srgbClr val="F5F2EA"/>
                </a:solidFill>
                <a:latin typeface="Bahnschrift" pitchFamily="34" charset="0"/>
                <a:ea typeface="Bahnschrift" pitchFamily="34" charset="-122"/>
                <a:cs typeface="Bahnschrift" pitchFamily="34" charset="-120"/>
              </a:rPr>
              <a:t>JavaScript</a:t>
            </a:r>
            <a:endParaRPr lang="en-US" sz="1500" dirty="0"/>
          </a:p>
        </p:txBody>
      </p:sp>
      <p:sp>
        <p:nvSpPr>
          <p:cNvPr id="32" name="Shape 30"/>
          <p:cNvSpPr/>
          <p:nvPr/>
        </p:nvSpPr>
        <p:spPr>
          <a:xfrm>
            <a:off x="3035808" y="2971800"/>
            <a:ext cx="1393546" cy="246888"/>
          </a:xfrm>
          <a:prstGeom prst="roundRect">
            <a:avLst>
              <a:gd name="adj" fmla="val 50000"/>
            </a:avLst>
          </a:prstGeom>
          <a:solidFill>
            <a:srgbClr val="2A2412"/>
          </a:solidFill>
          <a:ln w="9525">
            <a:solidFill>
              <a:srgbClr val="4A3D18"/>
            </a:solidFill>
            <a:prstDash val="solid"/>
          </a:ln>
        </p:spPr>
      </p:sp>
      <p:sp>
        <p:nvSpPr>
          <p:cNvPr id="33" name="Text 31"/>
          <p:cNvSpPr/>
          <p:nvPr/>
        </p:nvSpPr>
        <p:spPr>
          <a:xfrm>
            <a:off x="3035808" y="2960827"/>
            <a:ext cx="1393546" cy="269748"/>
          </a:xfrm>
          <a:prstGeom prst="rect">
            <a:avLst/>
          </a:prstGeom>
          <a:noFill/>
          <a:ln/>
        </p:spPr>
        <p:txBody>
          <a:bodyPr wrap="square" lIns="0" tIns="0" rIns="0" bIns="0" rtlCol="0" anchor="ctr"/>
          <a:lstStyle/>
          <a:p>
            <a:pPr algn="ctr" indent="0" marL="0">
              <a:buNone/>
            </a:pPr>
            <a:r>
              <a:rPr lang="en-US" sz="800" b="1" spc="80" kern="0" dirty="0">
                <a:solidFill>
                  <a:srgbClr val="FFC62A"/>
                </a:solidFill>
                <a:latin typeface="Segoe UI" pitchFamily="34" charset="0"/>
                <a:ea typeface="Segoe UI" pitchFamily="34" charset="-122"/>
                <a:cs typeface="Segoe UI" pitchFamily="34" charset="-120"/>
              </a:rPr>
              <a:t>WORKERS &amp; SCRIPTS</a:t>
            </a:r>
            <a:endParaRPr lang="en-US" sz="800" dirty="0"/>
          </a:p>
        </p:txBody>
      </p:sp>
      <p:sp>
        <p:nvSpPr>
          <p:cNvPr id="34" name="Text 32"/>
          <p:cNvSpPr/>
          <p:nvPr/>
        </p:nvSpPr>
        <p:spPr>
          <a:xfrm>
            <a:off x="3035808" y="3355848"/>
            <a:ext cx="1755648" cy="1554480"/>
          </a:xfrm>
          <a:prstGeom prst="rect">
            <a:avLst/>
          </a:prstGeom>
          <a:noFill/>
          <a:ln/>
        </p:spPr>
        <p:txBody>
          <a:bodyPr wrap="square" lIns="0" tIns="0" rIns="0" bIns="0" rtlCol="0" anchor="t"/>
          <a:lstStyle/>
          <a:p>
            <a:pPr indent="0" marL="0">
              <a:lnSpc>
                <a:spcPct val="115000"/>
              </a:lnSpc>
              <a:buNone/>
            </a:pPr>
            <a:r>
              <a:rPr lang="en-US" sz="1000" dirty="0">
                <a:solidFill>
                  <a:srgbClr val="9A97A6"/>
                </a:solidFill>
                <a:latin typeface="Segoe UI" pitchFamily="34" charset="0"/>
                <a:ea typeface="Segoe UI" pitchFamily="34" charset="-122"/>
                <a:cs typeface="Segoe UI" pitchFamily="34" charset="-120"/>
              </a:rPr>
              <a:t>Stockfish WASM wrapper workers, service worker (PWA), build scripts.</a:t>
            </a:r>
            <a:endParaRPr lang="en-US" sz="1000" dirty="0"/>
          </a:p>
        </p:txBody>
      </p:sp>
      <p:sp>
        <p:nvSpPr>
          <p:cNvPr id="35" name="Shape 33"/>
          <p:cNvSpPr/>
          <p:nvPr/>
        </p:nvSpPr>
        <p:spPr>
          <a:xfrm>
            <a:off x="5138928" y="1874520"/>
            <a:ext cx="2121408" cy="3200400"/>
          </a:xfrm>
          <a:prstGeom prst="roundRect">
            <a:avLst>
              <a:gd name="adj" fmla="val 3017"/>
            </a:avLst>
          </a:prstGeom>
          <a:solidFill>
            <a:srgbClr val="15151B"/>
          </a:solidFill>
          <a:ln w="12700">
            <a:solidFill>
              <a:srgbClr val="26262F"/>
            </a:solidFill>
            <a:prstDash val="solid"/>
          </a:ln>
        </p:spPr>
      </p:sp>
      <p:sp>
        <p:nvSpPr>
          <p:cNvPr id="36" name="Text 34"/>
          <p:cNvSpPr/>
          <p:nvPr/>
        </p:nvSpPr>
        <p:spPr>
          <a:xfrm>
            <a:off x="5321808" y="2057400"/>
            <a:ext cx="1371600" cy="365760"/>
          </a:xfrm>
          <a:prstGeom prst="rect">
            <a:avLst/>
          </a:prstGeom>
          <a:noFill/>
          <a:ln/>
        </p:spPr>
        <p:txBody>
          <a:bodyPr wrap="square" lIns="0" tIns="0" rIns="0" bIns="0" rtlCol="0" anchor="ctr"/>
          <a:lstStyle/>
          <a:p>
            <a:pPr indent="0" marL="0">
              <a:buNone/>
            </a:pPr>
            <a:r>
              <a:rPr lang="en-US" sz="2200" b="1" dirty="0">
                <a:solidFill>
                  <a:srgbClr val="FFC62A"/>
                </a:solidFill>
                <a:latin typeface="Bahnschrift" pitchFamily="34" charset="0"/>
                <a:ea typeface="Bahnschrift" pitchFamily="34" charset="-122"/>
                <a:cs typeface="Bahnschrift" pitchFamily="34" charset="-120"/>
              </a:rPr>
              <a:t>03</a:t>
            </a:r>
            <a:endParaRPr lang="en-US" sz="2200" dirty="0"/>
          </a:p>
        </p:txBody>
      </p:sp>
      <p:sp>
        <p:nvSpPr>
          <p:cNvPr id="37" name="Text 35"/>
          <p:cNvSpPr/>
          <p:nvPr/>
        </p:nvSpPr>
        <p:spPr>
          <a:xfrm>
            <a:off x="5321808" y="2560320"/>
            <a:ext cx="1755648" cy="365760"/>
          </a:xfrm>
          <a:prstGeom prst="rect">
            <a:avLst/>
          </a:prstGeom>
          <a:noFill/>
          <a:ln/>
        </p:spPr>
        <p:txBody>
          <a:bodyPr wrap="square" lIns="0" tIns="0" rIns="0" bIns="0" rtlCol="0" anchor="ctr"/>
          <a:lstStyle/>
          <a:p>
            <a:pPr indent="0" marL="0">
              <a:buNone/>
            </a:pPr>
            <a:r>
              <a:rPr lang="en-US" sz="1500" b="1" dirty="0">
                <a:solidFill>
                  <a:srgbClr val="F5F2EA"/>
                </a:solidFill>
                <a:latin typeface="Bahnschrift" pitchFamily="34" charset="0"/>
                <a:ea typeface="Bahnschrift" pitchFamily="34" charset="-122"/>
                <a:cs typeface="Bahnschrift" pitchFamily="34" charset="-120"/>
              </a:rPr>
              <a:t>SQL</a:t>
            </a:r>
            <a:endParaRPr lang="en-US" sz="1500" dirty="0"/>
          </a:p>
        </p:txBody>
      </p:sp>
      <p:sp>
        <p:nvSpPr>
          <p:cNvPr id="38" name="Shape 36"/>
          <p:cNvSpPr/>
          <p:nvPr/>
        </p:nvSpPr>
        <p:spPr>
          <a:xfrm>
            <a:off x="5321808" y="2971800"/>
            <a:ext cx="801014" cy="246888"/>
          </a:xfrm>
          <a:prstGeom prst="roundRect">
            <a:avLst>
              <a:gd name="adj" fmla="val 50000"/>
            </a:avLst>
          </a:prstGeom>
          <a:solidFill>
            <a:srgbClr val="2A2412"/>
          </a:solidFill>
          <a:ln w="9525">
            <a:solidFill>
              <a:srgbClr val="4A3D18"/>
            </a:solidFill>
            <a:prstDash val="solid"/>
          </a:ln>
        </p:spPr>
      </p:sp>
      <p:sp>
        <p:nvSpPr>
          <p:cNvPr id="39" name="Text 37"/>
          <p:cNvSpPr/>
          <p:nvPr/>
        </p:nvSpPr>
        <p:spPr>
          <a:xfrm>
            <a:off x="5321808" y="2960827"/>
            <a:ext cx="801014" cy="269748"/>
          </a:xfrm>
          <a:prstGeom prst="rect">
            <a:avLst/>
          </a:prstGeom>
          <a:noFill/>
          <a:ln/>
        </p:spPr>
        <p:txBody>
          <a:bodyPr wrap="square" lIns="0" tIns="0" rIns="0" bIns="0" rtlCol="0" anchor="ctr"/>
          <a:lstStyle/>
          <a:p>
            <a:pPr algn="ctr" indent="0" marL="0">
              <a:buNone/>
            </a:pPr>
            <a:r>
              <a:rPr lang="en-US" sz="800" b="1" spc="80" kern="0" dirty="0">
                <a:solidFill>
                  <a:srgbClr val="FFC62A"/>
                </a:solidFill>
                <a:latin typeface="Segoe UI" pitchFamily="34" charset="0"/>
                <a:ea typeface="Segoe UI" pitchFamily="34" charset="-122"/>
                <a:cs typeface="Segoe UI" pitchFamily="34" charset="-120"/>
              </a:rPr>
              <a:t>DATABASE</a:t>
            </a:r>
            <a:endParaRPr lang="en-US" sz="800" dirty="0"/>
          </a:p>
        </p:txBody>
      </p:sp>
      <p:sp>
        <p:nvSpPr>
          <p:cNvPr id="40" name="Text 38"/>
          <p:cNvSpPr/>
          <p:nvPr/>
        </p:nvSpPr>
        <p:spPr>
          <a:xfrm>
            <a:off x="5321808" y="3355848"/>
            <a:ext cx="1755648" cy="1554480"/>
          </a:xfrm>
          <a:prstGeom prst="rect">
            <a:avLst/>
          </a:prstGeom>
          <a:noFill/>
          <a:ln/>
        </p:spPr>
        <p:txBody>
          <a:bodyPr wrap="square" lIns="0" tIns="0" rIns="0" bIns="0" rtlCol="0" anchor="t"/>
          <a:lstStyle/>
          <a:p>
            <a:pPr indent="0" marL="0">
              <a:lnSpc>
                <a:spcPct val="115000"/>
              </a:lnSpc>
              <a:buNone/>
            </a:pPr>
            <a:r>
              <a:rPr lang="en-US" sz="1000" dirty="0">
                <a:solidFill>
                  <a:srgbClr val="9A97A6"/>
                </a:solidFill>
                <a:latin typeface="Segoe UI" pitchFamily="34" charset="0"/>
                <a:ea typeface="Segoe UI" pitchFamily="34" charset="-122"/>
                <a:cs typeface="Segoe UI" pitchFamily="34" charset="-120"/>
              </a:rPr>
              <a:t>PostgreSQL schema — 12 tables via Drizzle migrations (drizzle/*.sql).</a:t>
            </a:r>
            <a:endParaRPr lang="en-US" sz="1000" dirty="0"/>
          </a:p>
        </p:txBody>
      </p:sp>
      <p:sp>
        <p:nvSpPr>
          <p:cNvPr id="41" name="Shape 39"/>
          <p:cNvSpPr/>
          <p:nvPr/>
        </p:nvSpPr>
        <p:spPr>
          <a:xfrm>
            <a:off x="7424928" y="1874520"/>
            <a:ext cx="2121408" cy="3200400"/>
          </a:xfrm>
          <a:prstGeom prst="roundRect">
            <a:avLst>
              <a:gd name="adj" fmla="val 3017"/>
            </a:avLst>
          </a:prstGeom>
          <a:solidFill>
            <a:srgbClr val="15151B"/>
          </a:solidFill>
          <a:ln w="12700">
            <a:solidFill>
              <a:srgbClr val="26262F"/>
            </a:solidFill>
            <a:prstDash val="solid"/>
          </a:ln>
        </p:spPr>
      </p:sp>
      <p:sp>
        <p:nvSpPr>
          <p:cNvPr id="42" name="Text 40"/>
          <p:cNvSpPr/>
          <p:nvPr/>
        </p:nvSpPr>
        <p:spPr>
          <a:xfrm>
            <a:off x="7607808" y="2057400"/>
            <a:ext cx="1371600" cy="365760"/>
          </a:xfrm>
          <a:prstGeom prst="rect">
            <a:avLst/>
          </a:prstGeom>
          <a:noFill/>
          <a:ln/>
        </p:spPr>
        <p:txBody>
          <a:bodyPr wrap="square" lIns="0" tIns="0" rIns="0" bIns="0" rtlCol="0" anchor="ctr"/>
          <a:lstStyle/>
          <a:p>
            <a:pPr indent="0" marL="0">
              <a:buNone/>
            </a:pPr>
            <a:r>
              <a:rPr lang="en-US" sz="2200" b="1" dirty="0">
                <a:solidFill>
                  <a:srgbClr val="FFC62A"/>
                </a:solidFill>
                <a:latin typeface="Bahnschrift" pitchFamily="34" charset="0"/>
                <a:ea typeface="Bahnschrift" pitchFamily="34" charset="-122"/>
                <a:cs typeface="Bahnschrift" pitchFamily="34" charset="-120"/>
              </a:rPr>
              <a:t>04</a:t>
            </a:r>
            <a:endParaRPr lang="en-US" sz="2200" dirty="0"/>
          </a:p>
        </p:txBody>
      </p:sp>
      <p:sp>
        <p:nvSpPr>
          <p:cNvPr id="43" name="Text 41"/>
          <p:cNvSpPr/>
          <p:nvPr/>
        </p:nvSpPr>
        <p:spPr>
          <a:xfrm>
            <a:off x="7607808" y="2560320"/>
            <a:ext cx="1755648" cy="365760"/>
          </a:xfrm>
          <a:prstGeom prst="rect">
            <a:avLst/>
          </a:prstGeom>
          <a:noFill/>
          <a:ln/>
        </p:spPr>
        <p:txBody>
          <a:bodyPr wrap="square" lIns="0" tIns="0" rIns="0" bIns="0" rtlCol="0" anchor="ctr"/>
          <a:lstStyle/>
          <a:p>
            <a:pPr indent="0" marL="0">
              <a:buNone/>
            </a:pPr>
            <a:r>
              <a:rPr lang="en-US" sz="1500" b="1" dirty="0">
                <a:solidFill>
                  <a:srgbClr val="F5F2EA"/>
                </a:solidFill>
                <a:latin typeface="Bahnschrift" pitchFamily="34" charset="0"/>
                <a:ea typeface="Bahnschrift" pitchFamily="34" charset="-122"/>
                <a:cs typeface="Bahnschrift" pitchFamily="34" charset="-120"/>
              </a:rPr>
              <a:t>HTML / JSX</a:t>
            </a:r>
            <a:endParaRPr lang="en-US" sz="1500" dirty="0"/>
          </a:p>
        </p:txBody>
      </p:sp>
      <p:sp>
        <p:nvSpPr>
          <p:cNvPr id="44" name="Shape 42"/>
          <p:cNvSpPr/>
          <p:nvPr/>
        </p:nvSpPr>
        <p:spPr>
          <a:xfrm>
            <a:off x="7607808" y="2971800"/>
            <a:ext cx="669341" cy="246888"/>
          </a:xfrm>
          <a:prstGeom prst="roundRect">
            <a:avLst>
              <a:gd name="adj" fmla="val 50000"/>
            </a:avLst>
          </a:prstGeom>
          <a:solidFill>
            <a:srgbClr val="2A2412"/>
          </a:solidFill>
          <a:ln w="9525">
            <a:solidFill>
              <a:srgbClr val="4A3D18"/>
            </a:solidFill>
            <a:prstDash val="solid"/>
          </a:ln>
        </p:spPr>
      </p:sp>
      <p:sp>
        <p:nvSpPr>
          <p:cNvPr id="45" name="Text 43"/>
          <p:cNvSpPr/>
          <p:nvPr/>
        </p:nvSpPr>
        <p:spPr>
          <a:xfrm>
            <a:off x="7607808" y="2960827"/>
            <a:ext cx="669341" cy="269748"/>
          </a:xfrm>
          <a:prstGeom prst="rect">
            <a:avLst/>
          </a:prstGeom>
          <a:noFill/>
          <a:ln/>
        </p:spPr>
        <p:txBody>
          <a:bodyPr wrap="square" lIns="0" tIns="0" rIns="0" bIns="0" rtlCol="0" anchor="ctr"/>
          <a:lstStyle/>
          <a:p>
            <a:pPr algn="ctr" indent="0" marL="0">
              <a:buNone/>
            </a:pPr>
            <a:r>
              <a:rPr lang="en-US" sz="800" b="1" spc="80" kern="0" dirty="0">
                <a:solidFill>
                  <a:srgbClr val="FFC62A"/>
                </a:solidFill>
                <a:latin typeface="Segoe UI" pitchFamily="34" charset="0"/>
                <a:ea typeface="Segoe UI" pitchFamily="34" charset="-122"/>
                <a:cs typeface="Segoe UI" pitchFamily="34" charset="-120"/>
              </a:rPr>
              <a:t>MARKUP</a:t>
            </a:r>
            <a:endParaRPr lang="en-US" sz="800" dirty="0"/>
          </a:p>
        </p:txBody>
      </p:sp>
      <p:sp>
        <p:nvSpPr>
          <p:cNvPr id="46" name="Text 44"/>
          <p:cNvSpPr/>
          <p:nvPr/>
        </p:nvSpPr>
        <p:spPr>
          <a:xfrm>
            <a:off x="7607808" y="3355848"/>
            <a:ext cx="1755648" cy="1554480"/>
          </a:xfrm>
          <a:prstGeom prst="rect">
            <a:avLst/>
          </a:prstGeom>
          <a:noFill/>
          <a:ln/>
        </p:spPr>
        <p:txBody>
          <a:bodyPr wrap="square" lIns="0" tIns="0" rIns="0" bIns="0" rtlCol="0" anchor="t"/>
          <a:lstStyle/>
          <a:p>
            <a:pPr indent="0" marL="0">
              <a:lnSpc>
                <a:spcPct val="115000"/>
              </a:lnSpc>
              <a:buNone/>
            </a:pPr>
            <a:r>
              <a:rPr lang="en-US" sz="1000" dirty="0">
                <a:solidFill>
                  <a:srgbClr val="9A97A6"/>
                </a:solidFill>
                <a:latin typeface="Segoe UI" pitchFamily="34" charset="0"/>
                <a:ea typeface="Segoe UI" pitchFamily="34" charset="-122"/>
                <a:cs typeface="Segoe UI" pitchFamily="34" charset="-120"/>
              </a:rPr>
              <a:t>All UI rendered as React JSX components.</a:t>
            </a:r>
            <a:endParaRPr lang="en-US" sz="1000" dirty="0"/>
          </a:p>
        </p:txBody>
      </p:sp>
      <p:sp>
        <p:nvSpPr>
          <p:cNvPr id="47" name="Shape 45"/>
          <p:cNvSpPr/>
          <p:nvPr/>
        </p:nvSpPr>
        <p:spPr>
          <a:xfrm>
            <a:off x="9710928" y="1874520"/>
            <a:ext cx="2121408" cy="3200400"/>
          </a:xfrm>
          <a:prstGeom prst="roundRect">
            <a:avLst>
              <a:gd name="adj" fmla="val 3017"/>
            </a:avLst>
          </a:prstGeom>
          <a:solidFill>
            <a:srgbClr val="15151B"/>
          </a:solidFill>
          <a:ln w="12700">
            <a:solidFill>
              <a:srgbClr val="26262F"/>
            </a:solidFill>
            <a:prstDash val="solid"/>
          </a:ln>
        </p:spPr>
      </p:sp>
      <p:sp>
        <p:nvSpPr>
          <p:cNvPr id="48" name="Text 46"/>
          <p:cNvSpPr/>
          <p:nvPr/>
        </p:nvSpPr>
        <p:spPr>
          <a:xfrm>
            <a:off x="9893808" y="2057400"/>
            <a:ext cx="1371600" cy="365760"/>
          </a:xfrm>
          <a:prstGeom prst="rect">
            <a:avLst/>
          </a:prstGeom>
          <a:noFill/>
          <a:ln/>
        </p:spPr>
        <p:txBody>
          <a:bodyPr wrap="square" lIns="0" tIns="0" rIns="0" bIns="0" rtlCol="0" anchor="ctr"/>
          <a:lstStyle/>
          <a:p>
            <a:pPr indent="0" marL="0">
              <a:buNone/>
            </a:pPr>
            <a:r>
              <a:rPr lang="en-US" sz="2200" b="1" dirty="0">
                <a:solidFill>
                  <a:srgbClr val="FFC62A"/>
                </a:solidFill>
                <a:latin typeface="Bahnschrift" pitchFamily="34" charset="0"/>
                <a:ea typeface="Bahnschrift" pitchFamily="34" charset="-122"/>
                <a:cs typeface="Bahnschrift" pitchFamily="34" charset="-120"/>
              </a:rPr>
              <a:t>05</a:t>
            </a:r>
            <a:endParaRPr lang="en-US" sz="2200" dirty="0"/>
          </a:p>
        </p:txBody>
      </p:sp>
      <p:sp>
        <p:nvSpPr>
          <p:cNvPr id="49" name="Text 47"/>
          <p:cNvSpPr/>
          <p:nvPr/>
        </p:nvSpPr>
        <p:spPr>
          <a:xfrm>
            <a:off x="9893808" y="2560320"/>
            <a:ext cx="1755648" cy="365760"/>
          </a:xfrm>
          <a:prstGeom prst="rect">
            <a:avLst/>
          </a:prstGeom>
          <a:noFill/>
          <a:ln/>
        </p:spPr>
        <p:txBody>
          <a:bodyPr wrap="square" lIns="0" tIns="0" rIns="0" bIns="0" rtlCol="0" anchor="ctr"/>
          <a:lstStyle/>
          <a:p>
            <a:pPr indent="0" marL="0">
              <a:buNone/>
            </a:pPr>
            <a:r>
              <a:rPr lang="en-US" sz="1500" b="1" dirty="0">
                <a:solidFill>
                  <a:srgbClr val="F5F2EA"/>
                </a:solidFill>
                <a:latin typeface="Bahnschrift" pitchFamily="34" charset="0"/>
                <a:ea typeface="Bahnschrift" pitchFamily="34" charset="-122"/>
                <a:cs typeface="Bahnschrift" pitchFamily="34" charset="-120"/>
              </a:rPr>
              <a:t>CSS</a:t>
            </a:r>
            <a:endParaRPr lang="en-US" sz="1500" dirty="0"/>
          </a:p>
        </p:txBody>
      </p:sp>
      <p:sp>
        <p:nvSpPr>
          <p:cNvPr id="50" name="Shape 48"/>
          <p:cNvSpPr/>
          <p:nvPr/>
        </p:nvSpPr>
        <p:spPr>
          <a:xfrm>
            <a:off x="9893808" y="2971800"/>
            <a:ext cx="735178" cy="246888"/>
          </a:xfrm>
          <a:prstGeom prst="roundRect">
            <a:avLst>
              <a:gd name="adj" fmla="val 50000"/>
            </a:avLst>
          </a:prstGeom>
          <a:solidFill>
            <a:srgbClr val="2A2412"/>
          </a:solidFill>
          <a:ln w="9525">
            <a:solidFill>
              <a:srgbClr val="4A3D18"/>
            </a:solidFill>
            <a:prstDash val="solid"/>
          </a:ln>
        </p:spPr>
      </p:sp>
      <p:sp>
        <p:nvSpPr>
          <p:cNvPr id="51" name="Text 49"/>
          <p:cNvSpPr/>
          <p:nvPr/>
        </p:nvSpPr>
        <p:spPr>
          <a:xfrm>
            <a:off x="9893808" y="2960827"/>
            <a:ext cx="735178" cy="269748"/>
          </a:xfrm>
          <a:prstGeom prst="rect">
            <a:avLst/>
          </a:prstGeom>
          <a:noFill/>
          <a:ln/>
        </p:spPr>
        <p:txBody>
          <a:bodyPr wrap="square" lIns="0" tIns="0" rIns="0" bIns="0" rtlCol="0" anchor="ctr"/>
          <a:lstStyle/>
          <a:p>
            <a:pPr algn="ctr" indent="0" marL="0">
              <a:buNone/>
            </a:pPr>
            <a:r>
              <a:rPr lang="en-US" sz="800" b="1" spc="80" kern="0" dirty="0">
                <a:solidFill>
                  <a:srgbClr val="FFC62A"/>
                </a:solidFill>
                <a:latin typeface="Segoe UI" pitchFamily="34" charset="0"/>
                <a:ea typeface="Segoe UI" pitchFamily="34" charset="-122"/>
                <a:cs typeface="Segoe UI" pitchFamily="34" charset="-120"/>
              </a:rPr>
              <a:t>STYLING</a:t>
            </a:r>
            <a:endParaRPr lang="en-US" sz="800" dirty="0"/>
          </a:p>
        </p:txBody>
      </p:sp>
      <p:sp>
        <p:nvSpPr>
          <p:cNvPr id="52" name="Text 50"/>
          <p:cNvSpPr/>
          <p:nvPr/>
        </p:nvSpPr>
        <p:spPr>
          <a:xfrm>
            <a:off x="9893808" y="3355848"/>
            <a:ext cx="1755648" cy="1554480"/>
          </a:xfrm>
          <a:prstGeom prst="rect">
            <a:avLst/>
          </a:prstGeom>
          <a:noFill/>
          <a:ln/>
        </p:spPr>
        <p:txBody>
          <a:bodyPr wrap="square" lIns="0" tIns="0" rIns="0" bIns="0" rtlCol="0" anchor="t"/>
          <a:lstStyle/>
          <a:p>
            <a:pPr indent="0" marL="0">
              <a:lnSpc>
                <a:spcPct val="115000"/>
              </a:lnSpc>
              <a:buNone/>
            </a:pPr>
            <a:r>
              <a:rPr lang="en-US" sz="1000" dirty="0">
                <a:solidFill>
                  <a:srgbClr val="9A97A6"/>
                </a:solidFill>
                <a:latin typeface="Segoe UI" pitchFamily="34" charset="0"/>
                <a:ea typeface="Segoe UI" pitchFamily="34" charset="-122"/>
                <a:cs typeface="Segoe UI" pitchFamily="34" charset="-120"/>
              </a:rPr>
              <a:t>Tailwind CSS v4 utility system + global stylesheet.</a:t>
            </a:r>
            <a:endParaRPr lang="en-US" sz="1000" dirty="0"/>
          </a:p>
        </p:txBody>
      </p:sp>
      <p:sp>
        <p:nvSpPr>
          <p:cNvPr id="53" name="Shape 51"/>
          <p:cNvSpPr/>
          <p:nvPr/>
        </p:nvSpPr>
        <p:spPr>
          <a:xfrm>
            <a:off x="566928" y="5440680"/>
            <a:ext cx="11064240" cy="566928"/>
          </a:xfrm>
          <a:prstGeom prst="roundRect">
            <a:avLst>
              <a:gd name="adj" fmla="val 12903"/>
            </a:avLst>
          </a:prstGeom>
          <a:solidFill>
            <a:srgbClr val="12141A"/>
          </a:solidFill>
          <a:ln w="12700">
            <a:solidFill>
              <a:srgbClr val="2A2A35"/>
            </a:solidFill>
            <a:prstDash val="solid"/>
          </a:ln>
        </p:spPr>
      </p:sp>
      <p:sp>
        <p:nvSpPr>
          <p:cNvPr id="54" name="Text 52"/>
          <p:cNvSpPr/>
          <p:nvPr/>
        </p:nvSpPr>
        <p:spPr>
          <a:xfrm>
            <a:off x="822960" y="5440680"/>
            <a:ext cx="10515600" cy="566928"/>
          </a:xfrm>
          <a:prstGeom prst="rect">
            <a:avLst/>
          </a:prstGeom>
          <a:noFill/>
          <a:ln/>
        </p:spPr>
        <p:txBody>
          <a:bodyPr wrap="square" lIns="0" tIns="0" rIns="0" bIns="0" rtlCol="0" anchor="ctr"/>
          <a:lstStyle/>
          <a:p>
            <a:pPr indent="0" marL="0">
              <a:buNone/>
            </a:pPr>
            <a:r>
              <a:rPr lang="en-US" sz="1050" b="1" spc="200" kern="0" dirty="0">
                <a:solidFill>
                  <a:srgbClr val="FFC62A"/>
                </a:solidFill>
                <a:latin typeface="Bahnschrift" pitchFamily="34" charset="0"/>
                <a:ea typeface="Bahnschrift" pitchFamily="34" charset="-122"/>
                <a:cs typeface="Bahnschrift" pitchFamily="34" charset="-120"/>
              </a:rPr>
              <a:t>NOTABLE  </a:t>
            </a:r>
            <a:pPr indent="0" marL="0">
              <a:buNone/>
            </a:pPr>
            <a:r>
              <a:rPr lang="en-US" sz="1050" dirty="0">
                <a:solidFill>
                  <a:srgbClr val="9A97A6"/>
                </a:solidFill>
              </a:rPr>
              <a:t>A single language across frontend and backend keeps the codebase small and auditable — roughly 130 source files, 12 Vitest suites, 1 Playwright e2e spec.</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0B0F"/>
        </a:solidFill>
      </p:bgPr>
    </p:bg>
    <p:spTree>
      <p:nvGrpSpPr>
        <p:cNvPr id="1" name=""/>
        <p:cNvGrpSpPr/>
        <p:nvPr/>
      </p:nvGrpSpPr>
      <p:grpSpPr>
        <a:xfrm>
          <a:off x="0" y="0"/>
          <a:ext cx="0" cy="0"/>
          <a:chOff x="0" y="0"/>
          <a:chExt cx="0" cy="0"/>
        </a:xfrm>
      </p:grpSpPr>
      <p:sp>
        <p:nvSpPr>
          <p:cNvPr id="2" name="Shape 0"/>
          <p:cNvSpPr/>
          <p:nvPr/>
        </p:nvSpPr>
        <p:spPr>
          <a:xfrm>
            <a:off x="10716768" y="292608"/>
            <a:ext cx="155448" cy="155448"/>
          </a:xfrm>
          <a:prstGeom prst="rect">
            <a:avLst/>
          </a:prstGeom>
          <a:solidFill>
            <a:srgbClr val="14141A"/>
          </a:solidFill>
          <a:ln/>
        </p:spPr>
      </p:sp>
      <p:sp>
        <p:nvSpPr>
          <p:cNvPr id="3" name="Shape 1"/>
          <p:cNvSpPr/>
          <p:nvPr/>
        </p:nvSpPr>
        <p:spPr>
          <a:xfrm>
            <a:off x="11027664" y="292608"/>
            <a:ext cx="155448" cy="155448"/>
          </a:xfrm>
          <a:prstGeom prst="rect">
            <a:avLst/>
          </a:prstGeom>
          <a:solidFill>
            <a:srgbClr val="14141A"/>
          </a:solidFill>
          <a:ln/>
        </p:spPr>
      </p:sp>
      <p:sp>
        <p:nvSpPr>
          <p:cNvPr id="4" name="Shape 2"/>
          <p:cNvSpPr/>
          <p:nvPr/>
        </p:nvSpPr>
        <p:spPr>
          <a:xfrm>
            <a:off x="10561320" y="448056"/>
            <a:ext cx="155448" cy="155448"/>
          </a:xfrm>
          <a:prstGeom prst="rect">
            <a:avLst/>
          </a:prstGeom>
          <a:solidFill>
            <a:srgbClr val="14141A"/>
          </a:solidFill>
          <a:ln/>
        </p:spPr>
      </p:sp>
      <p:sp>
        <p:nvSpPr>
          <p:cNvPr id="5" name="Shape 3"/>
          <p:cNvSpPr/>
          <p:nvPr/>
        </p:nvSpPr>
        <p:spPr>
          <a:xfrm>
            <a:off x="10872216" y="448056"/>
            <a:ext cx="155448" cy="155448"/>
          </a:xfrm>
          <a:prstGeom prst="rect">
            <a:avLst/>
          </a:prstGeom>
          <a:solidFill>
            <a:srgbClr val="14141A"/>
          </a:solidFill>
          <a:ln/>
        </p:spPr>
      </p:sp>
      <p:sp>
        <p:nvSpPr>
          <p:cNvPr id="6" name="Shape 4"/>
          <p:cNvSpPr/>
          <p:nvPr/>
        </p:nvSpPr>
        <p:spPr>
          <a:xfrm>
            <a:off x="11183112" y="448056"/>
            <a:ext cx="155448" cy="155448"/>
          </a:xfrm>
          <a:prstGeom prst="rect">
            <a:avLst/>
          </a:prstGeom>
          <a:solidFill>
            <a:srgbClr val="14141A"/>
          </a:solidFill>
          <a:ln/>
        </p:spPr>
      </p:sp>
      <p:sp>
        <p:nvSpPr>
          <p:cNvPr id="7" name="Shape 5"/>
          <p:cNvSpPr/>
          <p:nvPr/>
        </p:nvSpPr>
        <p:spPr>
          <a:xfrm>
            <a:off x="10716768" y="603504"/>
            <a:ext cx="155448" cy="155448"/>
          </a:xfrm>
          <a:prstGeom prst="rect">
            <a:avLst/>
          </a:prstGeom>
          <a:solidFill>
            <a:srgbClr val="14141A"/>
          </a:solidFill>
          <a:ln/>
        </p:spPr>
      </p:sp>
      <p:sp>
        <p:nvSpPr>
          <p:cNvPr id="8" name="Shape 6"/>
          <p:cNvSpPr/>
          <p:nvPr/>
        </p:nvSpPr>
        <p:spPr>
          <a:xfrm>
            <a:off x="11027664" y="603504"/>
            <a:ext cx="155448" cy="155448"/>
          </a:xfrm>
          <a:prstGeom prst="rect">
            <a:avLst/>
          </a:prstGeom>
          <a:solidFill>
            <a:srgbClr val="14141A"/>
          </a:solidFill>
          <a:ln/>
        </p:spPr>
      </p:sp>
      <p:sp>
        <p:nvSpPr>
          <p:cNvPr id="9" name="Shape 7"/>
          <p:cNvSpPr/>
          <p:nvPr/>
        </p:nvSpPr>
        <p:spPr>
          <a:xfrm>
            <a:off x="10561320" y="758952"/>
            <a:ext cx="155448" cy="155448"/>
          </a:xfrm>
          <a:prstGeom prst="rect">
            <a:avLst/>
          </a:prstGeom>
          <a:solidFill>
            <a:srgbClr val="14141A"/>
          </a:solidFill>
          <a:ln/>
        </p:spPr>
      </p:sp>
      <p:sp>
        <p:nvSpPr>
          <p:cNvPr id="10" name="Shape 8"/>
          <p:cNvSpPr/>
          <p:nvPr/>
        </p:nvSpPr>
        <p:spPr>
          <a:xfrm>
            <a:off x="10872216" y="758952"/>
            <a:ext cx="155448" cy="155448"/>
          </a:xfrm>
          <a:prstGeom prst="rect">
            <a:avLst/>
          </a:prstGeom>
          <a:solidFill>
            <a:srgbClr val="14141A"/>
          </a:solidFill>
          <a:ln/>
        </p:spPr>
      </p:sp>
      <p:sp>
        <p:nvSpPr>
          <p:cNvPr id="11" name="Shape 9"/>
          <p:cNvSpPr/>
          <p:nvPr/>
        </p:nvSpPr>
        <p:spPr>
          <a:xfrm>
            <a:off x="11183112" y="758952"/>
            <a:ext cx="155448" cy="155448"/>
          </a:xfrm>
          <a:prstGeom prst="rect">
            <a:avLst/>
          </a:prstGeom>
          <a:solidFill>
            <a:srgbClr val="14141A"/>
          </a:solidFill>
          <a:ln/>
        </p:spPr>
      </p:sp>
      <p:sp>
        <p:nvSpPr>
          <p:cNvPr id="12" name="Shape 10"/>
          <p:cNvSpPr/>
          <p:nvPr/>
        </p:nvSpPr>
        <p:spPr>
          <a:xfrm>
            <a:off x="10716768" y="914400"/>
            <a:ext cx="155448" cy="155448"/>
          </a:xfrm>
          <a:prstGeom prst="rect">
            <a:avLst/>
          </a:prstGeom>
          <a:solidFill>
            <a:srgbClr val="14141A"/>
          </a:solidFill>
          <a:ln/>
        </p:spPr>
      </p:sp>
      <p:sp>
        <p:nvSpPr>
          <p:cNvPr id="13" name="Shape 11"/>
          <p:cNvSpPr/>
          <p:nvPr/>
        </p:nvSpPr>
        <p:spPr>
          <a:xfrm>
            <a:off x="11027664" y="914400"/>
            <a:ext cx="155448" cy="155448"/>
          </a:xfrm>
          <a:prstGeom prst="rect">
            <a:avLst/>
          </a:prstGeom>
          <a:solidFill>
            <a:srgbClr val="14141A"/>
          </a:solidFill>
          <a:ln/>
        </p:spPr>
      </p:sp>
      <p:sp>
        <p:nvSpPr>
          <p:cNvPr id="14" name="Shape 12"/>
          <p:cNvSpPr/>
          <p:nvPr/>
        </p:nvSpPr>
        <p:spPr>
          <a:xfrm>
            <a:off x="9859975" y="310896"/>
            <a:ext cx="1783080" cy="292608"/>
          </a:xfrm>
          <a:prstGeom prst="roundRect">
            <a:avLst>
              <a:gd name="adj" fmla="val 50000"/>
            </a:avLst>
          </a:prstGeom>
          <a:solidFill>
            <a:srgbClr val="2A2412"/>
          </a:solidFill>
          <a:ln w="9525">
            <a:solidFill>
              <a:srgbClr val="4A3D18"/>
            </a:solidFill>
            <a:prstDash val="solid"/>
          </a:ln>
        </p:spPr>
      </p:sp>
      <p:sp>
        <p:nvSpPr>
          <p:cNvPr id="15" name="Text 13"/>
          <p:cNvSpPr/>
          <p:nvPr/>
        </p:nvSpPr>
        <p:spPr>
          <a:xfrm>
            <a:off x="9859975" y="301752"/>
            <a:ext cx="1783080" cy="310896"/>
          </a:xfrm>
          <a:prstGeom prst="rect">
            <a:avLst/>
          </a:prstGeom>
          <a:noFill/>
          <a:ln/>
        </p:spPr>
        <p:txBody>
          <a:bodyPr wrap="square" lIns="0" tIns="0" rIns="0" bIns="0" rtlCol="0" anchor="ctr"/>
          <a:lstStyle/>
          <a:p>
            <a:pPr algn="ctr" indent="0" marL="0">
              <a:buNone/>
            </a:pPr>
            <a:r>
              <a:rPr lang="en-US" sz="800" b="1" spc="120" kern="0" dirty="0">
                <a:solidFill>
                  <a:srgbClr val="FFC62A"/>
                </a:solidFill>
                <a:latin typeface="Bahnschrift" pitchFamily="34" charset="0"/>
                <a:ea typeface="Bahnschrift" pitchFamily="34" charset="-122"/>
                <a:cs typeface="Bahnschrift" pitchFamily="34" charset="-120"/>
              </a:rPr>
              <a:t>VERIFIED · FROM SOURCE CODE</a:t>
            </a:r>
            <a:endParaRPr lang="en-US" sz="800" dirty="0"/>
          </a:p>
        </p:txBody>
      </p:sp>
      <p:sp>
        <p:nvSpPr>
          <p:cNvPr id="16" name="Text 14"/>
          <p:cNvSpPr/>
          <p:nvPr/>
        </p:nvSpPr>
        <p:spPr>
          <a:xfrm>
            <a:off x="566928" y="384048"/>
            <a:ext cx="8229600" cy="274320"/>
          </a:xfrm>
          <a:prstGeom prst="rect">
            <a:avLst/>
          </a:prstGeom>
          <a:noFill/>
          <a:ln/>
        </p:spPr>
        <p:txBody>
          <a:bodyPr wrap="square" lIns="0" tIns="0" rIns="0" bIns="0" rtlCol="0" anchor="ctr"/>
          <a:lstStyle/>
          <a:p>
            <a:pPr indent="0" marL="0">
              <a:buNone/>
            </a:pPr>
            <a:r>
              <a:rPr lang="en-US" sz="1100" b="1" spc="300" kern="0" dirty="0">
                <a:solidFill>
                  <a:srgbClr val="FFC62A"/>
                </a:solidFill>
                <a:latin typeface="Bahnschrift" pitchFamily="34" charset="0"/>
                <a:ea typeface="Bahnschrift" pitchFamily="34" charset="-122"/>
                <a:cs typeface="Bahnschrift" pitchFamily="34" charset="-120"/>
              </a:rPr>
              <a:t>10 · SYSTEM MODULES</a:t>
            </a:r>
            <a:endParaRPr lang="en-US" sz="1100" dirty="0"/>
          </a:p>
        </p:txBody>
      </p:sp>
      <p:sp>
        <p:nvSpPr>
          <p:cNvPr id="17" name="Shape 15"/>
          <p:cNvSpPr/>
          <p:nvPr/>
        </p:nvSpPr>
        <p:spPr>
          <a:xfrm>
            <a:off x="566928" y="713232"/>
            <a:ext cx="384048" cy="45720"/>
          </a:xfrm>
          <a:prstGeom prst="rect">
            <a:avLst/>
          </a:prstGeom>
          <a:solidFill>
            <a:srgbClr val="FFC62A"/>
          </a:solidFill>
          <a:ln/>
        </p:spPr>
      </p:sp>
      <p:sp>
        <p:nvSpPr>
          <p:cNvPr id="18" name="Text 16"/>
          <p:cNvSpPr/>
          <p:nvPr/>
        </p:nvSpPr>
        <p:spPr>
          <a:xfrm>
            <a:off x="548640" y="841248"/>
            <a:ext cx="11064240" cy="566928"/>
          </a:xfrm>
          <a:prstGeom prst="rect">
            <a:avLst/>
          </a:prstGeom>
          <a:noFill/>
          <a:ln/>
        </p:spPr>
        <p:txBody>
          <a:bodyPr wrap="square" lIns="0" tIns="0" rIns="0" bIns="0" rtlCol="0" anchor="ctr"/>
          <a:lstStyle/>
          <a:p>
            <a:pPr indent="0" marL="0">
              <a:buNone/>
            </a:pPr>
            <a:r>
              <a:rPr lang="en-US" sz="2700" b="1" dirty="0">
                <a:solidFill>
                  <a:srgbClr val="F5F2EA"/>
                </a:solidFill>
                <a:latin typeface="Bahnschrift" pitchFamily="34" charset="0"/>
                <a:ea typeface="Bahnschrift" pitchFamily="34" charset="-122"/>
                <a:cs typeface="Bahnschrift" pitchFamily="34" charset="-120"/>
              </a:rPr>
              <a:t>Modules — mapped 1:1 to routes in the repository</a:t>
            </a:r>
            <a:endParaRPr lang="en-US" sz="2700" dirty="0"/>
          </a:p>
        </p:txBody>
      </p:sp>
      <p:sp>
        <p:nvSpPr>
          <p:cNvPr id="19" name="Text 17"/>
          <p:cNvSpPr/>
          <p:nvPr/>
        </p:nvSpPr>
        <p:spPr>
          <a:xfrm>
            <a:off x="566928" y="1389888"/>
            <a:ext cx="11064240" cy="274320"/>
          </a:xfrm>
          <a:prstGeom prst="rect">
            <a:avLst/>
          </a:prstGeom>
          <a:noFill/>
          <a:ln/>
        </p:spPr>
        <p:txBody>
          <a:bodyPr wrap="square" lIns="0" tIns="0" rIns="0" bIns="0" rtlCol="0" anchor="ctr"/>
          <a:lstStyle/>
          <a:p>
            <a:pPr indent="0" marL="0">
              <a:buNone/>
            </a:pPr>
            <a:r>
              <a:rPr lang="en-US" sz="1250" dirty="0">
                <a:solidFill>
                  <a:srgbClr val="9A97A6"/>
                </a:solidFill>
                <a:latin typeface="Segoe UI" pitchFamily="34" charset="0"/>
                <a:ea typeface="Segoe UI" pitchFamily="34" charset="-122"/>
                <a:cs typeface="Segoe UI" pitchFamily="34" charset="-120"/>
              </a:rPr>
              <a:t>12 modules, all accessible at their own routes.</a:t>
            </a:r>
            <a:endParaRPr lang="en-US" sz="1250" dirty="0"/>
          </a:p>
        </p:txBody>
      </p:sp>
      <p:sp>
        <p:nvSpPr>
          <p:cNvPr id="20" name="Text 18"/>
          <p:cNvSpPr/>
          <p:nvPr/>
        </p:nvSpPr>
        <p:spPr>
          <a:xfrm>
            <a:off x="566928" y="6492240"/>
            <a:ext cx="2743200" cy="256032"/>
          </a:xfrm>
          <a:prstGeom prst="rect">
            <a:avLst/>
          </a:prstGeom>
          <a:noFill/>
          <a:ln/>
        </p:spPr>
        <p:txBody>
          <a:bodyPr wrap="square" lIns="0" tIns="0" rIns="0" bIns="0" rtlCol="0" anchor="ctr"/>
          <a:lstStyle/>
          <a:p>
            <a:pPr indent="0" marL="0">
              <a:buNone/>
            </a:pPr>
            <a:r>
              <a:rPr lang="en-US" sz="850" b="1" spc="300" kern="0" dirty="0">
                <a:solidFill>
                  <a:srgbClr val="5C5966"/>
                </a:solidFill>
                <a:latin typeface="Bahnschrift" pitchFamily="34" charset="0"/>
                <a:ea typeface="Bahnschrift" pitchFamily="34" charset="-122"/>
                <a:cs typeface="Bahnschrift" pitchFamily="34" charset="-120"/>
              </a:rPr>
              <a:t>CHESSFORK</a:t>
            </a:r>
            <a:endParaRPr lang="en-US" sz="850" dirty="0"/>
          </a:p>
        </p:txBody>
      </p:sp>
      <p:sp>
        <p:nvSpPr>
          <p:cNvPr id="21" name="Text 19"/>
          <p:cNvSpPr/>
          <p:nvPr/>
        </p:nvSpPr>
        <p:spPr>
          <a:xfrm>
            <a:off x="3840480" y="6492240"/>
            <a:ext cx="4572000" cy="256032"/>
          </a:xfrm>
          <a:prstGeom prst="rect">
            <a:avLst/>
          </a:prstGeom>
          <a:noFill/>
          <a:ln/>
        </p:spPr>
        <p:txBody>
          <a:bodyPr wrap="square" lIns="0" tIns="0" rIns="0" bIns="0" rtlCol="0" anchor="ctr"/>
          <a:lstStyle/>
          <a:p>
            <a:pPr indent="0" marL="0">
              <a:buNone/>
            </a:pPr>
            <a:r>
              <a:rPr lang="en-US" sz="800" spc="150" kern="0" dirty="0">
                <a:solidFill>
                  <a:srgbClr val="5C5966"/>
                </a:solidFill>
                <a:latin typeface="Segoe UI" pitchFamily="34" charset="0"/>
                <a:ea typeface="Segoe UI" pitchFamily="34" charset="-122"/>
                <a:cs typeface="Segoe UI" pitchFamily="34" charset="-120"/>
              </a:rPr>
              <a:t>BCA FINAL YEAR PROJECT · 2026</a:t>
            </a:r>
            <a:endParaRPr lang="en-US" sz="800" dirty="0"/>
          </a:p>
        </p:txBody>
      </p:sp>
      <p:sp>
        <p:nvSpPr>
          <p:cNvPr id="22" name="Text 20"/>
          <p:cNvSpPr/>
          <p:nvPr/>
        </p:nvSpPr>
        <p:spPr>
          <a:xfrm>
            <a:off x="11292840" y="6473952"/>
            <a:ext cx="365760" cy="274320"/>
          </a:xfrm>
          <a:prstGeom prst="rect">
            <a:avLst/>
          </a:prstGeom>
          <a:noFill/>
          <a:ln/>
        </p:spPr>
        <p:txBody>
          <a:bodyPr wrap="square" lIns="0" tIns="0" rIns="0" bIns="0" rtlCol="0" anchor="ctr"/>
          <a:lstStyle/>
          <a:p>
            <a:pPr algn="r" indent="0" marL="0">
              <a:buNone/>
            </a:pPr>
            <a:r>
              <a:rPr lang="en-US" sz="900" b="1" dirty="0">
                <a:solidFill>
                  <a:srgbClr val="5C5966"/>
                </a:solidFill>
                <a:latin typeface="Bahnschrift" pitchFamily="34" charset="0"/>
                <a:ea typeface="Bahnschrift" pitchFamily="34" charset="-122"/>
                <a:cs typeface="Bahnschrift" pitchFamily="34" charset="-120"/>
              </a:rPr>
              <a:t>11</a:t>
            </a:r>
            <a:endParaRPr lang="en-US" sz="900" dirty="0"/>
          </a:p>
        </p:txBody>
      </p:sp>
      <p:sp>
        <p:nvSpPr>
          <p:cNvPr id="23" name="Shape 21"/>
          <p:cNvSpPr/>
          <p:nvPr/>
        </p:nvSpPr>
        <p:spPr>
          <a:xfrm>
            <a:off x="566928" y="1783080"/>
            <a:ext cx="2724912" cy="1371600"/>
          </a:xfrm>
          <a:prstGeom prst="roundRect">
            <a:avLst>
              <a:gd name="adj" fmla="val 4000"/>
            </a:avLst>
          </a:prstGeom>
          <a:solidFill>
            <a:srgbClr val="15151B"/>
          </a:solidFill>
          <a:ln w="12700">
            <a:solidFill>
              <a:srgbClr val="26262F"/>
            </a:solidFill>
            <a:prstDash val="solid"/>
          </a:ln>
        </p:spPr>
      </p:sp>
      <p:sp>
        <p:nvSpPr>
          <p:cNvPr id="24" name="Text 22"/>
          <p:cNvSpPr/>
          <p:nvPr/>
        </p:nvSpPr>
        <p:spPr>
          <a:xfrm>
            <a:off x="749808" y="1874520"/>
            <a:ext cx="402336" cy="402336"/>
          </a:xfrm>
          <a:prstGeom prst="rect">
            <a:avLst/>
          </a:prstGeom>
          <a:noFill/>
          <a:ln/>
        </p:spPr>
        <p:txBody>
          <a:bodyPr wrap="square" lIns="0" tIns="0" rIns="0" bIns="0" rtlCol="0" anchor="ctr"/>
          <a:lstStyle/>
          <a:p>
            <a:pPr algn="ctr" indent="0" marL="0">
              <a:buNone/>
            </a:pPr>
            <a:r>
              <a:rPr lang="en-US" sz="2851" dirty="0">
                <a:solidFill>
                  <a:srgbClr val="FFC62A"/>
                </a:solidFill>
                <a:latin typeface="Segoe UI Symbol" pitchFamily="34" charset="0"/>
                <a:ea typeface="Segoe UI Symbol" pitchFamily="34" charset="-122"/>
                <a:cs typeface="Segoe UI Symbol" pitchFamily="34" charset="-120"/>
              </a:rPr>
              <a:t>♔</a:t>
            </a:r>
            <a:endParaRPr lang="en-US" sz="2851" dirty="0"/>
          </a:p>
        </p:txBody>
      </p:sp>
      <p:sp>
        <p:nvSpPr>
          <p:cNvPr id="25" name="Text 23"/>
          <p:cNvSpPr/>
          <p:nvPr/>
        </p:nvSpPr>
        <p:spPr>
          <a:xfrm>
            <a:off x="1280160" y="1929384"/>
            <a:ext cx="1847088" cy="310896"/>
          </a:xfrm>
          <a:prstGeom prst="rect">
            <a:avLst/>
          </a:prstGeom>
          <a:noFill/>
          <a:ln/>
        </p:spPr>
        <p:txBody>
          <a:bodyPr wrap="square" lIns="0" tIns="0" rIns="0" bIns="0" rtlCol="0" anchor="ctr"/>
          <a:lstStyle/>
          <a:p>
            <a:pPr indent="0" marL="0">
              <a:buNone/>
            </a:pPr>
            <a:r>
              <a:rPr lang="en-US" sz="1250" b="1" dirty="0">
                <a:solidFill>
                  <a:srgbClr val="F5F2EA"/>
                </a:solidFill>
                <a:latin typeface="Bahnschrift" pitchFamily="34" charset="0"/>
                <a:ea typeface="Bahnschrift" pitchFamily="34" charset="-122"/>
                <a:cs typeface="Bahnschrift" pitchFamily="34" charset="-120"/>
              </a:rPr>
              <a:t>Authentication</a:t>
            </a:r>
            <a:endParaRPr lang="en-US" sz="1250" dirty="0"/>
          </a:p>
        </p:txBody>
      </p:sp>
      <p:sp>
        <p:nvSpPr>
          <p:cNvPr id="26" name="Text 24"/>
          <p:cNvSpPr/>
          <p:nvPr/>
        </p:nvSpPr>
        <p:spPr>
          <a:xfrm>
            <a:off x="768096" y="2313432"/>
            <a:ext cx="2340864" cy="457200"/>
          </a:xfrm>
          <a:prstGeom prst="rect">
            <a:avLst/>
          </a:prstGeom>
          <a:noFill/>
          <a:ln/>
        </p:spPr>
        <p:txBody>
          <a:bodyPr wrap="square" lIns="0" tIns="0" rIns="0" bIns="0" rtlCol="0" anchor="t"/>
          <a:lstStyle/>
          <a:p>
            <a:pPr indent="0" marL="0">
              <a:lnSpc>
                <a:spcPct val="105000"/>
              </a:lnSpc>
              <a:buNone/>
            </a:pPr>
            <a:r>
              <a:rPr lang="en-US" sz="900" dirty="0">
                <a:solidFill>
                  <a:srgbClr val="9A97A6"/>
                </a:solidFill>
                <a:latin typeface="Segoe UI" pitchFamily="34" charset="0"/>
                <a:ea typeface="Segoe UI" pitchFamily="34" charset="-122"/>
                <a:cs typeface="Segoe UI" pitchFamily="34" charset="-120"/>
              </a:rPr>
              <a:t>Supabase OAuth · credentials · sessions</a:t>
            </a:r>
            <a:endParaRPr lang="en-US" sz="900" dirty="0"/>
          </a:p>
        </p:txBody>
      </p:sp>
      <p:sp>
        <p:nvSpPr>
          <p:cNvPr id="27" name="Shape 25"/>
          <p:cNvSpPr/>
          <p:nvPr/>
        </p:nvSpPr>
        <p:spPr>
          <a:xfrm>
            <a:off x="768096" y="2816352"/>
            <a:ext cx="1043788" cy="246888"/>
          </a:xfrm>
          <a:prstGeom prst="roundRect">
            <a:avLst>
              <a:gd name="adj" fmla="val 50000"/>
            </a:avLst>
          </a:prstGeom>
          <a:solidFill>
            <a:srgbClr val="0E2418"/>
          </a:solidFill>
          <a:ln w="9525">
            <a:solidFill>
              <a:srgbClr val="1F5C38"/>
            </a:solidFill>
            <a:prstDash val="solid"/>
          </a:ln>
        </p:spPr>
      </p:sp>
      <p:sp>
        <p:nvSpPr>
          <p:cNvPr id="28" name="Text 26"/>
          <p:cNvSpPr/>
          <p:nvPr/>
        </p:nvSpPr>
        <p:spPr>
          <a:xfrm>
            <a:off x="768096" y="2805379"/>
            <a:ext cx="1043788" cy="269748"/>
          </a:xfrm>
          <a:prstGeom prst="rect">
            <a:avLst/>
          </a:prstGeom>
          <a:noFill/>
          <a:ln/>
        </p:spPr>
        <p:txBody>
          <a:bodyPr wrap="square" lIns="0" tIns="0" rIns="0" bIns="0" rtlCol="0" anchor="ctr"/>
          <a:lstStyle/>
          <a:p>
            <a:pPr algn="ctr" indent="0" marL="0">
              <a:buNone/>
            </a:pPr>
            <a:r>
              <a:rPr lang="en-US" sz="850" b="1" spc="80" kern="0" dirty="0">
                <a:solidFill>
                  <a:srgbClr val="3DDC84"/>
                </a:solidFill>
                <a:latin typeface="Segoe UI" pitchFamily="34" charset="0"/>
                <a:ea typeface="Segoe UI" pitchFamily="34" charset="-122"/>
                <a:cs typeface="Segoe UI" pitchFamily="34" charset="-120"/>
              </a:rPr>
              <a:t>IMPLEMENTED</a:t>
            </a:r>
            <a:endParaRPr lang="en-US" sz="850" dirty="0"/>
          </a:p>
        </p:txBody>
      </p:sp>
      <p:sp>
        <p:nvSpPr>
          <p:cNvPr id="29" name="Shape 27"/>
          <p:cNvSpPr/>
          <p:nvPr/>
        </p:nvSpPr>
        <p:spPr>
          <a:xfrm>
            <a:off x="3401568" y="1783080"/>
            <a:ext cx="2724912" cy="1371600"/>
          </a:xfrm>
          <a:prstGeom prst="roundRect">
            <a:avLst>
              <a:gd name="adj" fmla="val 4000"/>
            </a:avLst>
          </a:prstGeom>
          <a:solidFill>
            <a:srgbClr val="15151B"/>
          </a:solidFill>
          <a:ln w="12700">
            <a:solidFill>
              <a:srgbClr val="26262F"/>
            </a:solidFill>
            <a:prstDash val="solid"/>
          </a:ln>
        </p:spPr>
      </p:sp>
      <p:sp>
        <p:nvSpPr>
          <p:cNvPr id="30" name="Text 28"/>
          <p:cNvSpPr/>
          <p:nvPr/>
        </p:nvSpPr>
        <p:spPr>
          <a:xfrm>
            <a:off x="3584448" y="1874520"/>
            <a:ext cx="402336" cy="402336"/>
          </a:xfrm>
          <a:prstGeom prst="rect">
            <a:avLst/>
          </a:prstGeom>
          <a:noFill/>
          <a:ln/>
        </p:spPr>
        <p:txBody>
          <a:bodyPr wrap="square" lIns="0" tIns="0" rIns="0" bIns="0" rtlCol="0" anchor="ctr"/>
          <a:lstStyle/>
          <a:p>
            <a:pPr algn="ctr" indent="0" marL="0">
              <a:buNone/>
            </a:pPr>
            <a:r>
              <a:rPr lang="en-US" sz="2851" dirty="0">
                <a:solidFill>
                  <a:srgbClr val="FFC62A"/>
                </a:solidFill>
                <a:latin typeface="Segoe UI Symbol" pitchFamily="34" charset="0"/>
                <a:ea typeface="Segoe UI Symbol" pitchFamily="34" charset="-122"/>
                <a:cs typeface="Segoe UI Symbol" pitchFamily="34" charset="-120"/>
              </a:rPr>
              <a:t>♛</a:t>
            </a:r>
            <a:endParaRPr lang="en-US" sz="2851" dirty="0"/>
          </a:p>
        </p:txBody>
      </p:sp>
      <p:sp>
        <p:nvSpPr>
          <p:cNvPr id="31" name="Text 29"/>
          <p:cNvSpPr/>
          <p:nvPr/>
        </p:nvSpPr>
        <p:spPr>
          <a:xfrm>
            <a:off x="4114800" y="1929384"/>
            <a:ext cx="1847088" cy="310896"/>
          </a:xfrm>
          <a:prstGeom prst="rect">
            <a:avLst/>
          </a:prstGeom>
          <a:noFill/>
          <a:ln/>
        </p:spPr>
        <p:txBody>
          <a:bodyPr wrap="square" lIns="0" tIns="0" rIns="0" bIns="0" rtlCol="0" anchor="ctr"/>
          <a:lstStyle/>
          <a:p>
            <a:pPr indent="0" marL="0">
              <a:buNone/>
            </a:pPr>
            <a:r>
              <a:rPr lang="en-US" sz="1250" b="1" dirty="0">
                <a:solidFill>
                  <a:srgbClr val="F5F2EA"/>
                </a:solidFill>
                <a:latin typeface="Bahnschrift" pitchFamily="34" charset="0"/>
                <a:ea typeface="Bahnschrift" pitchFamily="34" charset="-122"/>
                <a:cs typeface="Bahnschrift" pitchFamily="34" charset="-120"/>
              </a:rPr>
              <a:t>Dashboard</a:t>
            </a:r>
            <a:endParaRPr lang="en-US" sz="1250" dirty="0"/>
          </a:p>
        </p:txBody>
      </p:sp>
      <p:sp>
        <p:nvSpPr>
          <p:cNvPr id="32" name="Text 30"/>
          <p:cNvSpPr/>
          <p:nvPr/>
        </p:nvSpPr>
        <p:spPr>
          <a:xfrm>
            <a:off x="3602736" y="2313432"/>
            <a:ext cx="2340864" cy="457200"/>
          </a:xfrm>
          <a:prstGeom prst="rect">
            <a:avLst/>
          </a:prstGeom>
          <a:noFill/>
          <a:ln/>
        </p:spPr>
        <p:txBody>
          <a:bodyPr wrap="square" lIns="0" tIns="0" rIns="0" bIns="0" rtlCol="0" anchor="t"/>
          <a:lstStyle/>
          <a:p>
            <a:pPr indent="0" marL="0">
              <a:lnSpc>
                <a:spcPct val="105000"/>
              </a:lnSpc>
              <a:buNone/>
            </a:pPr>
            <a:r>
              <a:rPr lang="en-US" sz="900" dirty="0">
                <a:solidFill>
                  <a:srgbClr val="9A97A6"/>
                </a:solidFill>
                <a:latin typeface="Segoe UI" pitchFamily="34" charset="0"/>
                <a:ea typeface="Segoe UI" pitchFamily="34" charset="-122"/>
                <a:cs typeface="Segoe UI" pitchFamily="34" charset="-120"/>
              </a:rPr>
              <a:t>Board, move navigation, live evaluation</a:t>
            </a:r>
            <a:endParaRPr lang="en-US" sz="900" dirty="0"/>
          </a:p>
        </p:txBody>
      </p:sp>
      <p:sp>
        <p:nvSpPr>
          <p:cNvPr id="33" name="Shape 31"/>
          <p:cNvSpPr/>
          <p:nvPr/>
        </p:nvSpPr>
        <p:spPr>
          <a:xfrm>
            <a:off x="3602736" y="2816352"/>
            <a:ext cx="1043788" cy="246888"/>
          </a:xfrm>
          <a:prstGeom prst="roundRect">
            <a:avLst>
              <a:gd name="adj" fmla="val 50000"/>
            </a:avLst>
          </a:prstGeom>
          <a:solidFill>
            <a:srgbClr val="0E2418"/>
          </a:solidFill>
          <a:ln w="9525">
            <a:solidFill>
              <a:srgbClr val="1F5C38"/>
            </a:solidFill>
            <a:prstDash val="solid"/>
          </a:ln>
        </p:spPr>
      </p:sp>
      <p:sp>
        <p:nvSpPr>
          <p:cNvPr id="34" name="Text 32"/>
          <p:cNvSpPr/>
          <p:nvPr/>
        </p:nvSpPr>
        <p:spPr>
          <a:xfrm>
            <a:off x="3602736" y="2805379"/>
            <a:ext cx="1043788" cy="269748"/>
          </a:xfrm>
          <a:prstGeom prst="rect">
            <a:avLst/>
          </a:prstGeom>
          <a:noFill/>
          <a:ln/>
        </p:spPr>
        <p:txBody>
          <a:bodyPr wrap="square" lIns="0" tIns="0" rIns="0" bIns="0" rtlCol="0" anchor="ctr"/>
          <a:lstStyle/>
          <a:p>
            <a:pPr algn="ctr" indent="0" marL="0">
              <a:buNone/>
            </a:pPr>
            <a:r>
              <a:rPr lang="en-US" sz="850" b="1" spc="80" kern="0" dirty="0">
                <a:solidFill>
                  <a:srgbClr val="3DDC84"/>
                </a:solidFill>
                <a:latin typeface="Segoe UI" pitchFamily="34" charset="0"/>
                <a:ea typeface="Segoe UI" pitchFamily="34" charset="-122"/>
                <a:cs typeface="Segoe UI" pitchFamily="34" charset="-120"/>
              </a:rPr>
              <a:t>IMPLEMENTED</a:t>
            </a:r>
            <a:endParaRPr lang="en-US" sz="850" dirty="0"/>
          </a:p>
        </p:txBody>
      </p:sp>
      <p:sp>
        <p:nvSpPr>
          <p:cNvPr id="35" name="Shape 33"/>
          <p:cNvSpPr/>
          <p:nvPr/>
        </p:nvSpPr>
        <p:spPr>
          <a:xfrm>
            <a:off x="6236208" y="1783080"/>
            <a:ext cx="2724912" cy="1371600"/>
          </a:xfrm>
          <a:prstGeom prst="roundRect">
            <a:avLst>
              <a:gd name="adj" fmla="val 4000"/>
            </a:avLst>
          </a:prstGeom>
          <a:solidFill>
            <a:srgbClr val="15151B"/>
          </a:solidFill>
          <a:ln w="12700">
            <a:solidFill>
              <a:srgbClr val="26262F"/>
            </a:solidFill>
            <a:prstDash val="solid"/>
          </a:ln>
        </p:spPr>
      </p:sp>
      <p:sp>
        <p:nvSpPr>
          <p:cNvPr id="36" name="Text 34"/>
          <p:cNvSpPr/>
          <p:nvPr/>
        </p:nvSpPr>
        <p:spPr>
          <a:xfrm>
            <a:off x="6419088" y="1874520"/>
            <a:ext cx="402336" cy="402336"/>
          </a:xfrm>
          <a:prstGeom prst="rect">
            <a:avLst/>
          </a:prstGeom>
          <a:noFill/>
          <a:ln/>
        </p:spPr>
        <p:txBody>
          <a:bodyPr wrap="square" lIns="0" tIns="0" rIns="0" bIns="0" rtlCol="0" anchor="ctr"/>
          <a:lstStyle/>
          <a:p>
            <a:pPr algn="ctr" indent="0" marL="0">
              <a:buNone/>
            </a:pPr>
            <a:r>
              <a:rPr lang="en-US" sz="2851" dirty="0">
                <a:solidFill>
                  <a:srgbClr val="FFC62A"/>
                </a:solidFill>
                <a:latin typeface="Segoe UI Symbol" pitchFamily="34" charset="0"/>
                <a:ea typeface="Segoe UI Symbol" pitchFamily="34" charset="-122"/>
                <a:cs typeface="Segoe UI Symbol" pitchFamily="34" charset="-120"/>
              </a:rPr>
              <a:t>♞</a:t>
            </a:r>
            <a:endParaRPr lang="en-US" sz="2851" dirty="0"/>
          </a:p>
        </p:txBody>
      </p:sp>
      <p:sp>
        <p:nvSpPr>
          <p:cNvPr id="37" name="Text 35"/>
          <p:cNvSpPr/>
          <p:nvPr/>
        </p:nvSpPr>
        <p:spPr>
          <a:xfrm>
            <a:off x="6949440" y="1929384"/>
            <a:ext cx="1847088" cy="310896"/>
          </a:xfrm>
          <a:prstGeom prst="rect">
            <a:avLst/>
          </a:prstGeom>
          <a:noFill/>
          <a:ln/>
        </p:spPr>
        <p:txBody>
          <a:bodyPr wrap="square" lIns="0" tIns="0" rIns="0" bIns="0" rtlCol="0" anchor="ctr"/>
          <a:lstStyle/>
          <a:p>
            <a:pPr indent="0" marL="0">
              <a:buNone/>
            </a:pPr>
            <a:r>
              <a:rPr lang="en-US" sz="1250" b="1" dirty="0">
                <a:solidFill>
                  <a:srgbClr val="F5F2EA"/>
                </a:solidFill>
                <a:latin typeface="Bahnschrift" pitchFamily="34" charset="0"/>
                <a:ea typeface="Bahnschrift" pitchFamily="34" charset="-122"/>
                <a:cs typeface="Bahnschrift" pitchFamily="34" charset="-120"/>
              </a:rPr>
              <a:t>Game Review</a:t>
            </a:r>
            <a:endParaRPr lang="en-US" sz="1250" dirty="0"/>
          </a:p>
        </p:txBody>
      </p:sp>
      <p:sp>
        <p:nvSpPr>
          <p:cNvPr id="38" name="Text 36"/>
          <p:cNvSpPr/>
          <p:nvPr/>
        </p:nvSpPr>
        <p:spPr>
          <a:xfrm>
            <a:off x="6437376" y="2313432"/>
            <a:ext cx="2340864" cy="457200"/>
          </a:xfrm>
          <a:prstGeom prst="rect">
            <a:avLst/>
          </a:prstGeom>
          <a:noFill/>
          <a:ln/>
        </p:spPr>
        <p:txBody>
          <a:bodyPr wrap="square" lIns="0" tIns="0" rIns="0" bIns="0" rtlCol="0" anchor="t"/>
          <a:lstStyle/>
          <a:p>
            <a:pPr indent="0" marL="0">
              <a:lnSpc>
                <a:spcPct val="105000"/>
              </a:lnSpc>
              <a:buNone/>
            </a:pPr>
            <a:r>
              <a:rPr lang="en-US" sz="900" dirty="0">
                <a:solidFill>
                  <a:srgbClr val="9A97A6"/>
                </a:solidFill>
                <a:latin typeface="Segoe UI" pitchFamily="34" charset="0"/>
                <a:ea typeface="Segoe UI" pitchFamily="34" charset="-122"/>
                <a:cs typeface="Segoe UI" pitchFamily="34" charset="-120"/>
              </a:rPr>
              <a:t>Full analysis report with grades &amp; graph</a:t>
            </a:r>
            <a:endParaRPr lang="en-US" sz="900" dirty="0"/>
          </a:p>
        </p:txBody>
      </p:sp>
      <p:sp>
        <p:nvSpPr>
          <p:cNvPr id="39" name="Shape 37"/>
          <p:cNvSpPr/>
          <p:nvPr/>
        </p:nvSpPr>
        <p:spPr>
          <a:xfrm>
            <a:off x="6437376" y="2816352"/>
            <a:ext cx="1043788" cy="246888"/>
          </a:xfrm>
          <a:prstGeom prst="roundRect">
            <a:avLst>
              <a:gd name="adj" fmla="val 50000"/>
            </a:avLst>
          </a:prstGeom>
          <a:solidFill>
            <a:srgbClr val="0E2418"/>
          </a:solidFill>
          <a:ln w="9525">
            <a:solidFill>
              <a:srgbClr val="1F5C38"/>
            </a:solidFill>
            <a:prstDash val="solid"/>
          </a:ln>
        </p:spPr>
      </p:sp>
      <p:sp>
        <p:nvSpPr>
          <p:cNvPr id="40" name="Text 38"/>
          <p:cNvSpPr/>
          <p:nvPr/>
        </p:nvSpPr>
        <p:spPr>
          <a:xfrm>
            <a:off x="6437376" y="2805379"/>
            <a:ext cx="1043788" cy="269748"/>
          </a:xfrm>
          <a:prstGeom prst="rect">
            <a:avLst/>
          </a:prstGeom>
          <a:noFill/>
          <a:ln/>
        </p:spPr>
        <p:txBody>
          <a:bodyPr wrap="square" lIns="0" tIns="0" rIns="0" bIns="0" rtlCol="0" anchor="ctr"/>
          <a:lstStyle/>
          <a:p>
            <a:pPr algn="ctr" indent="0" marL="0">
              <a:buNone/>
            </a:pPr>
            <a:r>
              <a:rPr lang="en-US" sz="850" b="1" spc="80" kern="0" dirty="0">
                <a:solidFill>
                  <a:srgbClr val="3DDC84"/>
                </a:solidFill>
                <a:latin typeface="Segoe UI" pitchFamily="34" charset="0"/>
                <a:ea typeface="Segoe UI" pitchFamily="34" charset="-122"/>
                <a:cs typeface="Segoe UI" pitchFamily="34" charset="-120"/>
              </a:rPr>
              <a:t>IMPLEMENTED</a:t>
            </a:r>
            <a:endParaRPr lang="en-US" sz="850" dirty="0"/>
          </a:p>
        </p:txBody>
      </p:sp>
      <p:sp>
        <p:nvSpPr>
          <p:cNvPr id="41" name="Shape 39"/>
          <p:cNvSpPr/>
          <p:nvPr/>
        </p:nvSpPr>
        <p:spPr>
          <a:xfrm>
            <a:off x="9070848" y="1783080"/>
            <a:ext cx="2724912" cy="1371600"/>
          </a:xfrm>
          <a:prstGeom prst="roundRect">
            <a:avLst>
              <a:gd name="adj" fmla="val 4000"/>
            </a:avLst>
          </a:prstGeom>
          <a:solidFill>
            <a:srgbClr val="15151B"/>
          </a:solidFill>
          <a:ln w="12700">
            <a:solidFill>
              <a:srgbClr val="26262F"/>
            </a:solidFill>
            <a:prstDash val="solid"/>
          </a:ln>
        </p:spPr>
      </p:sp>
      <p:sp>
        <p:nvSpPr>
          <p:cNvPr id="42" name="Text 40"/>
          <p:cNvSpPr/>
          <p:nvPr/>
        </p:nvSpPr>
        <p:spPr>
          <a:xfrm>
            <a:off x="9253728" y="1874520"/>
            <a:ext cx="402336" cy="402336"/>
          </a:xfrm>
          <a:prstGeom prst="rect">
            <a:avLst/>
          </a:prstGeom>
          <a:noFill/>
          <a:ln/>
        </p:spPr>
        <p:txBody>
          <a:bodyPr wrap="square" lIns="0" tIns="0" rIns="0" bIns="0" rtlCol="0" anchor="ctr"/>
          <a:lstStyle/>
          <a:p>
            <a:pPr algn="ctr" indent="0" marL="0">
              <a:buNone/>
            </a:pPr>
            <a:r>
              <a:rPr lang="en-US" sz="2851" dirty="0">
                <a:solidFill>
                  <a:srgbClr val="FFC62A"/>
                </a:solidFill>
                <a:latin typeface="Segoe UI Symbol" pitchFamily="34" charset="0"/>
                <a:ea typeface="Segoe UI Symbol" pitchFamily="34" charset="-122"/>
                <a:cs typeface="Segoe UI Symbol" pitchFamily="34" charset="-120"/>
              </a:rPr>
              <a:t>♜</a:t>
            </a:r>
            <a:endParaRPr lang="en-US" sz="2851" dirty="0"/>
          </a:p>
        </p:txBody>
      </p:sp>
      <p:sp>
        <p:nvSpPr>
          <p:cNvPr id="43" name="Text 41"/>
          <p:cNvSpPr/>
          <p:nvPr/>
        </p:nvSpPr>
        <p:spPr>
          <a:xfrm>
            <a:off x="9784080" y="1929384"/>
            <a:ext cx="1847088" cy="310896"/>
          </a:xfrm>
          <a:prstGeom prst="rect">
            <a:avLst/>
          </a:prstGeom>
          <a:noFill/>
          <a:ln/>
        </p:spPr>
        <p:txBody>
          <a:bodyPr wrap="square" lIns="0" tIns="0" rIns="0" bIns="0" rtlCol="0" anchor="ctr"/>
          <a:lstStyle/>
          <a:p>
            <a:pPr indent="0" marL="0">
              <a:buNone/>
            </a:pPr>
            <a:r>
              <a:rPr lang="en-US" sz="1250" b="1" dirty="0">
                <a:solidFill>
                  <a:srgbClr val="F5F2EA"/>
                </a:solidFill>
                <a:latin typeface="Bahnschrift" pitchFamily="34" charset="0"/>
                <a:ea typeface="Bahnschrift" pitchFamily="34" charset="-122"/>
                <a:cs typeface="Bahnschrift" pitchFamily="34" charset="-120"/>
              </a:rPr>
              <a:t>Opening Explorer</a:t>
            </a:r>
            <a:endParaRPr lang="en-US" sz="1250" dirty="0"/>
          </a:p>
        </p:txBody>
      </p:sp>
      <p:sp>
        <p:nvSpPr>
          <p:cNvPr id="44" name="Text 42"/>
          <p:cNvSpPr/>
          <p:nvPr/>
        </p:nvSpPr>
        <p:spPr>
          <a:xfrm>
            <a:off x="9272016" y="2313432"/>
            <a:ext cx="2340864" cy="457200"/>
          </a:xfrm>
          <a:prstGeom prst="rect">
            <a:avLst/>
          </a:prstGeom>
          <a:noFill/>
          <a:ln/>
        </p:spPr>
        <p:txBody>
          <a:bodyPr wrap="square" lIns="0" tIns="0" rIns="0" bIns="0" rtlCol="0" anchor="t"/>
          <a:lstStyle/>
          <a:p>
            <a:pPr indent="0" marL="0">
              <a:lnSpc>
                <a:spcPct val="105000"/>
              </a:lnSpc>
              <a:buNone/>
            </a:pPr>
            <a:r>
              <a:rPr lang="en-US" sz="900" dirty="0">
                <a:solidFill>
                  <a:srgbClr val="9A97A6"/>
                </a:solidFill>
                <a:latin typeface="Segoe UI" pitchFamily="34" charset="0"/>
                <a:ea typeface="Segoe UI" pitchFamily="34" charset="-122"/>
                <a:cs typeface="Segoe UI" pitchFamily="34" charset="-120"/>
              </a:rPr>
              <a:t>ECO database · book detection · master moves</a:t>
            </a:r>
            <a:endParaRPr lang="en-US" sz="900" dirty="0"/>
          </a:p>
        </p:txBody>
      </p:sp>
      <p:sp>
        <p:nvSpPr>
          <p:cNvPr id="45" name="Shape 43"/>
          <p:cNvSpPr/>
          <p:nvPr/>
        </p:nvSpPr>
        <p:spPr>
          <a:xfrm>
            <a:off x="9272016" y="2816352"/>
            <a:ext cx="1043788" cy="246888"/>
          </a:xfrm>
          <a:prstGeom prst="roundRect">
            <a:avLst>
              <a:gd name="adj" fmla="val 50000"/>
            </a:avLst>
          </a:prstGeom>
          <a:solidFill>
            <a:srgbClr val="0E2418"/>
          </a:solidFill>
          <a:ln w="9525">
            <a:solidFill>
              <a:srgbClr val="1F5C38"/>
            </a:solidFill>
            <a:prstDash val="solid"/>
          </a:ln>
        </p:spPr>
      </p:sp>
      <p:sp>
        <p:nvSpPr>
          <p:cNvPr id="46" name="Text 44"/>
          <p:cNvSpPr/>
          <p:nvPr/>
        </p:nvSpPr>
        <p:spPr>
          <a:xfrm>
            <a:off x="9272016" y="2805379"/>
            <a:ext cx="1043788" cy="269748"/>
          </a:xfrm>
          <a:prstGeom prst="rect">
            <a:avLst/>
          </a:prstGeom>
          <a:noFill/>
          <a:ln/>
        </p:spPr>
        <p:txBody>
          <a:bodyPr wrap="square" lIns="0" tIns="0" rIns="0" bIns="0" rtlCol="0" anchor="ctr"/>
          <a:lstStyle/>
          <a:p>
            <a:pPr algn="ctr" indent="0" marL="0">
              <a:buNone/>
            </a:pPr>
            <a:r>
              <a:rPr lang="en-US" sz="850" b="1" spc="80" kern="0" dirty="0">
                <a:solidFill>
                  <a:srgbClr val="3DDC84"/>
                </a:solidFill>
                <a:latin typeface="Segoe UI" pitchFamily="34" charset="0"/>
                <a:ea typeface="Segoe UI" pitchFamily="34" charset="-122"/>
                <a:cs typeface="Segoe UI" pitchFamily="34" charset="-120"/>
              </a:rPr>
              <a:t>IMPLEMENTED</a:t>
            </a:r>
            <a:endParaRPr lang="en-US" sz="850" dirty="0"/>
          </a:p>
        </p:txBody>
      </p:sp>
      <p:sp>
        <p:nvSpPr>
          <p:cNvPr id="47" name="Shape 45"/>
          <p:cNvSpPr/>
          <p:nvPr/>
        </p:nvSpPr>
        <p:spPr>
          <a:xfrm>
            <a:off x="566928" y="3300984"/>
            <a:ext cx="2724912" cy="1371600"/>
          </a:xfrm>
          <a:prstGeom prst="roundRect">
            <a:avLst>
              <a:gd name="adj" fmla="val 4000"/>
            </a:avLst>
          </a:prstGeom>
          <a:solidFill>
            <a:srgbClr val="15151B"/>
          </a:solidFill>
          <a:ln w="12700">
            <a:solidFill>
              <a:srgbClr val="26262F"/>
            </a:solidFill>
            <a:prstDash val="solid"/>
          </a:ln>
        </p:spPr>
      </p:sp>
      <p:sp>
        <p:nvSpPr>
          <p:cNvPr id="48" name="Text 46"/>
          <p:cNvSpPr/>
          <p:nvPr/>
        </p:nvSpPr>
        <p:spPr>
          <a:xfrm>
            <a:off x="749808" y="3392424"/>
            <a:ext cx="402336" cy="402336"/>
          </a:xfrm>
          <a:prstGeom prst="rect">
            <a:avLst/>
          </a:prstGeom>
          <a:noFill/>
          <a:ln/>
        </p:spPr>
        <p:txBody>
          <a:bodyPr wrap="square" lIns="0" tIns="0" rIns="0" bIns="0" rtlCol="0" anchor="ctr"/>
          <a:lstStyle/>
          <a:p>
            <a:pPr algn="ctr" indent="0" marL="0">
              <a:buNone/>
            </a:pPr>
            <a:r>
              <a:rPr lang="en-US" sz="2851" dirty="0">
                <a:solidFill>
                  <a:srgbClr val="FFC62A"/>
                </a:solidFill>
                <a:latin typeface="Segoe UI Symbol" pitchFamily="34" charset="0"/>
                <a:ea typeface="Segoe UI Symbol" pitchFamily="34" charset="-122"/>
                <a:cs typeface="Segoe UI Symbol" pitchFamily="34" charset="-120"/>
              </a:rPr>
              <a:t>♝</a:t>
            </a:r>
            <a:endParaRPr lang="en-US" sz="2851" dirty="0"/>
          </a:p>
        </p:txBody>
      </p:sp>
      <p:sp>
        <p:nvSpPr>
          <p:cNvPr id="49" name="Text 47"/>
          <p:cNvSpPr/>
          <p:nvPr/>
        </p:nvSpPr>
        <p:spPr>
          <a:xfrm>
            <a:off x="1280160" y="3447288"/>
            <a:ext cx="1847088" cy="310896"/>
          </a:xfrm>
          <a:prstGeom prst="rect">
            <a:avLst/>
          </a:prstGeom>
          <a:noFill/>
          <a:ln/>
        </p:spPr>
        <p:txBody>
          <a:bodyPr wrap="square" lIns="0" tIns="0" rIns="0" bIns="0" rtlCol="0" anchor="ctr"/>
          <a:lstStyle/>
          <a:p>
            <a:pPr indent="0" marL="0">
              <a:buNone/>
            </a:pPr>
            <a:r>
              <a:rPr lang="en-US" sz="1250" b="1" dirty="0">
                <a:solidFill>
                  <a:srgbClr val="F5F2EA"/>
                </a:solidFill>
                <a:latin typeface="Bahnschrift" pitchFamily="34" charset="0"/>
                <a:ea typeface="Bahnschrift" pitchFamily="34" charset="-122"/>
                <a:cs typeface="Bahnschrift" pitchFamily="34" charset="-120"/>
              </a:rPr>
              <a:t>AI Coach</a:t>
            </a:r>
            <a:endParaRPr lang="en-US" sz="1250" dirty="0"/>
          </a:p>
        </p:txBody>
      </p:sp>
      <p:sp>
        <p:nvSpPr>
          <p:cNvPr id="50" name="Text 48"/>
          <p:cNvSpPr/>
          <p:nvPr/>
        </p:nvSpPr>
        <p:spPr>
          <a:xfrm>
            <a:off x="768096" y="3831336"/>
            <a:ext cx="2340864" cy="457200"/>
          </a:xfrm>
          <a:prstGeom prst="rect">
            <a:avLst/>
          </a:prstGeom>
          <a:noFill/>
          <a:ln/>
        </p:spPr>
        <p:txBody>
          <a:bodyPr wrap="square" lIns="0" tIns="0" rIns="0" bIns="0" rtlCol="0" anchor="t"/>
          <a:lstStyle/>
          <a:p>
            <a:pPr indent="0" marL="0">
              <a:lnSpc>
                <a:spcPct val="105000"/>
              </a:lnSpc>
              <a:buNone/>
            </a:pPr>
            <a:r>
              <a:rPr lang="en-US" sz="900" dirty="0">
                <a:solidFill>
                  <a:srgbClr val="9A97A6"/>
                </a:solidFill>
                <a:latin typeface="Segoe UI" pitchFamily="34" charset="0"/>
                <a:ea typeface="Segoe UI" pitchFamily="34" charset="-122"/>
                <a:cs typeface="Segoe UI" pitchFamily="34" charset="-120"/>
              </a:rPr>
              <a:t>Weakness reports · weekly focus · drills</a:t>
            </a:r>
            <a:endParaRPr lang="en-US" sz="900" dirty="0"/>
          </a:p>
        </p:txBody>
      </p:sp>
      <p:sp>
        <p:nvSpPr>
          <p:cNvPr id="51" name="Shape 49"/>
          <p:cNvSpPr/>
          <p:nvPr/>
        </p:nvSpPr>
        <p:spPr>
          <a:xfrm>
            <a:off x="768096" y="4334256"/>
            <a:ext cx="1043788" cy="246888"/>
          </a:xfrm>
          <a:prstGeom prst="roundRect">
            <a:avLst>
              <a:gd name="adj" fmla="val 50000"/>
            </a:avLst>
          </a:prstGeom>
          <a:solidFill>
            <a:srgbClr val="0E2418"/>
          </a:solidFill>
          <a:ln w="9525">
            <a:solidFill>
              <a:srgbClr val="1F5C38"/>
            </a:solidFill>
            <a:prstDash val="solid"/>
          </a:ln>
        </p:spPr>
      </p:sp>
      <p:sp>
        <p:nvSpPr>
          <p:cNvPr id="52" name="Text 50"/>
          <p:cNvSpPr/>
          <p:nvPr/>
        </p:nvSpPr>
        <p:spPr>
          <a:xfrm>
            <a:off x="768096" y="4323283"/>
            <a:ext cx="1043788" cy="269748"/>
          </a:xfrm>
          <a:prstGeom prst="rect">
            <a:avLst/>
          </a:prstGeom>
          <a:noFill/>
          <a:ln/>
        </p:spPr>
        <p:txBody>
          <a:bodyPr wrap="square" lIns="0" tIns="0" rIns="0" bIns="0" rtlCol="0" anchor="ctr"/>
          <a:lstStyle/>
          <a:p>
            <a:pPr algn="ctr" indent="0" marL="0">
              <a:buNone/>
            </a:pPr>
            <a:r>
              <a:rPr lang="en-US" sz="850" b="1" spc="80" kern="0" dirty="0">
                <a:solidFill>
                  <a:srgbClr val="3DDC84"/>
                </a:solidFill>
                <a:latin typeface="Segoe UI" pitchFamily="34" charset="0"/>
                <a:ea typeface="Segoe UI" pitchFamily="34" charset="-122"/>
                <a:cs typeface="Segoe UI" pitchFamily="34" charset="-120"/>
              </a:rPr>
              <a:t>IMPLEMENTED</a:t>
            </a:r>
            <a:endParaRPr lang="en-US" sz="850" dirty="0"/>
          </a:p>
        </p:txBody>
      </p:sp>
      <p:sp>
        <p:nvSpPr>
          <p:cNvPr id="53" name="Shape 51"/>
          <p:cNvSpPr/>
          <p:nvPr/>
        </p:nvSpPr>
        <p:spPr>
          <a:xfrm>
            <a:off x="3401568" y="3300984"/>
            <a:ext cx="2724912" cy="1371600"/>
          </a:xfrm>
          <a:prstGeom prst="roundRect">
            <a:avLst>
              <a:gd name="adj" fmla="val 4000"/>
            </a:avLst>
          </a:prstGeom>
          <a:solidFill>
            <a:srgbClr val="15151B"/>
          </a:solidFill>
          <a:ln w="12700">
            <a:solidFill>
              <a:srgbClr val="26262F"/>
            </a:solidFill>
            <a:prstDash val="solid"/>
          </a:ln>
        </p:spPr>
      </p:sp>
      <p:sp>
        <p:nvSpPr>
          <p:cNvPr id="54" name="Text 52"/>
          <p:cNvSpPr/>
          <p:nvPr/>
        </p:nvSpPr>
        <p:spPr>
          <a:xfrm>
            <a:off x="3584448" y="3392424"/>
            <a:ext cx="402336" cy="402336"/>
          </a:xfrm>
          <a:prstGeom prst="rect">
            <a:avLst/>
          </a:prstGeom>
          <a:noFill/>
          <a:ln/>
        </p:spPr>
        <p:txBody>
          <a:bodyPr wrap="square" lIns="0" tIns="0" rIns="0" bIns="0" rtlCol="0" anchor="ctr"/>
          <a:lstStyle/>
          <a:p>
            <a:pPr algn="ctr" indent="0" marL="0">
              <a:buNone/>
            </a:pPr>
            <a:r>
              <a:rPr lang="en-US" sz="2851" dirty="0">
                <a:solidFill>
                  <a:srgbClr val="FFC62A"/>
                </a:solidFill>
                <a:latin typeface="Segoe UI Symbol" pitchFamily="34" charset="0"/>
                <a:ea typeface="Segoe UI Symbol" pitchFamily="34" charset="-122"/>
                <a:cs typeface="Segoe UI Symbol" pitchFamily="34" charset="-120"/>
              </a:rPr>
              <a:t>♟</a:t>
            </a:r>
            <a:endParaRPr lang="en-US" sz="2851" dirty="0"/>
          </a:p>
        </p:txBody>
      </p:sp>
      <p:sp>
        <p:nvSpPr>
          <p:cNvPr id="55" name="Text 53"/>
          <p:cNvSpPr/>
          <p:nvPr/>
        </p:nvSpPr>
        <p:spPr>
          <a:xfrm>
            <a:off x="4114800" y="3447288"/>
            <a:ext cx="1847088" cy="310896"/>
          </a:xfrm>
          <a:prstGeom prst="rect">
            <a:avLst/>
          </a:prstGeom>
          <a:noFill/>
          <a:ln/>
        </p:spPr>
        <p:txBody>
          <a:bodyPr wrap="square" lIns="0" tIns="0" rIns="0" bIns="0" rtlCol="0" anchor="ctr"/>
          <a:lstStyle/>
          <a:p>
            <a:pPr indent="0" marL="0">
              <a:buNone/>
            </a:pPr>
            <a:r>
              <a:rPr lang="en-US" sz="1250" b="1" dirty="0">
                <a:solidFill>
                  <a:srgbClr val="F5F2EA"/>
                </a:solidFill>
                <a:latin typeface="Bahnschrift" pitchFamily="34" charset="0"/>
                <a:ea typeface="Bahnschrift" pitchFamily="34" charset="-122"/>
                <a:cs typeface="Bahnschrift" pitchFamily="34" charset="-120"/>
              </a:rPr>
              <a:t>Puzzle Trainer</a:t>
            </a:r>
            <a:endParaRPr lang="en-US" sz="1250" dirty="0"/>
          </a:p>
        </p:txBody>
      </p:sp>
      <p:sp>
        <p:nvSpPr>
          <p:cNvPr id="56" name="Text 54"/>
          <p:cNvSpPr/>
          <p:nvPr/>
        </p:nvSpPr>
        <p:spPr>
          <a:xfrm>
            <a:off x="3602736" y="3831336"/>
            <a:ext cx="2340864" cy="457200"/>
          </a:xfrm>
          <a:prstGeom prst="rect">
            <a:avLst/>
          </a:prstGeom>
          <a:noFill/>
          <a:ln/>
        </p:spPr>
        <p:txBody>
          <a:bodyPr wrap="square" lIns="0" tIns="0" rIns="0" bIns="0" rtlCol="0" anchor="t"/>
          <a:lstStyle/>
          <a:p>
            <a:pPr indent="0" marL="0">
              <a:lnSpc>
                <a:spcPct val="105000"/>
              </a:lnSpc>
              <a:buNone/>
            </a:pPr>
            <a:r>
              <a:rPr lang="en-US" sz="900" dirty="0">
                <a:solidFill>
                  <a:srgbClr val="9A97A6"/>
                </a:solidFill>
                <a:latin typeface="Segoe UI" pitchFamily="34" charset="0"/>
                <a:ea typeface="Segoe UI" pitchFamily="34" charset="-122"/>
                <a:cs typeface="Segoe UI" pitchFamily="34" charset="-120"/>
              </a:rPr>
              <a:t>Daily puzzle · attempts · rating</a:t>
            </a:r>
            <a:endParaRPr lang="en-US" sz="900" dirty="0"/>
          </a:p>
        </p:txBody>
      </p:sp>
      <p:sp>
        <p:nvSpPr>
          <p:cNvPr id="57" name="Shape 55"/>
          <p:cNvSpPr/>
          <p:nvPr/>
        </p:nvSpPr>
        <p:spPr>
          <a:xfrm>
            <a:off x="3602736" y="4334256"/>
            <a:ext cx="1043788" cy="246888"/>
          </a:xfrm>
          <a:prstGeom prst="roundRect">
            <a:avLst>
              <a:gd name="adj" fmla="val 50000"/>
            </a:avLst>
          </a:prstGeom>
          <a:solidFill>
            <a:srgbClr val="0E2418"/>
          </a:solidFill>
          <a:ln w="9525">
            <a:solidFill>
              <a:srgbClr val="1F5C38"/>
            </a:solidFill>
            <a:prstDash val="solid"/>
          </a:ln>
        </p:spPr>
      </p:sp>
      <p:sp>
        <p:nvSpPr>
          <p:cNvPr id="58" name="Text 56"/>
          <p:cNvSpPr/>
          <p:nvPr/>
        </p:nvSpPr>
        <p:spPr>
          <a:xfrm>
            <a:off x="3602736" y="4323283"/>
            <a:ext cx="1043788" cy="269748"/>
          </a:xfrm>
          <a:prstGeom prst="rect">
            <a:avLst/>
          </a:prstGeom>
          <a:noFill/>
          <a:ln/>
        </p:spPr>
        <p:txBody>
          <a:bodyPr wrap="square" lIns="0" tIns="0" rIns="0" bIns="0" rtlCol="0" anchor="ctr"/>
          <a:lstStyle/>
          <a:p>
            <a:pPr algn="ctr" indent="0" marL="0">
              <a:buNone/>
            </a:pPr>
            <a:r>
              <a:rPr lang="en-US" sz="850" b="1" spc="80" kern="0" dirty="0">
                <a:solidFill>
                  <a:srgbClr val="3DDC84"/>
                </a:solidFill>
                <a:latin typeface="Segoe UI" pitchFamily="34" charset="0"/>
                <a:ea typeface="Segoe UI" pitchFamily="34" charset="-122"/>
                <a:cs typeface="Segoe UI" pitchFamily="34" charset="-120"/>
              </a:rPr>
              <a:t>IMPLEMENTED</a:t>
            </a:r>
            <a:endParaRPr lang="en-US" sz="850" dirty="0"/>
          </a:p>
        </p:txBody>
      </p:sp>
      <p:sp>
        <p:nvSpPr>
          <p:cNvPr id="59" name="Shape 57"/>
          <p:cNvSpPr/>
          <p:nvPr/>
        </p:nvSpPr>
        <p:spPr>
          <a:xfrm>
            <a:off x="6236208" y="3300984"/>
            <a:ext cx="2724912" cy="1371600"/>
          </a:xfrm>
          <a:prstGeom prst="roundRect">
            <a:avLst>
              <a:gd name="adj" fmla="val 4000"/>
            </a:avLst>
          </a:prstGeom>
          <a:solidFill>
            <a:srgbClr val="15151B"/>
          </a:solidFill>
          <a:ln w="12700">
            <a:solidFill>
              <a:srgbClr val="26262F"/>
            </a:solidFill>
            <a:prstDash val="solid"/>
          </a:ln>
        </p:spPr>
      </p:sp>
      <p:sp>
        <p:nvSpPr>
          <p:cNvPr id="60" name="Text 58"/>
          <p:cNvSpPr/>
          <p:nvPr/>
        </p:nvSpPr>
        <p:spPr>
          <a:xfrm>
            <a:off x="6419088" y="3392424"/>
            <a:ext cx="402336" cy="402336"/>
          </a:xfrm>
          <a:prstGeom prst="rect">
            <a:avLst/>
          </a:prstGeom>
          <a:noFill/>
          <a:ln/>
        </p:spPr>
        <p:txBody>
          <a:bodyPr wrap="square" lIns="0" tIns="0" rIns="0" bIns="0" rtlCol="0" anchor="ctr"/>
          <a:lstStyle/>
          <a:p>
            <a:pPr algn="ctr" indent="0" marL="0">
              <a:buNone/>
            </a:pPr>
            <a:r>
              <a:rPr lang="en-US" sz="2851" dirty="0">
                <a:solidFill>
                  <a:srgbClr val="FFC62A"/>
                </a:solidFill>
                <a:latin typeface="Segoe UI Symbol" pitchFamily="34" charset="0"/>
                <a:ea typeface="Segoe UI Symbol" pitchFamily="34" charset="-122"/>
                <a:cs typeface="Segoe UI Symbol" pitchFamily="34" charset="-120"/>
              </a:rPr>
              <a:t>♞</a:t>
            </a:r>
            <a:endParaRPr lang="en-US" sz="2851" dirty="0"/>
          </a:p>
        </p:txBody>
      </p:sp>
      <p:sp>
        <p:nvSpPr>
          <p:cNvPr id="61" name="Text 59"/>
          <p:cNvSpPr/>
          <p:nvPr/>
        </p:nvSpPr>
        <p:spPr>
          <a:xfrm>
            <a:off x="6949440" y="3447288"/>
            <a:ext cx="1847088" cy="310896"/>
          </a:xfrm>
          <a:prstGeom prst="rect">
            <a:avLst/>
          </a:prstGeom>
          <a:noFill/>
          <a:ln/>
        </p:spPr>
        <p:txBody>
          <a:bodyPr wrap="square" lIns="0" tIns="0" rIns="0" bIns="0" rtlCol="0" anchor="ctr"/>
          <a:lstStyle/>
          <a:p>
            <a:pPr indent="0" marL="0">
              <a:buNone/>
            </a:pPr>
            <a:r>
              <a:rPr lang="en-US" sz="1250" b="1" dirty="0">
                <a:solidFill>
                  <a:srgbClr val="F5F2EA"/>
                </a:solidFill>
                <a:latin typeface="Bahnschrift" pitchFamily="34" charset="0"/>
                <a:ea typeface="Bahnschrift" pitchFamily="34" charset="-122"/>
                <a:cs typeface="Bahnschrift" pitchFamily="34" charset="-120"/>
              </a:rPr>
              <a:t>What-If Analysis</a:t>
            </a:r>
            <a:endParaRPr lang="en-US" sz="1250" dirty="0"/>
          </a:p>
        </p:txBody>
      </p:sp>
      <p:sp>
        <p:nvSpPr>
          <p:cNvPr id="62" name="Text 60"/>
          <p:cNvSpPr/>
          <p:nvPr/>
        </p:nvSpPr>
        <p:spPr>
          <a:xfrm>
            <a:off x="6437376" y="3831336"/>
            <a:ext cx="2340864" cy="457200"/>
          </a:xfrm>
          <a:prstGeom prst="rect">
            <a:avLst/>
          </a:prstGeom>
          <a:noFill/>
          <a:ln/>
        </p:spPr>
        <p:txBody>
          <a:bodyPr wrap="square" lIns="0" tIns="0" rIns="0" bIns="0" rtlCol="0" anchor="t"/>
          <a:lstStyle/>
          <a:p>
            <a:pPr indent="0" marL="0">
              <a:lnSpc>
                <a:spcPct val="105000"/>
              </a:lnSpc>
              <a:buNone/>
            </a:pPr>
            <a:r>
              <a:rPr lang="en-US" sz="900" dirty="0">
                <a:solidFill>
                  <a:srgbClr val="9A97A6"/>
                </a:solidFill>
                <a:latin typeface="Segoe UI" pitchFamily="34" charset="0"/>
                <a:ea typeface="Segoe UI" pitchFamily="34" charset="-122"/>
                <a:cs typeface="Segoe UI" pitchFamily="34" charset="-120"/>
              </a:rPr>
              <a:t>Interactive board · live engine · grader</a:t>
            </a:r>
            <a:endParaRPr lang="en-US" sz="900" dirty="0"/>
          </a:p>
        </p:txBody>
      </p:sp>
      <p:sp>
        <p:nvSpPr>
          <p:cNvPr id="63" name="Shape 61"/>
          <p:cNvSpPr/>
          <p:nvPr/>
        </p:nvSpPr>
        <p:spPr>
          <a:xfrm>
            <a:off x="6437376" y="4334256"/>
            <a:ext cx="1043788" cy="246888"/>
          </a:xfrm>
          <a:prstGeom prst="roundRect">
            <a:avLst>
              <a:gd name="adj" fmla="val 50000"/>
            </a:avLst>
          </a:prstGeom>
          <a:solidFill>
            <a:srgbClr val="0E2418"/>
          </a:solidFill>
          <a:ln w="9525">
            <a:solidFill>
              <a:srgbClr val="1F5C38"/>
            </a:solidFill>
            <a:prstDash val="solid"/>
          </a:ln>
        </p:spPr>
      </p:sp>
      <p:sp>
        <p:nvSpPr>
          <p:cNvPr id="64" name="Text 62"/>
          <p:cNvSpPr/>
          <p:nvPr/>
        </p:nvSpPr>
        <p:spPr>
          <a:xfrm>
            <a:off x="6437376" y="4323283"/>
            <a:ext cx="1043788" cy="269748"/>
          </a:xfrm>
          <a:prstGeom prst="rect">
            <a:avLst/>
          </a:prstGeom>
          <a:noFill/>
          <a:ln/>
        </p:spPr>
        <p:txBody>
          <a:bodyPr wrap="square" lIns="0" tIns="0" rIns="0" bIns="0" rtlCol="0" anchor="ctr"/>
          <a:lstStyle/>
          <a:p>
            <a:pPr algn="ctr" indent="0" marL="0">
              <a:buNone/>
            </a:pPr>
            <a:r>
              <a:rPr lang="en-US" sz="850" b="1" spc="80" kern="0" dirty="0">
                <a:solidFill>
                  <a:srgbClr val="3DDC84"/>
                </a:solidFill>
                <a:latin typeface="Segoe UI" pitchFamily="34" charset="0"/>
                <a:ea typeface="Segoe UI" pitchFamily="34" charset="-122"/>
                <a:cs typeface="Segoe UI" pitchFamily="34" charset="-120"/>
              </a:rPr>
              <a:t>IMPLEMENTED</a:t>
            </a:r>
            <a:endParaRPr lang="en-US" sz="850" dirty="0"/>
          </a:p>
        </p:txBody>
      </p:sp>
      <p:sp>
        <p:nvSpPr>
          <p:cNvPr id="65" name="Shape 63"/>
          <p:cNvSpPr/>
          <p:nvPr/>
        </p:nvSpPr>
        <p:spPr>
          <a:xfrm>
            <a:off x="9070848" y="3300984"/>
            <a:ext cx="2724912" cy="1371600"/>
          </a:xfrm>
          <a:prstGeom prst="roundRect">
            <a:avLst>
              <a:gd name="adj" fmla="val 4000"/>
            </a:avLst>
          </a:prstGeom>
          <a:solidFill>
            <a:srgbClr val="15151B"/>
          </a:solidFill>
          <a:ln w="12700">
            <a:solidFill>
              <a:srgbClr val="26262F"/>
            </a:solidFill>
            <a:prstDash val="solid"/>
          </a:ln>
        </p:spPr>
      </p:sp>
      <p:sp>
        <p:nvSpPr>
          <p:cNvPr id="66" name="Text 64"/>
          <p:cNvSpPr/>
          <p:nvPr/>
        </p:nvSpPr>
        <p:spPr>
          <a:xfrm>
            <a:off x="9253728" y="3392424"/>
            <a:ext cx="402336" cy="402336"/>
          </a:xfrm>
          <a:prstGeom prst="rect">
            <a:avLst/>
          </a:prstGeom>
          <a:noFill/>
          <a:ln/>
        </p:spPr>
        <p:txBody>
          <a:bodyPr wrap="square" lIns="0" tIns="0" rIns="0" bIns="0" rtlCol="0" anchor="ctr"/>
          <a:lstStyle/>
          <a:p>
            <a:pPr algn="ctr" indent="0" marL="0">
              <a:buNone/>
            </a:pPr>
            <a:r>
              <a:rPr lang="en-US" sz="2851" dirty="0">
                <a:solidFill>
                  <a:srgbClr val="FFC62A"/>
                </a:solidFill>
                <a:latin typeface="Segoe UI Symbol" pitchFamily="34" charset="0"/>
                <a:ea typeface="Segoe UI Symbol" pitchFamily="34" charset="-122"/>
                <a:cs typeface="Segoe UI Symbol" pitchFamily="34" charset="-120"/>
              </a:rPr>
              <a:t>♜</a:t>
            </a:r>
            <a:endParaRPr lang="en-US" sz="2851" dirty="0"/>
          </a:p>
        </p:txBody>
      </p:sp>
      <p:sp>
        <p:nvSpPr>
          <p:cNvPr id="67" name="Text 65"/>
          <p:cNvSpPr/>
          <p:nvPr/>
        </p:nvSpPr>
        <p:spPr>
          <a:xfrm>
            <a:off x="9784080" y="3447288"/>
            <a:ext cx="1847088" cy="310896"/>
          </a:xfrm>
          <a:prstGeom prst="rect">
            <a:avLst/>
          </a:prstGeom>
          <a:noFill/>
          <a:ln/>
        </p:spPr>
        <p:txBody>
          <a:bodyPr wrap="square" lIns="0" tIns="0" rIns="0" bIns="0" rtlCol="0" anchor="ctr"/>
          <a:lstStyle/>
          <a:p>
            <a:pPr indent="0" marL="0">
              <a:buNone/>
            </a:pPr>
            <a:r>
              <a:rPr lang="en-US" sz="1250" b="1" dirty="0">
                <a:solidFill>
                  <a:srgbClr val="F5F2EA"/>
                </a:solidFill>
                <a:latin typeface="Bahnschrift" pitchFamily="34" charset="0"/>
                <a:ea typeface="Bahnschrift" pitchFamily="34" charset="-122"/>
                <a:cs typeface="Bahnschrift" pitchFamily="34" charset="-120"/>
              </a:rPr>
              <a:t>Games Library</a:t>
            </a:r>
            <a:endParaRPr lang="en-US" sz="1250" dirty="0"/>
          </a:p>
        </p:txBody>
      </p:sp>
      <p:sp>
        <p:nvSpPr>
          <p:cNvPr id="68" name="Text 66"/>
          <p:cNvSpPr/>
          <p:nvPr/>
        </p:nvSpPr>
        <p:spPr>
          <a:xfrm>
            <a:off x="9272016" y="3831336"/>
            <a:ext cx="2340864" cy="457200"/>
          </a:xfrm>
          <a:prstGeom prst="rect">
            <a:avLst/>
          </a:prstGeom>
          <a:noFill/>
          <a:ln/>
        </p:spPr>
        <p:txBody>
          <a:bodyPr wrap="square" lIns="0" tIns="0" rIns="0" bIns="0" rtlCol="0" anchor="t"/>
          <a:lstStyle/>
          <a:p>
            <a:pPr indent="0" marL="0">
              <a:lnSpc>
                <a:spcPct val="105000"/>
              </a:lnSpc>
              <a:buNone/>
            </a:pPr>
            <a:r>
              <a:rPr lang="en-US" sz="900" dirty="0">
                <a:solidFill>
                  <a:srgbClr val="9A97A6"/>
                </a:solidFill>
                <a:latin typeface="Segoe UI" pitchFamily="34" charset="0"/>
                <a:ea typeface="Segoe UI" pitchFamily="34" charset="-122"/>
                <a:cs typeface="Segoe UI" pitchFamily="34" charset="-120"/>
              </a:rPr>
              <a:t>Saved reports · import · stats</a:t>
            </a:r>
            <a:endParaRPr lang="en-US" sz="900" dirty="0"/>
          </a:p>
        </p:txBody>
      </p:sp>
      <p:sp>
        <p:nvSpPr>
          <p:cNvPr id="69" name="Shape 67"/>
          <p:cNvSpPr/>
          <p:nvPr/>
        </p:nvSpPr>
        <p:spPr>
          <a:xfrm>
            <a:off x="9272016" y="4334256"/>
            <a:ext cx="1043788" cy="246888"/>
          </a:xfrm>
          <a:prstGeom prst="roundRect">
            <a:avLst>
              <a:gd name="adj" fmla="val 50000"/>
            </a:avLst>
          </a:prstGeom>
          <a:solidFill>
            <a:srgbClr val="0E2418"/>
          </a:solidFill>
          <a:ln w="9525">
            <a:solidFill>
              <a:srgbClr val="1F5C38"/>
            </a:solidFill>
            <a:prstDash val="solid"/>
          </a:ln>
        </p:spPr>
      </p:sp>
      <p:sp>
        <p:nvSpPr>
          <p:cNvPr id="70" name="Text 68"/>
          <p:cNvSpPr/>
          <p:nvPr/>
        </p:nvSpPr>
        <p:spPr>
          <a:xfrm>
            <a:off x="9272016" y="4323283"/>
            <a:ext cx="1043788" cy="269748"/>
          </a:xfrm>
          <a:prstGeom prst="rect">
            <a:avLst/>
          </a:prstGeom>
          <a:noFill/>
          <a:ln/>
        </p:spPr>
        <p:txBody>
          <a:bodyPr wrap="square" lIns="0" tIns="0" rIns="0" bIns="0" rtlCol="0" anchor="ctr"/>
          <a:lstStyle/>
          <a:p>
            <a:pPr algn="ctr" indent="0" marL="0">
              <a:buNone/>
            </a:pPr>
            <a:r>
              <a:rPr lang="en-US" sz="850" b="1" spc="80" kern="0" dirty="0">
                <a:solidFill>
                  <a:srgbClr val="3DDC84"/>
                </a:solidFill>
                <a:latin typeface="Segoe UI" pitchFamily="34" charset="0"/>
                <a:ea typeface="Segoe UI" pitchFamily="34" charset="-122"/>
                <a:cs typeface="Segoe UI" pitchFamily="34" charset="-120"/>
              </a:rPr>
              <a:t>IMPLEMENTED</a:t>
            </a:r>
            <a:endParaRPr lang="en-US" sz="850" dirty="0"/>
          </a:p>
        </p:txBody>
      </p:sp>
      <p:sp>
        <p:nvSpPr>
          <p:cNvPr id="71" name="Shape 69"/>
          <p:cNvSpPr/>
          <p:nvPr/>
        </p:nvSpPr>
        <p:spPr>
          <a:xfrm>
            <a:off x="566928" y="4818888"/>
            <a:ext cx="2724912" cy="1371600"/>
          </a:xfrm>
          <a:prstGeom prst="roundRect">
            <a:avLst>
              <a:gd name="adj" fmla="val 4000"/>
            </a:avLst>
          </a:prstGeom>
          <a:solidFill>
            <a:srgbClr val="15151B"/>
          </a:solidFill>
          <a:ln w="12700">
            <a:solidFill>
              <a:srgbClr val="26262F"/>
            </a:solidFill>
            <a:prstDash val="solid"/>
          </a:ln>
        </p:spPr>
      </p:sp>
      <p:sp>
        <p:nvSpPr>
          <p:cNvPr id="72" name="Text 70"/>
          <p:cNvSpPr/>
          <p:nvPr/>
        </p:nvSpPr>
        <p:spPr>
          <a:xfrm>
            <a:off x="749808" y="4910328"/>
            <a:ext cx="402336" cy="402336"/>
          </a:xfrm>
          <a:prstGeom prst="rect">
            <a:avLst/>
          </a:prstGeom>
          <a:noFill/>
          <a:ln/>
        </p:spPr>
        <p:txBody>
          <a:bodyPr wrap="square" lIns="0" tIns="0" rIns="0" bIns="0" rtlCol="0" anchor="ctr"/>
          <a:lstStyle/>
          <a:p>
            <a:pPr algn="ctr" indent="0" marL="0">
              <a:buNone/>
            </a:pPr>
            <a:r>
              <a:rPr lang="en-US" sz="2851" dirty="0">
                <a:solidFill>
                  <a:srgbClr val="FFC62A"/>
                </a:solidFill>
                <a:latin typeface="Segoe UI Symbol" pitchFamily="34" charset="0"/>
                <a:ea typeface="Segoe UI Symbol" pitchFamily="34" charset="-122"/>
                <a:cs typeface="Segoe UI Symbol" pitchFamily="34" charset="-120"/>
              </a:rPr>
              <a:t>♝</a:t>
            </a:r>
            <a:endParaRPr lang="en-US" sz="2851" dirty="0"/>
          </a:p>
        </p:txBody>
      </p:sp>
      <p:sp>
        <p:nvSpPr>
          <p:cNvPr id="73" name="Text 71"/>
          <p:cNvSpPr/>
          <p:nvPr/>
        </p:nvSpPr>
        <p:spPr>
          <a:xfrm>
            <a:off x="1280160" y="4965192"/>
            <a:ext cx="1847088" cy="310896"/>
          </a:xfrm>
          <a:prstGeom prst="rect">
            <a:avLst/>
          </a:prstGeom>
          <a:noFill/>
          <a:ln/>
        </p:spPr>
        <p:txBody>
          <a:bodyPr wrap="square" lIns="0" tIns="0" rIns="0" bIns="0" rtlCol="0" anchor="ctr"/>
          <a:lstStyle/>
          <a:p>
            <a:pPr indent="0" marL="0">
              <a:buNone/>
            </a:pPr>
            <a:r>
              <a:rPr lang="en-US" sz="1250" b="1" dirty="0">
                <a:solidFill>
                  <a:srgbClr val="F5F2EA"/>
                </a:solidFill>
                <a:latin typeface="Bahnschrift" pitchFamily="34" charset="0"/>
                <a:ea typeface="Bahnschrift" pitchFamily="34" charset="-122"/>
                <a:cs typeface="Bahnschrift" pitchFamily="34" charset="-120"/>
              </a:rPr>
              <a:t>Leaderboards</a:t>
            </a:r>
            <a:endParaRPr lang="en-US" sz="1250" dirty="0"/>
          </a:p>
        </p:txBody>
      </p:sp>
      <p:sp>
        <p:nvSpPr>
          <p:cNvPr id="74" name="Text 72"/>
          <p:cNvSpPr/>
          <p:nvPr/>
        </p:nvSpPr>
        <p:spPr>
          <a:xfrm>
            <a:off x="768096" y="5349240"/>
            <a:ext cx="2340864" cy="457200"/>
          </a:xfrm>
          <a:prstGeom prst="rect">
            <a:avLst/>
          </a:prstGeom>
          <a:noFill/>
          <a:ln/>
        </p:spPr>
        <p:txBody>
          <a:bodyPr wrap="square" lIns="0" tIns="0" rIns="0" bIns="0" rtlCol="0" anchor="t"/>
          <a:lstStyle/>
          <a:p>
            <a:pPr indent="0" marL="0">
              <a:lnSpc>
                <a:spcPct val="105000"/>
              </a:lnSpc>
              <a:buNone/>
            </a:pPr>
            <a:r>
              <a:rPr lang="en-US" sz="900" dirty="0">
                <a:solidFill>
                  <a:srgbClr val="9A97A6"/>
                </a:solidFill>
                <a:latin typeface="Segoe UI" pitchFamily="34" charset="0"/>
                <a:ea typeface="Segoe UI" pitchFamily="34" charset="-122"/>
                <a:cs typeface="Segoe UI" pitchFamily="34" charset="-120"/>
              </a:rPr>
              <a:t>Puzzles &amp; brilliant moves</a:t>
            </a:r>
            <a:endParaRPr lang="en-US" sz="900" dirty="0"/>
          </a:p>
        </p:txBody>
      </p:sp>
      <p:sp>
        <p:nvSpPr>
          <p:cNvPr id="75" name="Shape 73"/>
          <p:cNvSpPr/>
          <p:nvPr/>
        </p:nvSpPr>
        <p:spPr>
          <a:xfrm>
            <a:off x="768096" y="5852160"/>
            <a:ext cx="1043788" cy="246888"/>
          </a:xfrm>
          <a:prstGeom prst="roundRect">
            <a:avLst>
              <a:gd name="adj" fmla="val 50000"/>
            </a:avLst>
          </a:prstGeom>
          <a:solidFill>
            <a:srgbClr val="0E2418"/>
          </a:solidFill>
          <a:ln w="9525">
            <a:solidFill>
              <a:srgbClr val="1F5C38"/>
            </a:solidFill>
            <a:prstDash val="solid"/>
          </a:ln>
        </p:spPr>
      </p:sp>
      <p:sp>
        <p:nvSpPr>
          <p:cNvPr id="76" name="Text 74"/>
          <p:cNvSpPr/>
          <p:nvPr/>
        </p:nvSpPr>
        <p:spPr>
          <a:xfrm>
            <a:off x="768096" y="5841187"/>
            <a:ext cx="1043788" cy="269748"/>
          </a:xfrm>
          <a:prstGeom prst="rect">
            <a:avLst/>
          </a:prstGeom>
          <a:noFill/>
          <a:ln/>
        </p:spPr>
        <p:txBody>
          <a:bodyPr wrap="square" lIns="0" tIns="0" rIns="0" bIns="0" rtlCol="0" anchor="ctr"/>
          <a:lstStyle/>
          <a:p>
            <a:pPr algn="ctr" indent="0" marL="0">
              <a:buNone/>
            </a:pPr>
            <a:r>
              <a:rPr lang="en-US" sz="850" b="1" spc="80" kern="0" dirty="0">
                <a:solidFill>
                  <a:srgbClr val="3DDC84"/>
                </a:solidFill>
                <a:latin typeface="Segoe UI" pitchFamily="34" charset="0"/>
                <a:ea typeface="Segoe UI" pitchFamily="34" charset="-122"/>
                <a:cs typeface="Segoe UI" pitchFamily="34" charset="-120"/>
              </a:rPr>
              <a:t>IMPLEMENTED</a:t>
            </a:r>
            <a:endParaRPr lang="en-US" sz="850" dirty="0"/>
          </a:p>
        </p:txBody>
      </p:sp>
      <p:sp>
        <p:nvSpPr>
          <p:cNvPr id="77" name="Shape 75"/>
          <p:cNvSpPr/>
          <p:nvPr/>
        </p:nvSpPr>
        <p:spPr>
          <a:xfrm>
            <a:off x="3401568" y="4818888"/>
            <a:ext cx="2724912" cy="1371600"/>
          </a:xfrm>
          <a:prstGeom prst="roundRect">
            <a:avLst>
              <a:gd name="adj" fmla="val 4000"/>
            </a:avLst>
          </a:prstGeom>
          <a:solidFill>
            <a:srgbClr val="15151B"/>
          </a:solidFill>
          <a:ln w="12700">
            <a:solidFill>
              <a:srgbClr val="26262F"/>
            </a:solidFill>
            <a:prstDash val="solid"/>
          </a:ln>
        </p:spPr>
      </p:sp>
      <p:sp>
        <p:nvSpPr>
          <p:cNvPr id="78" name="Text 76"/>
          <p:cNvSpPr/>
          <p:nvPr/>
        </p:nvSpPr>
        <p:spPr>
          <a:xfrm>
            <a:off x="3584448" y="4910328"/>
            <a:ext cx="402336" cy="402336"/>
          </a:xfrm>
          <a:prstGeom prst="rect">
            <a:avLst/>
          </a:prstGeom>
          <a:noFill/>
          <a:ln/>
        </p:spPr>
        <p:txBody>
          <a:bodyPr wrap="square" lIns="0" tIns="0" rIns="0" bIns="0" rtlCol="0" anchor="ctr"/>
          <a:lstStyle/>
          <a:p>
            <a:pPr algn="ctr" indent="0" marL="0">
              <a:buNone/>
            </a:pPr>
            <a:r>
              <a:rPr lang="en-US" sz="2851" dirty="0">
                <a:solidFill>
                  <a:srgbClr val="FFC62A"/>
                </a:solidFill>
                <a:latin typeface="Segoe UI Symbol" pitchFamily="34" charset="0"/>
                <a:ea typeface="Segoe UI Symbol" pitchFamily="34" charset="-122"/>
                <a:cs typeface="Segoe UI Symbol" pitchFamily="34" charset="-120"/>
              </a:rPr>
              <a:t>♚</a:t>
            </a:r>
            <a:endParaRPr lang="en-US" sz="2851" dirty="0"/>
          </a:p>
        </p:txBody>
      </p:sp>
      <p:sp>
        <p:nvSpPr>
          <p:cNvPr id="79" name="Text 77"/>
          <p:cNvSpPr/>
          <p:nvPr/>
        </p:nvSpPr>
        <p:spPr>
          <a:xfrm>
            <a:off x="4114800" y="4965192"/>
            <a:ext cx="1847088" cy="310896"/>
          </a:xfrm>
          <a:prstGeom prst="rect">
            <a:avLst/>
          </a:prstGeom>
          <a:noFill/>
          <a:ln/>
        </p:spPr>
        <p:txBody>
          <a:bodyPr wrap="square" lIns="0" tIns="0" rIns="0" bIns="0" rtlCol="0" anchor="ctr"/>
          <a:lstStyle/>
          <a:p>
            <a:pPr indent="0" marL="0">
              <a:buNone/>
            </a:pPr>
            <a:r>
              <a:rPr lang="en-US" sz="1250" b="1" dirty="0">
                <a:solidFill>
                  <a:srgbClr val="F5F2EA"/>
                </a:solidFill>
                <a:latin typeface="Bahnschrift" pitchFamily="34" charset="0"/>
                <a:ea typeface="Bahnschrift" pitchFamily="34" charset="-122"/>
                <a:cs typeface="Bahnschrift" pitchFamily="34" charset="-120"/>
              </a:rPr>
              <a:t>Chess Globe</a:t>
            </a:r>
            <a:endParaRPr lang="en-US" sz="1250" dirty="0"/>
          </a:p>
        </p:txBody>
      </p:sp>
      <p:sp>
        <p:nvSpPr>
          <p:cNvPr id="80" name="Text 78"/>
          <p:cNvSpPr/>
          <p:nvPr/>
        </p:nvSpPr>
        <p:spPr>
          <a:xfrm>
            <a:off x="3602736" y="5349240"/>
            <a:ext cx="2340864" cy="457200"/>
          </a:xfrm>
          <a:prstGeom prst="rect">
            <a:avLst/>
          </a:prstGeom>
          <a:noFill/>
          <a:ln/>
        </p:spPr>
        <p:txBody>
          <a:bodyPr wrap="square" lIns="0" tIns="0" rIns="0" bIns="0" rtlCol="0" anchor="t"/>
          <a:lstStyle/>
          <a:p>
            <a:pPr indent="0" marL="0">
              <a:lnSpc>
                <a:spcPct val="105000"/>
              </a:lnSpc>
              <a:buNone/>
            </a:pPr>
            <a:r>
              <a:rPr lang="en-US" sz="900" dirty="0">
                <a:solidFill>
                  <a:srgbClr val="9A97A6"/>
                </a:solidFill>
                <a:latin typeface="Segoe UI" pitchFamily="34" charset="0"/>
                <a:ea typeface="Segoe UI" pitchFamily="34" charset="-122"/>
                <a:cs typeface="Segoe UI" pitchFamily="34" charset="-120"/>
              </a:rPr>
              <a:t>3D world activity map (demo data)</a:t>
            </a:r>
            <a:endParaRPr lang="en-US" sz="900" dirty="0"/>
          </a:p>
        </p:txBody>
      </p:sp>
      <p:sp>
        <p:nvSpPr>
          <p:cNvPr id="81" name="Shape 79"/>
          <p:cNvSpPr/>
          <p:nvPr/>
        </p:nvSpPr>
        <p:spPr>
          <a:xfrm>
            <a:off x="3602736" y="5852160"/>
            <a:ext cx="554126" cy="246888"/>
          </a:xfrm>
          <a:prstGeom prst="roundRect">
            <a:avLst>
              <a:gd name="adj" fmla="val 50000"/>
            </a:avLst>
          </a:prstGeom>
          <a:solidFill>
            <a:srgbClr val="0D1B2E"/>
          </a:solidFill>
          <a:ln w="9525">
            <a:solidFill>
              <a:srgbClr val="1E3A5F"/>
            </a:solidFill>
            <a:prstDash val="solid"/>
          </a:ln>
        </p:spPr>
      </p:sp>
      <p:sp>
        <p:nvSpPr>
          <p:cNvPr id="82" name="Text 80"/>
          <p:cNvSpPr/>
          <p:nvPr/>
        </p:nvSpPr>
        <p:spPr>
          <a:xfrm>
            <a:off x="3602736" y="5841187"/>
            <a:ext cx="554126" cy="269748"/>
          </a:xfrm>
          <a:prstGeom prst="rect">
            <a:avLst/>
          </a:prstGeom>
          <a:noFill/>
          <a:ln/>
        </p:spPr>
        <p:txBody>
          <a:bodyPr wrap="square" lIns="0" tIns="0" rIns="0" bIns="0" rtlCol="0" anchor="ctr"/>
          <a:lstStyle/>
          <a:p>
            <a:pPr algn="ctr" indent="0" marL="0">
              <a:buNone/>
            </a:pPr>
            <a:r>
              <a:rPr lang="en-US" sz="850" b="1" spc="80" kern="0" dirty="0">
                <a:solidFill>
                  <a:srgbClr val="7AA2FF"/>
                </a:solidFill>
                <a:latin typeface="Segoe UI" pitchFamily="34" charset="0"/>
                <a:ea typeface="Segoe UI" pitchFamily="34" charset="-122"/>
                <a:cs typeface="Segoe UI" pitchFamily="34" charset="-120"/>
              </a:rPr>
              <a:t>BETA</a:t>
            </a:r>
            <a:endParaRPr lang="en-US" sz="850" dirty="0"/>
          </a:p>
        </p:txBody>
      </p:sp>
      <p:sp>
        <p:nvSpPr>
          <p:cNvPr id="83" name="Shape 81"/>
          <p:cNvSpPr/>
          <p:nvPr/>
        </p:nvSpPr>
        <p:spPr>
          <a:xfrm>
            <a:off x="6236208" y="4818888"/>
            <a:ext cx="2724912" cy="1371600"/>
          </a:xfrm>
          <a:prstGeom prst="roundRect">
            <a:avLst>
              <a:gd name="adj" fmla="val 4000"/>
            </a:avLst>
          </a:prstGeom>
          <a:solidFill>
            <a:srgbClr val="15151B"/>
          </a:solidFill>
          <a:ln w="12700">
            <a:solidFill>
              <a:srgbClr val="26262F"/>
            </a:solidFill>
            <a:prstDash val="solid"/>
          </a:ln>
        </p:spPr>
      </p:sp>
      <p:sp>
        <p:nvSpPr>
          <p:cNvPr id="84" name="Text 82"/>
          <p:cNvSpPr/>
          <p:nvPr/>
        </p:nvSpPr>
        <p:spPr>
          <a:xfrm>
            <a:off x="6419088" y="4910328"/>
            <a:ext cx="402336" cy="402336"/>
          </a:xfrm>
          <a:prstGeom prst="rect">
            <a:avLst/>
          </a:prstGeom>
          <a:noFill/>
          <a:ln/>
        </p:spPr>
        <p:txBody>
          <a:bodyPr wrap="square" lIns="0" tIns="0" rIns="0" bIns="0" rtlCol="0" anchor="ctr"/>
          <a:lstStyle/>
          <a:p>
            <a:pPr algn="ctr" indent="0" marL="0">
              <a:buNone/>
            </a:pPr>
            <a:r>
              <a:rPr lang="en-US" sz="2851" dirty="0">
                <a:solidFill>
                  <a:srgbClr val="FFC62A"/>
                </a:solidFill>
                <a:latin typeface="Segoe UI Symbol" pitchFamily="34" charset="0"/>
                <a:ea typeface="Segoe UI Symbol" pitchFamily="34" charset="-122"/>
                <a:cs typeface="Segoe UI Symbol" pitchFamily="34" charset="-120"/>
              </a:rPr>
              <a:t>♛</a:t>
            </a:r>
            <a:endParaRPr lang="en-US" sz="2851" dirty="0"/>
          </a:p>
        </p:txBody>
      </p:sp>
      <p:sp>
        <p:nvSpPr>
          <p:cNvPr id="85" name="Text 83"/>
          <p:cNvSpPr/>
          <p:nvPr/>
        </p:nvSpPr>
        <p:spPr>
          <a:xfrm>
            <a:off x="6949440" y="4965192"/>
            <a:ext cx="1847088" cy="310896"/>
          </a:xfrm>
          <a:prstGeom prst="rect">
            <a:avLst/>
          </a:prstGeom>
          <a:noFill/>
          <a:ln/>
        </p:spPr>
        <p:txBody>
          <a:bodyPr wrap="square" lIns="0" tIns="0" rIns="0" bIns="0" rtlCol="0" anchor="ctr"/>
          <a:lstStyle/>
          <a:p>
            <a:pPr indent="0" marL="0">
              <a:buNone/>
            </a:pPr>
            <a:r>
              <a:rPr lang="en-US" sz="1250" b="1" dirty="0">
                <a:solidFill>
                  <a:srgbClr val="F5F2EA"/>
                </a:solidFill>
                <a:latin typeface="Bahnschrift" pitchFamily="34" charset="0"/>
                <a:ea typeface="Bahnschrift" pitchFamily="34" charset="-122"/>
                <a:cs typeface="Bahnschrift" pitchFamily="34" charset="-120"/>
              </a:rPr>
              <a:t>Account &amp; Profile</a:t>
            </a:r>
            <a:endParaRPr lang="en-US" sz="1250" dirty="0"/>
          </a:p>
        </p:txBody>
      </p:sp>
      <p:sp>
        <p:nvSpPr>
          <p:cNvPr id="86" name="Text 84"/>
          <p:cNvSpPr/>
          <p:nvPr/>
        </p:nvSpPr>
        <p:spPr>
          <a:xfrm>
            <a:off x="6437376" y="5349240"/>
            <a:ext cx="2340864" cy="457200"/>
          </a:xfrm>
          <a:prstGeom prst="rect">
            <a:avLst/>
          </a:prstGeom>
          <a:noFill/>
          <a:ln/>
        </p:spPr>
        <p:txBody>
          <a:bodyPr wrap="square" lIns="0" tIns="0" rIns="0" bIns="0" rtlCol="0" anchor="t"/>
          <a:lstStyle/>
          <a:p>
            <a:pPr indent="0" marL="0">
              <a:lnSpc>
                <a:spcPct val="105000"/>
              </a:lnSpc>
              <a:buNone/>
            </a:pPr>
            <a:r>
              <a:rPr lang="en-US" sz="900" dirty="0">
                <a:solidFill>
                  <a:srgbClr val="9A97A6"/>
                </a:solidFill>
                <a:latin typeface="Segoe UI" pitchFamily="34" charset="0"/>
                <a:ea typeface="Segoe UI" pitchFamily="34" charset="-122"/>
                <a:cs typeface="Segoe UI" pitchFamily="34" charset="-120"/>
              </a:rPr>
              <a:t>Profile, linked accounts, subscription</a:t>
            </a:r>
            <a:endParaRPr lang="en-US" sz="900" dirty="0"/>
          </a:p>
        </p:txBody>
      </p:sp>
      <p:sp>
        <p:nvSpPr>
          <p:cNvPr id="87" name="Shape 85"/>
          <p:cNvSpPr/>
          <p:nvPr/>
        </p:nvSpPr>
        <p:spPr>
          <a:xfrm>
            <a:off x="6437376" y="5852160"/>
            <a:ext cx="1043788" cy="246888"/>
          </a:xfrm>
          <a:prstGeom prst="roundRect">
            <a:avLst>
              <a:gd name="adj" fmla="val 50000"/>
            </a:avLst>
          </a:prstGeom>
          <a:solidFill>
            <a:srgbClr val="0E2418"/>
          </a:solidFill>
          <a:ln w="9525">
            <a:solidFill>
              <a:srgbClr val="1F5C38"/>
            </a:solidFill>
            <a:prstDash val="solid"/>
          </a:ln>
        </p:spPr>
      </p:sp>
      <p:sp>
        <p:nvSpPr>
          <p:cNvPr id="88" name="Text 86"/>
          <p:cNvSpPr/>
          <p:nvPr/>
        </p:nvSpPr>
        <p:spPr>
          <a:xfrm>
            <a:off x="6437376" y="5841187"/>
            <a:ext cx="1043788" cy="269748"/>
          </a:xfrm>
          <a:prstGeom prst="rect">
            <a:avLst/>
          </a:prstGeom>
          <a:noFill/>
          <a:ln/>
        </p:spPr>
        <p:txBody>
          <a:bodyPr wrap="square" lIns="0" tIns="0" rIns="0" bIns="0" rtlCol="0" anchor="ctr"/>
          <a:lstStyle/>
          <a:p>
            <a:pPr algn="ctr" indent="0" marL="0">
              <a:buNone/>
            </a:pPr>
            <a:r>
              <a:rPr lang="en-US" sz="850" b="1" spc="80" kern="0" dirty="0">
                <a:solidFill>
                  <a:srgbClr val="3DDC84"/>
                </a:solidFill>
                <a:latin typeface="Segoe UI" pitchFamily="34" charset="0"/>
                <a:ea typeface="Segoe UI" pitchFamily="34" charset="-122"/>
                <a:cs typeface="Segoe UI" pitchFamily="34" charset="-120"/>
              </a:rPr>
              <a:t>IMPLEMENTED</a:t>
            </a:r>
            <a:endParaRPr lang="en-US" sz="850" dirty="0"/>
          </a:p>
        </p:txBody>
      </p:sp>
      <p:sp>
        <p:nvSpPr>
          <p:cNvPr id="89" name="Shape 87"/>
          <p:cNvSpPr/>
          <p:nvPr/>
        </p:nvSpPr>
        <p:spPr>
          <a:xfrm>
            <a:off x="9070848" y="4818888"/>
            <a:ext cx="2724912" cy="1371600"/>
          </a:xfrm>
          <a:prstGeom prst="roundRect">
            <a:avLst>
              <a:gd name="adj" fmla="val 4000"/>
            </a:avLst>
          </a:prstGeom>
          <a:solidFill>
            <a:srgbClr val="15151B"/>
          </a:solidFill>
          <a:ln w="12700">
            <a:solidFill>
              <a:srgbClr val="26262F"/>
            </a:solidFill>
            <a:prstDash val="solid"/>
          </a:ln>
        </p:spPr>
      </p:sp>
      <p:sp>
        <p:nvSpPr>
          <p:cNvPr id="90" name="Text 88"/>
          <p:cNvSpPr/>
          <p:nvPr/>
        </p:nvSpPr>
        <p:spPr>
          <a:xfrm>
            <a:off x="9253728" y="4910328"/>
            <a:ext cx="402336" cy="402336"/>
          </a:xfrm>
          <a:prstGeom prst="rect">
            <a:avLst/>
          </a:prstGeom>
          <a:noFill/>
          <a:ln/>
        </p:spPr>
        <p:txBody>
          <a:bodyPr wrap="square" lIns="0" tIns="0" rIns="0" bIns="0" rtlCol="0" anchor="ctr"/>
          <a:lstStyle/>
          <a:p>
            <a:pPr algn="ctr" indent="0" marL="0">
              <a:buNone/>
            </a:pPr>
            <a:r>
              <a:rPr lang="en-US" sz="2851" dirty="0">
                <a:solidFill>
                  <a:srgbClr val="FFC62A"/>
                </a:solidFill>
                <a:latin typeface="Segoe UI Symbol" pitchFamily="34" charset="0"/>
                <a:ea typeface="Segoe UI Symbol" pitchFamily="34" charset="-122"/>
                <a:cs typeface="Segoe UI Symbol" pitchFamily="34" charset="-120"/>
              </a:rPr>
              <a:t>♟</a:t>
            </a:r>
            <a:endParaRPr lang="en-US" sz="2851" dirty="0"/>
          </a:p>
        </p:txBody>
      </p:sp>
      <p:sp>
        <p:nvSpPr>
          <p:cNvPr id="91" name="Text 89"/>
          <p:cNvSpPr/>
          <p:nvPr/>
        </p:nvSpPr>
        <p:spPr>
          <a:xfrm>
            <a:off x="9784080" y="4965192"/>
            <a:ext cx="1847088" cy="310896"/>
          </a:xfrm>
          <a:prstGeom prst="rect">
            <a:avLst/>
          </a:prstGeom>
          <a:noFill/>
          <a:ln/>
        </p:spPr>
        <p:txBody>
          <a:bodyPr wrap="square" lIns="0" tIns="0" rIns="0" bIns="0" rtlCol="0" anchor="ctr"/>
          <a:lstStyle/>
          <a:p>
            <a:pPr indent="0" marL="0">
              <a:buNone/>
            </a:pPr>
            <a:r>
              <a:rPr lang="en-US" sz="1250" b="1" dirty="0">
                <a:solidFill>
                  <a:srgbClr val="F5F2EA"/>
                </a:solidFill>
                <a:latin typeface="Bahnschrift" pitchFamily="34" charset="0"/>
                <a:ea typeface="Bahnschrift" pitchFamily="34" charset="-122"/>
                <a:cs typeface="Bahnschrift" pitchFamily="34" charset="-120"/>
              </a:rPr>
              <a:t>Shop</a:t>
            </a:r>
            <a:endParaRPr lang="en-US" sz="1250" dirty="0"/>
          </a:p>
        </p:txBody>
      </p:sp>
      <p:sp>
        <p:nvSpPr>
          <p:cNvPr id="92" name="Text 90"/>
          <p:cNvSpPr/>
          <p:nvPr/>
        </p:nvSpPr>
        <p:spPr>
          <a:xfrm>
            <a:off x="9272016" y="5349240"/>
            <a:ext cx="2340864" cy="457200"/>
          </a:xfrm>
          <a:prstGeom prst="rect">
            <a:avLst/>
          </a:prstGeom>
          <a:noFill/>
          <a:ln/>
        </p:spPr>
        <p:txBody>
          <a:bodyPr wrap="square" lIns="0" tIns="0" rIns="0" bIns="0" rtlCol="0" anchor="t"/>
          <a:lstStyle/>
          <a:p>
            <a:pPr indent="0" marL="0">
              <a:lnSpc>
                <a:spcPct val="105000"/>
              </a:lnSpc>
              <a:buNone/>
            </a:pPr>
            <a:r>
              <a:rPr lang="en-US" sz="900" dirty="0">
                <a:solidFill>
                  <a:srgbClr val="9A97A6"/>
                </a:solidFill>
                <a:latin typeface="Segoe UI" pitchFamily="34" charset="0"/>
                <a:ea typeface="Segoe UI" pitchFamily="34" charset="-122"/>
                <a:cs typeface="Segoe UI" pitchFamily="34" charset="-120"/>
              </a:rPr>
              <a:t>Merch store · cart · Stripe checkout</a:t>
            </a:r>
            <a:endParaRPr lang="en-US" sz="900" dirty="0"/>
          </a:p>
        </p:txBody>
      </p:sp>
      <p:sp>
        <p:nvSpPr>
          <p:cNvPr id="93" name="Shape 91"/>
          <p:cNvSpPr/>
          <p:nvPr/>
        </p:nvSpPr>
        <p:spPr>
          <a:xfrm>
            <a:off x="9272016" y="5852160"/>
            <a:ext cx="1043788" cy="246888"/>
          </a:xfrm>
          <a:prstGeom prst="roundRect">
            <a:avLst>
              <a:gd name="adj" fmla="val 50000"/>
            </a:avLst>
          </a:prstGeom>
          <a:solidFill>
            <a:srgbClr val="0E2418"/>
          </a:solidFill>
          <a:ln w="9525">
            <a:solidFill>
              <a:srgbClr val="1F5C38"/>
            </a:solidFill>
            <a:prstDash val="solid"/>
          </a:ln>
        </p:spPr>
      </p:sp>
      <p:sp>
        <p:nvSpPr>
          <p:cNvPr id="94" name="Text 92"/>
          <p:cNvSpPr/>
          <p:nvPr/>
        </p:nvSpPr>
        <p:spPr>
          <a:xfrm>
            <a:off x="9272016" y="5841187"/>
            <a:ext cx="1043788" cy="269748"/>
          </a:xfrm>
          <a:prstGeom prst="rect">
            <a:avLst/>
          </a:prstGeom>
          <a:noFill/>
          <a:ln/>
        </p:spPr>
        <p:txBody>
          <a:bodyPr wrap="square" lIns="0" tIns="0" rIns="0" bIns="0" rtlCol="0" anchor="ctr"/>
          <a:lstStyle/>
          <a:p>
            <a:pPr algn="ctr" indent="0" marL="0">
              <a:buNone/>
            </a:pPr>
            <a:r>
              <a:rPr lang="en-US" sz="850" b="1" spc="80" kern="0" dirty="0">
                <a:solidFill>
                  <a:srgbClr val="3DDC84"/>
                </a:solidFill>
                <a:latin typeface="Segoe UI" pitchFamily="34" charset="0"/>
                <a:ea typeface="Segoe UI" pitchFamily="34" charset="-122"/>
                <a:cs typeface="Segoe UI" pitchFamily="34" charset="-120"/>
              </a:rPr>
              <a:t>IMPLEMENTED</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0B0F"/>
        </a:solidFill>
      </p:bgPr>
    </p:bg>
    <p:spTree>
      <p:nvGrpSpPr>
        <p:cNvPr id="1" name=""/>
        <p:cNvGrpSpPr/>
        <p:nvPr/>
      </p:nvGrpSpPr>
      <p:grpSpPr>
        <a:xfrm>
          <a:off x="0" y="0"/>
          <a:ext cx="0" cy="0"/>
          <a:chOff x="0" y="0"/>
          <a:chExt cx="0" cy="0"/>
        </a:xfrm>
      </p:grpSpPr>
      <p:sp>
        <p:nvSpPr>
          <p:cNvPr id="2" name="Shape 0"/>
          <p:cNvSpPr/>
          <p:nvPr/>
        </p:nvSpPr>
        <p:spPr>
          <a:xfrm>
            <a:off x="10716768" y="292608"/>
            <a:ext cx="155448" cy="155448"/>
          </a:xfrm>
          <a:prstGeom prst="rect">
            <a:avLst/>
          </a:prstGeom>
          <a:solidFill>
            <a:srgbClr val="14141A"/>
          </a:solidFill>
          <a:ln/>
        </p:spPr>
      </p:sp>
      <p:sp>
        <p:nvSpPr>
          <p:cNvPr id="3" name="Shape 1"/>
          <p:cNvSpPr/>
          <p:nvPr/>
        </p:nvSpPr>
        <p:spPr>
          <a:xfrm>
            <a:off x="11027664" y="292608"/>
            <a:ext cx="155448" cy="155448"/>
          </a:xfrm>
          <a:prstGeom prst="rect">
            <a:avLst/>
          </a:prstGeom>
          <a:solidFill>
            <a:srgbClr val="14141A"/>
          </a:solidFill>
          <a:ln/>
        </p:spPr>
      </p:sp>
      <p:sp>
        <p:nvSpPr>
          <p:cNvPr id="4" name="Shape 2"/>
          <p:cNvSpPr/>
          <p:nvPr/>
        </p:nvSpPr>
        <p:spPr>
          <a:xfrm>
            <a:off x="10561320" y="448056"/>
            <a:ext cx="155448" cy="155448"/>
          </a:xfrm>
          <a:prstGeom prst="rect">
            <a:avLst/>
          </a:prstGeom>
          <a:solidFill>
            <a:srgbClr val="14141A"/>
          </a:solidFill>
          <a:ln/>
        </p:spPr>
      </p:sp>
      <p:sp>
        <p:nvSpPr>
          <p:cNvPr id="5" name="Shape 3"/>
          <p:cNvSpPr/>
          <p:nvPr/>
        </p:nvSpPr>
        <p:spPr>
          <a:xfrm>
            <a:off x="10872216" y="448056"/>
            <a:ext cx="155448" cy="155448"/>
          </a:xfrm>
          <a:prstGeom prst="rect">
            <a:avLst/>
          </a:prstGeom>
          <a:solidFill>
            <a:srgbClr val="14141A"/>
          </a:solidFill>
          <a:ln/>
        </p:spPr>
      </p:sp>
      <p:sp>
        <p:nvSpPr>
          <p:cNvPr id="6" name="Shape 4"/>
          <p:cNvSpPr/>
          <p:nvPr/>
        </p:nvSpPr>
        <p:spPr>
          <a:xfrm>
            <a:off x="11183112" y="448056"/>
            <a:ext cx="155448" cy="155448"/>
          </a:xfrm>
          <a:prstGeom prst="rect">
            <a:avLst/>
          </a:prstGeom>
          <a:solidFill>
            <a:srgbClr val="14141A"/>
          </a:solidFill>
          <a:ln/>
        </p:spPr>
      </p:sp>
      <p:sp>
        <p:nvSpPr>
          <p:cNvPr id="7" name="Shape 5"/>
          <p:cNvSpPr/>
          <p:nvPr/>
        </p:nvSpPr>
        <p:spPr>
          <a:xfrm>
            <a:off x="10716768" y="603504"/>
            <a:ext cx="155448" cy="155448"/>
          </a:xfrm>
          <a:prstGeom prst="rect">
            <a:avLst/>
          </a:prstGeom>
          <a:solidFill>
            <a:srgbClr val="14141A"/>
          </a:solidFill>
          <a:ln/>
        </p:spPr>
      </p:sp>
      <p:sp>
        <p:nvSpPr>
          <p:cNvPr id="8" name="Shape 6"/>
          <p:cNvSpPr/>
          <p:nvPr/>
        </p:nvSpPr>
        <p:spPr>
          <a:xfrm>
            <a:off x="11027664" y="603504"/>
            <a:ext cx="155448" cy="155448"/>
          </a:xfrm>
          <a:prstGeom prst="rect">
            <a:avLst/>
          </a:prstGeom>
          <a:solidFill>
            <a:srgbClr val="14141A"/>
          </a:solidFill>
          <a:ln/>
        </p:spPr>
      </p:sp>
      <p:sp>
        <p:nvSpPr>
          <p:cNvPr id="9" name="Shape 7"/>
          <p:cNvSpPr/>
          <p:nvPr/>
        </p:nvSpPr>
        <p:spPr>
          <a:xfrm>
            <a:off x="10561320" y="758952"/>
            <a:ext cx="155448" cy="155448"/>
          </a:xfrm>
          <a:prstGeom prst="rect">
            <a:avLst/>
          </a:prstGeom>
          <a:solidFill>
            <a:srgbClr val="14141A"/>
          </a:solidFill>
          <a:ln/>
        </p:spPr>
      </p:sp>
      <p:sp>
        <p:nvSpPr>
          <p:cNvPr id="10" name="Shape 8"/>
          <p:cNvSpPr/>
          <p:nvPr/>
        </p:nvSpPr>
        <p:spPr>
          <a:xfrm>
            <a:off x="10872216" y="758952"/>
            <a:ext cx="155448" cy="155448"/>
          </a:xfrm>
          <a:prstGeom prst="rect">
            <a:avLst/>
          </a:prstGeom>
          <a:solidFill>
            <a:srgbClr val="14141A"/>
          </a:solidFill>
          <a:ln/>
        </p:spPr>
      </p:sp>
      <p:sp>
        <p:nvSpPr>
          <p:cNvPr id="11" name="Shape 9"/>
          <p:cNvSpPr/>
          <p:nvPr/>
        </p:nvSpPr>
        <p:spPr>
          <a:xfrm>
            <a:off x="11183112" y="758952"/>
            <a:ext cx="155448" cy="155448"/>
          </a:xfrm>
          <a:prstGeom prst="rect">
            <a:avLst/>
          </a:prstGeom>
          <a:solidFill>
            <a:srgbClr val="14141A"/>
          </a:solidFill>
          <a:ln/>
        </p:spPr>
      </p:sp>
      <p:sp>
        <p:nvSpPr>
          <p:cNvPr id="12" name="Shape 10"/>
          <p:cNvSpPr/>
          <p:nvPr/>
        </p:nvSpPr>
        <p:spPr>
          <a:xfrm>
            <a:off x="10716768" y="914400"/>
            <a:ext cx="155448" cy="155448"/>
          </a:xfrm>
          <a:prstGeom prst="rect">
            <a:avLst/>
          </a:prstGeom>
          <a:solidFill>
            <a:srgbClr val="14141A"/>
          </a:solidFill>
          <a:ln/>
        </p:spPr>
      </p:sp>
      <p:sp>
        <p:nvSpPr>
          <p:cNvPr id="13" name="Shape 11"/>
          <p:cNvSpPr/>
          <p:nvPr/>
        </p:nvSpPr>
        <p:spPr>
          <a:xfrm>
            <a:off x="11027664" y="914400"/>
            <a:ext cx="155448" cy="155448"/>
          </a:xfrm>
          <a:prstGeom prst="rect">
            <a:avLst/>
          </a:prstGeom>
          <a:solidFill>
            <a:srgbClr val="14141A"/>
          </a:solidFill>
          <a:ln/>
        </p:spPr>
      </p:sp>
      <p:sp>
        <p:nvSpPr>
          <p:cNvPr id="14" name="Shape 12"/>
          <p:cNvSpPr/>
          <p:nvPr/>
        </p:nvSpPr>
        <p:spPr>
          <a:xfrm>
            <a:off x="9859975" y="310896"/>
            <a:ext cx="1783080" cy="292608"/>
          </a:xfrm>
          <a:prstGeom prst="roundRect">
            <a:avLst>
              <a:gd name="adj" fmla="val 50000"/>
            </a:avLst>
          </a:prstGeom>
          <a:solidFill>
            <a:srgbClr val="2A2412"/>
          </a:solidFill>
          <a:ln w="9525">
            <a:solidFill>
              <a:srgbClr val="4A3D18"/>
            </a:solidFill>
            <a:prstDash val="solid"/>
          </a:ln>
        </p:spPr>
      </p:sp>
      <p:sp>
        <p:nvSpPr>
          <p:cNvPr id="15" name="Text 13"/>
          <p:cNvSpPr/>
          <p:nvPr/>
        </p:nvSpPr>
        <p:spPr>
          <a:xfrm>
            <a:off x="9859975" y="301752"/>
            <a:ext cx="1783080" cy="310896"/>
          </a:xfrm>
          <a:prstGeom prst="rect">
            <a:avLst/>
          </a:prstGeom>
          <a:noFill/>
          <a:ln/>
        </p:spPr>
        <p:txBody>
          <a:bodyPr wrap="square" lIns="0" tIns="0" rIns="0" bIns="0" rtlCol="0" anchor="ctr"/>
          <a:lstStyle/>
          <a:p>
            <a:pPr algn="ctr" indent="0" marL="0">
              <a:buNone/>
            </a:pPr>
            <a:r>
              <a:rPr lang="en-US" sz="800" b="1" spc="120" kern="0" dirty="0">
                <a:solidFill>
                  <a:srgbClr val="FFC62A"/>
                </a:solidFill>
                <a:latin typeface="Bahnschrift" pitchFamily="34" charset="0"/>
                <a:ea typeface="Bahnschrift" pitchFamily="34" charset="-122"/>
                <a:cs typeface="Bahnschrift" pitchFamily="34" charset="-120"/>
              </a:rPr>
              <a:t>VERIFIED · FROM SOURCE CODE</a:t>
            </a:r>
            <a:endParaRPr lang="en-US" sz="800" dirty="0"/>
          </a:p>
        </p:txBody>
      </p:sp>
      <p:sp>
        <p:nvSpPr>
          <p:cNvPr id="16" name="Text 14"/>
          <p:cNvSpPr/>
          <p:nvPr/>
        </p:nvSpPr>
        <p:spPr>
          <a:xfrm>
            <a:off x="566928" y="384048"/>
            <a:ext cx="8229600" cy="274320"/>
          </a:xfrm>
          <a:prstGeom prst="rect">
            <a:avLst/>
          </a:prstGeom>
          <a:noFill/>
          <a:ln/>
        </p:spPr>
        <p:txBody>
          <a:bodyPr wrap="square" lIns="0" tIns="0" rIns="0" bIns="0" rtlCol="0" anchor="ctr"/>
          <a:lstStyle/>
          <a:p>
            <a:pPr indent="0" marL="0">
              <a:buNone/>
            </a:pPr>
            <a:r>
              <a:rPr lang="en-US" sz="1100" b="1" spc="300" kern="0" dirty="0">
                <a:solidFill>
                  <a:srgbClr val="FFC62A"/>
                </a:solidFill>
                <a:latin typeface="Bahnschrift" pitchFamily="34" charset="0"/>
                <a:ea typeface="Bahnschrift" pitchFamily="34" charset="-122"/>
                <a:cs typeface="Bahnschrift" pitchFamily="34" charset="-120"/>
              </a:rPr>
              <a:t>11 · FEATURE MATRIX</a:t>
            </a:r>
            <a:endParaRPr lang="en-US" sz="1100" dirty="0"/>
          </a:p>
        </p:txBody>
      </p:sp>
      <p:sp>
        <p:nvSpPr>
          <p:cNvPr id="17" name="Shape 15"/>
          <p:cNvSpPr/>
          <p:nvPr/>
        </p:nvSpPr>
        <p:spPr>
          <a:xfrm>
            <a:off x="566928" y="713232"/>
            <a:ext cx="384048" cy="45720"/>
          </a:xfrm>
          <a:prstGeom prst="rect">
            <a:avLst/>
          </a:prstGeom>
          <a:solidFill>
            <a:srgbClr val="FFC62A"/>
          </a:solidFill>
          <a:ln/>
        </p:spPr>
      </p:sp>
      <p:sp>
        <p:nvSpPr>
          <p:cNvPr id="18" name="Text 16"/>
          <p:cNvSpPr/>
          <p:nvPr/>
        </p:nvSpPr>
        <p:spPr>
          <a:xfrm>
            <a:off x="548640" y="841248"/>
            <a:ext cx="11064240" cy="566928"/>
          </a:xfrm>
          <a:prstGeom prst="rect">
            <a:avLst/>
          </a:prstGeom>
          <a:noFill/>
          <a:ln/>
        </p:spPr>
        <p:txBody>
          <a:bodyPr wrap="square" lIns="0" tIns="0" rIns="0" bIns="0" rtlCol="0" anchor="ctr"/>
          <a:lstStyle/>
          <a:p>
            <a:pPr indent="0" marL="0">
              <a:buNone/>
            </a:pPr>
            <a:r>
              <a:rPr lang="en-US" sz="2700" b="1" dirty="0">
                <a:solidFill>
                  <a:srgbClr val="F5F2EA"/>
                </a:solidFill>
                <a:latin typeface="Bahnschrift" pitchFamily="34" charset="0"/>
                <a:ea typeface="Bahnschrift" pitchFamily="34" charset="-122"/>
                <a:cs typeface="Bahnschrift" pitchFamily="34" charset="-120"/>
              </a:rPr>
              <a:t>Features — implemented, beta and planned</a:t>
            </a:r>
            <a:endParaRPr lang="en-US" sz="2700" dirty="0"/>
          </a:p>
        </p:txBody>
      </p:sp>
      <p:sp>
        <p:nvSpPr>
          <p:cNvPr id="19" name="Text 17"/>
          <p:cNvSpPr/>
          <p:nvPr/>
        </p:nvSpPr>
        <p:spPr>
          <a:xfrm>
            <a:off x="566928" y="1389888"/>
            <a:ext cx="11064240" cy="274320"/>
          </a:xfrm>
          <a:prstGeom prst="rect">
            <a:avLst/>
          </a:prstGeom>
          <a:noFill/>
          <a:ln/>
        </p:spPr>
        <p:txBody>
          <a:bodyPr wrap="square" lIns="0" tIns="0" rIns="0" bIns="0" rtlCol="0" anchor="ctr"/>
          <a:lstStyle/>
          <a:p>
            <a:pPr indent="0" marL="0">
              <a:buNone/>
            </a:pPr>
            <a:r>
              <a:rPr lang="en-US" sz="1250" dirty="0">
                <a:solidFill>
                  <a:srgbClr val="9A97A6"/>
                </a:solidFill>
                <a:latin typeface="Segoe UI" pitchFamily="34" charset="0"/>
                <a:ea typeface="Segoe UI" pitchFamily="34" charset="-122"/>
                <a:cs typeface="Segoe UI" pitchFamily="34" charset="-120"/>
              </a:rPr>
              <a:t>Status reflects actual code, honestly graded.</a:t>
            </a:r>
            <a:endParaRPr lang="en-US" sz="1250" dirty="0"/>
          </a:p>
        </p:txBody>
      </p:sp>
      <p:sp>
        <p:nvSpPr>
          <p:cNvPr id="20" name="Text 18"/>
          <p:cNvSpPr/>
          <p:nvPr/>
        </p:nvSpPr>
        <p:spPr>
          <a:xfrm>
            <a:off x="566928" y="6492240"/>
            <a:ext cx="2743200" cy="256032"/>
          </a:xfrm>
          <a:prstGeom prst="rect">
            <a:avLst/>
          </a:prstGeom>
          <a:noFill/>
          <a:ln/>
        </p:spPr>
        <p:txBody>
          <a:bodyPr wrap="square" lIns="0" tIns="0" rIns="0" bIns="0" rtlCol="0" anchor="ctr"/>
          <a:lstStyle/>
          <a:p>
            <a:pPr indent="0" marL="0">
              <a:buNone/>
            </a:pPr>
            <a:r>
              <a:rPr lang="en-US" sz="850" b="1" spc="300" kern="0" dirty="0">
                <a:solidFill>
                  <a:srgbClr val="5C5966"/>
                </a:solidFill>
                <a:latin typeface="Bahnschrift" pitchFamily="34" charset="0"/>
                <a:ea typeface="Bahnschrift" pitchFamily="34" charset="-122"/>
                <a:cs typeface="Bahnschrift" pitchFamily="34" charset="-120"/>
              </a:rPr>
              <a:t>CHESSFORK</a:t>
            </a:r>
            <a:endParaRPr lang="en-US" sz="850" dirty="0"/>
          </a:p>
        </p:txBody>
      </p:sp>
      <p:sp>
        <p:nvSpPr>
          <p:cNvPr id="21" name="Text 19"/>
          <p:cNvSpPr/>
          <p:nvPr/>
        </p:nvSpPr>
        <p:spPr>
          <a:xfrm>
            <a:off x="3840480" y="6492240"/>
            <a:ext cx="4572000" cy="256032"/>
          </a:xfrm>
          <a:prstGeom prst="rect">
            <a:avLst/>
          </a:prstGeom>
          <a:noFill/>
          <a:ln/>
        </p:spPr>
        <p:txBody>
          <a:bodyPr wrap="square" lIns="0" tIns="0" rIns="0" bIns="0" rtlCol="0" anchor="ctr"/>
          <a:lstStyle/>
          <a:p>
            <a:pPr indent="0" marL="0">
              <a:buNone/>
            </a:pPr>
            <a:r>
              <a:rPr lang="en-US" sz="800" spc="150" kern="0" dirty="0">
                <a:solidFill>
                  <a:srgbClr val="5C5966"/>
                </a:solidFill>
                <a:latin typeface="Segoe UI" pitchFamily="34" charset="0"/>
                <a:ea typeface="Segoe UI" pitchFamily="34" charset="-122"/>
                <a:cs typeface="Segoe UI" pitchFamily="34" charset="-120"/>
              </a:rPr>
              <a:t>BCA FINAL YEAR PROJECT · 2026</a:t>
            </a:r>
            <a:endParaRPr lang="en-US" sz="800" dirty="0"/>
          </a:p>
        </p:txBody>
      </p:sp>
      <p:sp>
        <p:nvSpPr>
          <p:cNvPr id="22" name="Text 20"/>
          <p:cNvSpPr/>
          <p:nvPr/>
        </p:nvSpPr>
        <p:spPr>
          <a:xfrm>
            <a:off x="11292840" y="6473952"/>
            <a:ext cx="365760" cy="274320"/>
          </a:xfrm>
          <a:prstGeom prst="rect">
            <a:avLst/>
          </a:prstGeom>
          <a:noFill/>
          <a:ln/>
        </p:spPr>
        <p:txBody>
          <a:bodyPr wrap="square" lIns="0" tIns="0" rIns="0" bIns="0" rtlCol="0" anchor="ctr"/>
          <a:lstStyle/>
          <a:p>
            <a:pPr algn="r" indent="0" marL="0">
              <a:buNone/>
            </a:pPr>
            <a:r>
              <a:rPr lang="en-US" sz="900" b="1" dirty="0">
                <a:solidFill>
                  <a:srgbClr val="5C5966"/>
                </a:solidFill>
                <a:latin typeface="Bahnschrift" pitchFamily="34" charset="0"/>
                <a:ea typeface="Bahnschrift" pitchFamily="34" charset="-122"/>
                <a:cs typeface="Bahnschrift" pitchFamily="34" charset="-120"/>
              </a:rPr>
              <a:t>12</a:t>
            </a:r>
            <a:endParaRPr lang="en-US" sz="9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66928" y="1737360"/>
          <a:ext cx="11064240" cy="914400"/>
        </p:xfrm>
        <a:graphic>
          <a:graphicData uri="http://schemas.openxmlformats.org/drawingml/2006/table">
            <a:tbl>
              <a:tblPr/>
              <a:tblGrid>
                <a:gridCol w="3108960"/>
                <a:gridCol w="5669280"/>
                <a:gridCol w="2286000"/>
              </a:tblGrid>
              <a:tr h="301752">
                <a:tc>
                  <a:txBody>
                    <a:bodyPr/>
                    <a:lstStyle/>
                    <a:p>
                      <a:pPr algn="l" indent="0" marL="0">
                        <a:buNone/>
                      </a:pPr>
                      <a:r>
                        <a:rPr lang="en-US" sz="1100" b="1" spc="100" kern="0" dirty="0">
                          <a:solidFill>
                            <a:srgbClr val="FFC62A"/>
                          </a:solidFill>
                          <a:latin typeface="Bahnschrift" pitchFamily="34" charset="0"/>
                          <a:ea typeface="Bahnschrift" pitchFamily="34" charset="-122"/>
                          <a:cs typeface="Bahnschrift" pitchFamily="34" charset="-120"/>
                        </a:rPr>
                        <a:t>Feature</a:t>
                      </a:r>
                      <a:endParaRPr lang="en-US" sz="1100" dirty="0">
                        <a:latin typeface="Bahnschrift" charset="0"/>
                        <a:ea typeface="Bahnschrift" charset="0"/>
                        <a:cs typeface="Bahnschrift" charset="0"/>
                      </a:endParaRPr>
                    </a:p>
                  </a:txBody>
                  <a:tcPr marL="36576" marR="36576" marT="36576" marB="36576" anchor="ctr">
                    <a:lnL w="6350" cap="flat" cmpd="sng" algn="ctr">
                      <a:solidFill>
                        <a:srgbClr val="26262F"/>
                      </a:solidFill>
                      <a:prstDash val="solid"/>
                      <a:round/>
                      <a:headEnd type="none" w="med" len="med"/>
                      <a:tailEnd type="none" w="med" len="med"/>
                    </a:lnL>
                    <a:lnR w="6350" cap="flat" cmpd="sng" algn="ctr">
                      <a:solidFill>
                        <a:srgbClr val="26262F"/>
                      </a:solidFill>
                      <a:prstDash val="solid"/>
                      <a:round/>
                      <a:headEnd type="none" w="med" len="med"/>
                      <a:tailEnd type="none" w="med" len="med"/>
                    </a:lnR>
                    <a:lnT w="6350" cap="flat" cmpd="sng" algn="ctr">
                      <a:solidFill>
                        <a:srgbClr val="26262F"/>
                      </a:solidFill>
                      <a:prstDash val="solid"/>
                      <a:round/>
                      <a:headEnd type="none" w="med" len="med"/>
                      <a:tailEnd type="none" w="med" len="med"/>
                    </a:lnT>
                    <a:lnB w="6350" cap="flat" cmpd="sng" algn="ctr">
                      <a:solidFill>
                        <a:srgbClr val="26262F"/>
                      </a:solidFill>
                      <a:prstDash val="solid"/>
                      <a:round/>
                      <a:headEnd type="none" w="med" len="med"/>
                      <a:tailEnd type="none" w="med" len="med"/>
                    </a:lnB>
                    <a:solidFill>
                      <a:srgbClr val="1E1E26"/>
                    </a:solidFill>
                  </a:tcPr>
                </a:tc>
                <a:tc>
                  <a:txBody>
                    <a:bodyPr/>
                    <a:lstStyle/>
                    <a:p>
                      <a:pPr algn="l" indent="0" marL="0">
                        <a:buNone/>
                      </a:pPr>
                      <a:r>
                        <a:rPr lang="en-US" sz="1100" b="1" spc="100" kern="0" dirty="0">
                          <a:solidFill>
                            <a:srgbClr val="FFC62A"/>
                          </a:solidFill>
                          <a:latin typeface="Bahnschrift" pitchFamily="34" charset="0"/>
                          <a:ea typeface="Bahnschrift" pitchFamily="34" charset="-122"/>
                          <a:cs typeface="Bahnschrift" pitchFamily="34" charset="-120"/>
                        </a:rPr>
                        <a:t>Description</a:t>
                      </a:r>
                      <a:endParaRPr lang="en-US" sz="1100" dirty="0">
                        <a:latin typeface="Bahnschrift" charset="0"/>
                        <a:ea typeface="Bahnschrift" charset="0"/>
                        <a:cs typeface="Bahnschrift" charset="0"/>
                      </a:endParaRPr>
                    </a:p>
                  </a:txBody>
                  <a:tcPr marL="36576" marR="36576" marT="36576" marB="36576" anchor="ctr">
                    <a:lnL w="6350" cap="flat" cmpd="sng" algn="ctr">
                      <a:solidFill>
                        <a:srgbClr val="26262F"/>
                      </a:solidFill>
                      <a:prstDash val="solid"/>
                      <a:round/>
                      <a:headEnd type="none" w="med" len="med"/>
                      <a:tailEnd type="none" w="med" len="med"/>
                    </a:lnL>
                    <a:lnR w="6350" cap="flat" cmpd="sng" algn="ctr">
                      <a:solidFill>
                        <a:srgbClr val="26262F"/>
                      </a:solidFill>
                      <a:prstDash val="solid"/>
                      <a:round/>
                      <a:headEnd type="none" w="med" len="med"/>
                      <a:tailEnd type="none" w="med" len="med"/>
                    </a:lnR>
                    <a:lnT w="6350" cap="flat" cmpd="sng" algn="ctr">
                      <a:solidFill>
                        <a:srgbClr val="26262F"/>
                      </a:solidFill>
                      <a:prstDash val="solid"/>
                      <a:round/>
                      <a:headEnd type="none" w="med" len="med"/>
                      <a:tailEnd type="none" w="med" len="med"/>
                    </a:lnT>
                    <a:lnB w="6350" cap="flat" cmpd="sng" algn="ctr">
                      <a:solidFill>
                        <a:srgbClr val="26262F"/>
                      </a:solidFill>
                      <a:prstDash val="solid"/>
                      <a:round/>
                      <a:headEnd type="none" w="med" len="med"/>
                      <a:tailEnd type="none" w="med" len="med"/>
                    </a:lnB>
                    <a:solidFill>
                      <a:srgbClr val="1E1E26"/>
                    </a:solidFill>
                  </a:tcPr>
                </a:tc>
                <a:tc>
                  <a:txBody>
                    <a:bodyPr/>
                    <a:lstStyle/>
                    <a:p>
                      <a:pPr algn="l" indent="0" marL="0">
                        <a:buNone/>
                      </a:pPr>
                      <a:r>
                        <a:rPr lang="en-US" sz="1100" b="1" spc="100" kern="0" dirty="0">
                          <a:solidFill>
                            <a:srgbClr val="FFC62A"/>
                          </a:solidFill>
                          <a:latin typeface="Bahnschrift" pitchFamily="34" charset="0"/>
                          <a:ea typeface="Bahnschrift" pitchFamily="34" charset="-122"/>
                          <a:cs typeface="Bahnschrift" pitchFamily="34" charset="-120"/>
                        </a:rPr>
                        <a:t>Status</a:t>
                      </a:r>
                      <a:endParaRPr lang="en-US" sz="1100" dirty="0">
                        <a:latin typeface="Bahnschrift" charset="0"/>
                        <a:ea typeface="Bahnschrift" charset="0"/>
                        <a:cs typeface="Bahnschrift" charset="0"/>
                      </a:endParaRPr>
                    </a:p>
                  </a:txBody>
                  <a:tcPr marL="36576" marR="36576" marT="36576" marB="36576" anchor="ctr">
                    <a:lnL w="6350" cap="flat" cmpd="sng" algn="ctr">
                      <a:solidFill>
                        <a:srgbClr val="26262F"/>
                      </a:solidFill>
                      <a:prstDash val="solid"/>
                      <a:round/>
                      <a:headEnd type="none" w="med" len="med"/>
                      <a:tailEnd type="none" w="med" len="med"/>
                    </a:lnL>
                    <a:lnR w="6350" cap="flat" cmpd="sng" algn="ctr">
                      <a:solidFill>
                        <a:srgbClr val="26262F"/>
                      </a:solidFill>
                      <a:prstDash val="solid"/>
                      <a:round/>
                      <a:headEnd type="none" w="med" len="med"/>
                      <a:tailEnd type="none" w="med" len="med"/>
                    </a:lnR>
                    <a:lnT w="6350" cap="flat" cmpd="sng" algn="ctr">
                      <a:solidFill>
                        <a:srgbClr val="26262F"/>
                      </a:solidFill>
                      <a:prstDash val="solid"/>
                      <a:round/>
                      <a:headEnd type="none" w="med" len="med"/>
                      <a:tailEnd type="none" w="med" len="med"/>
                    </a:lnT>
                    <a:lnB w="6350" cap="flat" cmpd="sng" algn="ctr">
                      <a:solidFill>
                        <a:srgbClr val="26262F"/>
                      </a:solidFill>
                      <a:prstDash val="solid"/>
                      <a:round/>
                      <a:headEnd type="none" w="med" len="med"/>
                      <a:tailEnd type="none" w="med" len="med"/>
                    </a:lnB>
                    <a:solidFill>
                      <a:srgbClr val="1E1E26"/>
                    </a:solidFill>
                  </a:tcPr>
                </a:tc>
              </a:tr>
              <a:tr h="301752">
                <a:tc>
                  <a:txBody>
                    <a:bodyPr/>
                    <a:lstStyle/>
                    <a:p>
                      <a:pPr algn="l" indent="0" marL="0">
                        <a:buNone/>
                      </a:pPr>
                      <a:r>
                        <a:rPr lang="en-US" sz="980" dirty="0">
                          <a:solidFill>
                            <a:srgbClr val="F5F2EA"/>
                          </a:solidFill>
                          <a:latin typeface="Segoe UI" pitchFamily="34" charset="0"/>
                          <a:ea typeface="Segoe UI" pitchFamily="34" charset="-122"/>
                          <a:cs typeface="Segoe UI" pitchFamily="34" charset="-120"/>
                        </a:rPr>
                        <a:t>PGN Game Review</a:t>
                      </a:r>
                      <a:endParaRPr lang="en-US" sz="980" dirty="0">
                        <a:latin typeface="Segoe UI" charset="0"/>
                        <a:ea typeface="Segoe UI" charset="0"/>
                        <a:cs typeface="Segoe UI" charset="0"/>
                      </a:endParaRPr>
                    </a:p>
                  </a:txBody>
                  <a:tcPr marL="36576" marR="36576" marT="36576" marB="36576" anchor="ctr">
                    <a:lnL w="6350" cap="flat" cmpd="sng" algn="ctr">
                      <a:solidFill>
                        <a:srgbClr val="26262F"/>
                      </a:solidFill>
                      <a:prstDash val="solid"/>
                      <a:round/>
                      <a:headEnd type="none" w="med" len="med"/>
                      <a:tailEnd type="none" w="med" len="med"/>
                    </a:lnL>
                    <a:lnR w="6350" cap="flat" cmpd="sng" algn="ctr">
                      <a:solidFill>
                        <a:srgbClr val="26262F"/>
                      </a:solidFill>
                      <a:prstDash val="solid"/>
                      <a:round/>
                      <a:headEnd type="none" w="med" len="med"/>
                      <a:tailEnd type="none" w="med" len="med"/>
                    </a:lnR>
                    <a:lnT w="6350" cap="flat" cmpd="sng" algn="ctr">
                      <a:solidFill>
                        <a:srgbClr val="26262F"/>
                      </a:solidFill>
                      <a:prstDash val="solid"/>
                      <a:round/>
                      <a:headEnd type="none" w="med" len="med"/>
                      <a:tailEnd type="none" w="med" len="med"/>
                    </a:lnT>
                    <a:lnB w="6350" cap="flat" cmpd="sng" algn="ctr">
                      <a:solidFill>
                        <a:srgbClr val="26262F"/>
                      </a:solidFill>
                      <a:prstDash val="solid"/>
                      <a:round/>
                      <a:headEnd type="none" w="med" len="med"/>
                      <a:tailEnd type="none" w="med" len="med"/>
                    </a:lnB>
                    <a:solidFill>
                      <a:srgbClr val="15151B"/>
                    </a:solidFill>
                  </a:tcPr>
                </a:tc>
                <a:tc>
                  <a:txBody>
                    <a:bodyPr/>
                    <a:lstStyle/>
                    <a:p>
                      <a:pPr algn="l" indent="0" marL="0">
                        <a:buNone/>
                      </a:pPr>
                      <a:r>
                        <a:rPr lang="en-US" sz="980" dirty="0">
                          <a:solidFill>
                            <a:srgbClr val="F5F2EA"/>
                          </a:solidFill>
                          <a:latin typeface="Segoe UI" pitchFamily="34" charset="0"/>
                          <a:ea typeface="Segoe UI" pitchFamily="34" charset="-122"/>
                          <a:cs typeface="Segoe UI" pitchFamily="34" charset="-120"/>
                        </a:rPr>
                        <a:t>3-column review — grades, eval graph, keyboard navigation, autoplay</a:t>
                      </a:r>
                      <a:endParaRPr lang="en-US" sz="980" dirty="0">
                        <a:latin typeface="Segoe UI" charset="0"/>
                        <a:ea typeface="Segoe UI" charset="0"/>
                        <a:cs typeface="Segoe UI" charset="0"/>
                      </a:endParaRPr>
                    </a:p>
                  </a:txBody>
                  <a:tcPr marL="36576" marR="36576" marT="36576" marB="36576" anchor="ctr">
                    <a:lnL w="6350" cap="flat" cmpd="sng" algn="ctr">
                      <a:solidFill>
                        <a:srgbClr val="26262F"/>
                      </a:solidFill>
                      <a:prstDash val="solid"/>
                      <a:round/>
                      <a:headEnd type="none" w="med" len="med"/>
                      <a:tailEnd type="none" w="med" len="med"/>
                    </a:lnL>
                    <a:lnR w="6350" cap="flat" cmpd="sng" algn="ctr">
                      <a:solidFill>
                        <a:srgbClr val="26262F"/>
                      </a:solidFill>
                      <a:prstDash val="solid"/>
                      <a:round/>
                      <a:headEnd type="none" w="med" len="med"/>
                      <a:tailEnd type="none" w="med" len="med"/>
                    </a:lnR>
                    <a:lnT w="6350" cap="flat" cmpd="sng" algn="ctr">
                      <a:solidFill>
                        <a:srgbClr val="26262F"/>
                      </a:solidFill>
                      <a:prstDash val="solid"/>
                      <a:round/>
                      <a:headEnd type="none" w="med" len="med"/>
                      <a:tailEnd type="none" w="med" len="med"/>
                    </a:lnT>
                    <a:lnB w="6350" cap="flat" cmpd="sng" algn="ctr">
                      <a:solidFill>
                        <a:srgbClr val="26262F"/>
                      </a:solidFill>
                      <a:prstDash val="solid"/>
                      <a:round/>
                      <a:headEnd type="none" w="med" len="med"/>
                      <a:tailEnd type="none" w="med" len="med"/>
                    </a:lnB>
                    <a:solidFill>
                      <a:srgbClr val="17171F"/>
                    </a:solidFill>
                  </a:tcPr>
                </a:tc>
                <a:tc>
                  <a:txBody>
                    <a:bodyPr/>
                    <a:lstStyle/>
                    <a:p>
                      <a:pPr indent="0" marL="0">
                        <a:buNone/>
                      </a:pPr>
                      <a:r>
                        <a:rPr lang="en-US" sz="950" b="1" dirty="0">
                          <a:solidFill>
                            <a:srgbClr val="3DDC84"/>
                          </a:solidFill>
                          <a:latin typeface="Segoe UI" pitchFamily="34" charset="0"/>
                          <a:ea typeface="Segoe UI" pitchFamily="34" charset="-122"/>
                          <a:cs typeface="Segoe UI" pitchFamily="34" charset="-120"/>
                        </a:rPr>
                        <a:t>●  IMPLEMENTED</a:t>
                      </a:r>
                      <a:endParaRPr lang="en-US" sz="950" dirty="0">
                        <a:latin typeface="Segoe UI" charset="0"/>
                        <a:ea typeface="Segoe UI" charset="0"/>
                        <a:cs typeface="Segoe UI" charset="0"/>
                      </a:endParaRPr>
                    </a:p>
                  </a:txBody>
                  <a:tcPr marL="36576" marR="36576" marT="36576" marB="36576" anchor="ctr">
                    <a:lnL w="6350" cap="flat" cmpd="sng" algn="ctr">
                      <a:solidFill>
                        <a:srgbClr val="26262F"/>
                      </a:solidFill>
                      <a:prstDash val="solid"/>
                      <a:round/>
                      <a:headEnd type="none" w="med" len="med"/>
                      <a:tailEnd type="none" w="med" len="med"/>
                    </a:lnL>
                    <a:lnR w="6350" cap="flat" cmpd="sng" algn="ctr">
                      <a:solidFill>
                        <a:srgbClr val="26262F"/>
                      </a:solidFill>
                      <a:prstDash val="solid"/>
                      <a:round/>
                      <a:headEnd type="none" w="med" len="med"/>
                      <a:tailEnd type="none" w="med" len="med"/>
                    </a:lnR>
                    <a:lnT w="6350" cap="flat" cmpd="sng" algn="ctr">
                      <a:solidFill>
                        <a:srgbClr val="26262F"/>
                      </a:solidFill>
                      <a:prstDash val="solid"/>
                      <a:round/>
                      <a:headEnd type="none" w="med" len="med"/>
                      <a:tailEnd type="none" w="med" len="med"/>
                    </a:lnT>
                    <a:lnB w="6350" cap="flat" cmpd="sng" algn="ctr">
                      <a:solidFill>
                        <a:srgbClr val="26262F"/>
                      </a:solidFill>
                      <a:prstDash val="solid"/>
                      <a:round/>
                      <a:headEnd type="none" w="med" len="med"/>
                      <a:tailEnd type="none" w="med" len="med"/>
                    </a:lnB>
                    <a:solidFill>
                      <a:srgbClr val="0E2418"/>
                    </a:solidFill>
                  </a:tcPr>
                </a:tc>
              </a:tr>
              <a:tr h="301752">
                <a:tc>
                  <a:txBody>
                    <a:bodyPr/>
                    <a:lstStyle/>
                    <a:p>
                      <a:pPr algn="l" indent="0" marL="0">
                        <a:buNone/>
                      </a:pPr>
                      <a:r>
                        <a:rPr lang="en-US" sz="980" dirty="0">
                          <a:solidFill>
                            <a:srgbClr val="F5F2EA"/>
                          </a:solidFill>
                          <a:latin typeface="Segoe UI" pitchFamily="34" charset="0"/>
                          <a:ea typeface="Segoe UI" pitchFamily="34" charset="-122"/>
                          <a:cs typeface="Segoe UI" pitchFamily="34" charset="-120"/>
                        </a:rPr>
                        <a:t>Chess.com / Lichess Import</a:t>
                      </a:r>
                      <a:endParaRPr lang="en-US" sz="980" dirty="0">
                        <a:latin typeface="Segoe UI" charset="0"/>
                        <a:ea typeface="Segoe UI" charset="0"/>
                        <a:cs typeface="Segoe UI" charset="0"/>
                      </a:endParaRPr>
                    </a:p>
                  </a:txBody>
                  <a:tcPr marL="36576" marR="36576" marT="36576" marB="36576" anchor="ctr">
                    <a:lnL w="6350" cap="flat" cmpd="sng" algn="ctr">
                      <a:solidFill>
                        <a:srgbClr val="26262F"/>
                      </a:solidFill>
                      <a:prstDash val="solid"/>
                      <a:round/>
                      <a:headEnd type="none" w="med" len="med"/>
                      <a:tailEnd type="none" w="med" len="med"/>
                    </a:lnL>
                    <a:lnR w="6350" cap="flat" cmpd="sng" algn="ctr">
                      <a:solidFill>
                        <a:srgbClr val="26262F"/>
                      </a:solidFill>
                      <a:prstDash val="solid"/>
                      <a:round/>
                      <a:headEnd type="none" w="med" len="med"/>
                      <a:tailEnd type="none" w="med" len="med"/>
                    </a:lnR>
                    <a:lnT w="6350" cap="flat" cmpd="sng" algn="ctr">
                      <a:solidFill>
                        <a:srgbClr val="26262F"/>
                      </a:solidFill>
                      <a:prstDash val="solid"/>
                      <a:round/>
                      <a:headEnd type="none" w="med" len="med"/>
                      <a:tailEnd type="none" w="med" len="med"/>
                    </a:lnT>
                    <a:lnB w="6350" cap="flat" cmpd="sng" algn="ctr">
                      <a:solidFill>
                        <a:srgbClr val="26262F"/>
                      </a:solidFill>
                      <a:prstDash val="solid"/>
                      <a:round/>
                      <a:headEnd type="none" w="med" len="med"/>
                      <a:tailEnd type="none" w="med" len="med"/>
                    </a:lnB>
                    <a:solidFill>
                      <a:srgbClr val="15151B"/>
                    </a:solidFill>
                  </a:tcPr>
                </a:tc>
                <a:tc>
                  <a:txBody>
                    <a:bodyPr/>
                    <a:lstStyle/>
                    <a:p>
                      <a:pPr algn="l" indent="0" marL="0">
                        <a:buNone/>
                      </a:pPr>
                      <a:r>
                        <a:rPr lang="en-US" sz="980" dirty="0">
                          <a:solidFill>
                            <a:srgbClr val="F5F2EA"/>
                          </a:solidFill>
                          <a:latin typeface="Segoe UI" pitchFamily="34" charset="0"/>
                          <a:ea typeface="Segoe UI" pitchFamily="34" charset="-122"/>
                          <a:cs typeface="Segoe UI" pitchFamily="34" charset="-120"/>
                        </a:rPr>
                        <a:t>Live public fetch with graceful sample-data fallback</a:t>
                      </a:r>
                      <a:endParaRPr lang="en-US" sz="980" dirty="0">
                        <a:latin typeface="Segoe UI" charset="0"/>
                        <a:ea typeface="Segoe UI" charset="0"/>
                        <a:cs typeface="Segoe UI" charset="0"/>
                      </a:endParaRPr>
                    </a:p>
                  </a:txBody>
                  <a:tcPr marL="36576" marR="36576" marT="36576" marB="36576" anchor="ctr">
                    <a:lnL w="6350" cap="flat" cmpd="sng" algn="ctr">
                      <a:solidFill>
                        <a:srgbClr val="26262F"/>
                      </a:solidFill>
                      <a:prstDash val="solid"/>
                      <a:round/>
                      <a:headEnd type="none" w="med" len="med"/>
                      <a:tailEnd type="none" w="med" len="med"/>
                    </a:lnL>
                    <a:lnR w="6350" cap="flat" cmpd="sng" algn="ctr">
                      <a:solidFill>
                        <a:srgbClr val="26262F"/>
                      </a:solidFill>
                      <a:prstDash val="solid"/>
                      <a:round/>
                      <a:headEnd type="none" w="med" len="med"/>
                      <a:tailEnd type="none" w="med" len="med"/>
                    </a:lnR>
                    <a:lnT w="6350" cap="flat" cmpd="sng" algn="ctr">
                      <a:solidFill>
                        <a:srgbClr val="26262F"/>
                      </a:solidFill>
                      <a:prstDash val="solid"/>
                      <a:round/>
                      <a:headEnd type="none" w="med" len="med"/>
                      <a:tailEnd type="none" w="med" len="med"/>
                    </a:lnT>
                    <a:lnB w="6350" cap="flat" cmpd="sng" algn="ctr">
                      <a:solidFill>
                        <a:srgbClr val="26262F"/>
                      </a:solidFill>
                      <a:prstDash val="solid"/>
                      <a:round/>
                      <a:headEnd type="none" w="med" len="med"/>
                      <a:tailEnd type="none" w="med" len="med"/>
                    </a:lnB>
                    <a:solidFill>
                      <a:srgbClr val="17171F"/>
                    </a:solidFill>
                  </a:tcPr>
                </a:tc>
                <a:tc>
                  <a:txBody>
                    <a:bodyPr/>
                    <a:lstStyle/>
                    <a:p>
                      <a:pPr indent="0" marL="0">
                        <a:buNone/>
                      </a:pPr>
                      <a:r>
                        <a:rPr lang="en-US" sz="950" b="1" dirty="0">
                          <a:solidFill>
                            <a:srgbClr val="3DDC84"/>
                          </a:solidFill>
                          <a:latin typeface="Segoe UI" pitchFamily="34" charset="0"/>
                          <a:ea typeface="Segoe UI" pitchFamily="34" charset="-122"/>
                          <a:cs typeface="Segoe UI" pitchFamily="34" charset="-120"/>
                        </a:rPr>
                        <a:t>●  IMPLEMENTED</a:t>
                      </a:r>
                      <a:endParaRPr lang="en-US" sz="950" dirty="0">
                        <a:latin typeface="Segoe UI" charset="0"/>
                        <a:ea typeface="Segoe UI" charset="0"/>
                        <a:cs typeface="Segoe UI" charset="0"/>
                      </a:endParaRPr>
                    </a:p>
                  </a:txBody>
                  <a:tcPr marL="36576" marR="36576" marT="36576" marB="36576" anchor="ctr">
                    <a:lnL w="6350" cap="flat" cmpd="sng" algn="ctr">
                      <a:solidFill>
                        <a:srgbClr val="26262F"/>
                      </a:solidFill>
                      <a:prstDash val="solid"/>
                      <a:round/>
                      <a:headEnd type="none" w="med" len="med"/>
                      <a:tailEnd type="none" w="med" len="med"/>
                    </a:lnL>
                    <a:lnR w="6350" cap="flat" cmpd="sng" algn="ctr">
                      <a:solidFill>
                        <a:srgbClr val="26262F"/>
                      </a:solidFill>
                      <a:prstDash val="solid"/>
                      <a:round/>
                      <a:headEnd type="none" w="med" len="med"/>
                      <a:tailEnd type="none" w="med" len="med"/>
                    </a:lnR>
                    <a:lnT w="6350" cap="flat" cmpd="sng" algn="ctr">
                      <a:solidFill>
                        <a:srgbClr val="26262F"/>
                      </a:solidFill>
                      <a:prstDash val="solid"/>
                      <a:round/>
                      <a:headEnd type="none" w="med" len="med"/>
                      <a:tailEnd type="none" w="med" len="med"/>
                    </a:lnT>
                    <a:lnB w="6350" cap="flat" cmpd="sng" algn="ctr">
                      <a:solidFill>
                        <a:srgbClr val="26262F"/>
                      </a:solidFill>
                      <a:prstDash val="solid"/>
                      <a:round/>
                      <a:headEnd type="none" w="med" len="med"/>
                      <a:tailEnd type="none" w="med" len="med"/>
                    </a:lnB>
                    <a:solidFill>
                      <a:srgbClr val="0E2418"/>
                    </a:solidFill>
                  </a:tcPr>
                </a:tc>
              </a:tr>
              <a:tr h="301752">
                <a:tc>
                  <a:txBody>
                    <a:bodyPr/>
                    <a:lstStyle/>
                    <a:p>
                      <a:pPr algn="l" indent="0" marL="0">
                        <a:buNone/>
                      </a:pPr>
                      <a:r>
                        <a:rPr lang="en-US" sz="980" dirty="0">
                          <a:solidFill>
                            <a:srgbClr val="F5F2EA"/>
                          </a:solidFill>
                          <a:latin typeface="Segoe UI" pitchFamily="34" charset="0"/>
                          <a:ea typeface="Segoe UI" pitchFamily="34" charset="-122"/>
                          <a:cs typeface="Segoe UI" pitchFamily="34" charset="-120"/>
                        </a:rPr>
                        <a:t>AI Move Explanations</a:t>
                      </a:r>
                      <a:endParaRPr lang="en-US" sz="980" dirty="0">
                        <a:latin typeface="Segoe UI" charset="0"/>
                        <a:ea typeface="Segoe UI" charset="0"/>
                        <a:cs typeface="Segoe UI" charset="0"/>
                      </a:endParaRPr>
                    </a:p>
                  </a:txBody>
                  <a:tcPr marL="36576" marR="36576" marT="36576" marB="36576" anchor="ctr">
                    <a:lnL w="6350" cap="flat" cmpd="sng" algn="ctr">
                      <a:solidFill>
                        <a:srgbClr val="26262F"/>
                      </a:solidFill>
                      <a:prstDash val="solid"/>
                      <a:round/>
                      <a:headEnd type="none" w="med" len="med"/>
                      <a:tailEnd type="none" w="med" len="med"/>
                    </a:lnL>
                    <a:lnR w="6350" cap="flat" cmpd="sng" algn="ctr">
                      <a:solidFill>
                        <a:srgbClr val="26262F"/>
                      </a:solidFill>
                      <a:prstDash val="solid"/>
                      <a:round/>
                      <a:headEnd type="none" w="med" len="med"/>
                      <a:tailEnd type="none" w="med" len="med"/>
                    </a:lnR>
                    <a:lnT w="6350" cap="flat" cmpd="sng" algn="ctr">
                      <a:solidFill>
                        <a:srgbClr val="26262F"/>
                      </a:solidFill>
                      <a:prstDash val="solid"/>
                      <a:round/>
                      <a:headEnd type="none" w="med" len="med"/>
                      <a:tailEnd type="none" w="med" len="med"/>
                    </a:lnT>
                    <a:lnB w="6350" cap="flat" cmpd="sng" algn="ctr">
                      <a:solidFill>
                        <a:srgbClr val="26262F"/>
                      </a:solidFill>
                      <a:prstDash val="solid"/>
                      <a:round/>
                      <a:headEnd type="none" w="med" len="med"/>
                      <a:tailEnd type="none" w="med" len="med"/>
                    </a:lnB>
                    <a:solidFill>
                      <a:srgbClr val="15151B"/>
                    </a:solidFill>
                  </a:tcPr>
                </a:tc>
                <a:tc>
                  <a:txBody>
                    <a:bodyPr/>
                    <a:lstStyle/>
                    <a:p>
                      <a:pPr algn="l" indent="0" marL="0">
                        <a:buNone/>
                      </a:pPr>
                      <a:r>
                        <a:rPr lang="en-US" sz="980" dirty="0">
                          <a:solidFill>
                            <a:srgbClr val="F5F2EA"/>
                          </a:solidFill>
                          <a:latin typeface="Segoe UI" pitchFamily="34" charset="0"/>
                          <a:ea typeface="Segoe UI" pitchFamily="34" charset="-122"/>
                          <a:cs typeface="Segoe UI" pitchFamily="34" charset="-120"/>
                        </a:rPr>
                        <a:t>Plain-language LLM coaching text for every move</a:t>
                      </a:r>
                      <a:endParaRPr lang="en-US" sz="980" dirty="0">
                        <a:latin typeface="Segoe UI" charset="0"/>
                        <a:ea typeface="Segoe UI" charset="0"/>
                        <a:cs typeface="Segoe UI" charset="0"/>
                      </a:endParaRPr>
                    </a:p>
                  </a:txBody>
                  <a:tcPr marL="36576" marR="36576" marT="36576" marB="36576" anchor="ctr">
                    <a:lnL w="6350" cap="flat" cmpd="sng" algn="ctr">
                      <a:solidFill>
                        <a:srgbClr val="26262F"/>
                      </a:solidFill>
                      <a:prstDash val="solid"/>
                      <a:round/>
                      <a:headEnd type="none" w="med" len="med"/>
                      <a:tailEnd type="none" w="med" len="med"/>
                    </a:lnL>
                    <a:lnR w="6350" cap="flat" cmpd="sng" algn="ctr">
                      <a:solidFill>
                        <a:srgbClr val="26262F"/>
                      </a:solidFill>
                      <a:prstDash val="solid"/>
                      <a:round/>
                      <a:headEnd type="none" w="med" len="med"/>
                      <a:tailEnd type="none" w="med" len="med"/>
                    </a:lnR>
                    <a:lnT w="6350" cap="flat" cmpd="sng" algn="ctr">
                      <a:solidFill>
                        <a:srgbClr val="26262F"/>
                      </a:solidFill>
                      <a:prstDash val="solid"/>
                      <a:round/>
                      <a:headEnd type="none" w="med" len="med"/>
                      <a:tailEnd type="none" w="med" len="med"/>
                    </a:lnT>
                    <a:lnB w="6350" cap="flat" cmpd="sng" algn="ctr">
                      <a:solidFill>
                        <a:srgbClr val="26262F"/>
                      </a:solidFill>
                      <a:prstDash val="solid"/>
                      <a:round/>
                      <a:headEnd type="none" w="med" len="med"/>
                      <a:tailEnd type="none" w="med" len="med"/>
                    </a:lnB>
                    <a:solidFill>
                      <a:srgbClr val="17171F"/>
                    </a:solidFill>
                  </a:tcPr>
                </a:tc>
                <a:tc>
                  <a:txBody>
                    <a:bodyPr/>
                    <a:lstStyle/>
                    <a:p>
                      <a:pPr indent="0" marL="0">
                        <a:buNone/>
                      </a:pPr>
                      <a:r>
                        <a:rPr lang="en-US" sz="950" b="1" dirty="0">
                          <a:solidFill>
                            <a:srgbClr val="3DDC84"/>
                          </a:solidFill>
                          <a:latin typeface="Segoe UI" pitchFamily="34" charset="0"/>
                          <a:ea typeface="Segoe UI" pitchFamily="34" charset="-122"/>
                          <a:cs typeface="Segoe UI" pitchFamily="34" charset="-120"/>
                        </a:rPr>
                        <a:t>●  IMPLEMENTED</a:t>
                      </a:r>
                      <a:endParaRPr lang="en-US" sz="950" dirty="0">
                        <a:latin typeface="Segoe UI" charset="0"/>
                        <a:ea typeface="Segoe UI" charset="0"/>
                        <a:cs typeface="Segoe UI" charset="0"/>
                      </a:endParaRPr>
                    </a:p>
                  </a:txBody>
                  <a:tcPr marL="36576" marR="36576" marT="36576" marB="36576" anchor="ctr">
                    <a:lnL w="6350" cap="flat" cmpd="sng" algn="ctr">
                      <a:solidFill>
                        <a:srgbClr val="26262F"/>
                      </a:solidFill>
                      <a:prstDash val="solid"/>
                      <a:round/>
                      <a:headEnd type="none" w="med" len="med"/>
                      <a:tailEnd type="none" w="med" len="med"/>
                    </a:lnL>
                    <a:lnR w="6350" cap="flat" cmpd="sng" algn="ctr">
                      <a:solidFill>
                        <a:srgbClr val="26262F"/>
                      </a:solidFill>
                      <a:prstDash val="solid"/>
                      <a:round/>
                      <a:headEnd type="none" w="med" len="med"/>
                      <a:tailEnd type="none" w="med" len="med"/>
                    </a:lnR>
                    <a:lnT w="6350" cap="flat" cmpd="sng" algn="ctr">
                      <a:solidFill>
                        <a:srgbClr val="26262F"/>
                      </a:solidFill>
                      <a:prstDash val="solid"/>
                      <a:round/>
                      <a:headEnd type="none" w="med" len="med"/>
                      <a:tailEnd type="none" w="med" len="med"/>
                    </a:lnT>
                    <a:lnB w="6350" cap="flat" cmpd="sng" algn="ctr">
                      <a:solidFill>
                        <a:srgbClr val="26262F"/>
                      </a:solidFill>
                      <a:prstDash val="solid"/>
                      <a:round/>
                      <a:headEnd type="none" w="med" len="med"/>
                      <a:tailEnd type="none" w="med" len="med"/>
                    </a:lnB>
                    <a:solidFill>
                      <a:srgbClr val="0E2418"/>
                    </a:solidFill>
                  </a:tcPr>
                </a:tc>
              </a:tr>
              <a:tr h="301752">
                <a:tc>
                  <a:txBody>
                    <a:bodyPr/>
                    <a:lstStyle/>
                    <a:p>
                      <a:pPr algn="l" indent="0" marL="0">
                        <a:buNone/>
                      </a:pPr>
                      <a:r>
                        <a:rPr lang="en-US" sz="980" dirty="0">
                          <a:solidFill>
                            <a:srgbClr val="F5F2EA"/>
                          </a:solidFill>
                          <a:latin typeface="Segoe UI" pitchFamily="34" charset="0"/>
                          <a:ea typeface="Segoe UI" pitchFamily="34" charset="-122"/>
                          <a:cs typeface="Segoe UI" pitchFamily="34" charset="-120"/>
                        </a:rPr>
                        <a:t>What-If Interactive Analysis</a:t>
                      </a:r>
                      <a:endParaRPr lang="en-US" sz="980" dirty="0">
                        <a:latin typeface="Segoe UI" charset="0"/>
                        <a:ea typeface="Segoe UI" charset="0"/>
                        <a:cs typeface="Segoe UI" charset="0"/>
                      </a:endParaRPr>
                    </a:p>
                  </a:txBody>
                  <a:tcPr marL="36576" marR="36576" marT="36576" marB="36576" anchor="ctr">
                    <a:lnL w="6350" cap="flat" cmpd="sng" algn="ctr">
                      <a:solidFill>
                        <a:srgbClr val="26262F"/>
                      </a:solidFill>
                      <a:prstDash val="solid"/>
                      <a:round/>
                      <a:headEnd type="none" w="med" len="med"/>
                      <a:tailEnd type="none" w="med" len="med"/>
                    </a:lnL>
                    <a:lnR w="6350" cap="flat" cmpd="sng" algn="ctr">
                      <a:solidFill>
                        <a:srgbClr val="26262F"/>
                      </a:solidFill>
                      <a:prstDash val="solid"/>
                      <a:round/>
                      <a:headEnd type="none" w="med" len="med"/>
                      <a:tailEnd type="none" w="med" len="med"/>
                    </a:lnR>
                    <a:lnT w="6350" cap="flat" cmpd="sng" algn="ctr">
                      <a:solidFill>
                        <a:srgbClr val="26262F"/>
                      </a:solidFill>
                      <a:prstDash val="solid"/>
                      <a:round/>
                      <a:headEnd type="none" w="med" len="med"/>
                      <a:tailEnd type="none" w="med" len="med"/>
                    </a:lnT>
                    <a:lnB w="6350" cap="flat" cmpd="sng" algn="ctr">
                      <a:solidFill>
                        <a:srgbClr val="26262F"/>
                      </a:solidFill>
                      <a:prstDash val="solid"/>
                      <a:round/>
                      <a:headEnd type="none" w="med" len="med"/>
                      <a:tailEnd type="none" w="med" len="med"/>
                    </a:lnB>
                    <a:solidFill>
                      <a:srgbClr val="15151B"/>
                    </a:solidFill>
                  </a:tcPr>
                </a:tc>
                <a:tc>
                  <a:txBody>
                    <a:bodyPr/>
                    <a:lstStyle/>
                    <a:p>
                      <a:pPr algn="l" indent="0" marL="0">
                        <a:buNone/>
                      </a:pPr>
                      <a:r>
                        <a:rPr lang="en-US" sz="980" dirty="0">
                          <a:solidFill>
                            <a:srgbClr val="F5F2EA"/>
                          </a:solidFill>
                          <a:latin typeface="Segoe UI" pitchFamily="34" charset="0"/>
                          <a:ea typeface="Segoe UI" pitchFamily="34" charset="-122"/>
                          <a:cs typeface="Segoe UI" pitchFamily="34" charset="-120"/>
                        </a:rPr>
                        <a:t>Drag pieces, live engine re-evaluation, 8-step grader</a:t>
                      </a:r>
                      <a:endParaRPr lang="en-US" sz="980" dirty="0">
                        <a:latin typeface="Segoe UI" charset="0"/>
                        <a:ea typeface="Segoe UI" charset="0"/>
                        <a:cs typeface="Segoe UI" charset="0"/>
                      </a:endParaRPr>
                    </a:p>
                  </a:txBody>
                  <a:tcPr marL="36576" marR="36576" marT="36576" marB="36576" anchor="ctr">
                    <a:lnL w="6350" cap="flat" cmpd="sng" algn="ctr">
                      <a:solidFill>
                        <a:srgbClr val="26262F"/>
                      </a:solidFill>
                      <a:prstDash val="solid"/>
                      <a:round/>
                      <a:headEnd type="none" w="med" len="med"/>
                      <a:tailEnd type="none" w="med" len="med"/>
                    </a:lnL>
                    <a:lnR w="6350" cap="flat" cmpd="sng" algn="ctr">
                      <a:solidFill>
                        <a:srgbClr val="26262F"/>
                      </a:solidFill>
                      <a:prstDash val="solid"/>
                      <a:round/>
                      <a:headEnd type="none" w="med" len="med"/>
                      <a:tailEnd type="none" w="med" len="med"/>
                    </a:lnR>
                    <a:lnT w="6350" cap="flat" cmpd="sng" algn="ctr">
                      <a:solidFill>
                        <a:srgbClr val="26262F"/>
                      </a:solidFill>
                      <a:prstDash val="solid"/>
                      <a:round/>
                      <a:headEnd type="none" w="med" len="med"/>
                      <a:tailEnd type="none" w="med" len="med"/>
                    </a:lnT>
                    <a:lnB w="6350" cap="flat" cmpd="sng" algn="ctr">
                      <a:solidFill>
                        <a:srgbClr val="26262F"/>
                      </a:solidFill>
                      <a:prstDash val="solid"/>
                      <a:round/>
                      <a:headEnd type="none" w="med" len="med"/>
                      <a:tailEnd type="none" w="med" len="med"/>
                    </a:lnB>
                    <a:solidFill>
                      <a:srgbClr val="17171F"/>
                    </a:solidFill>
                  </a:tcPr>
                </a:tc>
                <a:tc>
                  <a:txBody>
                    <a:bodyPr/>
                    <a:lstStyle/>
                    <a:p>
                      <a:pPr indent="0" marL="0">
                        <a:buNone/>
                      </a:pPr>
                      <a:r>
                        <a:rPr lang="en-US" sz="950" b="1" dirty="0">
                          <a:solidFill>
                            <a:srgbClr val="3DDC84"/>
                          </a:solidFill>
                          <a:latin typeface="Segoe UI" pitchFamily="34" charset="0"/>
                          <a:ea typeface="Segoe UI" pitchFamily="34" charset="-122"/>
                          <a:cs typeface="Segoe UI" pitchFamily="34" charset="-120"/>
                        </a:rPr>
                        <a:t>●  IMPLEMENTED</a:t>
                      </a:r>
                      <a:endParaRPr lang="en-US" sz="950" dirty="0">
                        <a:latin typeface="Segoe UI" charset="0"/>
                        <a:ea typeface="Segoe UI" charset="0"/>
                        <a:cs typeface="Segoe UI" charset="0"/>
                      </a:endParaRPr>
                    </a:p>
                  </a:txBody>
                  <a:tcPr marL="36576" marR="36576" marT="36576" marB="36576" anchor="ctr">
                    <a:lnL w="6350" cap="flat" cmpd="sng" algn="ctr">
                      <a:solidFill>
                        <a:srgbClr val="26262F"/>
                      </a:solidFill>
                      <a:prstDash val="solid"/>
                      <a:round/>
                      <a:headEnd type="none" w="med" len="med"/>
                      <a:tailEnd type="none" w="med" len="med"/>
                    </a:lnL>
                    <a:lnR w="6350" cap="flat" cmpd="sng" algn="ctr">
                      <a:solidFill>
                        <a:srgbClr val="26262F"/>
                      </a:solidFill>
                      <a:prstDash val="solid"/>
                      <a:round/>
                      <a:headEnd type="none" w="med" len="med"/>
                      <a:tailEnd type="none" w="med" len="med"/>
                    </a:lnR>
                    <a:lnT w="6350" cap="flat" cmpd="sng" algn="ctr">
                      <a:solidFill>
                        <a:srgbClr val="26262F"/>
                      </a:solidFill>
                      <a:prstDash val="solid"/>
                      <a:round/>
                      <a:headEnd type="none" w="med" len="med"/>
                      <a:tailEnd type="none" w="med" len="med"/>
                    </a:lnT>
                    <a:lnB w="6350" cap="flat" cmpd="sng" algn="ctr">
                      <a:solidFill>
                        <a:srgbClr val="26262F"/>
                      </a:solidFill>
                      <a:prstDash val="solid"/>
                      <a:round/>
                      <a:headEnd type="none" w="med" len="med"/>
                      <a:tailEnd type="none" w="med" len="med"/>
                    </a:lnB>
                    <a:solidFill>
                      <a:srgbClr val="0E2418"/>
                    </a:solidFill>
                  </a:tcPr>
                </a:tc>
              </a:tr>
              <a:tr h="301752">
                <a:tc>
                  <a:txBody>
                    <a:bodyPr/>
                    <a:lstStyle/>
                    <a:p>
                      <a:pPr algn="l" indent="0" marL="0">
                        <a:buNone/>
                      </a:pPr>
                      <a:r>
                        <a:rPr lang="en-US" sz="980" dirty="0">
                          <a:solidFill>
                            <a:srgbClr val="F5F2EA"/>
                          </a:solidFill>
                          <a:latin typeface="Segoe UI" pitchFamily="34" charset="0"/>
                          <a:ea typeface="Segoe UI" pitchFamily="34" charset="-122"/>
                          <a:cs typeface="Segoe UI" pitchFamily="34" charset="-120"/>
                        </a:rPr>
                        <a:t>AI Coach Reports</a:t>
                      </a:r>
                      <a:endParaRPr lang="en-US" sz="980" dirty="0">
                        <a:latin typeface="Segoe UI" charset="0"/>
                        <a:ea typeface="Segoe UI" charset="0"/>
                        <a:cs typeface="Segoe UI" charset="0"/>
                      </a:endParaRPr>
                    </a:p>
                  </a:txBody>
                  <a:tcPr marL="36576" marR="36576" marT="36576" marB="36576" anchor="ctr">
                    <a:lnL w="6350" cap="flat" cmpd="sng" algn="ctr">
                      <a:solidFill>
                        <a:srgbClr val="26262F"/>
                      </a:solidFill>
                      <a:prstDash val="solid"/>
                      <a:round/>
                      <a:headEnd type="none" w="med" len="med"/>
                      <a:tailEnd type="none" w="med" len="med"/>
                    </a:lnL>
                    <a:lnR w="6350" cap="flat" cmpd="sng" algn="ctr">
                      <a:solidFill>
                        <a:srgbClr val="26262F"/>
                      </a:solidFill>
                      <a:prstDash val="solid"/>
                      <a:round/>
                      <a:headEnd type="none" w="med" len="med"/>
                      <a:tailEnd type="none" w="med" len="med"/>
                    </a:lnR>
                    <a:lnT w="6350" cap="flat" cmpd="sng" algn="ctr">
                      <a:solidFill>
                        <a:srgbClr val="26262F"/>
                      </a:solidFill>
                      <a:prstDash val="solid"/>
                      <a:round/>
                      <a:headEnd type="none" w="med" len="med"/>
                      <a:tailEnd type="none" w="med" len="med"/>
                    </a:lnT>
                    <a:lnB w="6350" cap="flat" cmpd="sng" algn="ctr">
                      <a:solidFill>
                        <a:srgbClr val="26262F"/>
                      </a:solidFill>
                      <a:prstDash val="solid"/>
                      <a:round/>
                      <a:headEnd type="none" w="med" len="med"/>
                      <a:tailEnd type="none" w="med" len="med"/>
                    </a:lnB>
                    <a:solidFill>
                      <a:srgbClr val="15151B"/>
                    </a:solidFill>
                  </a:tcPr>
                </a:tc>
                <a:tc>
                  <a:txBody>
                    <a:bodyPr/>
                    <a:lstStyle/>
                    <a:p>
                      <a:pPr algn="l" indent="0" marL="0">
                        <a:buNone/>
                      </a:pPr>
                      <a:r>
                        <a:rPr lang="en-US" sz="980" dirty="0">
                          <a:solidFill>
                            <a:srgbClr val="F5F2EA"/>
                          </a:solidFill>
                          <a:latin typeface="Segoe UI" pitchFamily="34" charset="0"/>
                          <a:ea typeface="Segoe UI" pitchFamily="34" charset="-122"/>
                          <a:cs typeface="Segoe UI" pitchFamily="34" charset="-120"/>
                        </a:rPr>
                        <a:t>Weakness patterns, evidence, drills, weekly focus</a:t>
                      </a:r>
                      <a:endParaRPr lang="en-US" sz="980" dirty="0">
                        <a:latin typeface="Segoe UI" charset="0"/>
                        <a:ea typeface="Segoe UI" charset="0"/>
                        <a:cs typeface="Segoe UI" charset="0"/>
                      </a:endParaRPr>
                    </a:p>
                  </a:txBody>
                  <a:tcPr marL="36576" marR="36576" marT="36576" marB="36576" anchor="ctr">
                    <a:lnL w="6350" cap="flat" cmpd="sng" algn="ctr">
                      <a:solidFill>
                        <a:srgbClr val="26262F"/>
                      </a:solidFill>
                      <a:prstDash val="solid"/>
                      <a:round/>
                      <a:headEnd type="none" w="med" len="med"/>
                      <a:tailEnd type="none" w="med" len="med"/>
                    </a:lnL>
                    <a:lnR w="6350" cap="flat" cmpd="sng" algn="ctr">
                      <a:solidFill>
                        <a:srgbClr val="26262F"/>
                      </a:solidFill>
                      <a:prstDash val="solid"/>
                      <a:round/>
                      <a:headEnd type="none" w="med" len="med"/>
                      <a:tailEnd type="none" w="med" len="med"/>
                    </a:lnR>
                    <a:lnT w="6350" cap="flat" cmpd="sng" algn="ctr">
                      <a:solidFill>
                        <a:srgbClr val="26262F"/>
                      </a:solidFill>
                      <a:prstDash val="solid"/>
                      <a:round/>
                      <a:headEnd type="none" w="med" len="med"/>
                      <a:tailEnd type="none" w="med" len="med"/>
                    </a:lnT>
                    <a:lnB w="6350" cap="flat" cmpd="sng" algn="ctr">
                      <a:solidFill>
                        <a:srgbClr val="26262F"/>
                      </a:solidFill>
                      <a:prstDash val="solid"/>
                      <a:round/>
                      <a:headEnd type="none" w="med" len="med"/>
                      <a:tailEnd type="none" w="med" len="med"/>
                    </a:lnB>
                    <a:solidFill>
                      <a:srgbClr val="17171F"/>
                    </a:solidFill>
                  </a:tcPr>
                </a:tc>
                <a:tc>
                  <a:txBody>
                    <a:bodyPr/>
                    <a:lstStyle/>
                    <a:p>
                      <a:pPr indent="0" marL="0">
                        <a:buNone/>
                      </a:pPr>
                      <a:r>
                        <a:rPr lang="en-US" sz="950" b="1" dirty="0">
                          <a:solidFill>
                            <a:srgbClr val="3DDC84"/>
                          </a:solidFill>
                          <a:latin typeface="Segoe UI" pitchFamily="34" charset="0"/>
                          <a:ea typeface="Segoe UI" pitchFamily="34" charset="-122"/>
                          <a:cs typeface="Segoe UI" pitchFamily="34" charset="-120"/>
                        </a:rPr>
                        <a:t>●  IMPLEMENTED</a:t>
                      </a:r>
                      <a:endParaRPr lang="en-US" sz="950" dirty="0">
                        <a:latin typeface="Segoe UI" charset="0"/>
                        <a:ea typeface="Segoe UI" charset="0"/>
                        <a:cs typeface="Segoe UI" charset="0"/>
                      </a:endParaRPr>
                    </a:p>
                  </a:txBody>
                  <a:tcPr marL="36576" marR="36576" marT="36576" marB="36576" anchor="ctr">
                    <a:lnL w="6350" cap="flat" cmpd="sng" algn="ctr">
                      <a:solidFill>
                        <a:srgbClr val="26262F"/>
                      </a:solidFill>
                      <a:prstDash val="solid"/>
                      <a:round/>
                      <a:headEnd type="none" w="med" len="med"/>
                      <a:tailEnd type="none" w="med" len="med"/>
                    </a:lnL>
                    <a:lnR w="6350" cap="flat" cmpd="sng" algn="ctr">
                      <a:solidFill>
                        <a:srgbClr val="26262F"/>
                      </a:solidFill>
                      <a:prstDash val="solid"/>
                      <a:round/>
                      <a:headEnd type="none" w="med" len="med"/>
                      <a:tailEnd type="none" w="med" len="med"/>
                    </a:lnR>
                    <a:lnT w="6350" cap="flat" cmpd="sng" algn="ctr">
                      <a:solidFill>
                        <a:srgbClr val="26262F"/>
                      </a:solidFill>
                      <a:prstDash val="solid"/>
                      <a:round/>
                      <a:headEnd type="none" w="med" len="med"/>
                      <a:tailEnd type="none" w="med" len="med"/>
                    </a:lnT>
                    <a:lnB w="6350" cap="flat" cmpd="sng" algn="ctr">
                      <a:solidFill>
                        <a:srgbClr val="26262F"/>
                      </a:solidFill>
                      <a:prstDash val="solid"/>
                      <a:round/>
                      <a:headEnd type="none" w="med" len="med"/>
                      <a:tailEnd type="none" w="med" len="med"/>
                    </a:lnB>
                    <a:solidFill>
                      <a:srgbClr val="0E2418"/>
                    </a:solidFill>
                  </a:tcPr>
                </a:tc>
              </a:tr>
              <a:tr h="301752">
                <a:tc>
                  <a:txBody>
                    <a:bodyPr/>
                    <a:lstStyle/>
                    <a:p>
                      <a:pPr algn="l" indent="0" marL="0">
                        <a:buNone/>
                      </a:pPr>
                      <a:r>
                        <a:rPr lang="en-US" sz="980" dirty="0">
                          <a:solidFill>
                            <a:srgbClr val="F5F2EA"/>
                          </a:solidFill>
                          <a:latin typeface="Segoe UI" pitchFamily="34" charset="0"/>
                          <a:ea typeface="Segoe UI" pitchFamily="34" charset="-122"/>
                          <a:cs typeface="Segoe UI" pitchFamily="34" charset="-120"/>
                        </a:rPr>
                        <a:t>Daily Puzzle &amp; Streaks</a:t>
                      </a:r>
                      <a:endParaRPr lang="en-US" sz="980" dirty="0">
                        <a:latin typeface="Segoe UI" charset="0"/>
                        <a:ea typeface="Segoe UI" charset="0"/>
                        <a:cs typeface="Segoe UI" charset="0"/>
                      </a:endParaRPr>
                    </a:p>
                  </a:txBody>
                  <a:tcPr marL="36576" marR="36576" marT="36576" marB="36576" anchor="ctr">
                    <a:lnL w="6350" cap="flat" cmpd="sng" algn="ctr">
                      <a:solidFill>
                        <a:srgbClr val="26262F"/>
                      </a:solidFill>
                      <a:prstDash val="solid"/>
                      <a:round/>
                      <a:headEnd type="none" w="med" len="med"/>
                      <a:tailEnd type="none" w="med" len="med"/>
                    </a:lnL>
                    <a:lnR w="6350" cap="flat" cmpd="sng" algn="ctr">
                      <a:solidFill>
                        <a:srgbClr val="26262F"/>
                      </a:solidFill>
                      <a:prstDash val="solid"/>
                      <a:round/>
                      <a:headEnd type="none" w="med" len="med"/>
                      <a:tailEnd type="none" w="med" len="med"/>
                    </a:lnR>
                    <a:lnT w="6350" cap="flat" cmpd="sng" algn="ctr">
                      <a:solidFill>
                        <a:srgbClr val="26262F"/>
                      </a:solidFill>
                      <a:prstDash val="solid"/>
                      <a:round/>
                      <a:headEnd type="none" w="med" len="med"/>
                      <a:tailEnd type="none" w="med" len="med"/>
                    </a:lnT>
                    <a:lnB w="6350" cap="flat" cmpd="sng" algn="ctr">
                      <a:solidFill>
                        <a:srgbClr val="26262F"/>
                      </a:solidFill>
                      <a:prstDash val="solid"/>
                      <a:round/>
                      <a:headEnd type="none" w="med" len="med"/>
                      <a:tailEnd type="none" w="med" len="med"/>
                    </a:lnB>
                    <a:solidFill>
                      <a:srgbClr val="15151B"/>
                    </a:solidFill>
                  </a:tcPr>
                </a:tc>
                <a:tc>
                  <a:txBody>
                    <a:bodyPr/>
                    <a:lstStyle/>
                    <a:p>
                      <a:pPr algn="l" indent="0" marL="0">
                        <a:buNone/>
                      </a:pPr>
                      <a:r>
                        <a:rPr lang="en-US" sz="980" dirty="0">
                          <a:solidFill>
                            <a:srgbClr val="F5F2EA"/>
                          </a:solidFill>
                          <a:latin typeface="Segoe UI" pitchFamily="34" charset="0"/>
                          <a:ea typeface="Segoe UI" pitchFamily="34" charset="-122"/>
                          <a:cs typeface="Segoe UI" pitchFamily="34" charset="-120"/>
                        </a:rPr>
                        <a:t>Puzzle attempts with rating, streaks, badge system</a:t>
                      </a:r>
                      <a:endParaRPr lang="en-US" sz="980" dirty="0">
                        <a:latin typeface="Segoe UI" charset="0"/>
                        <a:ea typeface="Segoe UI" charset="0"/>
                        <a:cs typeface="Segoe UI" charset="0"/>
                      </a:endParaRPr>
                    </a:p>
                  </a:txBody>
                  <a:tcPr marL="36576" marR="36576" marT="36576" marB="36576" anchor="ctr">
                    <a:lnL w="6350" cap="flat" cmpd="sng" algn="ctr">
                      <a:solidFill>
                        <a:srgbClr val="26262F"/>
                      </a:solidFill>
                      <a:prstDash val="solid"/>
                      <a:round/>
                      <a:headEnd type="none" w="med" len="med"/>
                      <a:tailEnd type="none" w="med" len="med"/>
                    </a:lnL>
                    <a:lnR w="6350" cap="flat" cmpd="sng" algn="ctr">
                      <a:solidFill>
                        <a:srgbClr val="26262F"/>
                      </a:solidFill>
                      <a:prstDash val="solid"/>
                      <a:round/>
                      <a:headEnd type="none" w="med" len="med"/>
                      <a:tailEnd type="none" w="med" len="med"/>
                    </a:lnR>
                    <a:lnT w="6350" cap="flat" cmpd="sng" algn="ctr">
                      <a:solidFill>
                        <a:srgbClr val="26262F"/>
                      </a:solidFill>
                      <a:prstDash val="solid"/>
                      <a:round/>
                      <a:headEnd type="none" w="med" len="med"/>
                      <a:tailEnd type="none" w="med" len="med"/>
                    </a:lnT>
                    <a:lnB w="6350" cap="flat" cmpd="sng" algn="ctr">
                      <a:solidFill>
                        <a:srgbClr val="26262F"/>
                      </a:solidFill>
                      <a:prstDash val="solid"/>
                      <a:round/>
                      <a:headEnd type="none" w="med" len="med"/>
                      <a:tailEnd type="none" w="med" len="med"/>
                    </a:lnB>
                    <a:solidFill>
                      <a:srgbClr val="17171F"/>
                    </a:solidFill>
                  </a:tcPr>
                </a:tc>
                <a:tc>
                  <a:txBody>
                    <a:bodyPr/>
                    <a:lstStyle/>
                    <a:p>
                      <a:pPr indent="0" marL="0">
                        <a:buNone/>
                      </a:pPr>
                      <a:r>
                        <a:rPr lang="en-US" sz="950" b="1" dirty="0">
                          <a:solidFill>
                            <a:srgbClr val="3DDC84"/>
                          </a:solidFill>
                          <a:latin typeface="Segoe UI" pitchFamily="34" charset="0"/>
                          <a:ea typeface="Segoe UI" pitchFamily="34" charset="-122"/>
                          <a:cs typeface="Segoe UI" pitchFamily="34" charset="-120"/>
                        </a:rPr>
                        <a:t>●  IMPLEMENTED</a:t>
                      </a:r>
                      <a:endParaRPr lang="en-US" sz="950" dirty="0">
                        <a:latin typeface="Segoe UI" charset="0"/>
                        <a:ea typeface="Segoe UI" charset="0"/>
                        <a:cs typeface="Segoe UI" charset="0"/>
                      </a:endParaRPr>
                    </a:p>
                  </a:txBody>
                  <a:tcPr marL="36576" marR="36576" marT="36576" marB="36576" anchor="ctr">
                    <a:lnL w="6350" cap="flat" cmpd="sng" algn="ctr">
                      <a:solidFill>
                        <a:srgbClr val="26262F"/>
                      </a:solidFill>
                      <a:prstDash val="solid"/>
                      <a:round/>
                      <a:headEnd type="none" w="med" len="med"/>
                      <a:tailEnd type="none" w="med" len="med"/>
                    </a:lnL>
                    <a:lnR w="6350" cap="flat" cmpd="sng" algn="ctr">
                      <a:solidFill>
                        <a:srgbClr val="26262F"/>
                      </a:solidFill>
                      <a:prstDash val="solid"/>
                      <a:round/>
                      <a:headEnd type="none" w="med" len="med"/>
                      <a:tailEnd type="none" w="med" len="med"/>
                    </a:lnR>
                    <a:lnT w="6350" cap="flat" cmpd="sng" algn="ctr">
                      <a:solidFill>
                        <a:srgbClr val="26262F"/>
                      </a:solidFill>
                      <a:prstDash val="solid"/>
                      <a:round/>
                      <a:headEnd type="none" w="med" len="med"/>
                      <a:tailEnd type="none" w="med" len="med"/>
                    </a:lnT>
                    <a:lnB w="6350" cap="flat" cmpd="sng" algn="ctr">
                      <a:solidFill>
                        <a:srgbClr val="26262F"/>
                      </a:solidFill>
                      <a:prstDash val="solid"/>
                      <a:round/>
                      <a:headEnd type="none" w="med" len="med"/>
                      <a:tailEnd type="none" w="med" len="med"/>
                    </a:lnB>
                    <a:solidFill>
                      <a:srgbClr val="0E2418"/>
                    </a:solidFill>
                  </a:tcPr>
                </a:tc>
              </a:tr>
              <a:tr h="301752">
                <a:tc>
                  <a:txBody>
                    <a:bodyPr/>
                    <a:lstStyle/>
                    <a:p>
                      <a:pPr algn="l" indent="0" marL="0">
                        <a:buNone/>
                      </a:pPr>
                      <a:r>
                        <a:rPr lang="en-US" sz="980" dirty="0">
                          <a:solidFill>
                            <a:srgbClr val="F5F2EA"/>
                          </a:solidFill>
                          <a:latin typeface="Segoe UI" pitchFamily="34" charset="0"/>
                          <a:ea typeface="Segoe UI" pitchFamily="34" charset="-122"/>
                          <a:cs typeface="Segoe UI" pitchFamily="34" charset="-120"/>
                        </a:rPr>
                        <a:t>Report Card Sharing</a:t>
                      </a:r>
                      <a:endParaRPr lang="en-US" sz="980" dirty="0">
                        <a:latin typeface="Segoe UI" charset="0"/>
                        <a:ea typeface="Segoe UI" charset="0"/>
                        <a:cs typeface="Segoe UI" charset="0"/>
                      </a:endParaRPr>
                    </a:p>
                  </a:txBody>
                  <a:tcPr marL="36576" marR="36576" marT="36576" marB="36576" anchor="ctr">
                    <a:lnL w="6350" cap="flat" cmpd="sng" algn="ctr">
                      <a:solidFill>
                        <a:srgbClr val="26262F"/>
                      </a:solidFill>
                      <a:prstDash val="solid"/>
                      <a:round/>
                      <a:headEnd type="none" w="med" len="med"/>
                      <a:tailEnd type="none" w="med" len="med"/>
                    </a:lnL>
                    <a:lnR w="6350" cap="flat" cmpd="sng" algn="ctr">
                      <a:solidFill>
                        <a:srgbClr val="26262F"/>
                      </a:solidFill>
                      <a:prstDash val="solid"/>
                      <a:round/>
                      <a:headEnd type="none" w="med" len="med"/>
                      <a:tailEnd type="none" w="med" len="med"/>
                    </a:lnR>
                    <a:lnT w="6350" cap="flat" cmpd="sng" algn="ctr">
                      <a:solidFill>
                        <a:srgbClr val="26262F"/>
                      </a:solidFill>
                      <a:prstDash val="solid"/>
                      <a:round/>
                      <a:headEnd type="none" w="med" len="med"/>
                      <a:tailEnd type="none" w="med" len="med"/>
                    </a:lnT>
                    <a:lnB w="6350" cap="flat" cmpd="sng" algn="ctr">
                      <a:solidFill>
                        <a:srgbClr val="26262F"/>
                      </a:solidFill>
                      <a:prstDash val="solid"/>
                      <a:round/>
                      <a:headEnd type="none" w="med" len="med"/>
                      <a:tailEnd type="none" w="med" len="med"/>
                    </a:lnB>
                    <a:solidFill>
                      <a:srgbClr val="15151B"/>
                    </a:solidFill>
                  </a:tcPr>
                </a:tc>
                <a:tc>
                  <a:txBody>
                    <a:bodyPr/>
                    <a:lstStyle/>
                    <a:p>
                      <a:pPr algn="l" indent="0" marL="0">
                        <a:buNone/>
                      </a:pPr>
                      <a:r>
                        <a:rPr lang="en-US" sz="980" dirty="0">
                          <a:solidFill>
                            <a:srgbClr val="F5F2EA"/>
                          </a:solidFill>
                          <a:latin typeface="Segoe UI" pitchFamily="34" charset="0"/>
                          <a:ea typeface="Segoe UI" pitchFamily="34" charset="-122"/>
                          <a:cs typeface="Segoe UI" pitchFamily="34" charset="-120"/>
                        </a:rPr>
                        <a:t>Accuracy + grades rendered to PNG (satori + resvg), OG images</a:t>
                      </a:r>
                      <a:endParaRPr lang="en-US" sz="980" dirty="0">
                        <a:latin typeface="Segoe UI" charset="0"/>
                        <a:ea typeface="Segoe UI" charset="0"/>
                        <a:cs typeface="Segoe UI" charset="0"/>
                      </a:endParaRPr>
                    </a:p>
                  </a:txBody>
                  <a:tcPr marL="36576" marR="36576" marT="36576" marB="36576" anchor="ctr">
                    <a:lnL w="6350" cap="flat" cmpd="sng" algn="ctr">
                      <a:solidFill>
                        <a:srgbClr val="26262F"/>
                      </a:solidFill>
                      <a:prstDash val="solid"/>
                      <a:round/>
                      <a:headEnd type="none" w="med" len="med"/>
                      <a:tailEnd type="none" w="med" len="med"/>
                    </a:lnL>
                    <a:lnR w="6350" cap="flat" cmpd="sng" algn="ctr">
                      <a:solidFill>
                        <a:srgbClr val="26262F"/>
                      </a:solidFill>
                      <a:prstDash val="solid"/>
                      <a:round/>
                      <a:headEnd type="none" w="med" len="med"/>
                      <a:tailEnd type="none" w="med" len="med"/>
                    </a:lnR>
                    <a:lnT w="6350" cap="flat" cmpd="sng" algn="ctr">
                      <a:solidFill>
                        <a:srgbClr val="26262F"/>
                      </a:solidFill>
                      <a:prstDash val="solid"/>
                      <a:round/>
                      <a:headEnd type="none" w="med" len="med"/>
                      <a:tailEnd type="none" w="med" len="med"/>
                    </a:lnT>
                    <a:lnB w="6350" cap="flat" cmpd="sng" algn="ctr">
                      <a:solidFill>
                        <a:srgbClr val="26262F"/>
                      </a:solidFill>
                      <a:prstDash val="solid"/>
                      <a:round/>
                      <a:headEnd type="none" w="med" len="med"/>
                      <a:tailEnd type="none" w="med" len="med"/>
                    </a:lnB>
                    <a:solidFill>
                      <a:srgbClr val="17171F"/>
                    </a:solidFill>
                  </a:tcPr>
                </a:tc>
                <a:tc>
                  <a:txBody>
                    <a:bodyPr/>
                    <a:lstStyle/>
                    <a:p>
                      <a:pPr indent="0" marL="0">
                        <a:buNone/>
                      </a:pPr>
                      <a:r>
                        <a:rPr lang="en-US" sz="950" b="1" dirty="0">
                          <a:solidFill>
                            <a:srgbClr val="3DDC84"/>
                          </a:solidFill>
                          <a:latin typeface="Segoe UI" pitchFamily="34" charset="0"/>
                          <a:ea typeface="Segoe UI" pitchFamily="34" charset="-122"/>
                          <a:cs typeface="Segoe UI" pitchFamily="34" charset="-120"/>
                        </a:rPr>
                        <a:t>●  IMPLEMENTED</a:t>
                      </a:r>
                      <a:endParaRPr lang="en-US" sz="950" dirty="0">
                        <a:latin typeface="Segoe UI" charset="0"/>
                        <a:ea typeface="Segoe UI" charset="0"/>
                        <a:cs typeface="Segoe UI" charset="0"/>
                      </a:endParaRPr>
                    </a:p>
                  </a:txBody>
                  <a:tcPr marL="36576" marR="36576" marT="36576" marB="36576" anchor="ctr">
                    <a:lnL w="6350" cap="flat" cmpd="sng" algn="ctr">
                      <a:solidFill>
                        <a:srgbClr val="26262F"/>
                      </a:solidFill>
                      <a:prstDash val="solid"/>
                      <a:round/>
                      <a:headEnd type="none" w="med" len="med"/>
                      <a:tailEnd type="none" w="med" len="med"/>
                    </a:lnL>
                    <a:lnR w="6350" cap="flat" cmpd="sng" algn="ctr">
                      <a:solidFill>
                        <a:srgbClr val="26262F"/>
                      </a:solidFill>
                      <a:prstDash val="solid"/>
                      <a:round/>
                      <a:headEnd type="none" w="med" len="med"/>
                      <a:tailEnd type="none" w="med" len="med"/>
                    </a:lnR>
                    <a:lnT w="6350" cap="flat" cmpd="sng" algn="ctr">
                      <a:solidFill>
                        <a:srgbClr val="26262F"/>
                      </a:solidFill>
                      <a:prstDash val="solid"/>
                      <a:round/>
                      <a:headEnd type="none" w="med" len="med"/>
                      <a:tailEnd type="none" w="med" len="med"/>
                    </a:lnT>
                    <a:lnB w="6350" cap="flat" cmpd="sng" algn="ctr">
                      <a:solidFill>
                        <a:srgbClr val="26262F"/>
                      </a:solidFill>
                      <a:prstDash val="solid"/>
                      <a:round/>
                      <a:headEnd type="none" w="med" len="med"/>
                      <a:tailEnd type="none" w="med" len="med"/>
                    </a:lnB>
                    <a:solidFill>
                      <a:srgbClr val="0E2418"/>
                    </a:solidFill>
                  </a:tcPr>
                </a:tc>
              </a:tr>
              <a:tr h="301752">
                <a:tc>
                  <a:txBody>
                    <a:bodyPr/>
                    <a:lstStyle/>
                    <a:p>
                      <a:pPr algn="l" indent="0" marL="0">
                        <a:buNone/>
                      </a:pPr>
                      <a:r>
                        <a:rPr lang="en-US" sz="980" dirty="0">
                          <a:solidFill>
                            <a:srgbClr val="F5F2EA"/>
                          </a:solidFill>
                          <a:latin typeface="Segoe UI" pitchFamily="34" charset="0"/>
                          <a:ea typeface="Segoe UI" pitchFamily="34" charset="-122"/>
                          <a:cs typeface="Segoe UI" pitchFamily="34" charset="-120"/>
                        </a:rPr>
                        <a:t>Streaming Analysis (SSE)</a:t>
                      </a:r>
                      <a:endParaRPr lang="en-US" sz="980" dirty="0">
                        <a:latin typeface="Segoe UI" charset="0"/>
                        <a:ea typeface="Segoe UI" charset="0"/>
                        <a:cs typeface="Segoe UI" charset="0"/>
                      </a:endParaRPr>
                    </a:p>
                  </a:txBody>
                  <a:tcPr marL="36576" marR="36576" marT="36576" marB="36576" anchor="ctr">
                    <a:lnL w="6350" cap="flat" cmpd="sng" algn="ctr">
                      <a:solidFill>
                        <a:srgbClr val="26262F"/>
                      </a:solidFill>
                      <a:prstDash val="solid"/>
                      <a:round/>
                      <a:headEnd type="none" w="med" len="med"/>
                      <a:tailEnd type="none" w="med" len="med"/>
                    </a:lnL>
                    <a:lnR w="6350" cap="flat" cmpd="sng" algn="ctr">
                      <a:solidFill>
                        <a:srgbClr val="26262F"/>
                      </a:solidFill>
                      <a:prstDash val="solid"/>
                      <a:round/>
                      <a:headEnd type="none" w="med" len="med"/>
                      <a:tailEnd type="none" w="med" len="med"/>
                    </a:lnR>
                    <a:lnT w="6350" cap="flat" cmpd="sng" algn="ctr">
                      <a:solidFill>
                        <a:srgbClr val="26262F"/>
                      </a:solidFill>
                      <a:prstDash val="solid"/>
                      <a:round/>
                      <a:headEnd type="none" w="med" len="med"/>
                      <a:tailEnd type="none" w="med" len="med"/>
                    </a:lnT>
                    <a:lnB w="6350" cap="flat" cmpd="sng" algn="ctr">
                      <a:solidFill>
                        <a:srgbClr val="26262F"/>
                      </a:solidFill>
                      <a:prstDash val="solid"/>
                      <a:round/>
                      <a:headEnd type="none" w="med" len="med"/>
                      <a:tailEnd type="none" w="med" len="med"/>
                    </a:lnB>
                    <a:solidFill>
                      <a:srgbClr val="15151B"/>
                    </a:solidFill>
                  </a:tcPr>
                </a:tc>
                <a:tc>
                  <a:txBody>
                    <a:bodyPr/>
                    <a:lstStyle/>
                    <a:p>
                      <a:pPr algn="l" indent="0" marL="0">
                        <a:buNone/>
                      </a:pPr>
                      <a:r>
                        <a:rPr lang="en-US" sz="980" dirty="0">
                          <a:solidFill>
                            <a:srgbClr val="F5F2EA"/>
                          </a:solidFill>
                          <a:latin typeface="Segoe UI" pitchFamily="34" charset="0"/>
                          <a:ea typeface="Segoe UI" pitchFamily="34" charset="-122"/>
                          <a:cs typeface="Segoe UI" pitchFamily="34" charset="-120"/>
                        </a:rPr>
                        <a:t>Live progress events during analysis</a:t>
                      </a:r>
                      <a:endParaRPr lang="en-US" sz="980" dirty="0">
                        <a:latin typeface="Segoe UI" charset="0"/>
                        <a:ea typeface="Segoe UI" charset="0"/>
                        <a:cs typeface="Segoe UI" charset="0"/>
                      </a:endParaRPr>
                    </a:p>
                  </a:txBody>
                  <a:tcPr marL="36576" marR="36576" marT="36576" marB="36576" anchor="ctr">
                    <a:lnL w="6350" cap="flat" cmpd="sng" algn="ctr">
                      <a:solidFill>
                        <a:srgbClr val="26262F"/>
                      </a:solidFill>
                      <a:prstDash val="solid"/>
                      <a:round/>
                      <a:headEnd type="none" w="med" len="med"/>
                      <a:tailEnd type="none" w="med" len="med"/>
                    </a:lnL>
                    <a:lnR w="6350" cap="flat" cmpd="sng" algn="ctr">
                      <a:solidFill>
                        <a:srgbClr val="26262F"/>
                      </a:solidFill>
                      <a:prstDash val="solid"/>
                      <a:round/>
                      <a:headEnd type="none" w="med" len="med"/>
                      <a:tailEnd type="none" w="med" len="med"/>
                    </a:lnR>
                    <a:lnT w="6350" cap="flat" cmpd="sng" algn="ctr">
                      <a:solidFill>
                        <a:srgbClr val="26262F"/>
                      </a:solidFill>
                      <a:prstDash val="solid"/>
                      <a:round/>
                      <a:headEnd type="none" w="med" len="med"/>
                      <a:tailEnd type="none" w="med" len="med"/>
                    </a:lnT>
                    <a:lnB w="6350" cap="flat" cmpd="sng" algn="ctr">
                      <a:solidFill>
                        <a:srgbClr val="26262F"/>
                      </a:solidFill>
                      <a:prstDash val="solid"/>
                      <a:round/>
                      <a:headEnd type="none" w="med" len="med"/>
                      <a:tailEnd type="none" w="med" len="med"/>
                    </a:lnB>
                    <a:solidFill>
                      <a:srgbClr val="17171F"/>
                    </a:solidFill>
                  </a:tcPr>
                </a:tc>
                <a:tc>
                  <a:txBody>
                    <a:bodyPr/>
                    <a:lstStyle/>
                    <a:p>
                      <a:pPr indent="0" marL="0">
                        <a:buNone/>
                      </a:pPr>
                      <a:r>
                        <a:rPr lang="en-US" sz="950" b="1" dirty="0">
                          <a:solidFill>
                            <a:srgbClr val="3DDC84"/>
                          </a:solidFill>
                          <a:latin typeface="Segoe UI" pitchFamily="34" charset="0"/>
                          <a:ea typeface="Segoe UI" pitchFamily="34" charset="-122"/>
                          <a:cs typeface="Segoe UI" pitchFamily="34" charset="-120"/>
                        </a:rPr>
                        <a:t>●  IMPLEMENTED</a:t>
                      </a:r>
                      <a:endParaRPr lang="en-US" sz="950" dirty="0">
                        <a:latin typeface="Segoe UI" charset="0"/>
                        <a:ea typeface="Segoe UI" charset="0"/>
                        <a:cs typeface="Segoe UI" charset="0"/>
                      </a:endParaRPr>
                    </a:p>
                  </a:txBody>
                  <a:tcPr marL="36576" marR="36576" marT="36576" marB="36576" anchor="ctr">
                    <a:lnL w="6350" cap="flat" cmpd="sng" algn="ctr">
                      <a:solidFill>
                        <a:srgbClr val="26262F"/>
                      </a:solidFill>
                      <a:prstDash val="solid"/>
                      <a:round/>
                      <a:headEnd type="none" w="med" len="med"/>
                      <a:tailEnd type="none" w="med" len="med"/>
                    </a:lnL>
                    <a:lnR w="6350" cap="flat" cmpd="sng" algn="ctr">
                      <a:solidFill>
                        <a:srgbClr val="26262F"/>
                      </a:solidFill>
                      <a:prstDash val="solid"/>
                      <a:round/>
                      <a:headEnd type="none" w="med" len="med"/>
                      <a:tailEnd type="none" w="med" len="med"/>
                    </a:lnR>
                    <a:lnT w="6350" cap="flat" cmpd="sng" algn="ctr">
                      <a:solidFill>
                        <a:srgbClr val="26262F"/>
                      </a:solidFill>
                      <a:prstDash val="solid"/>
                      <a:round/>
                      <a:headEnd type="none" w="med" len="med"/>
                      <a:tailEnd type="none" w="med" len="med"/>
                    </a:lnT>
                    <a:lnB w="6350" cap="flat" cmpd="sng" algn="ctr">
                      <a:solidFill>
                        <a:srgbClr val="26262F"/>
                      </a:solidFill>
                      <a:prstDash val="solid"/>
                      <a:round/>
                      <a:headEnd type="none" w="med" len="med"/>
                      <a:tailEnd type="none" w="med" len="med"/>
                    </a:lnB>
                    <a:solidFill>
                      <a:srgbClr val="0E2418"/>
                    </a:solidFill>
                  </a:tcPr>
                </a:tc>
              </a:tr>
              <a:tr h="301752">
                <a:tc>
                  <a:txBody>
                    <a:bodyPr/>
                    <a:lstStyle/>
                    <a:p>
                      <a:pPr algn="l" indent="0" marL="0">
                        <a:buNone/>
                      </a:pPr>
                      <a:r>
                        <a:rPr lang="en-US" sz="980" dirty="0">
                          <a:solidFill>
                            <a:srgbClr val="F5F2EA"/>
                          </a:solidFill>
                          <a:latin typeface="Segoe UI" pitchFamily="34" charset="0"/>
                          <a:ea typeface="Segoe UI" pitchFamily="34" charset="-122"/>
                          <a:cs typeface="Segoe UI" pitchFamily="34" charset="-120"/>
                        </a:rPr>
                        <a:t>Deep Analysis Queue</a:t>
                      </a:r>
                      <a:endParaRPr lang="en-US" sz="980" dirty="0">
                        <a:latin typeface="Segoe UI" charset="0"/>
                        <a:ea typeface="Segoe UI" charset="0"/>
                        <a:cs typeface="Segoe UI" charset="0"/>
                      </a:endParaRPr>
                    </a:p>
                  </a:txBody>
                  <a:tcPr marL="36576" marR="36576" marT="36576" marB="36576" anchor="ctr">
                    <a:lnL w="6350" cap="flat" cmpd="sng" algn="ctr">
                      <a:solidFill>
                        <a:srgbClr val="26262F"/>
                      </a:solidFill>
                      <a:prstDash val="solid"/>
                      <a:round/>
                      <a:headEnd type="none" w="med" len="med"/>
                      <a:tailEnd type="none" w="med" len="med"/>
                    </a:lnL>
                    <a:lnR w="6350" cap="flat" cmpd="sng" algn="ctr">
                      <a:solidFill>
                        <a:srgbClr val="26262F"/>
                      </a:solidFill>
                      <a:prstDash val="solid"/>
                      <a:round/>
                      <a:headEnd type="none" w="med" len="med"/>
                      <a:tailEnd type="none" w="med" len="med"/>
                    </a:lnR>
                    <a:lnT w="6350" cap="flat" cmpd="sng" algn="ctr">
                      <a:solidFill>
                        <a:srgbClr val="26262F"/>
                      </a:solidFill>
                      <a:prstDash val="solid"/>
                      <a:round/>
                      <a:headEnd type="none" w="med" len="med"/>
                      <a:tailEnd type="none" w="med" len="med"/>
                    </a:lnT>
                    <a:lnB w="6350" cap="flat" cmpd="sng" algn="ctr">
                      <a:solidFill>
                        <a:srgbClr val="26262F"/>
                      </a:solidFill>
                      <a:prstDash val="solid"/>
                      <a:round/>
                      <a:headEnd type="none" w="med" len="med"/>
                      <a:tailEnd type="none" w="med" len="med"/>
                    </a:lnB>
                    <a:solidFill>
                      <a:srgbClr val="15151B"/>
                    </a:solidFill>
                  </a:tcPr>
                </a:tc>
                <a:tc>
                  <a:txBody>
                    <a:bodyPr/>
                    <a:lstStyle/>
                    <a:p>
                      <a:pPr algn="l" indent="0" marL="0">
                        <a:buNone/>
                      </a:pPr>
                      <a:r>
                        <a:rPr lang="en-US" sz="980" dirty="0">
                          <a:solidFill>
                            <a:srgbClr val="F5F2EA"/>
                          </a:solidFill>
                          <a:latin typeface="Segoe UI" pitchFamily="34" charset="0"/>
                          <a:ea typeface="Segoe UI" pitchFamily="34" charset="-122"/>
                          <a:cs typeface="Segoe UI" pitchFamily="34" charset="-120"/>
                        </a:rPr>
                        <a:t>BullMQ background jobs, depth 20–24, MultiPV</a:t>
                      </a:r>
                      <a:endParaRPr lang="en-US" sz="980" dirty="0">
                        <a:latin typeface="Segoe UI" charset="0"/>
                        <a:ea typeface="Segoe UI" charset="0"/>
                        <a:cs typeface="Segoe UI" charset="0"/>
                      </a:endParaRPr>
                    </a:p>
                  </a:txBody>
                  <a:tcPr marL="36576" marR="36576" marT="36576" marB="36576" anchor="ctr">
                    <a:lnL w="6350" cap="flat" cmpd="sng" algn="ctr">
                      <a:solidFill>
                        <a:srgbClr val="26262F"/>
                      </a:solidFill>
                      <a:prstDash val="solid"/>
                      <a:round/>
                      <a:headEnd type="none" w="med" len="med"/>
                      <a:tailEnd type="none" w="med" len="med"/>
                    </a:lnL>
                    <a:lnR w="6350" cap="flat" cmpd="sng" algn="ctr">
                      <a:solidFill>
                        <a:srgbClr val="26262F"/>
                      </a:solidFill>
                      <a:prstDash val="solid"/>
                      <a:round/>
                      <a:headEnd type="none" w="med" len="med"/>
                      <a:tailEnd type="none" w="med" len="med"/>
                    </a:lnR>
                    <a:lnT w="6350" cap="flat" cmpd="sng" algn="ctr">
                      <a:solidFill>
                        <a:srgbClr val="26262F"/>
                      </a:solidFill>
                      <a:prstDash val="solid"/>
                      <a:round/>
                      <a:headEnd type="none" w="med" len="med"/>
                      <a:tailEnd type="none" w="med" len="med"/>
                    </a:lnT>
                    <a:lnB w="6350" cap="flat" cmpd="sng" algn="ctr">
                      <a:solidFill>
                        <a:srgbClr val="26262F"/>
                      </a:solidFill>
                      <a:prstDash val="solid"/>
                      <a:round/>
                      <a:headEnd type="none" w="med" len="med"/>
                      <a:tailEnd type="none" w="med" len="med"/>
                    </a:lnB>
                    <a:solidFill>
                      <a:srgbClr val="17171F"/>
                    </a:solidFill>
                  </a:tcPr>
                </a:tc>
                <a:tc>
                  <a:txBody>
                    <a:bodyPr/>
                    <a:lstStyle/>
                    <a:p>
                      <a:pPr indent="0" marL="0">
                        <a:buNone/>
                      </a:pPr>
                      <a:r>
                        <a:rPr lang="en-US" sz="950" b="1" dirty="0">
                          <a:solidFill>
                            <a:srgbClr val="3DDC84"/>
                          </a:solidFill>
                          <a:latin typeface="Segoe UI" pitchFamily="34" charset="0"/>
                          <a:ea typeface="Segoe UI" pitchFamily="34" charset="-122"/>
                          <a:cs typeface="Segoe UI" pitchFamily="34" charset="-120"/>
                        </a:rPr>
                        <a:t>●  IMPLEMENTED</a:t>
                      </a:r>
                      <a:endParaRPr lang="en-US" sz="950" dirty="0">
                        <a:latin typeface="Segoe UI" charset="0"/>
                        <a:ea typeface="Segoe UI" charset="0"/>
                        <a:cs typeface="Segoe UI" charset="0"/>
                      </a:endParaRPr>
                    </a:p>
                  </a:txBody>
                  <a:tcPr marL="36576" marR="36576" marT="36576" marB="36576" anchor="ctr">
                    <a:lnL w="6350" cap="flat" cmpd="sng" algn="ctr">
                      <a:solidFill>
                        <a:srgbClr val="26262F"/>
                      </a:solidFill>
                      <a:prstDash val="solid"/>
                      <a:round/>
                      <a:headEnd type="none" w="med" len="med"/>
                      <a:tailEnd type="none" w="med" len="med"/>
                    </a:lnL>
                    <a:lnR w="6350" cap="flat" cmpd="sng" algn="ctr">
                      <a:solidFill>
                        <a:srgbClr val="26262F"/>
                      </a:solidFill>
                      <a:prstDash val="solid"/>
                      <a:round/>
                      <a:headEnd type="none" w="med" len="med"/>
                      <a:tailEnd type="none" w="med" len="med"/>
                    </a:lnR>
                    <a:lnT w="6350" cap="flat" cmpd="sng" algn="ctr">
                      <a:solidFill>
                        <a:srgbClr val="26262F"/>
                      </a:solidFill>
                      <a:prstDash val="solid"/>
                      <a:round/>
                      <a:headEnd type="none" w="med" len="med"/>
                      <a:tailEnd type="none" w="med" len="med"/>
                    </a:lnT>
                    <a:lnB w="6350" cap="flat" cmpd="sng" algn="ctr">
                      <a:solidFill>
                        <a:srgbClr val="26262F"/>
                      </a:solidFill>
                      <a:prstDash val="solid"/>
                      <a:round/>
                      <a:headEnd type="none" w="med" len="med"/>
                      <a:tailEnd type="none" w="med" len="med"/>
                    </a:lnB>
                    <a:solidFill>
                      <a:srgbClr val="0E2418"/>
                    </a:solidFill>
                  </a:tcPr>
                </a:tc>
              </a:tr>
              <a:tr h="301752">
                <a:tc>
                  <a:txBody>
                    <a:bodyPr/>
                    <a:lstStyle/>
                    <a:p>
                      <a:pPr algn="l" indent="0" marL="0">
                        <a:buNone/>
                      </a:pPr>
                      <a:r>
                        <a:rPr lang="en-US" sz="980" dirty="0">
                          <a:solidFill>
                            <a:srgbClr val="F5F2EA"/>
                          </a:solidFill>
                          <a:latin typeface="Segoe UI" pitchFamily="34" charset="0"/>
                          <a:ea typeface="Segoe UI" pitchFamily="34" charset="-122"/>
                          <a:cs typeface="Segoe UI" pitchFamily="34" charset="-120"/>
                        </a:rPr>
                        <a:t>Board Editor</a:t>
                      </a:r>
                      <a:endParaRPr lang="en-US" sz="980" dirty="0">
                        <a:latin typeface="Segoe UI" charset="0"/>
                        <a:ea typeface="Segoe UI" charset="0"/>
                        <a:cs typeface="Segoe UI" charset="0"/>
                      </a:endParaRPr>
                    </a:p>
                  </a:txBody>
                  <a:tcPr marL="36576" marR="36576" marT="36576" marB="36576" anchor="ctr">
                    <a:lnL w="6350" cap="flat" cmpd="sng" algn="ctr">
                      <a:solidFill>
                        <a:srgbClr val="26262F"/>
                      </a:solidFill>
                      <a:prstDash val="solid"/>
                      <a:round/>
                      <a:headEnd type="none" w="med" len="med"/>
                      <a:tailEnd type="none" w="med" len="med"/>
                    </a:lnL>
                    <a:lnR w="6350" cap="flat" cmpd="sng" algn="ctr">
                      <a:solidFill>
                        <a:srgbClr val="26262F"/>
                      </a:solidFill>
                      <a:prstDash val="solid"/>
                      <a:round/>
                      <a:headEnd type="none" w="med" len="med"/>
                      <a:tailEnd type="none" w="med" len="med"/>
                    </a:lnR>
                    <a:lnT w="6350" cap="flat" cmpd="sng" algn="ctr">
                      <a:solidFill>
                        <a:srgbClr val="26262F"/>
                      </a:solidFill>
                      <a:prstDash val="solid"/>
                      <a:round/>
                      <a:headEnd type="none" w="med" len="med"/>
                      <a:tailEnd type="none" w="med" len="med"/>
                    </a:lnT>
                    <a:lnB w="6350" cap="flat" cmpd="sng" algn="ctr">
                      <a:solidFill>
                        <a:srgbClr val="26262F"/>
                      </a:solidFill>
                      <a:prstDash val="solid"/>
                      <a:round/>
                      <a:headEnd type="none" w="med" len="med"/>
                      <a:tailEnd type="none" w="med" len="med"/>
                    </a:lnB>
                    <a:solidFill>
                      <a:srgbClr val="15151B"/>
                    </a:solidFill>
                  </a:tcPr>
                </a:tc>
                <a:tc>
                  <a:txBody>
                    <a:bodyPr/>
                    <a:lstStyle/>
                    <a:p>
                      <a:pPr algn="l" indent="0" marL="0">
                        <a:buNone/>
                      </a:pPr>
                      <a:r>
                        <a:rPr lang="en-US" sz="980" dirty="0">
                          <a:solidFill>
                            <a:srgbClr val="F5F2EA"/>
                          </a:solidFill>
                          <a:latin typeface="Segoe UI" pitchFamily="34" charset="0"/>
                          <a:ea typeface="Segoe UI" pitchFamily="34" charset="-122"/>
                          <a:cs typeface="Segoe UI" pitchFamily="34" charset="-120"/>
                        </a:rPr>
                        <a:t>Position setup with FEN snapshots</a:t>
                      </a:r>
                      <a:endParaRPr lang="en-US" sz="980" dirty="0">
                        <a:latin typeface="Segoe UI" charset="0"/>
                        <a:ea typeface="Segoe UI" charset="0"/>
                        <a:cs typeface="Segoe UI" charset="0"/>
                      </a:endParaRPr>
                    </a:p>
                  </a:txBody>
                  <a:tcPr marL="36576" marR="36576" marT="36576" marB="36576" anchor="ctr">
                    <a:lnL w="6350" cap="flat" cmpd="sng" algn="ctr">
                      <a:solidFill>
                        <a:srgbClr val="26262F"/>
                      </a:solidFill>
                      <a:prstDash val="solid"/>
                      <a:round/>
                      <a:headEnd type="none" w="med" len="med"/>
                      <a:tailEnd type="none" w="med" len="med"/>
                    </a:lnL>
                    <a:lnR w="6350" cap="flat" cmpd="sng" algn="ctr">
                      <a:solidFill>
                        <a:srgbClr val="26262F"/>
                      </a:solidFill>
                      <a:prstDash val="solid"/>
                      <a:round/>
                      <a:headEnd type="none" w="med" len="med"/>
                      <a:tailEnd type="none" w="med" len="med"/>
                    </a:lnR>
                    <a:lnT w="6350" cap="flat" cmpd="sng" algn="ctr">
                      <a:solidFill>
                        <a:srgbClr val="26262F"/>
                      </a:solidFill>
                      <a:prstDash val="solid"/>
                      <a:round/>
                      <a:headEnd type="none" w="med" len="med"/>
                      <a:tailEnd type="none" w="med" len="med"/>
                    </a:lnT>
                    <a:lnB w="6350" cap="flat" cmpd="sng" algn="ctr">
                      <a:solidFill>
                        <a:srgbClr val="26262F"/>
                      </a:solidFill>
                      <a:prstDash val="solid"/>
                      <a:round/>
                      <a:headEnd type="none" w="med" len="med"/>
                      <a:tailEnd type="none" w="med" len="med"/>
                    </a:lnB>
                    <a:solidFill>
                      <a:srgbClr val="17171F"/>
                    </a:solidFill>
                  </a:tcPr>
                </a:tc>
                <a:tc>
                  <a:txBody>
                    <a:bodyPr/>
                    <a:lstStyle/>
                    <a:p>
                      <a:pPr indent="0" marL="0">
                        <a:buNone/>
                      </a:pPr>
                      <a:r>
                        <a:rPr lang="en-US" sz="950" b="1" dirty="0">
                          <a:solidFill>
                            <a:srgbClr val="7AA2FF"/>
                          </a:solidFill>
                          <a:latin typeface="Segoe UI" pitchFamily="34" charset="0"/>
                          <a:ea typeface="Segoe UI" pitchFamily="34" charset="-122"/>
                          <a:cs typeface="Segoe UI" pitchFamily="34" charset="-120"/>
                        </a:rPr>
                        <a:t>●  BETA</a:t>
                      </a:r>
                      <a:endParaRPr lang="en-US" sz="950" dirty="0">
                        <a:latin typeface="Segoe UI" charset="0"/>
                        <a:ea typeface="Segoe UI" charset="0"/>
                        <a:cs typeface="Segoe UI" charset="0"/>
                      </a:endParaRPr>
                    </a:p>
                  </a:txBody>
                  <a:tcPr marL="36576" marR="36576" marT="36576" marB="36576" anchor="ctr">
                    <a:lnL w="6350" cap="flat" cmpd="sng" algn="ctr">
                      <a:solidFill>
                        <a:srgbClr val="26262F"/>
                      </a:solidFill>
                      <a:prstDash val="solid"/>
                      <a:round/>
                      <a:headEnd type="none" w="med" len="med"/>
                      <a:tailEnd type="none" w="med" len="med"/>
                    </a:lnL>
                    <a:lnR w="6350" cap="flat" cmpd="sng" algn="ctr">
                      <a:solidFill>
                        <a:srgbClr val="26262F"/>
                      </a:solidFill>
                      <a:prstDash val="solid"/>
                      <a:round/>
                      <a:headEnd type="none" w="med" len="med"/>
                      <a:tailEnd type="none" w="med" len="med"/>
                    </a:lnR>
                    <a:lnT w="6350" cap="flat" cmpd="sng" algn="ctr">
                      <a:solidFill>
                        <a:srgbClr val="26262F"/>
                      </a:solidFill>
                      <a:prstDash val="solid"/>
                      <a:round/>
                      <a:headEnd type="none" w="med" len="med"/>
                      <a:tailEnd type="none" w="med" len="med"/>
                    </a:lnT>
                    <a:lnB w="6350" cap="flat" cmpd="sng" algn="ctr">
                      <a:solidFill>
                        <a:srgbClr val="26262F"/>
                      </a:solidFill>
                      <a:prstDash val="solid"/>
                      <a:round/>
                      <a:headEnd type="none" w="med" len="med"/>
                      <a:tailEnd type="none" w="med" len="med"/>
                    </a:lnB>
                    <a:solidFill>
                      <a:srgbClr val="0D1B2E"/>
                    </a:solidFill>
                  </a:tcPr>
                </a:tc>
              </a:tr>
              <a:tr h="301752">
                <a:tc>
                  <a:txBody>
                    <a:bodyPr/>
                    <a:lstStyle/>
                    <a:p>
                      <a:pPr algn="l" indent="0" marL="0">
                        <a:buNone/>
                      </a:pPr>
                      <a:r>
                        <a:rPr lang="en-US" sz="980" dirty="0">
                          <a:solidFill>
                            <a:srgbClr val="F5F2EA"/>
                          </a:solidFill>
                          <a:latin typeface="Segoe UI" pitchFamily="34" charset="0"/>
                          <a:ea typeface="Segoe UI" pitchFamily="34" charset="-122"/>
                          <a:cs typeface="Segoe UI" pitchFamily="34" charset="-120"/>
                        </a:rPr>
                        <a:t>Chess Globe</a:t>
                      </a:r>
                      <a:endParaRPr lang="en-US" sz="980" dirty="0">
                        <a:latin typeface="Segoe UI" charset="0"/>
                        <a:ea typeface="Segoe UI" charset="0"/>
                        <a:cs typeface="Segoe UI" charset="0"/>
                      </a:endParaRPr>
                    </a:p>
                  </a:txBody>
                  <a:tcPr marL="36576" marR="36576" marT="36576" marB="36576" anchor="ctr">
                    <a:lnL w="6350" cap="flat" cmpd="sng" algn="ctr">
                      <a:solidFill>
                        <a:srgbClr val="26262F"/>
                      </a:solidFill>
                      <a:prstDash val="solid"/>
                      <a:round/>
                      <a:headEnd type="none" w="med" len="med"/>
                      <a:tailEnd type="none" w="med" len="med"/>
                    </a:lnL>
                    <a:lnR w="6350" cap="flat" cmpd="sng" algn="ctr">
                      <a:solidFill>
                        <a:srgbClr val="26262F"/>
                      </a:solidFill>
                      <a:prstDash val="solid"/>
                      <a:round/>
                      <a:headEnd type="none" w="med" len="med"/>
                      <a:tailEnd type="none" w="med" len="med"/>
                    </a:lnR>
                    <a:lnT w="6350" cap="flat" cmpd="sng" algn="ctr">
                      <a:solidFill>
                        <a:srgbClr val="26262F"/>
                      </a:solidFill>
                      <a:prstDash val="solid"/>
                      <a:round/>
                      <a:headEnd type="none" w="med" len="med"/>
                      <a:tailEnd type="none" w="med" len="med"/>
                    </a:lnT>
                    <a:lnB w="6350" cap="flat" cmpd="sng" algn="ctr">
                      <a:solidFill>
                        <a:srgbClr val="26262F"/>
                      </a:solidFill>
                      <a:prstDash val="solid"/>
                      <a:round/>
                      <a:headEnd type="none" w="med" len="med"/>
                      <a:tailEnd type="none" w="med" len="med"/>
                    </a:lnB>
                    <a:solidFill>
                      <a:srgbClr val="15151B"/>
                    </a:solidFill>
                  </a:tcPr>
                </a:tc>
                <a:tc>
                  <a:txBody>
                    <a:bodyPr/>
                    <a:lstStyle/>
                    <a:p>
                      <a:pPr algn="l" indent="0" marL="0">
                        <a:buNone/>
                      </a:pPr>
                      <a:r>
                        <a:rPr lang="en-US" sz="980" dirty="0">
                          <a:solidFill>
                            <a:srgbClr val="F5F2EA"/>
                          </a:solidFill>
                          <a:latin typeface="Segoe UI" pitchFamily="34" charset="0"/>
                          <a:ea typeface="Segoe UI" pitchFamily="34" charset="-122"/>
                          <a:cs typeface="Segoe UI" pitchFamily="34" charset="-120"/>
                        </a:rPr>
                        <a:t>3D world activity visualisation (demo data)</a:t>
                      </a:r>
                      <a:endParaRPr lang="en-US" sz="980" dirty="0">
                        <a:latin typeface="Segoe UI" charset="0"/>
                        <a:ea typeface="Segoe UI" charset="0"/>
                        <a:cs typeface="Segoe UI" charset="0"/>
                      </a:endParaRPr>
                    </a:p>
                  </a:txBody>
                  <a:tcPr marL="36576" marR="36576" marT="36576" marB="36576" anchor="ctr">
                    <a:lnL w="6350" cap="flat" cmpd="sng" algn="ctr">
                      <a:solidFill>
                        <a:srgbClr val="26262F"/>
                      </a:solidFill>
                      <a:prstDash val="solid"/>
                      <a:round/>
                      <a:headEnd type="none" w="med" len="med"/>
                      <a:tailEnd type="none" w="med" len="med"/>
                    </a:lnL>
                    <a:lnR w="6350" cap="flat" cmpd="sng" algn="ctr">
                      <a:solidFill>
                        <a:srgbClr val="26262F"/>
                      </a:solidFill>
                      <a:prstDash val="solid"/>
                      <a:round/>
                      <a:headEnd type="none" w="med" len="med"/>
                      <a:tailEnd type="none" w="med" len="med"/>
                    </a:lnR>
                    <a:lnT w="6350" cap="flat" cmpd="sng" algn="ctr">
                      <a:solidFill>
                        <a:srgbClr val="26262F"/>
                      </a:solidFill>
                      <a:prstDash val="solid"/>
                      <a:round/>
                      <a:headEnd type="none" w="med" len="med"/>
                      <a:tailEnd type="none" w="med" len="med"/>
                    </a:lnT>
                    <a:lnB w="6350" cap="flat" cmpd="sng" algn="ctr">
                      <a:solidFill>
                        <a:srgbClr val="26262F"/>
                      </a:solidFill>
                      <a:prstDash val="solid"/>
                      <a:round/>
                      <a:headEnd type="none" w="med" len="med"/>
                      <a:tailEnd type="none" w="med" len="med"/>
                    </a:lnB>
                    <a:solidFill>
                      <a:srgbClr val="17171F"/>
                    </a:solidFill>
                  </a:tcPr>
                </a:tc>
                <a:tc>
                  <a:txBody>
                    <a:bodyPr/>
                    <a:lstStyle/>
                    <a:p>
                      <a:pPr indent="0" marL="0">
                        <a:buNone/>
                      </a:pPr>
                      <a:r>
                        <a:rPr lang="en-US" sz="950" b="1" dirty="0">
                          <a:solidFill>
                            <a:srgbClr val="7AA2FF"/>
                          </a:solidFill>
                          <a:latin typeface="Segoe UI" pitchFamily="34" charset="0"/>
                          <a:ea typeface="Segoe UI" pitchFamily="34" charset="-122"/>
                          <a:cs typeface="Segoe UI" pitchFamily="34" charset="-120"/>
                        </a:rPr>
                        <a:t>●  BETA</a:t>
                      </a:r>
                      <a:endParaRPr lang="en-US" sz="950" dirty="0">
                        <a:latin typeface="Segoe UI" charset="0"/>
                        <a:ea typeface="Segoe UI" charset="0"/>
                        <a:cs typeface="Segoe UI" charset="0"/>
                      </a:endParaRPr>
                    </a:p>
                  </a:txBody>
                  <a:tcPr marL="36576" marR="36576" marT="36576" marB="36576" anchor="ctr">
                    <a:lnL w="6350" cap="flat" cmpd="sng" algn="ctr">
                      <a:solidFill>
                        <a:srgbClr val="26262F"/>
                      </a:solidFill>
                      <a:prstDash val="solid"/>
                      <a:round/>
                      <a:headEnd type="none" w="med" len="med"/>
                      <a:tailEnd type="none" w="med" len="med"/>
                    </a:lnL>
                    <a:lnR w="6350" cap="flat" cmpd="sng" algn="ctr">
                      <a:solidFill>
                        <a:srgbClr val="26262F"/>
                      </a:solidFill>
                      <a:prstDash val="solid"/>
                      <a:round/>
                      <a:headEnd type="none" w="med" len="med"/>
                      <a:tailEnd type="none" w="med" len="med"/>
                    </a:lnR>
                    <a:lnT w="6350" cap="flat" cmpd="sng" algn="ctr">
                      <a:solidFill>
                        <a:srgbClr val="26262F"/>
                      </a:solidFill>
                      <a:prstDash val="solid"/>
                      <a:round/>
                      <a:headEnd type="none" w="med" len="med"/>
                      <a:tailEnd type="none" w="med" len="med"/>
                    </a:lnT>
                    <a:lnB w="6350" cap="flat" cmpd="sng" algn="ctr">
                      <a:solidFill>
                        <a:srgbClr val="26262F"/>
                      </a:solidFill>
                      <a:prstDash val="solid"/>
                      <a:round/>
                      <a:headEnd type="none" w="med" len="med"/>
                      <a:tailEnd type="none" w="med" len="med"/>
                    </a:lnB>
                    <a:solidFill>
                      <a:srgbClr val="0D1B2E"/>
                    </a:solidFill>
                  </a:tcPr>
                </a:tc>
              </a:tr>
              <a:tr h="301752">
                <a:tc>
                  <a:txBody>
                    <a:bodyPr/>
                    <a:lstStyle/>
                    <a:p>
                      <a:pPr algn="l" indent="0" marL="0">
                        <a:buNone/>
                      </a:pPr>
                      <a:r>
                        <a:rPr lang="en-US" sz="980" dirty="0">
                          <a:solidFill>
                            <a:srgbClr val="F5F2EA"/>
                          </a:solidFill>
                          <a:latin typeface="Segoe UI" pitchFamily="34" charset="0"/>
                          <a:ea typeface="Segoe UI" pitchFamily="34" charset="-122"/>
                          <a:cs typeface="Segoe UI" pitchFamily="34" charset="-120"/>
                        </a:rPr>
                        <a:t>Year Wrapped</a:t>
                      </a:r>
                      <a:endParaRPr lang="en-US" sz="980" dirty="0">
                        <a:latin typeface="Segoe UI" charset="0"/>
                        <a:ea typeface="Segoe UI" charset="0"/>
                        <a:cs typeface="Segoe UI" charset="0"/>
                      </a:endParaRPr>
                    </a:p>
                  </a:txBody>
                  <a:tcPr marL="36576" marR="36576" marT="36576" marB="36576" anchor="ctr">
                    <a:lnL w="6350" cap="flat" cmpd="sng" algn="ctr">
                      <a:solidFill>
                        <a:srgbClr val="26262F"/>
                      </a:solidFill>
                      <a:prstDash val="solid"/>
                      <a:round/>
                      <a:headEnd type="none" w="med" len="med"/>
                      <a:tailEnd type="none" w="med" len="med"/>
                    </a:lnL>
                    <a:lnR w="6350" cap="flat" cmpd="sng" algn="ctr">
                      <a:solidFill>
                        <a:srgbClr val="26262F"/>
                      </a:solidFill>
                      <a:prstDash val="solid"/>
                      <a:round/>
                      <a:headEnd type="none" w="med" len="med"/>
                      <a:tailEnd type="none" w="med" len="med"/>
                    </a:lnR>
                    <a:lnT w="6350" cap="flat" cmpd="sng" algn="ctr">
                      <a:solidFill>
                        <a:srgbClr val="26262F"/>
                      </a:solidFill>
                      <a:prstDash val="solid"/>
                      <a:round/>
                      <a:headEnd type="none" w="med" len="med"/>
                      <a:tailEnd type="none" w="med" len="med"/>
                    </a:lnT>
                    <a:lnB w="6350" cap="flat" cmpd="sng" algn="ctr">
                      <a:solidFill>
                        <a:srgbClr val="26262F"/>
                      </a:solidFill>
                      <a:prstDash val="solid"/>
                      <a:round/>
                      <a:headEnd type="none" w="med" len="med"/>
                      <a:tailEnd type="none" w="med" len="med"/>
                    </a:lnB>
                    <a:solidFill>
                      <a:srgbClr val="15151B"/>
                    </a:solidFill>
                  </a:tcPr>
                </a:tc>
                <a:tc>
                  <a:txBody>
                    <a:bodyPr/>
                    <a:lstStyle/>
                    <a:p>
                      <a:pPr algn="l" indent="0" marL="0">
                        <a:buNone/>
                      </a:pPr>
                      <a:r>
                        <a:rPr lang="en-US" sz="980" dirty="0">
                          <a:solidFill>
                            <a:srgbClr val="F5F2EA"/>
                          </a:solidFill>
                          <a:latin typeface="Segoe UI" pitchFamily="34" charset="0"/>
                          <a:ea typeface="Segoe UI" pitchFamily="34" charset="-122"/>
                          <a:cs typeface="Segoe UI" pitchFamily="34" charset="-120"/>
                        </a:rPr>
                        <a:t>Year-in-review stats page (sample data today)</a:t>
                      </a:r>
                      <a:endParaRPr lang="en-US" sz="980" dirty="0">
                        <a:latin typeface="Segoe UI" charset="0"/>
                        <a:ea typeface="Segoe UI" charset="0"/>
                        <a:cs typeface="Segoe UI" charset="0"/>
                      </a:endParaRPr>
                    </a:p>
                  </a:txBody>
                  <a:tcPr marL="36576" marR="36576" marT="36576" marB="36576" anchor="ctr">
                    <a:lnL w="6350" cap="flat" cmpd="sng" algn="ctr">
                      <a:solidFill>
                        <a:srgbClr val="26262F"/>
                      </a:solidFill>
                      <a:prstDash val="solid"/>
                      <a:round/>
                      <a:headEnd type="none" w="med" len="med"/>
                      <a:tailEnd type="none" w="med" len="med"/>
                    </a:lnL>
                    <a:lnR w="6350" cap="flat" cmpd="sng" algn="ctr">
                      <a:solidFill>
                        <a:srgbClr val="26262F"/>
                      </a:solidFill>
                      <a:prstDash val="solid"/>
                      <a:round/>
                      <a:headEnd type="none" w="med" len="med"/>
                      <a:tailEnd type="none" w="med" len="med"/>
                    </a:lnR>
                    <a:lnT w="6350" cap="flat" cmpd="sng" algn="ctr">
                      <a:solidFill>
                        <a:srgbClr val="26262F"/>
                      </a:solidFill>
                      <a:prstDash val="solid"/>
                      <a:round/>
                      <a:headEnd type="none" w="med" len="med"/>
                      <a:tailEnd type="none" w="med" len="med"/>
                    </a:lnT>
                    <a:lnB w="6350" cap="flat" cmpd="sng" algn="ctr">
                      <a:solidFill>
                        <a:srgbClr val="26262F"/>
                      </a:solidFill>
                      <a:prstDash val="solid"/>
                      <a:round/>
                      <a:headEnd type="none" w="med" len="med"/>
                      <a:tailEnd type="none" w="med" len="med"/>
                    </a:lnB>
                    <a:solidFill>
                      <a:srgbClr val="17171F"/>
                    </a:solidFill>
                  </a:tcPr>
                </a:tc>
                <a:tc>
                  <a:txBody>
                    <a:bodyPr/>
                    <a:lstStyle/>
                    <a:p>
                      <a:pPr indent="0" marL="0">
                        <a:buNone/>
                      </a:pPr>
                      <a:r>
                        <a:rPr lang="en-US" sz="950" b="1" dirty="0">
                          <a:solidFill>
                            <a:srgbClr val="7AA2FF"/>
                          </a:solidFill>
                          <a:latin typeface="Segoe UI" pitchFamily="34" charset="0"/>
                          <a:ea typeface="Segoe UI" pitchFamily="34" charset="-122"/>
                          <a:cs typeface="Segoe UI" pitchFamily="34" charset="-120"/>
                        </a:rPr>
                        <a:t>●  BETA</a:t>
                      </a:r>
                      <a:endParaRPr lang="en-US" sz="950" dirty="0">
                        <a:latin typeface="Segoe UI" charset="0"/>
                        <a:ea typeface="Segoe UI" charset="0"/>
                        <a:cs typeface="Segoe UI" charset="0"/>
                      </a:endParaRPr>
                    </a:p>
                  </a:txBody>
                  <a:tcPr marL="36576" marR="36576" marT="36576" marB="36576" anchor="ctr">
                    <a:lnL w="6350" cap="flat" cmpd="sng" algn="ctr">
                      <a:solidFill>
                        <a:srgbClr val="26262F"/>
                      </a:solidFill>
                      <a:prstDash val="solid"/>
                      <a:round/>
                      <a:headEnd type="none" w="med" len="med"/>
                      <a:tailEnd type="none" w="med" len="med"/>
                    </a:lnL>
                    <a:lnR w="6350" cap="flat" cmpd="sng" algn="ctr">
                      <a:solidFill>
                        <a:srgbClr val="26262F"/>
                      </a:solidFill>
                      <a:prstDash val="solid"/>
                      <a:round/>
                      <a:headEnd type="none" w="med" len="med"/>
                      <a:tailEnd type="none" w="med" len="med"/>
                    </a:lnR>
                    <a:lnT w="6350" cap="flat" cmpd="sng" algn="ctr">
                      <a:solidFill>
                        <a:srgbClr val="26262F"/>
                      </a:solidFill>
                      <a:prstDash val="solid"/>
                      <a:round/>
                      <a:headEnd type="none" w="med" len="med"/>
                      <a:tailEnd type="none" w="med" len="med"/>
                    </a:lnT>
                    <a:lnB w="6350" cap="flat" cmpd="sng" algn="ctr">
                      <a:solidFill>
                        <a:srgbClr val="26262F"/>
                      </a:solidFill>
                      <a:prstDash val="solid"/>
                      <a:round/>
                      <a:headEnd type="none" w="med" len="med"/>
                      <a:tailEnd type="none" w="med" len="med"/>
                    </a:lnB>
                    <a:solidFill>
                      <a:srgbClr val="0D1B2E"/>
                    </a:solidFill>
                  </a:tcPr>
                </a:tc>
              </a:tr>
              <a:tr h="301752">
                <a:tc>
                  <a:txBody>
                    <a:bodyPr/>
                    <a:lstStyle/>
                    <a:p>
                      <a:pPr algn="l" indent="0" marL="0">
                        <a:buNone/>
                      </a:pPr>
                      <a:r>
                        <a:rPr lang="en-US" sz="980" dirty="0">
                          <a:solidFill>
                            <a:srgbClr val="F5F2EA"/>
                          </a:solidFill>
                          <a:latin typeface="Segoe UI" pitchFamily="34" charset="0"/>
                          <a:ea typeface="Segoe UI" pitchFamily="34" charset="-122"/>
                          <a:cs typeface="Segoe UI" pitchFamily="34" charset="-120"/>
                        </a:rPr>
                        <a:t>Live PvP Multiplayer</a:t>
                      </a:r>
                      <a:endParaRPr lang="en-US" sz="980" dirty="0">
                        <a:latin typeface="Segoe UI" charset="0"/>
                        <a:ea typeface="Segoe UI" charset="0"/>
                        <a:cs typeface="Segoe UI" charset="0"/>
                      </a:endParaRPr>
                    </a:p>
                  </a:txBody>
                  <a:tcPr marL="36576" marR="36576" marT="36576" marB="36576" anchor="ctr">
                    <a:lnL w="6350" cap="flat" cmpd="sng" algn="ctr">
                      <a:solidFill>
                        <a:srgbClr val="26262F"/>
                      </a:solidFill>
                      <a:prstDash val="solid"/>
                      <a:round/>
                      <a:headEnd type="none" w="med" len="med"/>
                      <a:tailEnd type="none" w="med" len="med"/>
                    </a:lnL>
                    <a:lnR w="6350" cap="flat" cmpd="sng" algn="ctr">
                      <a:solidFill>
                        <a:srgbClr val="26262F"/>
                      </a:solidFill>
                      <a:prstDash val="solid"/>
                      <a:round/>
                      <a:headEnd type="none" w="med" len="med"/>
                      <a:tailEnd type="none" w="med" len="med"/>
                    </a:lnR>
                    <a:lnT w="6350" cap="flat" cmpd="sng" algn="ctr">
                      <a:solidFill>
                        <a:srgbClr val="26262F"/>
                      </a:solidFill>
                      <a:prstDash val="solid"/>
                      <a:round/>
                      <a:headEnd type="none" w="med" len="med"/>
                      <a:tailEnd type="none" w="med" len="med"/>
                    </a:lnT>
                    <a:lnB w="6350" cap="flat" cmpd="sng" algn="ctr">
                      <a:solidFill>
                        <a:srgbClr val="26262F"/>
                      </a:solidFill>
                      <a:prstDash val="solid"/>
                      <a:round/>
                      <a:headEnd type="none" w="med" len="med"/>
                      <a:tailEnd type="none" w="med" len="med"/>
                    </a:lnB>
                    <a:solidFill>
                      <a:srgbClr val="15151B"/>
                    </a:solidFill>
                  </a:tcPr>
                </a:tc>
                <a:tc>
                  <a:txBody>
                    <a:bodyPr/>
                    <a:lstStyle/>
                    <a:p>
                      <a:pPr algn="l" indent="0" marL="0">
                        <a:buNone/>
                      </a:pPr>
                      <a:r>
                        <a:rPr lang="en-US" sz="980" dirty="0">
                          <a:solidFill>
                            <a:srgbClr val="F5F2EA"/>
                          </a:solidFill>
                          <a:latin typeface="Segoe UI" pitchFamily="34" charset="0"/>
                          <a:ea typeface="Segoe UI" pitchFamily="34" charset="-122"/>
                          <a:cs typeface="Segoe UI" pitchFamily="34" charset="-120"/>
                        </a:rPr>
                        <a:t>Internet matchmaking — only local two-player play exists today</a:t>
                      </a:r>
                      <a:endParaRPr lang="en-US" sz="980" dirty="0">
                        <a:latin typeface="Segoe UI" charset="0"/>
                        <a:ea typeface="Segoe UI" charset="0"/>
                        <a:cs typeface="Segoe UI" charset="0"/>
                      </a:endParaRPr>
                    </a:p>
                  </a:txBody>
                  <a:tcPr marL="36576" marR="36576" marT="36576" marB="36576" anchor="ctr">
                    <a:lnL w="6350" cap="flat" cmpd="sng" algn="ctr">
                      <a:solidFill>
                        <a:srgbClr val="26262F"/>
                      </a:solidFill>
                      <a:prstDash val="solid"/>
                      <a:round/>
                      <a:headEnd type="none" w="med" len="med"/>
                      <a:tailEnd type="none" w="med" len="med"/>
                    </a:lnL>
                    <a:lnR w="6350" cap="flat" cmpd="sng" algn="ctr">
                      <a:solidFill>
                        <a:srgbClr val="26262F"/>
                      </a:solidFill>
                      <a:prstDash val="solid"/>
                      <a:round/>
                      <a:headEnd type="none" w="med" len="med"/>
                      <a:tailEnd type="none" w="med" len="med"/>
                    </a:lnR>
                    <a:lnT w="6350" cap="flat" cmpd="sng" algn="ctr">
                      <a:solidFill>
                        <a:srgbClr val="26262F"/>
                      </a:solidFill>
                      <a:prstDash val="solid"/>
                      <a:round/>
                      <a:headEnd type="none" w="med" len="med"/>
                      <a:tailEnd type="none" w="med" len="med"/>
                    </a:lnT>
                    <a:lnB w="6350" cap="flat" cmpd="sng" algn="ctr">
                      <a:solidFill>
                        <a:srgbClr val="26262F"/>
                      </a:solidFill>
                      <a:prstDash val="solid"/>
                      <a:round/>
                      <a:headEnd type="none" w="med" len="med"/>
                      <a:tailEnd type="none" w="med" len="med"/>
                    </a:lnB>
                    <a:solidFill>
                      <a:srgbClr val="17171F"/>
                    </a:solidFill>
                  </a:tcPr>
                </a:tc>
                <a:tc>
                  <a:txBody>
                    <a:bodyPr/>
                    <a:lstStyle/>
                    <a:p>
                      <a:pPr indent="0" marL="0">
                        <a:buNone/>
                      </a:pPr>
                      <a:r>
                        <a:rPr lang="en-US" sz="950" b="1" dirty="0">
                          <a:solidFill>
                            <a:srgbClr val="FF6B6B"/>
                          </a:solidFill>
                          <a:latin typeface="Segoe UI" pitchFamily="34" charset="0"/>
                          <a:ea typeface="Segoe UI" pitchFamily="34" charset="-122"/>
                          <a:cs typeface="Segoe UI" pitchFamily="34" charset="-120"/>
                        </a:rPr>
                        <a:t>●  PLANNED</a:t>
                      </a:r>
                      <a:endParaRPr lang="en-US" sz="950" dirty="0">
                        <a:latin typeface="Segoe UI" charset="0"/>
                        <a:ea typeface="Segoe UI" charset="0"/>
                        <a:cs typeface="Segoe UI" charset="0"/>
                      </a:endParaRPr>
                    </a:p>
                  </a:txBody>
                  <a:tcPr marL="36576" marR="36576" marT="36576" marB="36576" anchor="ctr">
                    <a:lnL w="6350" cap="flat" cmpd="sng" algn="ctr">
                      <a:solidFill>
                        <a:srgbClr val="26262F"/>
                      </a:solidFill>
                      <a:prstDash val="solid"/>
                      <a:round/>
                      <a:headEnd type="none" w="med" len="med"/>
                      <a:tailEnd type="none" w="med" len="med"/>
                    </a:lnL>
                    <a:lnR w="6350" cap="flat" cmpd="sng" algn="ctr">
                      <a:solidFill>
                        <a:srgbClr val="26262F"/>
                      </a:solidFill>
                      <a:prstDash val="solid"/>
                      <a:round/>
                      <a:headEnd type="none" w="med" len="med"/>
                      <a:tailEnd type="none" w="med" len="med"/>
                    </a:lnR>
                    <a:lnT w="6350" cap="flat" cmpd="sng" algn="ctr">
                      <a:solidFill>
                        <a:srgbClr val="26262F"/>
                      </a:solidFill>
                      <a:prstDash val="solid"/>
                      <a:round/>
                      <a:headEnd type="none" w="med" len="med"/>
                      <a:tailEnd type="none" w="med" len="med"/>
                    </a:lnT>
                    <a:lnB w="6350" cap="flat" cmpd="sng" algn="ctr">
                      <a:solidFill>
                        <a:srgbClr val="26262F"/>
                      </a:solidFill>
                      <a:prstDash val="solid"/>
                      <a:round/>
                      <a:headEnd type="none" w="med" len="med"/>
                      <a:tailEnd type="none" w="med" len="med"/>
                    </a:lnB>
                    <a:solidFill>
                      <a:srgbClr val="2E1010"/>
                    </a:solidFill>
                  </a:tcPr>
                </a:tc>
              </a:tr>
              <a:tr h="301752">
                <a:tc>
                  <a:txBody>
                    <a:bodyPr/>
                    <a:lstStyle/>
                    <a:p>
                      <a:pPr algn="l" indent="0" marL="0">
                        <a:buNone/>
                      </a:pPr>
                      <a:r>
                        <a:rPr lang="en-US" sz="980" dirty="0">
                          <a:solidFill>
                            <a:srgbClr val="F5F2EA"/>
                          </a:solidFill>
                          <a:latin typeface="Segoe UI" pitchFamily="34" charset="0"/>
                          <a:ea typeface="Segoe UI" pitchFamily="34" charset="-122"/>
                          <a:cs typeface="Segoe UI" pitchFamily="34" charset="-120"/>
                        </a:rPr>
                        <a:t>SuperCoach / Voice Coach</a:t>
                      </a:r>
                      <a:endParaRPr lang="en-US" sz="980" dirty="0">
                        <a:latin typeface="Segoe UI" charset="0"/>
                        <a:ea typeface="Segoe UI" charset="0"/>
                        <a:cs typeface="Segoe UI" charset="0"/>
                      </a:endParaRPr>
                    </a:p>
                  </a:txBody>
                  <a:tcPr marL="36576" marR="36576" marT="36576" marB="36576" anchor="ctr">
                    <a:lnL w="6350" cap="flat" cmpd="sng" algn="ctr">
                      <a:solidFill>
                        <a:srgbClr val="26262F"/>
                      </a:solidFill>
                      <a:prstDash val="solid"/>
                      <a:round/>
                      <a:headEnd type="none" w="med" len="med"/>
                      <a:tailEnd type="none" w="med" len="med"/>
                    </a:lnL>
                    <a:lnR w="6350" cap="flat" cmpd="sng" algn="ctr">
                      <a:solidFill>
                        <a:srgbClr val="26262F"/>
                      </a:solidFill>
                      <a:prstDash val="solid"/>
                      <a:round/>
                      <a:headEnd type="none" w="med" len="med"/>
                      <a:tailEnd type="none" w="med" len="med"/>
                    </a:lnR>
                    <a:lnT w="6350" cap="flat" cmpd="sng" algn="ctr">
                      <a:solidFill>
                        <a:srgbClr val="26262F"/>
                      </a:solidFill>
                      <a:prstDash val="solid"/>
                      <a:round/>
                      <a:headEnd type="none" w="med" len="med"/>
                      <a:tailEnd type="none" w="med" len="med"/>
                    </a:lnT>
                    <a:lnB w="6350" cap="flat" cmpd="sng" algn="ctr">
                      <a:solidFill>
                        <a:srgbClr val="26262F"/>
                      </a:solidFill>
                      <a:prstDash val="solid"/>
                      <a:round/>
                      <a:headEnd type="none" w="med" len="med"/>
                      <a:tailEnd type="none" w="med" len="med"/>
                    </a:lnB>
                    <a:solidFill>
                      <a:srgbClr val="15151B"/>
                    </a:solidFill>
                  </a:tcPr>
                </a:tc>
                <a:tc>
                  <a:txBody>
                    <a:bodyPr/>
                    <a:lstStyle/>
                    <a:p>
                      <a:pPr algn="l" indent="0" marL="0">
                        <a:buNone/>
                      </a:pPr>
                      <a:r>
                        <a:rPr lang="en-US" sz="980" dirty="0">
                          <a:solidFill>
                            <a:srgbClr val="F5F2EA"/>
                          </a:solidFill>
                          <a:latin typeface="Segoe UI" pitchFamily="34" charset="0"/>
                          <a:ea typeface="Segoe UI" pitchFamily="34" charset="-122"/>
                          <a:cs typeface="Segoe UI" pitchFamily="34" charset="-120"/>
                        </a:rPr>
                        <a:t>Next-gen AI coaching suite</a:t>
                      </a:r>
                      <a:endParaRPr lang="en-US" sz="980" dirty="0">
                        <a:latin typeface="Segoe UI" charset="0"/>
                        <a:ea typeface="Segoe UI" charset="0"/>
                        <a:cs typeface="Segoe UI" charset="0"/>
                      </a:endParaRPr>
                    </a:p>
                  </a:txBody>
                  <a:tcPr marL="36576" marR="36576" marT="36576" marB="36576" anchor="ctr">
                    <a:lnL w="6350" cap="flat" cmpd="sng" algn="ctr">
                      <a:solidFill>
                        <a:srgbClr val="26262F"/>
                      </a:solidFill>
                      <a:prstDash val="solid"/>
                      <a:round/>
                      <a:headEnd type="none" w="med" len="med"/>
                      <a:tailEnd type="none" w="med" len="med"/>
                    </a:lnL>
                    <a:lnR w="6350" cap="flat" cmpd="sng" algn="ctr">
                      <a:solidFill>
                        <a:srgbClr val="26262F"/>
                      </a:solidFill>
                      <a:prstDash val="solid"/>
                      <a:round/>
                      <a:headEnd type="none" w="med" len="med"/>
                      <a:tailEnd type="none" w="med" len="med"/>
                    </a:lnR>
                    <a:lnT w="6350" cap="flat" cmpd="sng" algn="ctr">
                      <a:solidFill>
                        <a:srgbClr val="26262F"/>
                      </a:solidFill>
                      <a:prstDash val="solid"/>
                      <a:round/>
                      <a:headEnd type="none" w="med" len="med"/>
                      <a:tailEnd type="none" w="med" len="med"/>
                    </a:lnT>
                    <a:lnB w="6350" cap="flat" cmpd="sng" algn="ctr">
                      <a:solidFill>
                        <a:srgbClr val="26262F"/>
                      </a:solidFill>
                      <a:prstDash val="solid"/>
                      <a:round/>
                      <a:headEnd type="none" w="med" len="med"/>
                      <a:tailEnd type="none" w="med" len="med"/>
                    </a:lnB>
                    <a:solidFill>
                      <a:srgbClr val="17171F"/>
                    </a:solidFill>
                  </a:tcPr>
                </a:tc>
                <a:tc>
                  <a:txBody>
                    <a:bodyPr/>
                    <a:lstStyle/>
                    <a:p>
                      <a:pPr indent="0" marL="0">
                        <a:buNone/>
                      </a:pPr>
                      <a:r>
                        <a:rPr lang="en-US" sz="950" b="1" dirty="0">
                          <a:solidFill>
                            <a:srgbClr val="FF6B6B"/>
                          </a:solidFill>
                          <a:latin typeface="Segoe UI" pitchFamily="34" charset="0"/>
                          <a:ea typeface="Segoe UI" pitchFamily="34" charset="-122"/>
                          <a:cs typeface="Segoe UI" pitchFamily="34" charset="-120"/>
                        </a:rPr>
                        <a:t>●  PLANNED</a:t>
                      </a:r>
                      <a:endParaRPr lang="en-US" sz="950" dirty="0">
                        <a:latin typeface="Segoe UI" charset="0"/>
                        <a:ea typeface="Segoe UI" charset="0"/>
                        <a:cs typeface="Segoe UI" charset="0"/>
                      </a:endParaRPr>
                    </a:p>
                  </a:txBody>
                  <a:tcPr marL="36576" marR="36576" marT="36576" marB="36576" anchor="ctr">
                    <a:lnL w="6350" cap="flat" cmpd="sng" algn="ctr">
                      <a:solidFill>
                        <a:srgbClr val="26262F"/>
                      </a:solidFill>
                      <a:prstDash val="solid"/>
                      <a:round/>
                      <a:headEnd type="none" w="med" len="med"/>
                      <a:tailEnd type="none" w="med" len="med"/>
                    </a:lnL>
                    <a:lnR w="6350" cap="flat" cmpd="sng" algn="ctr">
                      <a:solidFill>
                        <a:srgbClr val="26262F"/>
                      </a:solidFill>
                      <a:prstDash val="solid"/>
                      <a:round/>
                      <a:headEnd type="none" w="med" len="med"/>
                      <a:tailEnd type="none" w="med" len="med"/>
                    </a:lnR>
                    <a:lnT w="6350" cap="flat" cmpd="sng" algn="ctr">
                      <a:solidFill>
                        <a:srgbClr val="26262F"/>
                      </a:solidFill>
                      <a:prstDash val="solid"/>
                      <a:round/>
                      <a:headEnd type="none" w="med" len="med"/>
                      <a:tailEnd type="none" w="med" len="med"/>
                    </a:lnT>
                    <a:lnB w="6350" cap="flat" cmpd="sng" algn="ctr">
                      <a:solidFill>
                        <a:srgbClr val="26262F"/>
                      </a:solidFill>
                      <a:prstDash val="solid"/>
                      <a:round/>
                      <a:headEnd type="none" w="med" len="med"/>
                      <a:tailEnd type="none" w="med" len="med"/>
                    </a:lnB>
                    <a:solidFill>
                      <a:srgbClr val="2E1010"/>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0B0F"/>
        </a:solidFill>
      </p:bgPr>
    </p:bg>
    <p:spTree>
      <p:nvGrpSpPr>
        <p:cNvPr id="1" name=""/>
        <p:cNvGrpSpPr/>
        <p:nvPr/>
      </p:nvGrpSpPr>
      <p:grpSpPr>
        <a:xfrm>
          <a:off x="0" y="0"/>
          <a:ext cx="0" cy="0"/>
          <a:chOff x="0" y="0"/>
          <a:chExt cx="0" cy="0"/>
        </a:xfrm>
      </p:grpSpPr>
      <p:sp>
        <p:nvSpPr>
          <p:cNvPr id="2" name="Shape 0"/>
          <p:cNvSpPr/>
          <p:nvPr/>
        </p:nvSpPr>
        <p:spPr>
          <a:xfrm>
            <a:off x="10716768" y="292608"/>
            <a:ext cx="155448" cy="155448"/>
          </a:xfrm>
          <a:prstGeom prst="rect">
            <a:avLst/>
          </a:prstGeom>
          <a:solidFill>
            <a:srgbClr val="14141A"/>
          </a:solidFill>
          <a:ln/>
        </p:spPr>
      </p:sp>
      <p:sp>
        <p:nvSpPr>
          <p:cNvPr id="3" name="Shape 1"/>
          <p:cNvSpPr/>
          <p:nvPr/>
        </p:nvSpPr>
        <p:spPr>
          <a:xfrm>
            <a:off x="11027664" y="292608"/>
            <a:ext cx="155448" cy="155448"/>
          </a:xfrm>
          <a:prstGeom prst="rect">
            <a:avLst/>
          </a:prstGeom>
          <a:solidFill>
            <a:srgbClr val="14141A"/>
          </a:solidFill>
          <a:ln/>
        </p:spPr>
      </p:sp>
      <p:sp>
        <p:nvSpPr>
          <p:cNvPr id="4" name="Shape 2"/>
          <p:cNvSpPr/>
          <p:nvPr/>
        </p:nvSpPr>
        <p:spPr>
          <a:xfrm>
            <a:off x="10561320" y="448056"/>
            <a:ext cx="155448" cy="155448"/>
          </a:xfrm>
          <a:prstGeom prst="rect">
            <a:avLst/>
          </a:prstGeom>
          <a:solidFill>
            <a:srgbClr val="14141A"/>
          </a:solidFill>
          <a:ln/>
        </p:spPr>
      </p:sp>
      <p:sp>
        <p:nvSpPr>
          <p:cNvPr id="5" name="Shape 3"/>
          <p:cNvSpPr/>
          <p:nvPr/>
        </p:nvSpPr>
        <p:spPr>
          <a:xfrm>
            <a:off x="10872216" y="448056"/>
            <a:ext cx="155448" cy="155448"/>
          </a:xfrm>
          <a:prstGeom prst="rect">
            <a:avLst/>
          </a:prstGeom>
          <a:solidFill>
            <a:srgbClr val="14141A"/>
          </a:solidFill>
          <a:ln/>
        </p:spPr>
      </p:sp>
      <p:sp>
        <p:nvSpPr>
          <p:cNvPr id="6" name="Shape 4"/>
          <p:cNvSpPr/>
          <p:nvPr/>
        </p:nvSpPr>
        <p:spPr>
          <a:xfrm>
            <a:off x="11183112" y="448056"/>
            <a:ext cx="155448" cy="155448"/>
          </a:xfrm>
          <a:prstGeom prst="rect">
            <a:avLst/>
          </a:prstGeom>
          <a:solidFill>
            <a:srgbClr val="14141A"/>
          </a:solidFill>
          <a:ln/>
        </p:spPr>
      </p:sp>
      <p:sp>
        <p:nvSpPr>
          <p:cNvPr id="7" name="Shape 5"/>
          <p:cNvSpPr/>
          <p:nvPr/>
        </p:nvSpPr>
        <p:spPr>
          <a:xfrm>
            <a:off x="10716768" y="603504"/>
            <a:ext cx="155448" cy="155448"/>
          </a:xfrm>
          <a:prstGeom prst="rect">
            <a:avLst/>
          </a:prstGeom>
          <a:solidFill>
            <a:srgbClr val="14141A"/>
          </a:solidFill>
          <a:ln/>
        </p:spPr>
      </p:sp>
      <p:sp>
        <p:nvSpPr>
          <p:cNvPr id="8" name="Shape 6"/>
          <p:cNvSpPr/>
          <p:nvPr/>
        </p:nvSpPr>
        <p:spPr>
          <a:xfrm>
            <a:off x="11027664" y="603504"/>
            <a:ext cx="155448" cy="155448"/>
          </a:xfrm>
          <a:prstGeom prst="rect">
            <a:avLst/>
          </a:prstGeom>
          <a:solidFill>
            <a:srgbClr val="14141A"/>
          </a:solidFill>
          <a:ln/>
        </p:spPr>
      </p:sp>
      <p:sp>
        <p:nvSpPr>
          <p:cNvPr id="9" name="Shape 7"/>
          <p:cNvSpPr/>
          <p:nvPr/>
        </p:nvSpPr>
        <p:spPr>
          <a:xfrm>
            <a:off x="10561320" y="758952"/>
            <a:ext cx="155448" cy="155448"/>
          </a:xfrm>
          <a:prstGeom prst="rect">
            <a:avLst/>
          </a:prstGeom>
          <a:solidFill>
            <a:srgbClr val="14141A"/>
          </a:solidFill>
          <a:ln/>
        </p:spPr>
      </p:sp>
      <p:sp>
        <p:nvSpPr>
          <p:cNvPr id="10" name="Shape 8"/>
          <p:cNvSpPr/>
          <p:nvPr/>
        </p:nvSpPr>
        <p:spPr>
          <a:xfrm>
            <a:off x="10872216" y="758952"/>
            <a:ext cx="155448" cy="155448"/>
          </a:xfrm>
          <a:prstGeom prst="rect">
            <a:avLst/>
          </a:prstGeom>
          <a:solidFill>
            <a:srgbClr val="14141A"/>
          </a:solidFill>
          <a:ln/>
        </p:spPr>
      </p:sp>
      <p:sp>
        <p:nvSpPr>
          <p:cNvPr id="11" name="Shape 9"/>
          <p:cNvSpPr/>
          <p:nvPr/>
        </p:nvSpPr>
        <p:spPr>
          <a:xfrm>
            <a:off x="11183112" y="758952"/>
            <a:ext cx="155448" cy="155448"/>
          </a:xfrm>
          <a:prstGeom prst="rect">
            <a:avLst/>
          </a:prstGeom>
          <a:solidFill>
            <a:srgbClr val="14141A"/>
          </a:solidFill>
          <a:ln/>
        </p:spPr>
      </p:sp>
      <p:sp>
        <p:nvSpPr>
          <p:cNvPr id="12" name="Shape 10"/>
          <p:cNvSpPr/>
          <p:nvPr/>
        </p:nvSpPr>
        <p:spPr>
          <a:xfrm>
            <a:off x="10716768" y="914400"/>
            <a:ext cx="155448" cy="155448"/>
          </a:xfrm>
          <a:prstGeom prst="rect">
            <a:avLst/>
          </a:prstGeom>
          <a:solidFill>
            <a:srgbClr val="14141A"/>
          </a:solidFill>
          <a:ln/>
        </p:spPr>
      </p:sp>
      <p:sp>
        <p:nvSpPr>
          <p:cNvPr id="13" name="Shape 11"/>
          <p:cNvSpPr/>
          <p:nvPr/>
        </p:nvSpPr>
        <p:spPr>
          <a:xfrm>
            <a:off x="11027664" y="914400"/>
            <a:ext cx="155448" cy="155448"/>
          </a:xfrm>
          <a:prstGeom prst="rect">
            <a:avLst/>
          </a:prstGeom>
          <a:solidFill>
            <a:srgbClr val="14141A"/>
          </a:solidFill>
          <a:ln/>
        </p:spPr>
      </p:sp>
      <p:sp>
        <p:nvSpPr>
          <p:cNvPr id="14" name="Shape 12"/>
          <p:cNvSpPr/>
          <p:nvPr/>
        </p:nvSpPr>
        <p:spPr>
          <a:xfrm>
            <a:off x="9859975" y="310896"/>
            <a:ext cx="1783080" cy="292608"/>
          </a:xfrm>
          <a:prstGeom prst="roundRect">
            <a:avLst>
              <a:gd name="adj" fmla="val 50000"/>
            </a:avLst>
          </a:prstGeom>
          <a:solidFill>
            <a:srgbClr val="2A2412"/>
          </a:solidFill>
          <a:ln w="9525">
            <a:solidFill>
              <a:srgbClr val="4A3D18"/>
            </a:solidFill>
            <a:prstDash val="solid"/>
          </a:ln>
        </p:spPr>
      </p:sp>
      <p:sp>
        <p:nvSpPr>
          <p:cNvPr id="15" name="Text 13"/>
          <p:cNvSpPr/>
          <p:nvPr/>
        </p:nvSpPr>
        <p:spPr>
          <a:xfrm>
            <a:off x="9859975" y="301752"/>
            <a:ext cx="1783080" cy="310896"/>
          </a:xfrm>
          <a:prstGeom prst="rect">
            <a:avLst/>
          </a:prstGeom>
          <a:noFill/>
          <a:ln/>
        </p:spPr>
        <p:txBody>
          <a:bodyPr wrap="square" lIns="0" tIns="0" rIns="0" bIns="0" rtlCol="0" anchor="ctr"/>
          <a:lstStyle/>
          <a:p>
            <a:pPr algn="ctr" indent="0" marL="0">
              <a:buNone/>
            </a:pPr>
            <a:r>
              <a:rPr lang="en-US" sz="800" b="1" spc="120" kern="0" dirty="0">
                <a:solidFill>
                  <a:srgbClr val="FFC62A"/>
                </a:solidFill>
                <a:latin typeface="Bahnschrift" pitchFamily="34" charset="0"/>
                <a:ea typeface="Bahnschrift" pitchFamily="34" charset="-122"/>
                <a:cs typeface="Bahnschrift" pitchFamily="34" charset="-120"/>
              </a:rPr>
              <a:t>VERIFIED · FROM SOURCE CODE</a:t>
            </a:r>
            <a:endParaRPr lang="en-US" sz="800" dirty="0"/>
          </a:p>
        </p:txBody>
      </p:sp>
      <p:sp>
        <p:nvSpPr>
          <p:cNvPr id="16" name="Text 14"/>
          <p:cNvSpPr/>
          <p:nvPr/>
        </p:nvSpPr>
        <p:spPr>
          <a:xfrm>
            <a:off x="566928" y="384048"/>
            <a:ext cx="8229600" cy="274320"/>
          </a:xfrm>
          <a:prstGeom prst="rect">
            <a:avLst/>
          </a:prstGeom>
          <a:noFill/>
          <a:ln/>
        </p:spPr>
        <p:txBody>
          <a:bodyPr wrap="square" lIns="0" tIns="0" rIns="0" bIns="0" rtlCol="0" anchor="ctr"/>
          <a:lstStyle/>
          <a:p>
            <a:pPr indent="0" marL="0">
              <a:buNone/>
            </a:pPr>
            <a:r>
              <a:rPr lang="en-US" sz="1100" b="1" spc="300" kern="0" dirty="0">
                <a:solidFill>
                  <a:srgbClr val="FFC62A"/>
                </a:solidFill>
                <a:latin typeface="Bahnschrift" pitchFamily="34" charset="0"/>
                <a:ea typeface="Bahnschrift" pitchFamily="34" charset="-122"/>
                <a:cs typeface="Bahnschrift" pitchFamily="34" charset="-120"/>
              </a:rPr>
              <a:t>12 · END-TO-END FLOW</a:t>
            </a:r>
            <a:endParaRPr lang="en-US" sz="1100" dirty="0"/>
          </a:p>
        </p:txBody>
      </p:sp>
      <p:sp>
        <p:nvSpPr>
          <p:cNvPr id="17" name="Shape 15"/>
          <p:cNvSpPr/>
          <p:nvPr/>
        </p:nvSpPr>
        <p:spPr>
          <a:xfrm>
            <a:off x="566928" y="713232"/>
            <a:ext cx="384048" cy="45720"/>
          </a:xfrm>
          <a:prstGeom prst="rect">
            <a:avLst/>
          </a:prstGeom>
          <a:solidFill>
            <a:srgbClr val="FFC62A"/>
          </a:solidFill>
          <a:ln/>
        </p:spPr>
      </p:sp>
      <p:sp>
        <p:nvSpPr>
          <p:cNvPr id="18" name="Text 16"/>
          <p:cNvSpPr/>
          <p:nvPr/>
        </p:nvSpPr>
        <p:spPr>
          <a:xfrm>
            <a:off x="548640" y="841248"/>
            <a:ext cx="11064240" cy="566928"/>
          </a:xfrm>
          <a:prstGeom prst="rect">
            <a:avLst/>
          </a:prstGeom>
          <a:noFill/>
          <a:ln/>
        </p:spPr>
        <p:txBody>
          <a:bodyPr wrap="square" lIns="0" tIns="0" rIns="0" bIns="0" rtlCol="0" anchor="ctr"/>
          <a:lstStyle/>
          <a:p>
            <a:pPr indent="0" marL="0">
              <a:buNone/>
            </a:pPr>
            <a:r>
              <a:rPr lang="en-US" sz="2700" b="1" dirty="0">
                <a:solidFill>
                  <a:srgbClr val="F5F2EA"/>
                </a:solidFill>
                <a:latin typeface="Bahnschrift" pitchFamily="34" charset="0"/>
                <a:ea typeface="Bahnschrift" pitchFamily="34" charset="-122"/>
                <a:cs typeface="Bahnschrift" pitchFamily="34" charset="-120"/>
              </a:rPr>
              <a:t>Workflow — from import to training plan</a:t>
            </a:r>
            <a:endParaRPr lang="en-US" sz="2700" dirty="0"/>
          </a:p>
        </p:txBody>
      </p:sp>
      <p:sp>
        <p:nvSpPr>
          <p:cNvPr id="19" name="Text 17"/>
          <p:cNvSpPr/>
          <p:nvPr/>
        </p:nvSpPr>
        <p:spPr>
          <a:xfrm>
            <a:off x="566928" y="1389888"/>
            <a:ext cx="11064240" cy="274320"/>
          </a:xfrm>
          <a:prstGeom prst="rect">
            <a:avLst/>
          </a:prstGeom>
          <a:noFill/>
          <a:ln/>
        </p:spPr>
        <p:txBody>
          <a:bodyPr wrap="square" lIns="0" tIns="0" rIns="0" bIns="0" rtlCol="0" anchor="ctr"/>
          <a:lstStyle/>
          <a:p>
            <a:pPr indent="0" marL="0">
              <a:buNone/>
            </a:pPr>
            <a:r>
              <a:rPr lang="en-US" sz="1250" dirty="0">
                <a:solidFill>
                  <a:srgbClr val="9A97A6"/>
                </a:solidFill>
                <a:latin typeface="Segoe UI" pitchFamily="34" charset="0"/>
                <a:ea typeface="Segoe UI" pitchFamily="34" charset="-122"/>
                <a:cs typeface="Segoe UI" pitchFamily="34" charset="-120"/>
              </a:rPr>
              <a:t>A single vertical pipeline; every step implemented.</a:t>
            </a:r>
            <a:endParaRPr lang="en-US" sz="1250" dirty="0"/>
          </a:p>
        </p:txBody>
      </p:sp>
      <p:sp>
        <p:nvSpPr>
          <p:cNvPr id="20" name="Text 18"/>
          <p:cNvSpPr/>
          <p:nvPr/>
        </p:nvSpPr>
        <p:spPr>
          <a:xfrm>
            <a:off x="566928" y="6492240"/>
            <a:ext cx="2743200" cy="256032"/>
          </a:xfrm>
          <a:prstGeom prst="rect">
            <a:avLst/>
          </a:prstGeom>
          <a:noFill/>
          <a:ln/>
        </p:spPr>
        <p:txBody>
          <a:bodyPr wrap="square" lIns="0" tIns="0" rIns="0" bIns="0" rtlCol="0" anchor="ctr"/>
          <a:lstStyle/>
          <a:p>
            <a:pPr indent="0" marL="0">
              <a:buNone/>
            </a:pPr>
            <a:r>
              <a:rPr lang="en-US" sz="850" b="1" spc="300" kern="0" dirty="0">
                <a:solidFill>
                  <a:srgbClr val="5C5966"/>
                </a:solidFill>
                <a:latin typeface="Bahnschrift" pitchFamily="34" charset="0"/>
                <a:ea typeface="Bahnschrift" pitchFamily="34" charset="-122"/>
                <a:cs typeface="Bahnschrift" pitchFamily="34" charset="-120"/>
              </a:rPr>
              <a:t>CHESSFORK</a:t>
            </a:r>
            <a:endParaRPr lang="en-US" sz="850" dirty="0"/>
          </a:p>
        </p:txBody>
      </p:sp>
      <p:sp>
        <p:nvSpPr>
          <p:cNvPr id="21" name="Text 19"/>
          <p:cNvSpPr/>
          <p:nvPr/>
        </p:nvSpPr>
        <p:spPr>
          <a:xfrm>
            <a:off x="3840480" y="6492240"/>
            <a:ext cx="4572000" cy="256032"/>
          </a:xfrm>
          <a:prstGeom prst="rect">
            <a:avLst/>
          </a:prstGeom>
          <a:noFill/>
          <a:ln/>
        </p:spPr>
        <p:txBody>
          <a:bodyPr wrap="square" lIns="0" tIns="0" rIns="0" bIns="0" rtlCol="0" anchor="ctr"/>
          <a:lstStyle/>
          <a:p>
            <a:pPr indent="0" marL="0">
              <a:buNone/>
            </a:pPr>
            <a:r>
              <a:rPr lang="en-US" sz="800" spc="150" kern="0" dirty="0">
                <a:solidFill>
                  <a:srgbClr val="5C5966"/>
                </a:solidFill>
                <a:latin typeface="Segoe UI" pitchFamily="34" charset="0"/>
                <a:ea typeface="Segoe UI" pitchFamily="34" charset="-122"/>
                <a:cs typeface="Segoe UI" pitchFamily="34" charset="-120"/>
              </a:rPr>
              <a:t>BCA FINAL YEAR PROJECT · 2026</a:t>
            </a:r>
            <a:endParaRPr lang="en-US" sz="800" dirty="0"/>
          </a:p>
        </p:txBody>
      </p:sp>
      <p:sp>
        <p:nvSpPr>
          <p:cNvPr id="22" name="Text 20"/>
          <p:cNvSpPr/>
          <p:nvPr/>
        </p:nvSpPr>
        <p:spPr>
          <a:xfrm>
            <a:off x="11292840" y="6473952"/>
            <a:ext cx="365760" cy="274320"/>
          </a:xfrm>
          <a:prstGeom prst="rect">
            <a:avLst/>
          </a:prstGeom>
          <a:noFill/>
          <a:ln/>
        </p:spPr>
        <p:txBody>
          <a:bodyPr wrap="square" lIns="0" tIns="0" rIns="0" bIns="0" rtlCol="0" anchor="ctr"/>
          <a:lstStyle/>
          <a:p>
            <a:pPr algn="r" indent="0" marL="0">
              <a:buNone/>
            </a:pPr>
            <a:r>
              <a:rPr lang="en-US" sz="900" b="1" dirty="0">
                <a:solidFill>
                  <a:srgbClr val="5C5966"/>
                </a:solidFill>
                <a:latin typeface="Bahnschrift" pitchFamily="34" charset="0"/>
                <a:ea typeface="Bahnschrift" pitchFamily="34" charset="-122"/>
                <a:cs typeface="Bahnschrift" pitchFamily="34" charset="-120"/>
              </a:rPr>
              <a:t>13</a:t>
            </a:r>
            <a:endParaRPr lang="en-US" sz="900" dirty="0"/>
          </a:p>
        </p:txBody>
      </p:sp>
      <p:sp>
        <p:nvSpPr>
          <p:cNvPr id="23" name="Shape 21"/>
          <p:cNvSpPr/>
          <p:nvPr/>
        </p:nvSpPr>
        <p:spPr>
          <a:xfrm>
            <a:off x="704088" y="1801368"/>
            <a:ext cx="475488" cy="475488"/>
          </a:xfrm>
          <a:prstGeom prst="ellipse">
            <a:avLst/>
          </a:prstGeom>
          <a:solidFill>
            <a:srgbClr val="2A2412"/>
          </a:solidFill>
          <a:ln w="19050">
            <a:solidFill>
              <a:srgbClr val="FFC62A"/>
            </a:solidFill>
            <a:prstDash val="solid"/>
          </a:ln>
        </p:spPr>
      </p:sp>
      <p:sp>
        <p:nvSpPr>
          <p:cNvPr id="24" name="Text 22"/>
          <p:cNvSpPr/>
          <p:nvPr/>
        </p:nvSpPr>
        <p:spPr>
          <a:xfrm>
            <a:off x="704088" y="1792224"/>
            <a:ext cx="475488" cy="493776"/>
          </a:xfrm>
          <a:prstGeom prst="rect">
            <a:avLst/>
          </a:prstGeom>
          <a:noFill/>
          <a:ln/>
        </p:spPr>
        <p:txBody>
          <a:bodyPr wrap="square" lIns="0" tIns="0" rIns="0" bIns="0" rtlCol="0" anchor="ctr"/>
          <a:lstStyle/>
          <a:p>
            <a:pPr algn="ctr" indent="0" marL="0">
              <a:buNone/>
            </a:pPr>
            <a:r>
              <a:rPr lang="en-US" sz="1500" b="1" dirty="0">
                <a:solidFill>
                  <a:srgbClr val="FFC62A"/>
                </a:solidFill>
                <a:latin typeface="Bahnschrift" pitchFamily="34" charset="0"/>
                <a:ea typeface="Bahnschrift" pitchFamily="34" charset="-122"/>
                <a:cs typeface="Bahnschrift" pitchFamily="34" charset="-120"/>
              </a:rPr>
              <a:t>1</a:t>
            </a:r>
            <a:endParaRPr lang="en-US" sz="1500" dirty="0"/>
          </a:p>
        </p:txBody>
      </p:sp>
      <p:sp>
        <p:nvSpPr>
          <p:cNvPr id="25" name="Shape 23"/>
          <p:cNvSpPr/>
          <p:nvPr/>
        </p:nvSpPr>
        <p:spPr>
          <a:xfrm>
            <a:off x="941832" y="2350008"/>
            <a:ext cx="0" cy="22860"/>
          </a:xfrm>
          <a:prstGeom prst="line">
            <a:avLst/>
          </a:prstGeom>
          <a:noFill/>
          <a:ln w="19050">
            <a:solidFill>
              <a:srgbClr val="5C5966"/>
            </a:solidFill>
            <a:prstDash val="solid"/>
          </a:ln>
        </p:spPr>
      </p:sp>
      <p:sp>
        <p:nvSpPr>
          <p:cNvPr id="26" name="Shape 24"/>
          <p:cNvSpPr/>
          <p:nvPr/>
        </p:nvSpPr>
        <p:spPr>
          <a:xfrm>
            <a:off x="1371600" y="1737360"/>
            <a:ext cx="6492240" cy="603504"/>
          </a:xfrm>
          <a:prstGeom prst="roundRect">
            <a:avLst>
              <a:gd name="adj" fmla="val 9091"/>
            </a:avLst>
          </a:prstGeom>
          <a:solidFill>
            <a:srgbClr val="15151B"/>
          </a:solidFill>
          <a:ln w="12700">
            <a:solidFill>
              <a:srgbClr val="26262F"/>
            </a:solidFill>
            <a:prstDash val="solid"/>
          </a:ln>
        </p:spPr>
      </p:sp>
      <p:sp>
        <p:nvSpPr>
          <p:cNvPr id="27" name="Text 25"/>
          <p:cNvSpPr/>
          <p:nvPr/>
        </p:nvSpPr>
        <p:spPr>
          <a:xfrm>
            <a:off x="1581912" y="1792224"/>
            <a:ext cx="6126480" cy="274320"/>
          </a:xfrm>
          <a:prstGeom prst="rect">
            <a:avLst/>
          </a:prstGeom>
          <a:noFill/>
          <a:ln/>
        </p:spPr>
        <p:txBody>
          <a:bodyPr wrap="square" lIns="0" tIns="0" rIns="0" bIns="0" rtlCol="0" anchor="ctr"/>
          <a:lstStyle/>
          <a:p>
            <a:pPr indent="0" marL="0">
              <a:buNone/>
            </a:pPr>
            <a:r>
              <a:rPr lang="en-US" sz="1250" b="1" dirty="0">
                <a:solidFill>
                  <a:srgbClr val="FFC62A"/>
                </a:solidFill>
                <a:latin typeface="Bahnschrift" pitchFamily="34" charset="0"/>
                <a:ea typeface="Bahnschrift" pitchFamily="34" charset="-122"/>
                <a:cs typeface="Bahnschrift" pitchFamily="34" charset="-120"/>
              </a:rPr>
              <a:t>Import Game</a:t>
            </a:r>
            <a:endParaRPr lang="en-US" sz="1250" dirty="0"/>
          </a:p>
        </p:txBody>
      </p:sp>
      <p:sp>
        <p:nvSpPr>
          <p:cNvPr id="28" name="Text 26"/>
          <p:cNvSpPr/>
          <p:nvPr/>
        </p:nvSpPr>
        <p:spPr>
          <a:xfrm>
            <a:off x="1581912" y="2084832"/>
            <a:ext cx="6172200" cy="237744"/>
          </a:xfrm>
          <a:prstGeom prst="rect">
            <a:avLst/>
          </a:prstGeom>
          <a:noFill/>
          <a:ln/>
        </p:spPr>
        <p:txBody>
          <a:bodyPr wrap="square" lIns="0" tIns="0" rIns="0" bIns="0" rtlCol="0" anchor="ctr"/>
          <a:lstStyle/>
          <a:p>
            <a:pPr indent="0" marL="0">
              <a:buNone/>
            </a:pPr>
            <a:r>
              <a:rPr lang="en-US" sz="950" dirty="0">
                <a:solidFill>
                  <a:srgbClr val="9A97A6"/>
                </a:solidFill>
                <a:latin typeface="Segoe UI" pitchFamily="34" charset="0"/>
                <a:ea typeface="Segoe UI" pitchFamily="34" charset="-122"/>
                <a:cs typeface="Segoe UI" pitchFamily="34" charset="-120"/>
              </a:rPr>
              <a:t>Paste PGN · fetch Chess.com / Lichess username · sample fallback</a:t>
            </a:r>
            <a:endParaRPr lang="en-US" sz="950" dirty="0"/>
          </a:p>
        </p:txBody>
      </p:sp>
      <p:sp>
        <p:nvSpPr>
          <p:cNvPr id="29" name="Shape 27"/>
          <p:cNvSpPr/>
          <p:nvPr/>
        </p:nvSpPr>
        <p:spPr>
          <a:xfrm>
            <a:off x="704088" y="2446020"/>
            <a:ext cx="475488" cy="475488"/>
          </a:xfrm>
          <a:prstGeom prst="ellipse">
            <a:avLst/>
          </a:prstGeom>
          <a:solidFill>
            <a:srgbClr val="2A2412"/>
          </a:solidFill>
          <a:ln w="19050">
            <a:solidFill>
              <a:srgbClr val="FFC62A"/>
            </a:solidFill>
            <a:prstDash val="solid"/>
          </a:ln>
        </p:spPr>
      </p:sp>
      <p:sp>
        <p:nvSpPr>
          <p:cNvPr id="30" name="Text 28"/>
          <p:cNvSpPr/>
          <p:nvPr/>
        </p:nvSpPr>
        <p:spPr>
          <a:xfrm>
            <a:off x="704088" y="2436876"/>
            <a:ext cx="475488" cy="493776"/>
          </a:xfrm>
          <a:prstGeom prst="rect">
            <a:avLst/>
          </a:prstGeom>
          <a:noFill/>
          <a:ln/>
        </p:spPr>
        <p:txBody>
          <a:bodyPr wrap="square" lIns="0" tIns="0" rIns="0" bIns="0" rtlCol="0" anchor="ctr"/>
          <a:lstStyle/>
          <a:p>
            <a:pPr algn="ctr" indent="0" marL="0">
              <a:buNone/>
            </a:pPr>
            <a:r>
              <a:rPr lang="en-US" sz="1500" b="1" dirty="0">
                <a:solidFill>
                  <a:srgbClr val="FFC62A"/>
                </a:solidFill>
                <a:latin typeface="Bahnschrift" pitchFamily="34" charset="0"/>
                <a:ea typeface="Bahnschrift" pitchFamily="34" charset="-122"/>
                <a:cs typeface="Bahnschrift" pitchFamily="34" charset="-120"/>
              </a:rPr>
              <a:t>2</a:t>
            </a:r>
            <a:endParaRPr lang="en-US" sz="1500" dirty="0"/>
          </a:p>
        </p:txBody>
      </p:sp>
      <p:sp>
        <p:nvSpPr>
          <p:cNvPr id="31" name="Shape 29"/>
          <p:cNvSpPr/>
          <p:nvPr/>
        </p:nvSpPr>
        <p:spPr>
          <a:xfrm>
            <a:off x="941832" y="2994660"/>
            <a:ext cx="0" cy="22860"/>
          </a:xfrm>
          <a:prstGeom prst="line">
            <a:avLst/>
          </a:prstGeom>
          <a:noFill/>
          <a:ln w="19050">
            <a:solidFill>
              <a:srgbClr val="5C5966"/>
            </a:solidFill>
            <a:prstDash val="solid"/>
          </a:ln>
        </p:spPr>
      </p:sp>
      <p:sp>
        <p:nvSpPr>
          <p:cNvPr id="32" name="Shape 30"/>
          <p:cNvSpPr/>
          <p:nvPr/>
        </p:nvSpPr>
        <p:spPr>
          <a:xfrm>
            <a:off x="1371600" y="2382012"/>
            <a:ext cx="6492240" cy="603504"/>
          </a:xfrm>
          <a:prstGeom prst="roundRect">
            <a:avLst>
              <a:gd name="adj" fmla="val 9091"/>
            </a:avLst>
          </a:prstGeom>
          <a:solidFill>
            <a:srgbClr val="15151B"/>
          </a:solidFill>
          <a:ln w="12700">
            <a:solidFill>
              <a:srgbClr val="26262F"/>
            </a:solidFill>
            <a:prstDash val="solid"/>
          </a:ln>
        </p:spPr>
      </p:sp>
      <p:sp>
        <p:nvSpPr>
          <p:cNvPr id="33" name="Text 31"/>
          <p:cNvSpPr/>
          <p:nvPr/>
        </p:nvSpPr>
        <p:spPr>
          <a:xfrm>
            <a:off x="1581912" y="2436876"/>
            <a:ext cx="6126480" cy="274320"/>
          </a:xfrm>
          <a:prstGeom prst="rect">
            <a:avLst/>
          </a:prstGeom>
          <a:noFill/>
          <a:ln/>
        </p:spPr>
        <p:txBody>
          <a:bodyPr wrap="square" lIns="0" tIns="0" rIns="0" bIns="0" rtlCol="0" anchor="ctr"/>
          <a:lstStyle/>
          <a:p>
            <a:pPr indent="0" marL="0">
              <a:buNone/>
            </a:pPr>
            <a:r>
              <a:rPr lang="en-US" sz="1250" b="1" dirty="0">
                <a:solidFill>
                  <a:srgbClr val="FFC62A"/>
                </a:solidFill>
                <a:latin typeface="Bahnschrift" pitchFamily="34" charset="0"/>
                <a:ea typeface="Bahnschrift" pitchFamily="34" charset="-122"/>
                <a:cs typeface="Bahnschrift" pitchFamily="34" charset="-120"/>
              </a:rPr>
              <a:t>Analyze</a:t>
            </a:r>
            <a:endParaRPr lang="en-US" sz="1250" dirty="0"/>
          </a:p>
        </p:txBody>
      </p:sp>
      <p:sp>
        <p:nvSpPr>
          <p:cNvPr id="34" name="Text 32"/>
          <p:cNvSpPr/>
          <p:nvPr/>
        </p:nvSpPr>
        <p:spPr>
          <a:xfrm>
            <a:off x="1581912" y="2729484"/>
            <a:ext cx="6172200" cy="237744"/>
          </a:xfrm>
          <a:prstGeom prst="rect">
            <a:avLst/>
          </a:prstGeom>
          <a:noFill/>
          <a:ln/>
        </p:spPr>
        <p:txBody>
          <a:bodyPr wrap="square" lIns="0" tIns="0" rIns="0" bIns="0" rtlCol="0" anchor="ctr"/>
          <a:lstStyle/>
          <a:p>
            <a:pPr indent="0" marL="0">
              <a:buNone/>
            </a:pPr>
            <a:r>
              <a:rPr lang="en-US" sz="950" dirty="0">
                <a:solidFill>
                  <a:srgbClr val="9A97A6"/>
                </a:solidFill>
                <a:latin typeface="Segoe UI" pitchFamily="34" charset="0"/>
                <a:ea typeface="Segoe UI" pitchFamily="34" charset="-122"/>
                <a:cs typeface="Segoe UI" pitchFamily="34" charset="-120"/>
              </a:rPr>
              <a:t>Quick mode (depth 15–18) or deep mode (depth 20–24, queued via BullMQ)</a:t>
            </a:r>
            <a:endParaRPr lang="en-US" sz="950" dirty="0"/>
          </a:p>
        </p:txBody>
      </p:sp>
      <p:sp>
        <p:nvSpPr>
          <p:cNvPr id="35" name="Shape 33"/>
          <p:cNvSpPr/>
          <p:nvPr/>
        </p:nvSpPr>
        <p:spPr>
          <a:xfrm>
            <a:off x="704088" y="3090672"/>
            <a:ext cx="475488" cy="475488"/>
          </a:xfrm>
          <a:prstGeom prst="ellipse">
            <a:avLst/>
          </a:prstGeom>
          <a:solidFill>
            <a:srgbClr val="2A2412"/>
          </a:solidFill>
          <a:ln w="19050">
            <a:solidFill>
              <a:srgbClr val="FFC62A"/>
            </a:solidFill>
            <a:prstDash val="solid"/>
          </a:ln>
        </p:spPr>
      </p:sp>
      <p:sp>
        <p:nvSpPr>
          <p:cNvPr id="36" name="Text 34"/>
          <p:cNvSpPr/>
          <p:nvPr/>
        </p:nvSpPr>
        <p:spPr>
          <a:xfrm>
            <a:off x="704088" y="3081528"/>
            <a:ext cx="475488" cy="493776"/>
          </a:xfrm>
          <a:prstGeom prst="rect">
            <a:avLst/>
          </a:prstGeom>
          <a:noFill/>
          <a:ln/>
        </p:spPr>
        <p:txBody>
          <a:bodyPr wrap="square" lIns="0" tIns="0" rIns="0" bIns="0" rtlCol="0" anchor="ctr"/>
          <a:lstStyle/>
          <a:p>
            <a:pPr algn="ctr" indent="0" marL="0">
              <a:buNone/>
            </a:pPr>
            <a:r>
              <a:rPr lang="en-US" sz="1500" b="1" dirty="0">
                <a:solidFill>
                  <a:srgbClr val="FFC62A"/>
                </a:solidFill>
                <a:latin typeface="Bahnschrift" pitchFamily="34" charset="0"/>
                <a:ea typeface="Bahnschrift" pitchFamily="34" charset="-122"/>
                <a:cs typeface="Bahnschrift" pitchFamily="34" charset="-120"/>
              </a:rPr>
              <a:t>3</a:t>
            </a:r>
            <a:endParaRPr lang="en-US" sz="1500" dirty="0"/>
          </a:p>
        </p:txBody>
      </p:sp>
      <p:sp>
        <p:nvSpPr>
          <p:cNvPr id="37" name="Shape 35"/>
          <p:cNvSpPr/>
          <p:nvPr/>
        </p:nvSpPr>
        <p:spPr>
          <a:xfrm>
            <a:off x="941832" y="3639312"/>
            <a:ext cx="0" cy="22860"/>
          </a:xfrm>
          <a:prstGeom prst="line">
            <a:avLst/>
          </a:prstGeom>
          <a:noFill/>
          <a:ln w="19050">
            <a:solidFill>
              <a:srgbClr val="5C5966"/>
            </a:solidFill>
            <a:prstDash val="solid"/>
          </a:ln>
        </p:spPr>
      </p:sp>
      <p:sp>
        <p:nvSpPr>
          <p:cNvPr id="38" name="Shape 36"/>
          <p:cNvSpPr/>
          <p:nvPr/>
        </p:nvSpPr>
        <p:spPr>
          <a:xfrm>
            <a:off x="1371600" y="3026664"/>
            <a:ext cx="6492240" cy="603504"/>
          </a:xfrm>
          <a:prstGeom prst="roundRect">
            <a:avLst>
              <a:gd name="adj" fmla="val 9091"/>
            </a:avLst>
          </a:prstGeom>
          <a:solidFill>
            <a:srgbClr val="15151B"/>
          </a:solidFill>
          <a:ln w="12700">
            <a:solidFill>
              <a:srgbClr val="26262F"/>
            </a:solidFill>
            <a:prstDash val="solid"/>
          </a:ln>
        </p:spPr>
      </p:sp>
      <p:sp>
        <p:nvSpPr>
          <p:cNvPr id="39" name="Text 37"/>
          <p:cNvSpPr/>
          <p:nvPr/>
        </p:nvSpPr>
        <p:spPr>
          <a:xfrm>
            <a:off x="1581912" y="3081528"/>
            <a:ext cx="6126480" cy="274320"/>
          </a:xfrm>
          <a:prstGeom prst="rect">
            <a:avLst/>
          </a:prstGeom>
          <a:noFill/>
          <a:ln/>
        </p:spPr>
        <p:txBody>
          <a:bodyPr wrap="square" lIns="0" tIns="0" rIns="0" bIns="0" rtlCol="0" anchor="ctr"/>
          <a:lstStyle/>
          <a:p>
            <a:pPr indent="0" marL="0">
              <a:buNone/>
            </a:pPr>
            <a:r>
              <a:rPr lang="en-US" sz="1250" b="1" dirty="0">
                <a:solidFill>
                  <a:srgbClr val="FFC62A"/>
                </a:solidFill>
                <a:latin typeface="Bahnschrift" pitchFamily="34" charset="0"/>
                <a:ea typeface="Bahnschrift" pitchFamily="34" charset="-122"/>
                <a:cs typeface="Bahnschrift" pitchFamily="34" charset="-120"/>
              </a:rPr>
              <a:t>Engine Evaluation</a:t>
            </a:r>
            <a:endParaRPr lang="en-US" sz="1250" dirty="0"/>
          </a:p>
        </p:txBody>
      </p:sp>
      <p:sp>
        <p:nvSpPr>
          <p:cNvPr id="40" name="Text 38"/>
          <p:cNvSpPr/>
          <p:nvPr/>
        </p:nvSpPr>
        <p:spPr>
          <a:xfrm>
            <a:off x="1581912" y="3374136"/>
            <a:ext cx="6172200" cy="237744"/>
          </a:xfrm>
          <a:prstGeom prst="rect">
            <a:avLst/>
          </a:prstGeom>
          <a:noFill/>
          <a:ln/>
        </p:spPr>
        <p:txBody>
          <a:bodyPr wrap="square" lIns="0" tIns="0" rIns="0" bIns="0" rtlCol="0" anchor="ctr"/>
          <a:lstStyle/>
          <a:p>
            <a:pPr indent="0" marL="0">
              <a:buNone/>
            </a:pPr>
            <a:r>
              <a:rPr lang="en-US" sz="950" dirty="0">
                <a:solidFill>
                  <a:srgbClr val="9A97A6"/>
                </a:solidFill>
                <a:latin typeface="Segoe UI" pitchFamily="34" charset="0"/>
                <a:ea typeface="Segoe UI" pitchFamily="34" charset="-122"/>
                <a:cs typeface="Segoe UI" pitchFamily="34" charset="-120"/>
              </a:rPr>
              <a:t>Stockfish 18 scores every position · MultiPV 1–3 · Syzygy tablebases</a:t>
            </a:r>
            <a:endParaRPr lang="en-US" sz="950" dirty="0"/>
          </a:p>
        </p:txBody>
      </p:sp>
      <p:sp>
        <p:nvSpPr>
          <p:cNvPr id="41" name="Shape 39"/>
          <p:cNvSpPr/>
          <p:nvPr/>
        </p:nvSpPr>
        <p:spPr>
          <a:xfrm>
            <a:off x="704088" y="3735324"/>
            <a:ext cx="475488" cy="475488"/>
          </a:xfrm>
          <a:prstGeom prst="ellipse">
            <a:avLst/>
          </a:prstGeom>
          <a:solidFill>
            <a:srgbClr val="2A2412"/>
          </a:solidFill>
          <a:ln w="19050">
            <a:solidFill>
              <a:srgbClr val="FFC62A"/>
            </a:solidFill>
            <a:prstDash val="solid"/>
          </a:ln>
        </p:spPr>
      </p:sp>
      <p:sp>
        <p:nvSpPr>
          <p:cNvPr id="42" name="Text 40"/>
          <p:cNvSpPr/>
          <p:nvPr/>
        </p:nvSpPr>
        <p:spPr>
          <a:xfrm>
            <a:off x="704088" y="3726180"/>
            <a:ext cx="475488" cy="493776"/>
          </a:xfrm>
          <a:prstGeom prst="rect">
            <a:avLst/>
          </a:prstGeom>
          <a:noFill/>
          <a:ln/>
        </p:spPr>
        <p:txBody>
          <a:bodyPr wrap="square" lIns="0" tIns="0" rIns="0" bIns="0" rtlCol="0" anchor="ctr"/>
          <a:lstStyle/>
          <a:p>
            <a:pPr algn="ctr" indent="0" marL="0">
              <a:buNone/>
            </a:pPr>
            <a:r>
              <a:rPr lang="en-US" sz="1500" b="1" dirty="0">
                <a:solidFill>
                  <a:srgbClr val="FFC62A"/>
                </a:solidFill>
                <a:latin typeface="Bahnschrift" pitchFamily="34" charset="0"/>
                <a:ea typeface="Bahnschrift" pitchFamily="34" charset="-122"/>
                <a:cs typeface="Bahnschrift" pitchFamily="34" charset="-120"/>
              </a:rPr>
              <a:t>4</a:t>
            </a:r>
            <a:endParaRPr lang="en-US" sz="1500" dirty="0"/>
          </a:p>
        </p:txBody>
      </p:sp>
      <p:sp>
        <p:nvSpPr>
          <p:cNvPr id="43" name="Shape 41"/>
          <p:cNvSpPr/>
          <p:nvPr/>
        </p:nvSpPr>
        <p:spPr>
          <a:xfrm>
            <a:off x="941832" y="4283964"/>
            <a:ext cx="0" cy="22860"/>
          </a:xfrm>
          <a:prstGeom prst="line">
            <a:avLst/>
          </a:prstGeom>
          <a:noFill/>
          <a:ln w="19050">
            <a:solidFill>
              <a:srgbClr val="5C5966"/>
            </a:solidFill>
            <a:prstDash val="solid"/>
          </a:ln>
        </p:spPr>
      </p:sp>
      <p:sp>
        <p:nvSpPr>
          <p:cNvPr id="44" name="Shape 42"/>
          <p:cNvSpPr/>
          <p:nvPr/>
        </p:nvSpPr>
        <p:spPr>
          <a:xfrm>
            <a:off x="1371600" y="3671316"/>
            <a:ext cx="6492240" cy="603504"/>
          </a:xfrm>
          <a:prstGeom prst="roundRect">
            <a:avLst>
              <a:gd name="adj" fmla="val 9091"/>
            </a:avLst>
          </a:prstGeom>
          <a:solidFill>
            <a:srgbClr val="15151B"/>
          </a:solidFill>
          <a:ln w="12700">
            <a:solidFill>
              <a:srgbClr val="26262F"/>
            </a:solidFill>
            <a:prstDash val="solid"/>
          </a:ln>
        </p:spPr>
      </p:sp>
      <p:sp>
        <p:nvSpPr>
          <p:cNvPr id="45" name="Text 43"/>
          <p:cNvSpPr/>
          <p:nvPr/>
        </p:nvSpPr>
        <p:spPr>
          <a:xfrm>
            <a:off x="1581912" y="3726180"/>
            <a:ext cx="6126480" cy="274320"/>
          </a:xfrm>
          <a:prstGeom prst="rect">
            <a:avLst/>
          </a:prstGeom>
          <a:noFill/>
          <a:ln/>
        </p:spPr>
        <p:txBody>
          <a:bodyPr wrap="square" lIns="0" tIns="0" rIns="0" bIns="0" rtlCol="0" anchor="ctr"/>
          <a:lstStyle/>
          <a:p>
            <a:pPr indent="0" marL="0">
              <a:buNone/>
            </a:pPr>
            <a:r>
              <a:rPr lang="en-US" sz="1250" b="1" dirty="0">
                <a:solidFill>
                  <a:srgbClr val="FFC62A"/>
                </a:solidFill>
                <a:latin typeface="Bahnschrift" pitchFamily="34" charset="0"/>
                <a:ea typeface="Bahnschrift" pitchFamily="34" charset="-122"/>
                <a:cs typeface="Bahnschrift" pitchFamily="34" charset="-120"/>
              </a:rPr>
              <a:t>AI Explanation</a:t>
            </a:r>
            <a:endParaRPr lang="en-US" sz="1250" dirty="0"/>
          </a:p>
        </p:txBody>
      </p:sp>
      <p:sp>
        <p:nvSpPr>
          <p:cNvPr id="46" name="Text 44"/>
          <p:cNvSpPr/>
          <p:nvPr/>
        </p:nvSpPr>
        <p:spPr>
          <a:xfrm>
            <a:off x="1581912" y="4018788"/>
            <a:ext cx="6172200" cy="237744"/>
          </a:xfrm>
          <a:prstGeom prst="rect">
            <a:avLst/>
          </a:prstGeom>
          <a:noFill/>
          <a:ln/>
        </p:spPr>
        <p:txBody>
          <a:bodyPr wrap="square" lIns="0" tIns="0" rIns="0" bIns="0" rtlCol="0" anchor="ctr"/>
          <a:lstStyle/>
          <a:p>
            <a:pPr indent="0" marL="0">
              <a:buNone/>
            </a:pPr>
            <a:r>
              <a:rPr lang="en-US" sz="950" dirty="0">
                <a:solidFill>
                  <a:srgbClr val="9A97A6"/>
                </a:solidFill>
                <a:latin typeface="Segoe UI" pitchFamily="34" charset="0"/>
                <a:ea typeface="Segoe UI" pitchFamily="34" charset="-122"/>
                <a:cs typeface="Segoe UI" pitchFamily="34" charset="-120"/>
              </a:rPr>
              <a:t>LLM writes per-move coaching text with classification and eval change</a:t>
            </a:r>
            <a:endParaRPr lang="en-US" sz="950" dirty="0"/>
          </a:p>
        </p:txBody>
      </p:sp>
      <p:sp>
        <p:nvSpPr>
          <p:cNvPr id="47" name="Shape 45"/>
          <p:cNvSpPr/>
          <p:nvPr/>
        </p:nvSpPr>
        <p:spPr>
          <a:xfrm>
            <a:off x="704088" y="4379976"/>
            <a:ext cx="475488" cy="475488"/>
          </a:xfrm>
          <a:prstGeom prst="ellipse">
            <a:avLst/>
          </a:prstGeom>
          <a:solidFill>
            <a:srgbClr val="2A2412"/>
          </a:solidFill>
          <a:ln w="19050">
            <a:solidFill>
              <a:srgbClr val="FFC62A"/>
            </a:solidFill>
            <a:prstDash val="solid"/>
          </a:ln>
        </p:spPr>
      </p:sp>
      <p:sp>
        <p:nvSpPr>
          <p:cNvPr id="48" name="Text 46"/>
          <p:cNvSpPr/>
          <p:nvPr/>
        </p:nvSpPr>
        <p:spPr>
          <a:xfrm>
            <a:off x="704088" y="4370832"/>
            <a:ext cx="475488" cy="493776"/>
          </a:xfrm>
          <a:prstGeom prst="rect">
            <a:avLst/>
          </a:prstGeom>
          <a:noFill/>
          <a:ln/>
        </p:spPr>
        <p:txBody>
          <a:bodyPr wrap="square" lIns="0" tIns="0" rIns="0" bIns="0" rtlCol="0" anchor="ctr"/>
          <a:lstStyle/>
          <a:p>
            <a:pPr algn="ctr" indent="0" marL="0">
              <a:buNone/>
            </a:pPr>
            <a:r>
              <a:rPr lang="en-US" sz="1500" b="1" dirty="0">
                <a:solidFill>
                  <a:srgbClr val="FFC62A"/>
                </a:solidFill>
                <a:latin typeface="Bahnschrift" pitchFamily="34" charset="0"/>
                <a:ea typeface="Bahnschrift" pitchFamily="34" charset="-122"/>
                <a:cs typeface="Bahnschrift" pitchFamily="34" charset="-120"/>
              </a:rPr>
              <a:t>5</a:t>
            </a:r>
            <a:endParaRPr lang="en-US" sz="1500" dirty="0"/>
          </a:p>
        </p:txBody>
      </p:sp>
      <p:sp>
        <p:nvSpPr>
          <p:cNvPr id="49" name="Shape 47"/>
          <p:cNvSpPr/>
          <p:nvPr/>
        </p:nvSpPr>
        <p:spPr>
          <a:xfrm>
            <a:off x="941832" y="4928616"/>
            <a:ext cx="0" cy="22860"/>
          </a:xfrm>
          <a:prstGeom prst="line">
            <a:avLst/>
          </a:prstGeom>
          <a:noFill/>
          <a:ln w="19050">
            <a:solidFill>
              <a:srgbClr val="5C5966"/>
            </a:solidFill>
            <a:prstDash val="solid"/>
          </a:ln>
        </p:spPr>
      </p:sp>
      <p:sp>
        <p:nvSpPr>
          <p:cNvPr id="50" name="Shape 48"/>
          <p:cNvSpPr/>
          <p:nvPr/>
        </p:nvSpPr>
        <p:spPr>
          <a:xfrm>
            <a:off x="1371600" y="4315968"/>
            <a:ext cx="6492240" cy="603504"/>
          </a:xfrm>
          <a:prstGeom prst="roundRect">
            <a:avLst>
              <a:gd name="adj" fmla="val 9091"/>
            </a:avLst>
          </a:prstGeom>
          <a:solidFill>
            <a:srgbClr val="15151B"/>
          </a:solidFill>
          <a:ln w="12700">
            <a:solidFill>
              <a:srgbClr val="26262F"/>
            </a:solidFill>
            <a:prstDash val="solid"/>
          </a:ln>
        </p:spPr>
      </p:sp>
      <p:sp>
        <p:nvSpPr>
          <p:cNvPr id="51" name="Text 49"/>
          <p:cNvSpPr/>
          <p:nvPr/>
        </p:nvSpPr>
        <p:spPr>
          <a:xfrm>
            <a:off x="1581912" y="4370832"/>
            <a:ext cx="6126480" cy="274320"/>
          </a:xfrm>
          <a:prstGeom prst="rect">
            <a:avLst/>
          </a:prstGeom>
          <a:noFill/>
          <a:ln/>
        </p:spPr>
        <p:txBody>
          <a:bodyPr wrap="square" lIns="0" tIns="0" rIns="0" bIns="0" rtlCol="0" anchor="ctr"/>
          <a:lstStyle/>
          <a:p>
            <a:pPr indent="0" marL="0">
              <a:buNone/>
            </a:pPr>
            <a:r>
              <a:rPr lang="en-US" sz="1250" b="1" dirty="0">
                <a:solidFill>
                  <a:srgbClr val="FFC62A"/>
                </a:solidFill>
                <a:latin typeface="Bahnschrift" pitchFamily="34" charset="0"/>
                <a:ea typeface="Bahnschrift" pitchFamily="34" charset="-122"/>
                <a:cs typeface="Bahnschrift" pitchFamily="34" charset="-120"/>
              </a:rPr>
              <a:t>Accuracy Calculation</a:t>
            </a:r>
            <a:endParaRPr lang="en-US" sz="1250" dirty="0"/>
          </a:p>
        </p:txBody>
      </p:sp>
      <p:sp>
        <p:nvSpPr>
          <p:cNvPr id="52" name="Text 50"/>
          <p:cNvSpPr/>
          <p:nvPr/>
        </p:nvSpPr>
        <p:spPr>
          <a:xfrm>
            <a:off x="1581912" y="4663440"/>
            <a:ext cx="6172200" cy="237744"/>
          </a:xfrm>
          <a:prstGeom prst="rect">
            <a:avLst/>
          </a:prstGeom>
          <a:noFill/>
          <a:ln/>
        </p:spPr>
        <p:txBody>
          <a:bodyPr wrap="square" lIns="0" tIns="0" rIns="0" bIns="0" rtlCol="0" anchor="ctr"/>
          <a:lstStyle/>
          <a:p>
            <a:pPr indent="0" marL="0">
              <a:buNone/>
            </a:pPr>
            <a:r>
              <a:rPr lang="en-US" sz="950" dirty="0">
                <a:solidFill>
                  <a:srgbClr val="9A97A6"/>
                </a:solidFill>
                <a:latin typeface="Segoe UI" pitchFamily="34" charset="0"/>
                <a:ea typeface="Segoe UI" pitchFamily="34" charset="-122"/>
                <a:cs typeface="Segoe UI" pitchFamily="34" charset="-120"/>
              </a:rPr>
              <a:t>100 − avg centipawn loss × 0.15 · per player · per phase (opening/mid/end)</a:t>
            </a:r>
            <a:endParaRPr lang="en-US" sz="950" dirty="0"/>
          </a:p>
        </p:txBody>
      </p:sp>
      <p:sp>
        <p:nvSpPr>
          <p:cNvPr id="53" name="Shape 51"/>
          <p:cNvSpPr/>
          <p:nvPr/>
        </p:nvSpPr>
        <p:spPr>
          <a:xfrm>
            <a:off x="704088" y="5024628"/>
            <a:ext cx="475488" cy="475488"/>
          </a:xfrm>
          <a:prstGeom prst="ellipse">
            <a:avLst/>
          </a:prstGeom>
          <a:solidFill>
            <a:srgbClr val="2A2412"/>
          </a:solidFill>
          <a:ln w="19050">
            <a:solidFill>
              <a:srgbClr val="FFC62A"/>
            </a:solidFill>
            <a:prstDash val="solid"/>
          </a:ln>
        </p:spPr>
      </p:sp>
      <p:sp>
        <p:nvSpPr>
          <p:cNvPr id="54" name="Text 52"/>
          <p:cNvSpPr/>
          <p:nvPr/>
        </p:nvSpPr>
        <p:spPr>
          <a:xfrm>
            <a:off x="704088" y="5015484"/>
            <a:ext cx="475488" cy="493776"/>
          </a:xfrm>
          <a:prstGeom prst="rect">
            <a:avLst/>
          </a:prstGeom>
          <a:noFill/>
          <a:ln/>
        </p:spPr>
        <p:txBody>
          <a:bodyPr wrap="square" lIns="0" tIns="0" rIns="0" bIns="0" rtlCol="0" anchor="ctr"/>
          <a:lstStyle/>
          <a:p>
            <a:pPr algn="ctr" indent="0" marL="0">
              <a:buNone/>
            </a:pPr>
            <a:r>
              <a:rPr lang="en-US" sz="1500" b="1" dirty="0">
                <a:solidFill>
                  <a:srgbClr val="FFC62A"/>
                </a:solidFill>
                <a:latin typeface="Bahnschrift" pitchFamily="34" charset="0"/>
                <a:ea typeface="Bahnschrift" pitchFamily="34" charset="-122"/>
                <a:cs typeface="Bahnschrift" pitchFamily="34" charset="-120"/>
              </a:rPr>
              <a:t>6</a:t>
            </a:r>
            <a:endParaRPr lang="en-US" sz="1500" dirty="0"/>
          </a:p>
        </p:txBody>
      </p:sp>
      <p:sp>
        <p:nvSpPr>
          <p:cNvPr id="55" name="Shape 53"/>
          <p:cNvSpPr/>
          <p:nvPr/>
        </p:nvSpPr>
        <p:spPr>
          <a:xfrm>
            <a:off x="941832" y="5573268"/>
            <a:ext cx="0" cy="22860"/>
          </a:xfrm>
          <a:prstGeom prst="line">
            <a:avLst/>
          </a:prstGeom>
          <a:noFill/>
          <a:ln w="19050">
            <a:solidFill>
              <a:srgbClr val="5C5966"/>
            </a:solidFill>
            <a:prstDash val="solid"/>
          </a:ln>
        </p:spPr>
      </p:sp>
      <p:sp>
        <p:nvSpPr>
          <p:cNvPr id="56" name="Shape 54"/>
          <p:cNvSpPr/>
          <p:nvPr/>
        </p:nvSpPr>
        <p:spPr>
          <a:xfrm>
            <a:off x="1371600" y="4960620"/>
            <a:ext cx="6492240" cy="603504"/>
          </a:xfrm>
          <a:prstGeom prst="roundRect">
            <a:avLst>
              <a:gd name="adj" fmla="val 9091"/>
            </a:avLst>
          </a:prstGeom>
          <a:solidFill>
            <a:srgbClr val="15151B"/>
          </a:solidFill>
          <a:ln w="12700">
            <a:solidFill>
              <a:srgbClr val="26262F"/>
            </a:solidFill>
            <a:prstDash val="solid"/>
          </a:ln>
        </p:spPr>
      </p:sp>
      <p:sp>
        <p:nvSpPr>
          <p:cNvPr id="57" name="Text 55"/>
          <p:cNvSpPr/>
          <p:nvPr/>
        </p:nvSpPr>
        <p:spPr>
          <a:xfrm>
            <a:off x="1581912" y="5015484"/>
            <a:ext cx="6126480" cy="274320"/>
          </a:xfrm>
          <a:prstGeom prst="rect">
            <a:avLst/>
          </a:prstGeom>
          <a:noFill/>
          <a:ln/>
        </p:spPr>
        <p:txBody>
          <a:bodyPr wrap="square" lIns="0" tIns="0" rIns="0" bIns="0" rtlCol="0" anchor="ctr"/>
          <a:lstStyle/>
          <a:p>
            <a:pPr indent="0" marL="0">
              <a:buNone/>
            </a:pPr>
            <a:r>
              <a:rPr lang="en-US" sz="1250" b="1" dirty="0">
                <a:solidFill>
                  <a:srgbClr val="FFC62A"/>
                </a:solidFill>
                <a:latin typeface="Bahnschrift" pitchFamily="34" charset="0"/>
                <a:ea typeface="Bahnschrift" pitchFamily="34" charset="-122"/>
                <a:cs typeface="Bahnschrift" pitchFamily="34" charset="-120"/>
              </a:rPr>
              <a:t>Report Generation</a:t>
            </a:r>
            <a:endParaRPr lang="en-US" sz="1250" dirty="0"/>
          </a:p>
        </p:txBody>
      </p:sp>
      <p:sp>
        <p:nvSpPr>
          <p:cNvPr id="58" name="Text 56"/>
          <p:cNvSpPr/>
          <p:nvPr/>
        </p:nvSpPr>
        <p:spPr>
          <a:xfrm>
            <a:off x="1581912" y="5308092"/>
            <a:ext cx="6172200" cy="237744"/>
          </a:xfrm>
          <a:prstGeom prst="rect">
            <a:avLst/>
          </a:prstGeom>
          <a:noFill/>
          <a:ln/>
        </p:spPr>
        <p:txBody>
          <a:bodyPr wrap="square" lIns="0" tIns="0" rIns="0" bIns="0" rtlCol="0" anchor="ctr"/>
          <a:lstStyle/>
          <a:p>
            <a:pPr indent="0" marL="0">
              <a:buNone/>
            </a:pPr>
            <a:r>
              <a:rPr lang="en-US" sz="950" dirty="0">
                <a:solidFill>
                  <a:srgbClr val="9A97A6"/>
                </a:solidFill>
                <a:latin typeface="Segoe UI" pitchFamily="34" charset="0"/>
                <a:ea typeface="Segoe UI" pitchFamily="34" charset="-122"/>
                <a:cs typeface="Segoe UI" pitchFamily="34" charset="-120"/>
              </a:rPr>
              <a:t>Grades, evaluation graph, alternatives, critical moments, insights</a:t>
            </a:r>
            <a:endParaRPr lang="en-US" sz="950" dirty="0"/>
          </a:p>
        </p:txBody>
      </p:sp>
      <p:sp>
        <p:nvSpPr>
          <p:cNvPr id="59" name="Shape 57"/>
          <p:cNvSpPr/>
          <p:nvPr/>
        </p:nvSpPr>
        <p:spPr>
          <a:xfrm>
            <a:off x="704088" y="5669280"/>
            <a:ext cx="475488" cy="475488"/>
          </a:xfrm>
          <a:prstGeom prst="ellipse">
            <a:avLst/>
          </a:prstGeom>
          <a:solidFill>
            <a:srgbClr val="2A2412"/>
          </a:solidFill>
          <a:ln w="19050">
            <a:solidFill>
              <a:srgbClr val="FFC62A"/>
            </a:solidFill>
            <a:prstDash val="solid"/>
          </a:ln>
        </p:spPr>
      </p:sp>
      <p:sp>
        <p:nvSpPr>
          <p:cNvPr id="60" name="Text 58"/>
          <p:cNvSpPr/>
          <p:nvPr/>
        </p:nvSpPr>
        <p:spPr>
          <a:xfrm>
            <a:off x="704088" y="5660136"/>
            <a:ext cx="475488" cy="493776"/>
          </a:xfrm>
          <a:prstGeom prst="rect">
            <a:avLst/>
          </a:prstGeom>
          <a:noFill/>
          <a:ln/>
        </p:spPr>
        <p:txBody>
          <a:bodyPr wrap="square" lIns="0" tIns="0" rIns="0" bIns="0" rtlCol="0" anchor="ctr"/>
          <a:lstStyle/>
          <a:p>
            <a:pPr algn="ctr" indent="0" marL="0">
              <a:buNone/>
            </a:pPr>
            <a:r>
              <a:rPr lang="en-US" sz="1500" b="1" dirty="0">
                <a:solidFill>
                  <a:srgbClr val="FFC62A"/>
                </a:solidFill>
                <a:latin typeface="Bahnschrift" pitchFamily="34" charset="0"/>
                <a:ea typeface="Bahnschrift" pitchFamily="34" charset="-122"/>
                <a:cs typeface="Bahnschrift" pitchFamily="34" charset="-120"/>
              </a:rPr>
              <a:t>7</a:t>
            </a:r>
            <a:endParaRPr lang="en-US" sz="1500" dirty="0"/>
          </a:p>
        </p:txBody>
      </p:sp>
      <p:sp>
        <p:nvSpPr>
          <p:cNvPr id="61" name="Shape 59"/>
          <p:cNvSpPr/>
          <p:nvPr/>
        </p:nvSpPr>
        <p:spPr>
          <a:xfrm>
            <a:off x="1371600" y="5605272"/>
            <a:ext cx="6492240" cy="603504"/>
          </a:xfrm>
          <a:prstGeom prst="roundRect">
            <a:avLst>
              <a:gd name="adj" fmla="val 9091"/>
            </a:avLst>
          </a:prstGeom>
          <a:solidFill>
            <a:srgbClr val="15151B"/>
          </a:solidFill>
          <a:ln w="12700">
            <a:solidFill>
              <a:srgbClr val="26262F"/>
            </a:solidFill>
            <a:prstDash val="solid"/>
          </a:ln>
        </p:spPr>
      </p:sp>
      <p:sp>
        <p:nvSpPr>
          <p:cNvPr id="62" name="Text 60"/>
          <p:cNvSpPr/>
          <p:nvPr/>
        </p:nvSpPr>
        <p:spPr>
          <a:xfrm>
            <a:off x="1581912" y="5660136"/>
            <a:ext cx="6126480" cy="274320"/>
          </a:xfrm>
          <a:prstGeom prst="rect">
            <a:avLst/>
          </a:prstGeom>
          <a:noFill/>
          <a:ln/>
        </p:spPr>
        <p:txBody>
          <a:bodyPr wrap="square" lIns="0" tIns="0" rIns="0" bIns="0" rtlCol="0" anchor="ctr"/>
          <a:lstStyle/>
          <a:p>
            <a:pPr indent="0" marL="0">
              <a:buNone/>
            </a:pPr>
            <a:r>
              <a:rPr lang="en-US" sz="1250" b="1" dirty="0">
                <a:solidFill>
                  <a:srgbClr val="FFC62A"/>
                </a:solidFill>
                <a:latin typeface="Bahnschrift" pitchFamily="34" charset="0"/>
                <a:ea typeface="Bahnschrift" pitchFamily="34" charset="-122"/>
                <a:cs typeface="Bahnschrift" pitchFamily="34" charset="-120"/>
              </a:rPr>
              <a:t>Training Suggestions</a:t>
            </a:r>
            <a:endParaRPr lang="en-US" sz="1250" dirty="0"/>
          </a:p>
        </p:txBody>
      </p:sp>
      <p:sp>
        <p:nvSpPr>
          <p:cNvPr id="63" name="Text 61"/>
          <p:cNvSpPr/>
          <p:nvPr/>
        </p:nvSpPr>
        <p:spPr>
          <a:xfrm>
            <a:off x="1581912" y="5952744"/>
            <a:ext cx="6172200" cy="237744"/>
          </a:xfrm>
          <a:prstGeom prst="rect">
            <a:avLst/>
          </a:prstGeom>
          <a:noFill/>
          <a:ln/>
        </p:spPr>
        <p:txBody>
          <a:bodyPr wrap="square" lIns="0" tIns="0" rIns="0" bIns="0" rtlCol="0" anchor="ctr"/>
          <a:lstStyle/>
          <a:p>
            <a:pPr indent="0" marL="0">
              <a:buNone/>
            </a:pPr>
            <a:r>
              <a:rPr lang="en-US" sz="950" dirty="0">
                <a:solidFill>
                  <a:srgbClr val="9A97A6"/>
                </a:solidFill>
                <a:latin typeface="Segoe UI" pitchFamily="34" charset="0"/>
                <a:ea typeface="Segoe UI" pitchFamily="34" charset="-122"/>
                <a:cs typeface="Segoe UI" pitchFamily="34" charset="-120"/>
              </a:rPr>
              <a:t>AI Coach converts findings into weaknesses, drills and a weekly focus</a:t>
            </a:r>
            <a:endParaRPr lang="en-US" sz="950" dirty="0"/>
          </a:p>
        </p:txBody>
      </p:sp>
      <p:sp>
        <p:nvSpPr>
          <p:cNvPr id="64" name="Shape 62"/>
          <p:cNvSpPr/>
          <p:nvPr/>
        </p:nvSpPr>
        <p:spPr>
          <a:xfrm>
            <a:off x="8503920" y="1737360"/>
            <a:ext cx="3108960" cy="4480560"/>
          </a:xfrm>
          <a:prstGeom prst="roundRect">
            <a:avLst>
              <a:gd name="adj" fmla="val 2059"/>
            </a:avLst>
          </a:prstGeom>
          <a:solidFill>
            <a:srgbClr val="12141A"/>
          </a:solidFill>
          <a:ln w="12700">
            <a:solidFill>
              <a:srgbClr val="2A2A35"/>
            </a:solidFill>
            <a:prstDash val="solid"/>
          </a:ln>
        </p:spPr>
      </p:sp>
      <p:sp>
        <p:nvSpPr>
          <p:cNvPr id="65" name="Text 63"/>
          <p:cNvSpPr/>
          <p:nvPr/>
        </p:nvSpPr>
        <p:spPr>
          <a:xfrm>
            <a:off x="8732520" y="1920240"/>
            <a:ext cx="2651760" cy="457200"/>
          </a:xfrm>
          <a:prstGeom prst="rect">
            <a:avLst/>
          </a:prstGeom>
          <a:noFill/>
          <a:ln/>
        </p:spPr>
        <p:txBody>
          <a:bodyPr wrap="square" lIns="0" tIns="0" rIns="0" bIns="0" rtlCol="0" anchor="ctr"/>
          <a:lstStyle/>
          <a:p>
            <a:pPr indent="0" marL="0">
              <a:buNone/>
            </a:pPr>
            <a:r>
              <a:rPr lang="en-US" sz="1100" b="1" spc="100" kern="0" dirty="0">
                <a:solidFill>
                  <a:srgbClr val="FFC62A"/>
                </a:solidFill>
                <a:latin typeface="Bahnschrift" pitchFamily="34" charset="0"/>
                <a:ea typeface="Bahnschrift" pitchFamily="34" charset="-122"/>
                <a:cs typeface="Bahnschrift" pitchFamily="34" charset="-120"/>
              </a:rPr>
              <a:t>WHAT THE PLAYER GETS</a:t>
            </a:r>
            <a:endParaRPr lang="en-US" sz="1100" dirty="0"/>
          </a:p>
        </p:txBody>
      </p:sp>
      <p:sp>
        <p:nvSpPr>
          <p:cNvPr id="66" name="Text 64"/>
          <p:cNvSpPr/>
          <p:nvPr/>
        </p:nvSpPr>
        <p:spPr>
          <a:xfrm>
            <a:off x="8732520" y="2514600"/>
            <a:ext cx="2697480" cy="3200400"/>
          </a:xfrm>
          <a:prstGeom prst="rect">
            <a:avLst/>
          </a:prstGeom>
          <a:noFill/>
          <a:ln/>
        </p:spPr>
        <p:txBody>
          <a:bodyPr wrap="square" lIns="0" tIns="0" rIns="0" bIns="0" rtlCol="0" anchor="ctr"/>
          <a:lstStyle/>
          <a:p>
            <a:pPr marL="342900" indent="-342900">
              <a:spcAft>
                <a:spcPts val="800"/>
              </a:spcAft>
              <a:buSzPct val="100000"/>
              <a:buChar char="•"/>
            </a:pPr>
            <a:r>
              <a:rPr lang="en-US" sz="1100" dirty="0">
                <a:solidFill>
                  <a:srgbClr val="F5F2EA"/>
                </a:solidFill>
                <a:latin typeface="Segoe UI" pitchFamily="34" charset="0"/>
                <a:ea typeface="Segoe UI" pitchFamily="34" charset="-122"/>
                <a:cs typeface="Segoe UI" pitchFamily="34" charset="-120"/>
              </a:rPr>
              <a:t>Accuracy % per player</a:t>
            </a:r>
            <a:endParaRPr lang="en-US" sz="1100" dirty="0"/>
          </a:p>
          <a:p>
            <a:pPr marL="342900" indent="-342900">
              <a:spcAft>
                <a:spcPts val="800"/>
              </a:spcAft>
              <a:buSzPct val="100000"/>
              <a:buChar char="•"/>
            </a:pPr>
            <a:r>
              <a:rPr lang="en-US" sz="1100" dirty="0">
                <a:solidFill>
                  <a:srgbClr val="F5F2EA"/>
                </a:solidFill>
                <a:latin typeface="Segoe UI" pitchFamily="34" charset="0"/>
                <a:ea typeface="Segoe UI" pitchFamily="34" charset="-122"/>
                <a:cs typeface="Segoe UI" pitchFamily="34" charset="-120"/>
              </a:rPr>
              <a:t>Critical moments list</a:t>
            </a:r>
            <a:endParaRPr lang="en-US" sz="1100" dirty="0"/>
          </a:p>
          <a:p>
            <a:pPr marL="342900" indent="-342900">
              <a:spcAft>
                <a:spcPts val="800"/>
              </a:spcAft>
              <a:buSzPct val="100000"/>
              <a:buChar char="•"/>
            </a:pPr>
            <a:r>
              <a:rPr lang="en-US" sz="1100" dirty="0">
                <a:solidFill>
                  <a:srgbClr val="F5F2EA"/>
                </a:solidFill>
                <a:latin typeface="Segoe UI" pitchFamily="34" charset="0"/>
                <a:ea typeface="Segoe UI" pitchFamily="34" charset="-122"/>
                <a:cs typeface="Segoe UI" pitchFamily="34" charset="-120"/>
              </a:rPr>
              <a:t>Alternative lines</a:t>
            </a:r>
            <a:endParaRPr lang="en-US" sz="1100" dirty="0"/>
          </a:p>
          <a:p>
            <a:pPr marL="342900" indent="-342900">
              <a:spcAft>
                <a:spcPts val="800"/>
              </a:spcAft>
              <a:buSzPct val="100000"/>
              <a:buChar char="•"/>
            </a:pPr>
            <a:r>
              <a:rPr lang="en-US" sz="1100" dirty="0">
                <a:solidFill>
                  <a:srgbClr val="F5F2EA"/>
                </a:solidFill>
                <a:latin typeface="Segoe UI" pitchFamily="34" charset="0"/>
                <a:ea typeface="Segoe UI" pitchFamily="34" charset="-122"/>
                <a:cs typeface="Segoe UI" pitchFamily="34" charset="-120"/>
              </a:rPr>
              <a:t>Evaluation graph</a:t>
            </a:r>
            <a:endParaRPr lang="en-US" sz="1100" dirty="0"/>
          </a:p>
          <a:p>
            <a:pPr marL="342900" indent="-342900">
              <a:spcAft>
                <a:spcPts val="800"/>
              </a:spcAft>
              <a:buSzPct val="100000"/>
              <a:buChar char="•"/>
            </a:pPr>
            <a:r>
              <a:rPr lang="en-US" sz="1100" dirty="0">
                <a:solidFill>
                  <a:srgbClr val="F5F2EA"/>
                </a:solidFill>
                <a:latin typeface="Segoe UI" pitchFamily="34" charset="0"/>
                <a:ea typeface="Segoe UI" pitchFamily="34" charset="-122"/>
                <a:cs typeface="Segoe UI" pitchFamily="34" charset="-120"/>
              </a:rPr>
              <a:t>Weakness diagnosis</a:t>
            </a:r>
            <a:endParaRPr lang="en-US" sz="1100" dirty="0"/>
          </a:p>
          <a:p>
            <a:pPr marL="342900" indent="-342900">
              <a:spcAft>
                <a:spcPts val="800"/>
              </a:spcAft>
              <a:buSzPct val="100000"/>
              <a:buChar char="•"/>
            </a:pPr>
            <a:r>
              <a:rPr lang="en-US" sz="1100" dirty="0">
                <a:solidFill>
                  <a:srgbClr val="F5F2EA"/>
                </a:solidFill>
                <a:latin typeface="Segoe UI" pitchFamily="34" charset="0"/>
                <a:ea typeface="Segoe UI" pitchFamily="34" charset="-122"/>
                <a:cs typeface="Segoe UI" pitchFamily="34" charset="-120"/>
              </a:rPr>
              <a:t>Weekly training focus</a:t>
            </a:r>
            <a:endParaRPr lang="en-US" sz="1100" dirty="0"/>
          </a:p>
          <a:p>
            <a:pPr marL="342900" indent="-342900">
              <a:spcAft>
                <a:spcPts val="800"/>
              </a:spcAft>
              <a:buSzPct val="100000"/>
              <a:buChar char="•"/>
            </a:pPr>
            <a:r>
              <a:rPr lang="en-US" sz="1100" dirty="0">
                <a:solidFill>
                  <a:srgbClr val="F5F2EA"/>
                </a:solidFill>
                <a:latin typeface="Segoe UI" pitchFamily="34" charset="0"/>
                <a:ea typeface="Segoe UI" pitchFamily="34" charset="-122"/>
                <a:cs typeface="Segoe UI" pitchFamily="34" charset="-120"/>
              </a:rPr>
              <a:t>Shareable report card</a:t>
            </a:r>
            <a:endParaRPr lang="en-US" sz="1100" dirty="0"/>
          </a:p>
        </p:txBody>
      </p:sp>
      <p:sp>
        <p:nvSpPr>
          <p:cNvPr id="67" name="Shape 65"/>
          <p:cNvSpPr/>
          <p:nvPr/>
        </p:nvSpPr>
        <p:spPr>
          <a:xfrm>
            <a:off x="8732520" y="5806440"/>
            <a:ext cx="1043788" cy="246888"/>
          </a:xfrm>
          <a:prstGeom prst="roundRect">
            <a:avLst>
              <a:gd name="adj" fmla="val 50000"/>
            </a:avLst>
          </a:prstGeom>
          <a:solidFill>
            <a:srgbClr val="0E2418"/>
          </a:solidFill>
          <a:ln w="9525">
            <a:solidFill>
              <a:srgbClr val="1F5C38"/>
            </a:solidFill>
            <a:prstDash val="solid"/>
          </a:ln>
        </p:spPr>
      </p:sp>
      <p:sp>
        <p:nvSpPr>
          <p:cNvPr id="68" name="Text 66"/>
          <p:cNvSpPr/>
          <p:nvPr/>
        </p:nvSpPr>
        <p:spPr>
          <a:xfrm>
            <a:off x="8732520" y="5795467"/>
            <a:ext cx="1043788" cy="269748"/>
          </a:xfrm>
          <a:prstGeom prst="rect">
            <a:avLst/>
          </a:prstGeom>
          <a:noFill/>
          <a:ln/>
        </p:spPr>
        <p:txBody>
          <a:bodyPr wrap="square" lIns="0" tIns="0" rIns="0" bIns="0" rtlCol="0" anchor="ctr"/>
          <a:lstStyle/>
          <a:p>
            <a:pPr algn="ctr" indent="0" marL="0">
              <a:buNone/>
            </a:pPr>
            <a:r>
              <a:rPr lang="en-US" sz="850" b="1" spc="80" kern="0" dirty="0">
                <a:solidFill>
                  <a:srgbClr val="3DDC84"/>
                </a:solidFill>
                <a:latin typeface="Segoe UI" pitchFamily="34" charset="0"/>
                <a:ea typeface="Segoe UI" pitchFamily="34" charset="-122"/>
                <a:cs typeface="Segoe UI" pitchFamily="34" charset="-120"/>
              </a:rPr>
              <a:t>IMPLEMENTED</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0B0F"/>
        </a:solidFill>
      </p:bgPr>
    </p:bg>
    <p:spTree>
      <p:nvGrpSpPr>
        <p:cNvPr id="1" name=""/>
        <p:cNvGrpSpPr/>
        <p:nvPr/>
      </p:nvGrpSpPr>
      <p:grpSpPr>
        <a:xfrm>
          <a:off x="0" y="0"/>
          <a:ext cx="0" cy="0"/>
          <a:chOff x="0" y="0"/>
          <a:chExt cx="0" cy="0"/>
        </a:xfrm>
      </p:grpSpPr>
      <p:sp>
        <p:nvSpPr>
          <p:cNvPr id="2" name="Shape 0"/>
          <p:cNvSpPr/>
          <p:nvPr/>
        </p:nvSpPr>
        <p:spPr>
          <a:xfrm>
            <a:off x="10716768" y="292608"/>
            <a:ext cx="155448" cy="155448"/>
          </a:xfrm>
          <a:prstGeom prst="rect">
            <a:avLst/>
          </a:prstGeom>
          <a:solidFill>
            <a:srgbClr val="14141A"/>
          </a:solidFill>
          <a:ln/>
        </p:spPr>
      </p:sp>
      <p:sp>
        <p:nvSpPr>
          <p:cNvPr id="3" name="Shape 1"/>
          <p:cNvSpPr/>
          <p:nvPr/>
        </p:nvSpPr>
        <p:spPr>
          <a:xfrm>
            <a:off x="11027664" y="292608"/>
            <a:ext cx="155448" cy="155448"/>
          </a:xfrm>
          <a:prstGeom prst="rect">
            <a:avLst/>
          </a:prstGeom>
          <a:solidFill>
            <a:srgbClr val="14141A"/>
          </a:solidFill>
          <a:ln/>
        </p:spPr>
      </p:sp>
      <p:sp>
        <p:nvSpPr>
          <p:cNvPr id="4" name="Shape 2"/>
          <p:cNvSpPr/>
          <p:nvPr/>
        </p:nvSpPr>
        <p:spPr>
          <a:xfrm>
            <a:off x="10561320" y="448056"/>
            <a:ext cx="155448" cy="155448"/>
          </a:xfrm>
          <a:prstGeom prst="rect">
            <a:avLst/>
          </a:prstGeom>
          <a:solidFill>
            <a:srgbClr val="14141A"/>
          </a:solidFill>
          <a:ln/>
        </p:spPr>
      </p:sp>
      <p:sp>
        <p:nvSpPr>
          <p:cNvPr id="5" name="Shape 3"/>
          <p:cNvSpPr/>
          <p:nvPr/>
        </p:nvSpPr>
        <p:spPr>
          <a:xfrm>
            <a:off x="10872216" y="448056"/>
            <a:ext cx="155448" cy="155448"/>
          </a:xfrm>
          <a:prstGeom prst="rect">
            <a:avLst/>
          </a:prstGeom>
          <a:solidFill>
            <a:srgbClr val="14141A"/>
          </a:solidFill>
          <a:ln/>
        </p:spPr>
      </p:sp>
      <p:sp>
        <p:nvSpPr>
          <p:cNvPr id="6" name="Shape 4"/>
          <p:cNvSpPr/>
          <p:nvPr/>
        </p:nvSpPr>
        <p:spPr>
          <a:xfrm>
            <a:off x="11183112" y="448056"/>
            <a:ext cx="155448" cy="155448"/>
          </a:xfrm>
          <a:prstGeom prst="rect">
            <a:avLst/>
          </a:prstGeom>
          <a:solidFill>
            <a:srgbClr val="14141A"/>
          </a:solidFill>
          <a:ln/>
        </p:spPr>
      </p:sp>
      <p:sp>
        <p:nvSpPr>
          <p:cNvPr id="7" name="Shape 5"/>
          <p:cNvSpPr/>
          <p:nvPr/>
        </p:nvSpPr>
        <p:spPr>
          <a:xfrm>
            <a:off x="10716768" y="603504"/>
            <a:ext cx="155448" cy="155448"/>
          </a:xfrm>
          <a:prstGeom prst="rect">
            <a:avLst/>
          </a:prstGeom>
          <a:solidFill>
            <a:srgbClr val="14141A"/>
          </a:solidFill>
          <a:ln/>
        </p:spPr>
      </p:sp>
      <p:sp>
        <p:nvSpPr>
          <p:cNvPr id="8" name="Shape 6"/>
          <p:cNvSpPr/>
          <p:nvPr/>
        </p:nvSpPr>
        <p:spPr>
          <a:xfrm>
            <a:off x="11027664" y="603504"/>
            <a:ext cx="155448" cy="155448"/>
          </a:xfrm>
          <a:prstGeom prst="rect">
            <a:avLst/>
          </a:prstGeom>
          <a:solidFill>
            <a:srgbClr val="14141A"/>
          </a:solidFill>
          <a:ln/>
        </p:spPr>
      </p:sp>
      <p:sp>
        <p:nvSpPr>
          <p:cNvPr id="9" name="Shape 7"/>
          <p:cNvSpPr/>
          <p:nvPr/>
        </p:nvSpPr>
        <p:spPr>
          <a:xfrm>
            <a:off x="10561320" y="758952"/>
            <a:ext cx="155448" cy="155448"/>
          </a:xfrm>
          <a:prstGeom prst="rect">
            <a:avLst/>
          </a:prstGeom>
          <a:solidFill>
            <a:srgbClr val="14141A"/>
          </a:solidFill>
          <a:ln/>
        </p:spPr>
      </p:sp>
      <p:sp>
        <p:nvSpPr>
          <p:cNvPr id="10" name="Shape 8"/>
          <p:cNvSpPr/>
          <p:nvPr/>
        </p:nvSpPr>
        <p:spPr>
          <a:xfrm>
            <a:off x="10872216" y="758952"/>
            <a:ext cx="155448" cy="155448"/>
          </a:xfrm>
          <a:prstGeom prst="rect">
            <a:avLst/>
          </a:prstGeom>
          <a:solidFill>
            <a:srgbClr val="14141A"/>
          </a:solidFill>
          <a:ln/>
        </p:spPr>
      </p:sp>
      <p:sp>
        <p:nvSpPr>
          <p:cNvPr id="11" name="Shape 9"/>
          <p:cNvSpPr/>
          <p:nvPr/>
        </p:nvSpPr>
        <p:spPr>
          <a:xfrm>
            <a:off x="11183112" y="758952"/>
            <a:ext cx="155448" cy="155448"/>
          </a:xfrm>
          <a:prstGeom prst="rect">
            <a:avLst/>
          </a:prstGeom>
          <a:solidFill>
            <a:srgbClr val="14141A"/>
          </a:solidFill>
          <a:ln/>
        </p:spPr>
      </p:sp>
      <p:sp>
        <p:nvSpPr>
          <p:cNvPr id="12" name="Shape 10"/>
          <p:cNvSpPr/>
          <p:nvPr/>
        </p:nvSpPr>
        <p:spPr>
          <a:xfrm>
            <a:off x="10716768" y="914400"/>
            <a:ext cx="155448" cy="155448"/>
          </a:xfrm>
          <a:prstGeom prst="rect">
            <a:avLst/>
          </a:prstGeom>
          <a:solidFill>
            <a:srgbClr val="14141A"/>
          </a:solidFill>
          <a:ln/>
        </p:spPr>
      </p:sp>
      <p:sp>
        <p:nvSpPr>
          <p:cNvPr id="13" name="Shape 11"/>
          <p:cNvSpPr/>
          <p:nvPr/>
        </p:nvSpPr>
        <p:spPr>
          <a:xfrm>
            <a:off x="11027664" y="914400"/>
            <a:ext cx="155448" cy="155448"/>
          </a:xfrm>
          <a:prstGeom prst="rect">
            <a:avLst/>
          </a:prstGeom>
          <a:solidFill>
            <a:srgbClr val="14141A"/>
          </a:solidFill>
          <a:ln/>
        </p:spPr>
      </p:sp>
      <p:sp>
        <p:nvSpPr>
          <p:cNvPr id="14" name="Shape 12"/>
          <p:cNvSpPr/>
          <p:nvPr/>
        </p:nvSpPr>
        <p:spPr>
          <a:xfrm>
            <a:off x="9859975" y="310896"/>
            <a:ext cx="1783080" cy="292608"/>
          </a:xfrm>
          <a:prstGeom prst="roundRect">
            <a:avLst>
              <a:gd name="adj" fmla="val 50000"/>
            </a:avLst>
          </a:prstGeom>
          <a:solidFill>
            <a:srgbClr val="2A2412"/>
          </a:solidFill>
          <a:ln w="9525">
            <a:solidFill>
              <a:srgbClr val="4A3D18"/>
            </a:solidFill>
            <a:prstDash val="solid"/>
          </a:ln>
        </p:spPr>
      </p:sp>
      <p:sp>
        <p:nvSpPr>
          <p:cNvPr id="15" name="Text 13"/>
          <p:cNvSpPr/>
          <p:nvPr/>
        </p:nvSpPr>
        <p:spPr>
          <a:xfrm>
            <a:off x="9859975" y="301752"/>
            <a:ext cx="1783080" cy="310896"/>
          </a:xfrm>
          <a:prstGeom prst="rect">
            <a:avLst/>
          </a:prstGeom>
          <a:noFill/>
          <a:ln/>
        </p:spPr>
        <p:txBody>
          <a:bodyPr wrap="square" lIns="0" tIns="0" rIns="0" bIns="0" rtlCol="0" anchor="ctr"/>
          <a:lstStyle/>
          <a:p>
            <a:pPr algn="ctr" indent="0" marL="0">
              <a:buNone/>
            </a:pPr>
            <a:r>
              <a:rPr lang="en-US" sz="800" b="1" spc="120" kern="0" dirty="0">
                <a:solidFill>
                  <a:srgbClr val="FFC62A"/>
                </a:solidFill>
                <a:latin typeface="Bahnschrift" pitchFamily="34" charset="0"/>
                <a:ea typeface="Bahnschrift" pitchFamily="34" charset="-122"/>
                <a:cs typeface="Bahnschrift" pitchFamily="34" charset="-120"/>
              </a:rPr>
              <a:t>VERIFIED · FROM SOURCE CODE</a:t>
            </a:r>
            <a:endParaRPr lang="en-US" sz="800" dirty="0"/>
          </a:p>
        </p:txBody>
      </p:sp>
      <p:sp>
        <p:nvSpPr>
          <p:cNvPr id="16" name="Text 14"/>
          <p:cNvSpPr/>
          <p:nvPr/>
        </p:nvSpPr>
        <p:spPr>
          <a:xfrm>
            <a:off x="566928" y="384048"/>
            <a:ext cx="8229600" cy="274320"/>
          </a:xfrm>
          <a:prstGeom prst="rect">
            <a:avLst/>
          </a:prstGeom>
          <a:noFill/>
          <a:ln/>
        </p:spPr>
        <p:txBody>
          <a:bodyPr wrap="square" lIns="0" tIns="0" rIns="0" bIns="0" rtlCol="0" anchor="ctr"/>
          <a:lstStyle/>
          <a:p>
            <a:pPr indent="0" marL="0">
              <a:buNone/>
            </a:pPr>
            <a:r>
              <a:rPr lang="en-US" sz="1100" b="1" spc="300" kern="0" dirty="0">
                <a:solidFill>
                  <a:srgbClr val="FFC62A"/>
                </a:solidFill>
                <a:latin typeface="Bahnschrift" pitchFamily="34" charset="0"/>
                <a:ea typeface="Bahnschrift" pitchFamily="34" charset="-122"/>
                <a:cs typeface="Bahnschrift" pitchFamily="34" charset="-120"/>
              </a:rPr>
              <a:t>13 · LIVE APPLICATION</a:t>
            </a:r>
            <a:endParaRPr lang="en-US" sz="1100" dirty="0"/>
          </a:p>
        </p:txBody>
      </p:sp>
      <p:sp>
        <p:nvSpPr>
          <p:cNvPr id="17" name="Shape 15"/>
          <p:cNvSpPr/>
          <p:nvPr/>
        </p:nvSpPr>
        <p:spPr>
          <a:xfrm>
            <a:off x="566928" y="713232"/>
            <a:ext cx="384048" cy="45720"/>
          </a:xfrm>
          <a:prstGeom prst="rect">
            <a:avLst/>
          </a:prstGeom>
          <a:solidFill>
            <a:srgbClr val="FFC62A"/>
          </a:solidFill>
          <a:ln/>
        </p:spPr>
      </p:sp>
      <p:sp>
        <p:nvSpPr>
          <p:cNvPr id="18" name="Text 16"/>
          <p:cNvSpPr/>
          <p:nvPr/>
        </p:nvSpPr>
        <p:spPr>
          <a:xfrm>
            <a:off x="548640" y="841248"/>
            <a:ext cx="11064240" cy="566928"/>
          </a:xfrm>
          <a:prstGeom prst="rect">
            <a:avLst/>
          </a:prstGeom>
          <a:noFill/>
          <a:ln/>
        </p:spPr>
        <p:txBody>
          <a:bodyPr wrap="square" lIns="0" tIns="0" rIns="0" bIns="0" rtlCol="0" anchor="ctr"/>
          <a:lstStyle/>
          <a:p>
            <a:pPr indent="0" marL="0">
              <a:buNone/>
            </a:pPr>
            <a:r>
              <a:rPr lang="en-US" sz="2700" b="1" dirty="0">
                <a:solidFill>
                  <a:srgbClr val="F5F2EA"/>
                </a:solidFill>
                <a:latin typeface="Bahnschrift" pitchFamily="34" charset="0"/>
                <a:ea typeface="Bahnschrift" pitchFamily="34" charset="-122"/>
                <a:cs typeface="Bahnschrift" pitchFamily="34" charset="-120"/>
              </a:rPr>
              <a:t>Screenshots — captured from the running app</a:t>
            </a:r>
            <a:endParaRPr lang="en-US" sz="2700" dirty="0"/>
          </a:p>
        </p:txBody>
      </p:sp>
      <p:sp>
        <p:nvSpPr>
          <p:cNvPr id="19" name="Text 17"/>
          <p:cNvSpPr/>
          <p:nvPr/>
        </p:nvSpPr>
        <p:spPr>
          <a:xfrm>
            <a:off x="566928" y="1389888"/>
            <a:ext cx="11064240" cy="274320"/>
          </a:xfrm>
          <a:prstGeom prst="rect">
            <a:avLst/>
          </a:prstGeom>
          <a:noFill/>
          <a:ln/>
        </p:spPr>
        <p:txBody>
          <a:bodyPr wrap="square" lIns="0" tIns="0" rIns="0" bIns="0" rtlCol="0" anchor="ctr"/>
          <a:lstStyle/>
          <a:p>
            <a:pPr indent="0" marL="0">
              <a:buNone/>
            </a:pPr>
            <a:r>
              <a:rPr lang="en-US" sz="1250" dirty="0">
                <a:solidFill>
                  <a:srgbClr val="9A97A6"/>
                </a:solidFill>
                <a:latin typeface="Segoe UI" pitchFamily="34" charset="0"/>
                <a:ea typeface="Segoe UI" pitchFamily="34" charset="-122"/>
                <a:cs typeface="Segoe UI" pitchFamily="34" charset="-120"/>
              </a:rPr>
              <a:t>Real Playwright captures from the repository's e2e test suite.</a:t>
            </a:r>
            <a:endParaRPr lang="en-US" sz="1250" dirty="0"/>
          </a:p>
        </p:txBody>
      </p:sp>
      <p:sp>
        <p:nvSpPr>
          <p:cNvPr id="20" name="Text 18"/>
          <p:cNvSpPr/>
          <p:nvPr/>
        </p:nvSpPr>
        <p:spPr>
          <a:xfrm>
            <a:off x="566928" y="6492240"/>
            <a:ext cx="2743200" cy="256032"/>
          </a:xfrm>
          <a:prstGeom prst="rect">
            <a:avLst/>
          </a:prstGeom>
          <a:noFill/>
          <a:ln/>
        </p:spPr>
        <p:txBody>
          <a:bodyPr wrap="square" lIns="0" tIns="0" rIns="0" bIns="0" rtlCol="0" anchor="ctr"/>
          <a:lstStyle/>
          <a:p>
            <a:pPr indent="0" marL="0">
              <a:buNone/>
            </a:pPr>
            <a:r>
              <a:rPr lang="en-US" sz="850" b="1" spc="300" kern="0" dirty="0">
                <a:solidFill>
                  <a:srgbClr val="5C5966"/>
                </a:solidFill>
                <a:latin typeface="Bahnschrift" pitchFamily="34" charset="0"/>
                <a:ea typeface="Bahnschrift" pitchFamily="34" charset="-122"/>
                <a:cs typeface="Bahnschrift" pitchFamily="34" charset="-120"/>
              </a:rPr>
              <a:t>CHESSFORK</a:t>
            </a:r>
            <a:endParaRPr lang="en-US" sz="850" dirty="0"/>
          </a:p>
        </p:txBody>
      </p:sp>
      <p:sp>
        <p:nvSpPr>
          <p:cNvPr id="21" name="Text 19"/>
          <p:cNvSpPr/>
          <p:nvPr/>
        </p:nvSpPr>
        <p:spPr>
          <a:xfrm>
            <a:off x="3840480" y="6492240"/>
            <a:ext cx="4572000" cy="256032"/>
          </a:xfrm>
          <a:prstGeom prst="rect">
            <a:avLst/>
          </a:prstGeom>
          <a:noFill/>
          <a:ln/>
        </p:spPr>
        <p:txBody>
          <a:bodyPr wrap="square" lIns="0" tIns="0" rIns="0" bIns="0" rtlCol="0" anchor="ctr"/>
          <a:lstStyle/>
          <a:p>
            <a:pPr indent="0" marL="0">
              <a:buNone/>
            </a:pPr>
            <a:r>
              <a:rPr lang="en-US" sz="800" spc="150" kern="0" dirty="0">
                <a:solidFill>
                  <a:srgbClr val="5C5966"/>
                </a:solidFill>
                <a:latin typeface="Segoe UI" pitchFamily="34" charset="0"/>
                <a:ea typeface="Segoe UI" pitchFamily="34" charset="-122"/>
                <a:cs typeface="Segoe UI" pitchFamily="34" charset="-120"/>
              </a:rPr>
              <a:t>BCA FINAL YEAR PROJECT · 2026</a:t>
            </a:r>
            <a:endParaRPr lang="en-US" sz="800" dirty="0"/>
          </a:p>
        </p:txBody>
      </p:sp>
      <p:sp>
        <p:nvSpPr>
          <p:cNvPr id="22" name="Text 20"/>
          <p:cNvSpPr/>
          <p:nvPr/>
        </p:nvSpPr>
        <p:spPr>
          <a:xfrm>
            <a:off x="11292840" y="6473952"/>
            <a:ext cx="365760" cy="274320"/>
          </a:xfrm>
          <a:prstGeom prst="rect">
            <a:avLst/>
          </a:prstGeom>
          <a:noFill/>
          <a:ln/>
        </p:spPr>
        <p:txBody>
          <a:bodyPr wrap="square" lIns="0" tIns="0" rIns="0" bIns="0" rtlCol="0" anchor="ctr"/>
          <a:lstStyle/>
          <a:p>
            <a:pPr algn="r" indent="0" marL="0">
              <a:buNone/>
            </a:pPr>
            <a:r>
              <a:rPr lang="en-US" sz="900" b="1" dirty="0">
                <a:solidFill>
                  <a:srgbClr val="5C5966"/>
                </a:solidFill>
                <a:latin typeface="Bahnschrift" pitchFamily="34" charset="0"/>
                <a:ea typeface="Bahnschrift" pitchFamily="34" charset="-122"/>
                <a:cs typeface="Bahnschrift" pitchFamily="34" charset="-120"/>
              </a:rPr>
              <a:t>14</a:t>
            </a:r>
            <a:endParaRPr lang="en-US" sz="900" dirty="0"/>
          </a:p>
        </p:txBody>
      </p:sp>
      <p:sp>
        <p:nvSpPr>
          <p:cNvPr id="23" name="Shape 21"/>
          <p:cNvSpPr/>
          <p:nvPr/>
        </p:nvSpPr>
        <p:spPr>
          <a:xfrm>
            <a:off x="512064" y="1728216"/>
            <a:ext cx="3538728" cy="2038541"/>
          </a:xfrm>
          <a:prstGeom prst="roundRect">
            <a:avLst>
              <a:gd name="adj" fmla="val 1794"/>
            </a:avLst>
          </a:prstGeom>
          <a:solidFill>
            <a:srgbClr val="101015"/>
          </a:solidFill>
          <a:ln w="12700">
            <a:solidFill>
              <a:srgbClr val="2E2E38"/>
            </a:solidFill>
            <a:prstDash val="solid"/>
          </a:ln>
        </p:spPr>
      </p:sp>
      <p:pic>
        <p:nvPicPr>
          <p:cNvPr id="24" name="Image 0" descr="C:\Projects\Chessfork\e2e\screenshots\chessigma-analysis.png">    </p:cNvPr>
          <p:cNvPicPr>
            <a:picLocks noChangeAspect="1"/>
          </p:cNvPicPr>
          <p:nvPr/>
        </p:nvPicPr>
        <p:blipFill>
          <a:blip r:embed="rId1"/>
          <a:srcRect l="0" r="0" t="0" b="0"/>
          <a:stretch/>
        </p:blipFill>
        <p:spPr>
          <a:xfrm>
            <a:off x="566928" y="1783080"/>
            <a:ext cx="3429000" cy="1928813"/>
          </a:xfrm>
          <a:prstGeom prst="rect">
            <a:avLst/>
          </a:prstGeom>
        </p:spPr>
      </p:pic>
      <p:sp>
        <p:nvSpPr>
          <p:cNvPr id="25" name="Text 22"/>
          <p:cNvSpPr/>
          <p:nvPr/>
        </p:nvSpPr>
        <p:spPr>
          <a:xfrm>
            <a:off x="566928" y="1810512"/>
            <a:ext cx="3246120" cy="237744"/>
          </a:xfrm>
          <a:prstGeom prst="rect">
            <a:avLst/>
          </a:prstGeom>
          <a:noFill/>
          <a:ln/>
        </p:spPr>
        <p:txBody>
          <a:bodyPr wrap="square" lIns="0" tIns="0" rIns="0" bIns="0" rtlCol="0" anchor="ctr"/>
          <a:lstStyle/>
          <a:p>
            <a:pPr algn="r" indent="0" marL="0">
              <a:buNone/>
            </a:pPr>
            <a:r>
              <a:rPr lang="en-US" sz="800" dirty="0">
                <a:solidFill>
                  <a:srgbClr val="5C5966"/>
                </a:solidFill>
                <a:latin typeface="Segoe UI" pitchFamily="34" charset="0"/>
                <a:ea typeface="Segoe UI" pitchFamily="34" charset="-122"/>
                <a:cs typeface="Segoe UI" pitchFamily="34" charset="-120"/>
              </a:rPr>
              <a:t>1280×720</a:t>
            </a:r>
            <a:endParaRPr lang="en-US" sz="800" dirty="0"/>
          </a:p>
        </p:txBody>
      </p:sp>
      <p:sp>
        <p:nvSpPr>
          <p:cNvPr id="26" name="Text 23"/>
          <p:cNvSpPr/>
          <p:nvPr/>
        </p:nvSpPr>
        <p:spPr>
          <a:xfrm>
            <a:off x="566928" y="3839909"/>
            <a:ext cx="3429000" cy="502920"/>
          </a:xfrm>
          <a:prstGeom prst="rect">
            <a:avLst/>
          </a:prstGeom>
          <a:noFill/>
          <a:ln/>
        </p:spPr>
        <p:txBody>
          <a:bodyPr wrap="square" lIns="0" tIns="0" rIns="0" bIns="0" rtlCol="0" anchor="ctr"/>
          <a:lstStyle/>
          <a:p>
            <a:pPr algn="ctr" indent="0" marL="0">
              <a:buNone/>
            </a:pPr>
            <a:r>
              <a:rPr lang="en-US" sz="1050" b="1" dirty="0">
                <a:solidFill>
                  <a:srgbClr val="F5F2EA"/>
                </a:solidFill>
                <a:latin typeface="Segoe UI" pitchFamily="34" charset="0"/>
                <a:ea typeface="Segoe UI" pitchFamily="34" charset="-122"/>
                <a:cs typeface="Segoe UI" pitchFamily="34" charset="-120"/>
              </a:rPr>
              <a:t>Game Review — grades, evaluation graph, alternatives</a:t>
            </a:r>
            <a:endParaRPr lang="en-US" sz="1050" dirty="0"/>
          </a:p>
        </p:txBody>
      </p:sp>
      <p:sp>
        <p:nvSpPr>
          <p:cNvPr id="27" name="Shape 24"/>
          <p:cNvSpPr/>
          <p:nvPr/>
        </p:nvSpPr>
        <p:spPr>
          <a:xfrm>
            <a:off x="4325112" y="1728216"/>
            <a:ext cx="3538728" cy="2617184"/>
          </a:xfrm>
          <a:prstGeom prst="roundRect">
            <a:avLst>
              <a:gd name="adj" fmla="val 1398"/>
            </a:avLst>
          </a:prstGeom>
          <a:solidFill>
            <a:srgbClr val="101015"/>
          </a:solidFill>
          <a:ln w="12700">
            <a:solidFill>
              <a:srgbClr val="2E2E38"/>
            </a:solidFill>
            <a:prstDash val="solid"/>
          </a:ln>
        </p:spPr>
      </p:sp>
      <p:pic>
        <p:nvPicPr>
          <p:cNvPr id="28" name="Image 1" descr="C:\Projects\Chessfork\e2e\screenshots\whatif-move-1.png">    </p:cNvPr>
          <p:cNvPicPr>
            <a:picLocks noChangeAspect="1"/>
          </p:cNvPicPr>
          <p:nvPr/>
        </p:nvPicPr>
        <p:blipFill>
          <a:blip r:embed="rId2"/>
          <a:srcRect l="0" r="0" t="0" b="0"/>
          <a:stretch/>
        </p:blipFill>
        <p:spPr>
          <a:xfrm>
            <a:off x="4379976" y="1783080"/>
            <a:ext cx="3429000" cy="2507456"/>
          </a:xfrm>
          <a:prstGeom prst="rect">
            <a:avLst/>
          </a:prstGeom>
        </p:spPr>
      </p:pic>
      <p:sp>
        <p:nvSpPr>
          <p:cNvPr id="29" name="Text 25"/>
          <p:cNvSpPr/>
          <p:nvPr/>
        </p:nvSpPr>
        <p:spPr>
          <a:xfrm>
            <a:off x="4379976" y="1810512"/>
            <a:ext cx="3246120" cy="237744"/>
          </a:xfrm>
          <a:prstGeom prst="rect">
            <a:avLst/>
          </a:prstGeom>
          <a:noFill/>
          <a:ln/>
        </p:spPr>
        <p:txBody>
          <a:bodyPr wrap="square" lIns="0" tIns="0" rIns="0" bIns="0" rtlCol="0" anchor="ctr"/>
          <a:lstStyle/>
          <a:p>
            <a:pPr algn="r" indent="0" marL="0">
              <a:buNone/>
            </a:pPr>
            <a:r>
              <a:rPr lang="en-US" sz="800" dirty="0">
                <a:solidFill>
                  <a:srgbClr val="5C5966"/>
                </a:solidFill>
                <a:latin typeface="Segoe UI" pitchFamily="34" charset="0"/>
                <a:ea typeface="Segoe UI" pitchFamily="34" charset="-122"/>
                <a:cs typeface="Segoe UI" pitchFamily="34" charset="-120"/>
              </a:rPr>
              <a:t>1280×936</a:t>
            </a:r>
            <a:endParaRPr lang="en-US" sz="800" dirty="0"/>
          </a:p>
        </p:txBody>
      </p:sp>
      <p:sp>
        <p:nvSpPr>
          <p:cNvPr id="30" name="Text 26"/>
          <p:cNvSpPr/>
          <p:nvPr/>
        </p:nvSpPr>
        <p:spPr>
          <a:xfrm>
            <a:off x="4379976" y="4418552"/>
            <a:ext cx="3429000" cy="502920"/>
          </a:xfrm>
          <a:prstGeom prst="rect">
            <a:avLst/>
          </a:prstGeom>
          <a:noFill/>
          <a:ln/>
        </p:spPr>
        <p:txBody>
          <a:bodyPr wrap="square" lIns="0" tIns="0" rIns="0" bIns="0" rtlCol="0" anchor="ctr"/>
          <a:lstStyle/>
          <a:p>
            <a:pPr algn="ctr" indent="0" marL="0">
              <a:buNone/>
            </a:pPr>
            <a:r>
              <a:rPr lang="en-US" sz="1050" b="1" dirty="0">
                <a:solidFill>
                  <a:srgbClr val="F5F2EA"/>
                </a:solidFill>
                <a:latin typeface="Segoe UI" pitchFamily="34" charset="0"/>
                <a:ea typeface="Segoe UI" pitchFamily="34" charset="-122"/>
                <a:cs typeface="Segoe UI" pitchFamily="34" charset="-120"/>
              </a:rPr>
              <a:t>What-If — interactive variation analysis</a:t>
            </a:r>
            <a:endParaRPr lang="en-US" sz="1050" dirty="0"/>
          </a:p>
        </p:txBody>
      </p:sp>
      <p:sp>
        <p:nvSpPr>
          <p:cNvPr id="31" name="Shape 27"/>
          <p:cNvSpPr/>
          <p:nvPr/>
        </p:nvSpPr>
        <p:spPr>
          <a:xfrm>
            <a:off x="8138160" y="1728216"/>
            <a:ext cx="3538728" cy="2038541"/>
          </a:xfrm>
          <a:prstGeom prst="roundRect">
            <a:avLst>
              <a:gd name="adj" fmla="val 1794"/>
            </a:avLst>
          </a:prstGeom>
          <a:solidFill>
            <a:srgbClr val="101015"/>
          </a:solidFill>
          <a:ln w="12700">
            <a:solidFill>
              <a:srgbClr val="2E2E38"/>
            </a:solidFill>
            <a:prstDash val="solid"/>
          </a:ln>
        </p:spPr>
      </p:sp>
      <p:pic>
        <p:nvPicPr>
          <p:cNvPr id="32" name="Image 2" descr="C:\Projects\Chessfork\e2e\screenshots\home-top.png">    </p:cNvPr>
          <p:cNvPicPr>
            <a:picLocks noChangeAspect="1"/>
          </p:cNvPicPr>
          <p:nvPr/>
        </p:nvPicPr>
        <p:blipFill>
          <a:blip r:embed="rId3"/>
          <a:srcRect l="0" r="0" t="0" b="0"/>
          <a:stretch/>
        </p:blipFill>
        <p:spPr>
          <a:xfrm>
            <a:off x="8193024" y="1783080"/>
            <a:ext cx="3429000" cy="1928813"/>
          </a:xfrm>
          <a:prstGeom prst="rect">
            <a:avLst/>
          </a:prstGeom>
        </p:spPr>
      </p:pic>
      <p:sp>
        <p:nvSpPr>
          <p:cNvPr id="33" name="Text 28"/>
          <p:cNvSpPr/>
          <p:nvPr/>
        </p:nvSpPr>
        <p:spPr>
          <a:xfrm>
            <a:off x="8193024" y="1810512"/>
            <a:ext cx="3246120" cy="237744"/>
          </a:xfrm>
          <a:prstGeom prst="rect">
            <a:avLst/>
          </a:prstGeom>
          <a:noFill/>
          <a:ln/>
        </p:spPr>
        <p:txBody>
          <a:bodyPr wrap="square" lIns="0" tIns="0" rIns="0" bIns="0" rtlCol="0" anchor="ctr"/>
          <a:lstStyle/>
          <a:p>
            <a:pPr algn="r" indent="0" marL="0">
              <a:buNone/>
            </a:pPr>
            <a:r>
              <a:rPr lang="en-US" sz="800" dirty="0">
                <a:solidFill>
                  <a:srgbClr val="5C5966"/>
                </a:solidFill>
                <a:latin typeface="Segoe UI" pitchFamily="34" charset="0"/>
                <a:ea typeface="Segoe UI" pitchFamily="34" charset="-122"/>
                <a:cs typeface="Segoe UI" pitchFamily="34" charset="-120"/>
              </a:rPr>
              <a:t>crop 1280×720</a:t>
            </a:r>
            <a:endParaRPr lang="en-US" sz="800" dirty="0"/>
          </a:p>
        </p:txBody>
      </p:sp>
      <p:sp>
        <p:nvSpPr>
          <p:cNvPr id="34" name="Text 29"/>
          <p:cNvSpPr/>
          <p:nvPr/>
        </p:nvSpPr>
        <p:spPr>
          <a:xfrm>
            <a:off x="8193024" y="3839909"/>
            <a:ext cx="3429000" cy="502920"/>
          </a:xfrm>
          <a:prstGeom prst="rect">
            <a:avLst/>
          </a:prstGeom>
          <a:noFill/>
          <a:ln/>
        </p:spPr>
        <p:txBody>
          <a:bodyPr wrap="square" lIns="0" tIns="0" rIns="0" bIns="0" rtlCol="0" anchor="ctr"/>
          <a:lstStyle/>
          <a:p>
            <a:pPr algn="ctr" indent="0" marL="0">
              <a:buNone/>
            </a:pPr>
            <a:r>
              <a:rPr lang="en-US" sz="1050" b="1" dirty="0">
                <a:solidFill>
                  <a:srgbClr val="F5F2EA"/>
                </a:solidFill>
                <a:latin typeface="Segoe UI" pitchFamily="34" charset="0"/>
                <a:ea typeface="Segoe UI" pitchFamily="34" charset="-122"/>
                <a:cs typeface="Segoe UI" pitchFamily="34" charset="-120"/>
              </a:rPr>
              <a:t>Home — PGN import &amp; launch screen</a:t>
            </a:r>
            <a:endParaRPr lang="en-US" sz="1050" dirty="0"/>
          </a:p>
        </p:txBody>
      </p:sp>
      <p:sp>
        <p:nvSpPr>
          <p:cNvPr id="35" name="Shape 30"/>
          <p:cNvSpPr/>
          <p:nvPr/>
        </p:nvSpPr>
        <p:spPr>
          <a:xfrm>
            <a:off x="566928" y="5394960"/>
            <a:ext cx="11064240" cy="685800"/>
          </a:xfrm>
          <a:prstGeom prst="roundRect">
            <a:avLst>
              <a:gd name="adj" fmla="val 12000"/>
            </a:avLst>
          </a:prstGeom>
          <a:solidFill>
            <a:srgbClr val="12141A"/>
          </a:solidFill>
          <a:ln w="12700">
            <a:solidFill>
              <a:srgbClr val="2A2A35"/>
            </a:solidFill>
            <a:prstDash val="solid"/>
          </a:ln>
        </p:spPr>
      </p:sp>
      <p:sp>
        <p:nvSpPr>
          <p:cNvPr id="36" name="Text 31"/>
          <p:cNvSpPr/>
          <p:nvPr/>
        </p:nvSpPr>
        <p:spPr>
          <a:xfrm>
            <a:off x="822960" y="5394960"/>
            <a:ext cx="10515600" cy="685800"/>
          </a:xfrm>
          <a:prstGeom prst="rect">
            <a:avLst/>
          </a:prstGeom>
          <a:noFill/>
          <a:ln/>
        </p:spPr>
        <p:txBody>
          <a:bodyPr wrap="square" lIns="0" tIns="0" rIns="0" bIns="0" rtlCol="0" anchor="ctr"/>
          <a:lstStyle/>
          <a:p>
            <a:pPr indent="0" marL="0">
              <a:buNone/>
            </a:pPr>
            <a:r>
              <a:rPr lang="en-US" sz="1050" b="1" spc="200" kern="0" dirty="0">
                <a:solidFill>
                  <a:srgbClr val="FFC62A"/>
                </a:solidFill>
                <a:latin typeface="Bahnschrift" pitchFamily="34" charset="0"/>
                <a:ea typeface="Bahnschrift" pitchFamily="34" charset="-122"/>
                <a:cs typeface="Bahnschrift" pitchFamily="34" charset="-120"/>
              </a:rPr>
              <a:t>MORE CAPTURES RECOMMENDED  </a:t>
            </a:r>
            <a:pPr indent="0" marL="0">
              <a:buNone/>
            </a:pPr>
            <a:r>
              <a:rPr lang="en-US" sz="1050" dirty="0">
                <a:solidFill>
                  <a:srgbClr val="9A97A6"/>
                </a:solidFill>
              </a:rPr>
              <a:t>Coach report · Opening explorer · Puzzles · Dashboard · Profile — capture these from the running app before submission (scripts: e2e/).</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0B0F"/>
        </a:solidFill>
      </p:bgPr>
    </p:bg>
    <p:spTree>
      <p:nvGrpSpPr>
        <p:cNvPr id="1" name=""/>
        <p:cNvGrpSpPr/>
        <p:nvPr/>
      </p:nvGrpSpPr>
      <p:grpSpPr>
        <a:xfrm>
          <a:off x="0" y="0"/>
          <a:ext cx="0" cy="0"/>
          <a:chOff x="0" y="0"/>
          <a:chExt cx="0" cy="0"/>
        </a:xfrm>
      </p:grpSpPr>
      <p:sp>
        <p:nvSpPr>
          <p:cNvPr id="2" name="Shape 0"/>
          <p:cNvSpPr/>
          <p:nvPr/>
        </p:nvSpPr>
        <p:spPr>
          <a:xfrm>
            <a:off x="10716768" y="292608"/>
            <a:ext cx="155448" cy="155448"/>
          </a:xfrm>
          <a:prstGeom prst="rect">
            <a:avLst/>
          </a:prstGeom>
          <a:solidFill>
            <a:srgbClr val="14141A"/>
          </a:solidFill>
          <a:ln/>
        </p:spPr>
      </p:sp>
      <p:sp>
        <p:nvSpPr>
          <p:cNvPr id="3" name="Shape 1"/>
          <p:cNvSpPr/>
          <p:nvPr/>
        </p:nvSpPr>
        <p:spPr>
          <a:xfrm>
            <a:off x="11027664" y="292608"/>
            <a:ext cx="155448" cy="155448"/>
          </a:xfrm>
          <a:prstGeom prst="rect">
            <a:avLst/>
          </a:prstGeom>
          <a:solidFill>
            <a:srgbClr val="14141A"/>
          </a:solidFill>
          <a:ln/>
        </p:spPr>
      </p:sp>
      <p:sp>
        <p:nvSpPr>
          <p:cNvPr id="4" name="Shape 2"/>
          <p:cNvSpPr/>
          <p:nvPr/>
        </p:nvSpPr>
        <p:spPr>
          <a:xfrm>
            <a:off x="10561320" y="448056"/>
            <a:ext cx="155448" cy="155448"/>
          </a:xfrm>
          <a:prstGeom prst="rect">
            <a:avLst/>
          </a:prstGeom>
          <a:solidFill>
            <a:srgbClr val="14141A"/>
          </a:solidFill>
          <a:ln/>
        </p:spPr>
      </p:sp>
      <p:sp>
        <p:nvSpPr>
          <p:cNvPr id="5" name="Shape 3"/>
          <p:cNvSpPr/>
          <p:nvPr/>
        </p:nvSpPr>
        <p:spPr>
          <a:xfrm>
            <a:off x="10872216" y="448056"/>
            <a:ext cx="155448" cy="155448"/>
          </a:xfrm>
          <a:prstGeom prst="rect">
            <a:avLst/>
          </a:prstGeom>
          <a:solidFill>
            <a:srgbClr val="14141A"/>
          </a:solidFill>
          <a:ln/>
        </p:spPr>
      </p:sp>
      <p:sp>
        <p:nvSpPr>
          <p:cNvPr id="6" name="Shape 4"/>
          <p:cNvSpPr/>
          <p:nvPr/>
        </p:nvSpPr>
        <p:spPr>
          <a:xfrm>
            <a:off x="11183112" y="448056"/>
            <a:ext cx="155448" cy="155448"/>
          </a:xfrm>
          <a:prstGeom prst="rect">
            <a:avLst/>
          </a:prstGeom>
          <a:solidFill>
            <a:srgbClr val="14141A"/>
          </a:solidFill>
          <a:ln/>
        </p:spPr>
      </p:sp>
      <p:sp>
        <p:nvSpPr>
          <p:cNvPr id="7" name="Shape 5"/>
          <p:cNvSpPr/>
          <p:nvPr/>
        </p:nvSpPr>
        <p:spPr>
          <a:xfrm>
            <a:off x="10716768" y="603504"/>
            <a:ext cx="155448" cy="155448"/>
          </a:xfrm>
          <a:prstGeom prst="rect">
            <a:avLst/>
          </a:prstGeom>
          <a:solidFill>
            <a:srgbClr val="14141A"/>
          </a:solidFill>
          <a:ln/>
        </p:spPr>
      </p:sp>
      <p:sp>
        <p:nvSpPr>
          <p:cNvPr id="8" name="Shape 6"/>
          <p:cNvSpPr/>
          <p:nvPr/>
        </p:nvSpPr>
        <p:spPr>
          <a:xfrm>
            <a:off x="11027664" y="603504"/>
            <a:ext cx="155448" cy="155448"/>
          </a:xfrm>
          <a:prstGeom prst="rect">
            <a:avLst/>
          </a:prstGeom>
          <a:solidFill>
            <a:srgbClr val="14141A"/>
          </a:solidFill>
          <a:ln/>
        </p:spPr>
      </p:sp>
      <p:sp>
        <p:nvSpPr>
          <p:cNvPr id="9" name="Shape 7"/>
          <p:cNvSpPr/>
          <p:nvPr/>
        </p:nvSpPr>
        <p:spPr>
          <a:xfrm>
            <a:off x="10561320" y="758952"/>
            <a:ext cx="155448" cy="155448"/>
          </a:xfrm>
          <a:prstGeom prst="rect">
            <a:avLst/>
          </a:prstGeom>
          <a:solidFill>
            <a:srgbClr val="14141A"/>
          </a:solidFill>
          <a:ln/>
        </p:spPr>
      </p:sp>
      <p:sp>
        <p:nvSpPr>
          <p:cNvPr id="10" name="Shape 8"/>
          <p:cNvSpPr/>
          <p:nvPr/>
        </p:nvSpPr>
        <p:spPr>
          <a:xfrm>
            <a:off x="10872216" y="758952"/>
            <a:ext cx="155448" cy="155448"/>
          </a:xfrm>
          <a:prstGeom prst="rect">
            <a:avLst/>
          </a:prstGeom>
          <a:solidFill>
            <a:srgbClr val="14141A"/>
          </a:solidFill>
          <a:ln/>
        </p:spPr>
      </p:sp>
      <p:sp>
        <p:nvSpPr>
          <p:cNvPr id="11" name="Shape 9"/>
          <p:cNvSpPr/>
          <p:nvPr/>
        </p:nvSpPr>
        <p:spPr>
          <a:xfrm>
            <a:off x="11183112" y="758952"/>
            <a:ext cx="155448" cy="155448"/>
          </a:xfrm>
          <a:prstGeom prst="rect">
            <a:avLst/>
          </a:prstGeom>
          <a:solidFill>
            <a:srgbClr val="14141A"/>
          </a:solidFill>
          <a:ln/>
        </p:spPr>
      </p:sp>
      <p:sp>
        <p:nvSpPr>
          <p:cNvPr id="12" name="Shape 10"/>
          <p:cNvSpPr/>
          <p:nvPr/>
        </p:nvSpPr>
        <p:spPr>
          <a:xfrm>
            <a:off x="10716768" y="914400"/>
            <a:ext cx="155448" cy="155448"/>
          </a:xfrm>
          <a:prstGeom prst="rect">
            <a:avLst/>
          </a:prstGeom>
          <a:solidFill>
            <a:srgbClr val="14141A"/>
          </a:solidFill>
          <a:ln/>
        </p:spPr>
      </p:sp>
      <p:sp>
        <p:nvSpPr>
          <p:cNvPr id="13" name="Shape 11"/>
          <p:cNvSpPr/>
          <p:nvPr/>
        </p:nvSpPr>
        <p:spPr>
          <a:xfrm>
            <a:off x="11027664" y="914400"/>
            <a:ext cx="155448" cy="155448"/>
          </a:xfrm>
          <a:prstGeom prst="rect">
            <a:avLst/>
          </a:prstGeom>
          <a:solidFill>
            <a:srgbClr val="14141A"/>
          </a:solidFill>
          <a:ln/>
        </p:spPr>
      </p:sp>
      <p:sp>
        <p:nvSpPr>
          <p:cNvPr id="14" name="Shape 12"/>
          <p:cNvSpPr/>
          <p:nvPr/>
        </p:nvSpPr>
        <p:spPr>
          <a:xfrm>
            <a:off x="9859975" y="310896"/>
            <a:ext cx="1783080" cy="292608"/>
          </a:xfrm>
          <a:prstGeom prst="roundRect">
            <a:avLst>
              <a:gd name="adj" fmla="val 50000"/>
            </a:avLst>
          </a:prstGeom>
          <a:solidFill>
            <a:srgbClr val="2A2412"/>
          </a:solidFill>
          <a:ln w="9525">
            <a:solidFill>
              <a:srgbClr val="4A3D18"/>
            </a:solidFill>
            <a:prstDash val="solid"/>
          </a:ln>
        </p:spPr>
      </p:sp>
      <p:sp>
        <p:nvSpPr>
          <p:cNvPr id="15" name="Text 13"/>
          <p:cNvSpPr/>
          <p:nvPr/>
        </p:nvSpPr>
        <p:spPr>
          <a:xfrm>
            <a:off x="9859975" y="301752"/>
            <a:ext cx="1783080" cy="310896"/>
          </a:xfrm>
          <a:prstGeom prst="rect">
            <a:avLst/>
          </a:prstGeom>
          <a:noFill/>
          <a:ln/>
        </p:spPr>
        <p:txBody>
          <a:bodyPr wrap="square" lIns="0" tIns="0" rIns="0" bIns="0" rtlCol="0" anchor="ctr"/>
          <a:lstStyle/>
          <a:p>
            <a:pPr algn="ctr" indent="0" marL="0">
              <a:buNone/>
            </a:pPr>
            <a:r>
              <a:rPr lang="en-US" sz="800" b="1" spc="120" kern="0" dirty="0">
                <a:solidFill>
                  <a:srgbClr val="FFC62A"/>
                </a:solidFill>
                <a:latin typeface="Bahnschrift" pitchFamily="34" charset="0"/>
                <a:ea typeface="Bahnschrift" pitchFamily="34" charset="-122"/>
                <a:cs typeface="Bahnschrift" pitchFamily="34" charset="-120"/>
              </a:rPr>
              <a:t>VERIFIED · FROM SOURCE CODE</a:t>
            </a:r>
            <a:endParaRPr lang="en-US" sz="800" dirty="0"/>
          </a:p>
        </p:txBody>
      </p:sp>
      <p:sp>
        <p:nvSpPr>
          <p:cNvPr id="16" name="Text 14"/>
          <p:cNvSpPr/>
          <p:nvPr/>
        </p:nvSpPr>
        <p:spPr>
          <a:xfrm>
            <a:off x="566928" y="384048"/>
            <a:ext cx="8229600" cy="274320"/>
          </a:xfrm>
          <a:prstGeom prst="rect">
            <a:avLst/>
          </a:prstGeom>
          <a:noFill/>
          <a:ln/>
        </p:spPr>
        <p:txBody>
          <a:bodyPr wrap="square" lIns="0" tIns="0" rIns="0" bIns="0" rtlCol="0" anchor="ctr"/>
          <a:lstStyle/>
          <a:p>
            <a:pPr indent="0" marL="0">
              <a:buNone/>
            </a:pPr>
            <a:r>
              <a:rPr lang="en-US" sz="1100" b="1" spc="300" kern="0" dirty="0">
                <a:solidFill>
                  <a:srgbClr val="FFC62A"/>
                </a:solidFill>
                <a:latin typeface="Bahnschrift" pitchFamily="34" charset="0"/>
                <a:ea typeface="Bahnschrift" pitchFamily="34" charset="-122"/>
                <a:cs typeface="Bahnschrift" pitchFamily="34" charset="-120"/>
              </a:rPr>
              <a:t>14 · DATA MODEL</a:t>
            </a:r>
            <a:endParaRPr lang="en-US" sz="1100" dirty="0"/>
          </a:p>
        </p:txBody>
      </p:sp>
      <p:sp>
        <p:nvSpPr>
          <p:cNvPr id="17" name="Shape 15"/>
          <p:cNvSpPr/>
          <p:nvPr/>
        </p:nvSpPr>
        <p:spPr>
          <a:xfrm>
            <a:off x="566928" y="713232"/>
            <a:ext cx="384048" cy="45720"/>
          </a:xfrm>
          <a:prstGeom prst="rect">
            <a:avLst/>
          </a:prstGeom>
          <a:solidFill>
            <a:srgbClr val="FFC62A"/>
          </a:solidFill>
          <a:ln/>
        </p:spPr>
      </p:sp>
      <p:sp>
        <p:nvSpPr>
          <p:cNvPr id="18" name="Text 16"/>
          <p:cNvSpPr/>
          <p:nvPr/>
        </p:nvSpPr>
        <p:spPr>
          <a:xfrm>
            <a:off x="548640" y="841248"/>
            <a:ext cx="11064240" cy="566928"/>
          </a:xfrm>
          <a:prstGeom prst="rect">
            <a:avLst/>
          </a:prstGeom>
          <a:noFill/>
          <a:ln/>
        </p:spPr>
        <p:txBody>
          <a:bodyPr wrap="square" lIns="0" tIns="0" rIns="0" bIns="0" rtlCol="0" anchor="ctr"/>
          <a:lstStyle/>
          <a:p>
            <a:pPr indent="0" marL="0">
              <a:buNone/>
            </a:pPr>
            <a:r>
              <a:rPr lang="en-US" sz="2700" b="1" dirty="0">
                <a:solidFill>
                  <a:srgbClr val="F5F2EA"/>
                </a:solidFill>
                <a:latin typeface="Bahnschrift" pitchFamily="34" charset="0"/>
                <a:ea typeface="Bahnschrift" pitchFamily="34" charset="-122"/>
                <a:cs typeface="Bahnschrift" pitchFamily="34" charset="-120"/>
              </a:rPr>
              <a:t>Database design — Drizzle ORM + PostgreSQL 16</a:t>
            </a:r>
            <a:endParaRPr lang="en-US" sz="2700" dirty="0"/>
          </a:p>
        </p:txBody>
      </p:sp>
      <p:sp>
        <p:nvSpPr>
          <p:cNvPr id="19" name="Text 17"/>
          <p:cNvSpPr/>
          <p:nvPr/>
        </p:nvSpPr>
        <p:spPr>
          <a:xfrm>
            <a:off x="566928" y="1389888"/>
            <a:ext cx="11064240" cy="274320"/>
          </a:xfrm>
          <a:prstGeom prst="rect">
            <a:avLst/>
          </a:prstGeom>
          <a:noFill/>
          <a:ln/>
        </p:spPr>
        <p:txBody>
          <a:bodyPr wrap="square" lIns="0" tIns="0" rIns="0" bIns="0" rtlCol="0" anchor="ctr"/>
          <a:lstStyle/>
          <a:p>
            <a:pPr indent="0" marL="0">
              <a:buNone/>
            </a:pPr>
            <a:r>
              <a:rPr lang="en-US" sz="1250" dirty="0">
                <a:solidFill>
                  <a:srgbClr val="9A97A6"/>
                </a:solidFill>
                <a:latin typeface="Segoe UI" pitchFamily="34" charset="0"/>
                <a:ea typeface="Segoe UI" pitchFamily="34" charset="-122"/>
                <a:cs typeface="Segoe UI" pitchFamily="34" charset="-120"/>
              </a:rPr>
              <a:t>12 tables · UUID keys · JSONB payloads · verified from src/server/db/schema.ts.</a:t>
            </a:r>
            <a:endParaRPr lang="en-US" sz="1250" dirty="0"/>
          </a:p>
        </p:txBody>
      </p:sp>
      <p:sp>
        <p:nvSpPr>
          <p:cNvPr id="20" name="Text 18"/>
          <p:cNvSpPr/>
          <p:nvPr/>
        </p:nvSpPr>
        <p:spPr>
          <a:xfrm>
            <a:off x="566928" y="6492240"/>
            <a:ext cx="2743200" cy="256032"/>
          </a:xfrm>
          <a:prstGeom prst="rect">
            <a:avLst/>
          </a:prstGeom>
          <a:noFill/>
          <a:ln/>
        </p:spPr>
        <p:txBody>
          <a:bodyPr wrap="square" lIns="0" tIns="0" rIns="0" bIns="0" rtlCol="0" anchor="ctr"/>
          <a:lstStyle/>
          <a:p>
            <a:pPr indent="0" marL="0">
              <a:buNone/>
            </a:pPr>
            <a:r>
              <a:rPr lang="en-US" sz="850" b="1" spc="300" kern="0" dirty="0">
                <a:solidFill>
                  <a:srgbClr val="5C5966"/>
                </a:solidFill>
                <a:latin typeface="Bahnschrift" pitchFamily="34" charset="0"/>
                <a:ea typeface="Bahnschrift" pitchFamily="34" charset="-122"/>
                <a:cs typeface="Bahnschrift" pitchFamily="34" charset="-120"/>
              </a:rPr>
              <a:t>CHESSFORK</a:t>
            </a:r>
            <a:endParaRPr lang="en-US" sz="850" dirty="0"/>
          </a:p>
        </p:txBody>
      </p:sp>
      <p:sp>
        <p:nvSpPr>
          <p:cNvPr id="21" name="Text 19"/>
          <p:cNvSpPr/>
          <p:nvPr/>
        </p:nvSpPr>
        <p:spPr>
          <a:xfrm>
            <a:off x="3840480" y="6492240"/>
            <a:ext cx="4572000" cy="256032"/>
          </a:xfrm>
          <a:prstGeom prst="rect">
            <a:avLst/>
          </a:prstGeom>
          <a:noFill/>
          <a:ln/>
        </p:spPr>
        <p:txBody>
          <a:bodyPr wrap="square" lIns="0" tIns="0" rIns="0" bIns="0" rtlCol="0" anchor="ctr"/>
          <a:lstStyle/>
          <a:p>
            <a:pPr indent="0" marL="0">
              <a:buNone/>
            </a:pPr>
            <a:r>
              <a:rPr lang="en-US" sz="800" spc="150" kern="0" dirty="0">
                <a:solidFill>
                  <a:srgbClr val="5C5966"/>
                </a:solidFill>
                <a:latin typeface="Segoe UI" pitchFamily="34" charset="0"/>
                <a:ea typeface="Segoe UI" pitchFamily="34" charset="-122"/>
                <a:cs typeface="Segoe UI" pitchFamily="34" charset="-120"/>
              </a:rPr>
              <a:t>BCA FINAL YEAR PROJECT · 2026</a:t>
            </a:r>
            <a:endParaRPr lang="en-US" sz="800" dirty="0"/>
          </a:p>
        </p:txBody>
      </p:sp>
      <p:sp>
        <p:nvSpPr>
          <p:cNvPr id="22" name="Text 20"/>
          <p:cNvSpPr/>
          <p:nvPr/>
        </p:nvSpPr>
        <p:spPr>
          <a:xfrm>
            <a:off x="11292840" y="6473952"/>
            <a:ext cx="365760" cy="274320"/>
          </a:xfrm>
          <a:prstGeom prst="rect">
            <a:avLst/>
          </a:prstGeom>
          <a:noFill/>
          <a:ln/>
        </p:spPr>
        <p:txBody>
          <a:bodyPr wrap="square" lIns="0" tIns="0" rIns="0" bIns="0" rtlCol="0" anchor="ctr"/>
          <a:lstStyle/>
          <a:p>
            <a:pPr algn="r" indent="0" marL="0">
              <a:buNone/>
            </a:pPr>
            <a:r>
              <a:rPr lang="en-US" sz="900" b="1" dirty="0">
                <a:solidFill>
                  <a:srgbClr val="5C5966"/>
                </a:solidFill>
                <a:latin typeface="Bahnschrift" pitchFamily="34" charset="0"/>
                <a:ea typeface="Bahnschrift" pitchFamily="34" charset="-122"/>
                <a:cs typeface="Bahnschrift" pitchFamily="34" charset="-120"/>
              </a:rPr>
              <a:t>15</a:t>
            </a:r>
            <a:endParaRPr lang="en-US" sz="900" dirty="0"/>
          </a:p>
        </p:txBody>
      </p:sp>
      <p:sp>
        <p:nvSpPr>
          <p:cNvPr id="23" name="Text 21"/>
          <p:cNvSpPr/>
          <p:nvPr/>
        </p:nvSpPr>
        <p:spPr>
          <a:xfrm>
            <a:off x="566928" y="1783080"/>
            <a:ext cx="3657600" cy="274320"/>
          </a:xfrm>
          <a:prstGeom prst="rect">
            <a:avLst/>
          </a:prstGeom>
          <a:noFill/>
          <a:ln/>
        </p:spPr>
        <p:txBody>
          <a:bodyPr wrap="square" lIns="0" tIns="0" rIns="0" bIns="0" rtlCol="0" anchor="ctr"/>
          <a:lstStyle/>
          <a:p>
            <a:pPr indent="0" marL="0">
              <a:buNone/>
            </a:pPr>
            <a:r>
              <a:rPr lang="en-US" sz="1050" b="1" spc="200" kern="0" dirty="0">
                <a:solidFill>
                  <a:srgbClr val="FFC62A"/>
                </a:solidFill>
                <a:latin typeface="Bahnschrift" pitchFamily="34" charset="0"/>
                <a:ea typeface="Bahnschrift" pitchFamily="34" charset="-122"/>
                <a:cs typeface="Bahnschrift" pitchFamily="34" charset="-120"/>
              </a:rPr>
              <a:t>IDENTITY &amp; ACCOUNTS</a:t>
            </a:r>
            <a:endParaRPr lang="en-US" sz="1050" dirty="0"/>
          </a:p>
        </p:txBody>
      </p:sp>
      <p:sp>
        <p:nvSpPr>
          <p:cNvPr id="24" name="Shape 22"/>
          <p:cNvSpPr/>
          <p:nvPr/>
        </p:nvSpPr>
        <p:spPr>
          <a:xfrm>
            <a:off x="566928" y="2057400"/>
            <a:ext cx="3383280" cy="2011680"/>
          </a:xfrm>
          <a:prstGeom prst="roundRect">
            <a:avLst>
              <a:gd name="adj" fmla="val 3182"/>
            </a:avLst>
          </a:prstGeom>
          <a:solidFill>
            <a:srgbClr val="15151B"/>
          </a:solidFill>
          <a:ln w="12700">
            <a:solidFill>
              <a:srgbClr val="26262F"/>
            </a:solidFill>
            <a:prstDash val="solid"/>
          </a:ln>
        </p:spPr>
      </p:sp>
      <p:sp>
        <p:nvSpPr>
          <p:cNvPr id="25" name="Shape 23"/>
          <p:cNvSpPr/>
          <p:nvPr/>
        </p:nvSpPr>
        <p:spPr>
          <a:xfrm>
            <a:off x="795528" y="2212848"/>
            <a:ext cx="2926080" cy="457200"/>
          </a:xfrm>
          <a:prstGeom prst="roundRect">
            <a:avLst>
              <a:gd name="adj" fmla="val 20000"/>
            </a:avLst>
          </a:prstGeom>
          <a:solidFill>
            <a:srgbClr val="12161E"/>
          </a:solidFill>
          <a:ln w="12700">
            <a:solidFill>
              <a:srgbClr val="2A3A52"/>
            </a:solidFill>
            <a:prstDash val="solid"/>
          </a:ln>
        </p:spPr>
      </p:sp>
      <p:sp>
        <p:nvSpPr>
          <p:cNvPr id="26" name="Text 24"/>
          <p:cNvSpPr/>
          <p:nvPr/>
        </p:nvSpPr>
        <p:spPr>
          <a:xfrm>
            <a:off x="795528" y="2258568"/>
            <a:ext cx="2926080" cy="274320"/>
          </a:xfrm>
          <a:prstGeom prst="rect">
            <a:avLst/>
          </a:prstGeom>
          <a:noFill/>
          <a:ln/>
        </p:spPr>
        <p:txBody>
          <a:bodyPr wrap="square" lIns="0" tIns="0" rIns="0" bIns="0" rtlCol="0" anchor="ctr"/>
          <a:lstStyle/>
          <a:p>
            <a:pPr algn="ctr" indent="0" marL="0">
              <a:buNone/>
            </a:pPr>
            <a:r>
              <a:rPr lang="en-US" sz="1050" b="1" dirty="0">
                <a:solidFill>
                  <a:srgbClr val="B8D4FF"/>
                </a:solidFill>
                <a:latin typeface="Bahnschrift" pitchFamily="34" charset="0"/>
                <a:ea typeface="Bahnschrift" pitchFamily="34" charset="-122"/>
                <a:cs typeface="Bahnschrift" pitchFamily="34" charset="-120"/>
              </a:rPr>
              <a:t>users</a:t>
            </a:r>
            <a:endParaRPr lang="en-US" sz="1050" dirty="0"/>
          </a:p>
        </p:txBody>
      </p:sp>
      <p:sp>
        <p:nvSpPr>
          <p:cNvPr id="27" name="Shape 25"/>
          <p:cNvSpPr/>
          <p:nvPr/>
        </p:nvSpPr>
        <p:spPr>
          <a:xfrm>
            <a:off x="795528" y="2551176"/>
            <a:ext cx="2926080" cy="457200"/>
          </a:xfrm>
          <a:prstGeom prst="roundRect">
            <a:avLst>
              <a:gd name="adj" fmla="val 20000"/>
            </a:avLst>
          </a:prstGeom>
          <a:solidFill>
            <a:srgbClr val="12161E"/>
          </a:solidFill>
          <a:ln w="12700">
            <a:solidFill>
              <a:srgbClr val="2A3A52"/>
            </a:solidFill>
            <a:prstDash val="solid"/>
          </a:ln>
        </p:spPr>
      </p:sp>
      <p:sp>
        <p:nvSpPr>
          <p:cNvPr id="28" name="Text 26"/>
          <p:cNvSpPr/>
          <p:nvPr/>
        </p:nvSpPr>
        <p:spPr>
          <a:xfrm>
            <a:off x="795528" y="2596896"/>
            <a:ext cx="2926080" cy="274320"/>
          </a:xfrm>
          <a:prstGeom prst="rect">
            <a:avLst/>
          </a:prstGeom>
          <a:noFill/>
          <a:ln/>
        </p:spPr>
        <p:txBody>
          <a:bodyPr wrap="square" lIns="0" tIns="0" rIns="0" bIns="0" rtlCol="0" anchor="ctr"/>
          <a:lstStyle/>
          <a:p>
            <a:pPr algn="ctr" indent="0" marL="0">
              <a:buNone/>
            </a:pPr>
            <a:r>
              <a:rPr lang="en-US" sz="1050" b="1" dirty="0">
                <a:solidFill>
                  <a:srgbClr val="B8D4FF"/>
                </a:solidFill>
                <a:latin typeface="Bahnschrift" pitchFamily="34" charset="0"/>
                <a:ea typeface="Bahnschrift" pitchFamily="34" charset="-122"/>
                <a:cs typeface="Bahnschrift" pitchFamily="34" charset="-120"/>
              </a:rPr>
              <a:t>identities</a:t>
            </a:r>
            <a:endParaRPr lang="en-US" sz="1050" dirty="0"/>
          </a:p>
        </p:txBody>
      </p:sp>
      <p:sp>
        <p:nvSpPr>
          <p:cNvPr id="29" name="Shape 27"/>
          <p:cNvSpPr/>
          <p:nvPr/>
        </p:nvSpPr>
        <p:spPr>
          <a:xfrm>
            <a:off x="795528" y="2889504"/>
            <a:ext cx="2926080" cy="457200"/>
          </a:xfrm>
          <a:prstGeom prst="roundRect">
            <a:avLst>
              <a:gd name="adj" fmla="val 20000"/>
            </a:avLst>
          </a:prstGeom>
          <a:solidFill>
            <a:srgbClr val="12161E"/>
          </a:solidFill>
          <a:ln w="12700">
            <a:solidFill>
              <a:srgbClr val="2A3A52"/>
            </a:solidFill>
            <a:prstDash val="solid"/>
          </a:ln>
        </p:spPr>
      </p:sp>
      <p:sp>
        <p:nvSpPr>
          <p:cNvPr id="30" name="Text 28"/>
          <p:cNvSpPr/>
          <p:nvPr/>
        </p:nvSpPr>
        <p:spPr>
          <a:xfrm>
            <a:off x="795528" y="2935224"/>
            <a:ext cx="2926080" cy="274320"/>
          </a:xfrm>
          <a:prstGeom prst="rect">
            <a:avLst/>
          </a:prstGeom>
          <a:noFill/>
          <a:ln/>
        </p:spPr>
        <p:txBody>
          <a:bodyPr wrap="square" lIns="0" tIns="0" rIns="0" bIns="0" rtlCol="0" anchor="ctr"/>
          <a:lstStyle/>
          <a:p>
            <a:pPr algn="ctr" indent="0" marL="0">
              <a:buNone/>
            </a:pPr>
            <a:r>
              <a:rPr lang="en-US" sz="1050" b="1" dirty="0">
                <a:solidFill>
                  <a:srgbClr val="B8D4FF"/>
                </a:solidFill>
                <a:latin typeface="Bahnschrift" pitchFamily="34" charset="0"/>
                <a:ea typeface="Bahnschrift" pitchFamily="34" charset="-122"/>
                <a:cs typeface="Bahnschrift" pitchFamily="34" charset="-120"/>
              </a:rPr>
              <a:t>user_credentials</a:t>
            </a:r>
            <a:endParaRPr lang="en-US" sz="1050" dirty="0"/>
          </a:p>
        </p:txBody>
      </p:sp>
      <p:sp>
        <p:nvSpPr>
          <p:cNvPr id="31" name="Shape 29"/>
          <p:cNvSpPr/>
          <p:nvPr/>
        </p:nvSpPr>
        <p:spPr>
          <a:xfrm>
            <a:off x="795528" y="3227832"/>
            <a:ext cx="2926080" cy="457200"/>
          </a:xfrm>
          <a:prstGeom prst="roundRect">
            <a:avLst>
              <a:gd name="adj" fmla="val 20000"/>
            </a:avLst>
          </a:prstGeom>
          <a:solidFill>
            <a:srgbClr val="12161E"/>
          </a:solidFill>
          <a:ln w="12700">
            <a:solidFill>
              <a:srgbClr val="2A3A52"/>
            </a:solidFill>
            <a:prstDash val="solid"/>
          </a:ln>
        </p:spPr>
      </p:sp>
      <p:sp>
        <p:nvSpPr>
          <p:cNvPr id="32" name="Text 30"/>
          <p:cNvSpPr/>
          <p:nvPr/>
        </p:nvSpPr>
        <p:spPr>
          <a:xfrm>
            <a:off x="795528" y="3273552"/>
            <a:ext cx="2926080" cy="274320"/>
          </a:xfrm>
          <a:prstGeom prst="rect">
            <a:avLst/>
          </a:prstGeom>
          <a:noFill/>
          <a:ln/>
        </p:spPr>
        <p:txBody>
          <a:bodyPr wrap="square" lIns="0" tIns="0" rIns="0" bIns="0" rtlCol="0" anchor="ctr"/>
          <a:lstStyle/>
          <a:p>
            <a:pPr algn="ctr" indent="0" marL="0">
              <a:buNone/>
            </a:pPr>
            <a:r>
              <a:rPr lang="en-US" sz="1050" b="1" dirty="0">
                <a:solidFill>
                  <a:srgbClr val="B8D4FF"/>
                </a:solidFill>
                <a:latin typeface="Bahnschrift" pitchFamily="34" charset="0"/>
                <a:ea typeface="Bahnschrift" pitchFamily="34" charset="-122"/>
                <a:cs typeface="Bahnschrift" pitchFamily="34" charset="-120"/>
              </a:rPr>
              <a:t>subscriptions</a:t>
            </a:r>
            <a:endParaRPr lang="en-US" sz="1050" dirty="0"/>
          </a:p>
        </p:txBody>
      </p:sp>
      <p:sp>
        <p:nvSpPr>
          <p:cNvPr id="33" name="Shape 31"/>
          <p:cNvSpPr/>
          <p:nvPr/>
        </p:nvSpPr>
        <p:spPr>
          <a:xfrm>
            <a:off x="795528" y="3566160"/>
            <a:ext cx="2926080" cy="457200"/>
          </a:xfrm>
          <a:prstGeom prst="roundRect">
            <a:avLst>
              <a:gd name="adj" fmla="val 20000"/>
            </a:avLst>
          </a:prstGeom>
          <a:solidFill>
            <a:srgbClr val="12161E"/>
          </a:solidFill>
          <a:ln w="12700">
            <a:solidFill>
              <a:srgbClr val="2A3A52"/>
            </a:solidFill>
            <a:prstDash val="solid"/>
          </a:ln>
        </p:spPr>
      </p:sp>
      <p:sp>
        <p:nvSpPr>
          <p:cNvPr id="34" name="Text 32"/>
          <p:cNvSpPr/>
          <p:nvPr/>
        </p:nvSpPr>
        <p:spPr>
          <a:xfrm>
            <a:off x="795528" y="3611880"/>
            <a:ext cx="2926080" cy="274320"/>
          </a:xfrm>
          <a:prstGeom prst="rect">
            <a:avLst/>
          </a:prstGeom>
          <a:noFill/>
          <a:ln/>
        </p:spPr>
        <p:txBody>
          <a:bodyPr wrap="square" lIns="0" tIns="0" rIns="0" bIns="0" rtlCol="0" anchor="ctr"/>
          <a:lstStyle/>
          <a:p>
            <a:pPr algn="ctr" indent="0" marL="0">
              <a:buNone/>
            </a:pPr>
            <a:r>
              <a:rPr lang="en-US" sz="1050" b="1" dirty="0">
                <a:solidFill>
                  <a:srgbClr val="B8D4FF"/>
                </a:solidFill>
                <a:latin typeface="Bahnschrift" pitchFamily="34" charset="0"/>
                <a:ea typeface="Bahnschrift" pitchFamily="34" charset="-122"/>
                <a:cs typeface="Bahnschrift" pitchFamily="34" charset="-120"/>
              </a:rPr>
              <a:t>chess_accounts</a:t>
            </a:r>
            <a:endParaRPr lang="en-US" sz="1050" dirty="0"/>
          </a:p>
        </p:txBody>
      </p:sp>
      <p:sp>
        <p:nvSpPr>
          <p:cNvPr id="35" name="Text 33"/>
          <p:cNvSpPr/>
          <p:nvPr/>
        </p:nvSpPr>
        <p:spPr>
          <a:xfrm>
            <a:off x="795528" y="4114800"/>
            <a:ext cx="2926080" cy="182880"/>
          </a:xfrm>
          <a:prstGeom prst="rect">
            <a:avLst/>
          </a:prstGeom>
          <a:noFill/>
          <a:ln/>
        </p:spPr>
        <p:txBody>
          <a:bodyPr wrap="square" lIns="0" tIns="0" rIns="0" bIns="0" rtlCol="0" anchor="ctr"/>
          <a:lstStyle/>
          <a:p>
            <a:pPr indent="0" marL="0">
              <a:buNone/>
            </a:pPr>
            <a:r>
              <a:rPr lang="en-US" sz="800" dirty="0">
                <a:solidFill>
                  <a:srgbClr val="5C5966"/>
                </a:solidFill>
                <a:latin typeface="Segoe UI" pitchFamily="34" charset="0"/>
                <a:ea typeface="Segoe UI" pitchFamily="34" charset="-122"/>
                <a:cs typeface="Segoe UI" pitchFamily="34" charset="-120"/>
              </a:rPr>
              <a:t>→ OAuth providers, credentials, tiers, linked Chess.com/Lichess</a:t>
            </a:r>
            <a:endParaRPr lang="en-US" sz="800" dirty="0"/>
          </a:p>
        </p:txBody>
      </p:sp>
      <p:sp>
        <p:nvSpPr>
          <p:cNvPr id="36" name="Text 34"/>
          <p:cNvSpPr/>
          <p:nvPr/>
        </p:nvSpPr>
        <p:spPr>
          <a:xfrm>
            <a:off x="4251960" y="1783080"/>
            <a:ext cx="4114800" cy="274320"/>
          </a:xfrm>
          <a:prstGeom prst="rect">
            <a:avLst/>
          </a:prstGeom>
          <a:noFill/>
          <a:ln/>
        </p:spPr>
        <p:txBody>
          <a:bodyPr wrap="square" lIns="0" tIns="0" rIns="0" bIns="0" rtlCol="0" anchor="ctr"/>
          <a:lstStyle/>
          <a:p>
            <a:pPr indent="0" marL="0">
              <a:buNone/>
            </a:pPr>
            <a:r>
              <a:rPr lang="en-US" sz="1050" b="1" spc="200" kern="0" dirty="0">
                <a:solidFill>
                  <a:srgbClr val="FFC62A"/>
                </a:solidFill>
                <a:latin typeface="Bahnschrift" pitchFamily="34" charset="0"/>
                <a:ea typeface="Bahnschrift" pitchFamily="34" charset="-122"/>
                <a:cs typeface="Bahnschrift" pitchFamily="34" charset="-120"/>
              </a:rPr>
              <a:t>ANALYSIS PIPELINE</a:t>
            </a:r>
            <a:endParaRPr lang="en-US" sz="1050" dirty="0"/>
          </a:p>
        </p:txBody>
      </p:sp>
      <p:sp>
        <p:nvSpPr>
          <p:cNvPr id="37" name="Shape 35"/>
          <p:cNvSpPr/>
          <p:nvPr/>
        </p:nvSpPr>
        <p:spPr>
          <a:xfrm>
            <a:off x="4251960" y="2057400"/>
            <a:ext cx="3657600" cy="2011680"/>
          </a:xfrm>
          <a:prstGeom prst="roundRect">
            <a:avLst>
              <a:gd name="adj" fmla="val 3182"/>
            </a:avLst>
          </a:prstGeom>
          <a:solidFill>
            <a:srgbClr val="15151B"/>
          </a:solidFill>
          <a:ln w="12700">
            <a:solidFill>
              <a:srgbClr val="26262F"/>
            </a:solidFill>
            <a:prstDash val="solid"/>
          </a:ln>
        </p:spPr>
      </p:sp>
      <p:sp>
        <p:nvSpPr>
          <p:cNvPr id="38" name="Shape 36"/>
          <p:cNvSpPr/>
          <p:nvPr/>
        </p:nvSpPr>
        <p:spPr>
          <a:xfrm>
            <a:off x="4480560" y="2212848"/>
            <a:ext cx="3200400" cy="457200"/>
          </a:xfrm>
          <a:prstGeom prst="roundRect">
            <a:avLst>
              <a:gd name="adj" fmla="val 20000"/>
            </a:avLst>
          </a:prstGeom>
          <a:solidFill>
            <a:srgbClr val="12161E"/>
          </a:solidFill>
          <a:ln w="12700">
            <a:solidFill>
              <a:srgbClr val="2A3A52"/>
            </a:solidFill>
            <a:prstDash val="solid"/>
          </a:ln>
        </p:spPr>
      </p:sp>
      <p:sp>
        <p:nvSpPr>
          <p:cNvPr id="39" name="Text 37"/>
          <p:cNvSpPr/>
          <p:nvPr/>
        </p:nvSpPr>
        <p:spPr>
          <a:xfrm>
            <a:off x="4480560" y="2258568"/>
            <a:ext cx="3200400" cy="274320"/>
          </a:xfrm>
          <a:prstGeom prst="rect">
            <a:avLst/>
          </a:prstGeom>
          <a:noFill/>
          <a:ln/>
        </p:spPr>
        <p:txBody>
          <a:bodyPr wrap="square" lIns="0" tIns="0" rIns="0" bIns="0" rtlCol="0" anchor="ctr"/>
          <a:lstStyle/>
          <a:p>
            <a:pPr algn="ctr" indent="0" marL="0">
              <a:buNone/>
            </a:pPr>
            <a:r>
              <a:rPr lang="en-US" sz="1050" b="1" dirty="0">
                <a:solidFill>
                  <a:srgbClr val="B8D4FF"/>
                </a:solidFill>
                <a:latin typeface="Bahnschrift" pitchFamily="34" charset="0"/>
                <a:ea typeface="Bahnschrift" pitchFamily="34" charset="-122"/>
                <a:cs typeface="Bahnschrift" pitchFamily="34" charset="-120"/>
              </a:rPr>
              <a:t>imported_pgns</a:t>
            </a:r>
            <a:endParaRPr lang="en-US" sz="1050" dirty="0"/>
          </a:p>
        </p:txBody>
      </p:sp>
      <p:sp>
        <p:nvSpPr>
          <p:cNvPr id="40" name="Shape 38"/>
          <p:cNvSpPr/>
          <p:nvPr/>
        </p:nvSpPr>
        <p:spPr>
          <a:xfrm>
            <a:off x="6062472" y="2688336"/>
            <a:ext cx="0" cy="192024"/>
          </a:xfrm>
          <a:prstGeom prst="line">
            <a:avLst/>
          </a:prstGeom>
          <a:noFill/>
          <a:ln w="25400">
            <a:solidFill>
              <a:srgbClr val="4A6A94"/>
            </a:solidFill>
            <a:prstDash val="solid"/>
            <a:tailEnd type="triangle"/>
          </a:ln>
        </p:spPr>
      </p:sp>
      <p:sp>
        <p:nvSpPr>
          <p:cNvPr id="41" name="Shape 39"/>
          <p:cNvSpPr/>
          <p:nvPr/>
        </p:nvSpPr>
        <p:spPr>
          <a:xfrm>
            <a:off x="4480560" y="2889504"/>
            <a:ext cx="3200400" cy="457200"/>
          </a:xfrm>
          <a:prstGeom prst="roundRect">
            <a:avLst>
              <a:gd name="adj" fmla="val 20000"/>
            </a:avLst>
          </a:prstGeom>
          <a:solidFill>
            <a:srgbClr val="12161E"/>
          </a:solidFill>
          <a:ln w="12700">
            <a:solidFill>
              <a:srgbClr val="2A3A52"/>
            </a:solidFill>
            <a:prstDash val="solid"/>
          </a:ln>
        </p:spPr>
      </p:sp>
      <p:sp>
        <p:nvSpPr>
          <p:cNvPr id="42" name="Text 40"/>
          <p:cNvSpPr/>
          <p:nvPr/>
        </p:nvSpPr>
        <p:spPr>
          <a:xfrm>
            <a:off x="4480560" y="2935224"/>
            <a:ext cx="3200400" cy="274320"/>
          </a:xfrm>
          <a:prstGeom prst="rect">
            <a:avLst/>
          </a:prstGeom>
          <a:noFill/>
          <a:ln/>
        </p:spPr>
        <p:txBody>
          <a:bodyPr wrap="square" lIns="0" tIns="0" rIns="0" bIns="0" rtlCol="0" anchor="ctr"/>
          <a:lstStyle/>
          <a:p>
            <a:pPr algn="ctr" indent="0" marL="0">
              <a:buNone/>
            </a:pPr>
            <a:r>
              <a:rPr lang="en-US" sz="1050" b="1" dirty="0">
                <a:solidFill>
                  <a:srgbClr val="B8D4FF"/>
                </a:solidFill>
                <a:latin typeface="Bahnschrift" pitchFamily="34" charset="0"/>
                <a:ea typeface="Bahnschrift" pitchFamily="34" charset="-122"/>
                <a:cs typeface="Bahnschrift" pitchFamily="34" charset="-120"/>
              </a:rPr>
              <a:t>analysis_runs</a:t>
            </a:r>
            <a:endParaRPr lang="en-US" sz="1050" dirty="0"/>
          </a:p>
        </p:txBody>
      </p:sp>
      <p:sp>
        <p:nvSpPr>
          <p:cNvPr id="43" name="Shape 41"/>
          <p:cNvSpPr/>
          <p:nvPr/>
        </p:nvSpPr>
        <p:spPr>
          <a:xfrm>
            <a:off x="6062472" y="3364992"/>
            <a:ext cx="0" cy="192024"/>
          </a:xfrm>
          <a:prstGeom prst="line">
            <a:avLst/>
          </a:prstGeom>
          <a:noFill/>
          <a:ln w="25400">
            <a:solidFill>
              <a:srgbClr val="4A6A94"/>
            </a:solidFill>
            <a:prstDash val="solid"/>
            <a:tailEnd type="triangle"/>
          </a:ln>
        </p:spPr>
      </p:sp>
      <p:sp>
        <p:nvSpPr>
          <p:cNvPr id="44" name="Shape 42"/>
          <p:cNvSpPr/>
          <p:nvPr/>
        </p:nvSpPr>
        <p:spPr>
          <a:xfrm>
            <a:off x="4480560" y="3566160"/>
            <a:ext cx="3200400" cy="457200"/>
          </a:xfrm>
          <a:prstGeom prst="roundRect">
            <a:avLst>
              <a:gd name="adj" fmla="val 20000"/>
            </a:avLst>
          </a:prstGeom>
          <a:solidFill>
            <a:srgbClr val="12161E"/>
          </a:solidFill>
          <a:ln w="12700">
            <a:solidFill>
              <a:srgbClr val="2A3A52"/>
            </a:solidFill>
            <a:prstDash val="solid"/>
          </a:ln>
        </p:spPr>
      </p:sp>
      <p:sp>
        <p:nvSpPr>
          <p:cNvPr id="45" name="Text 43"/>
          <p:cNvSpPr/>
          <p:nvPr/>
        </p:nvSpPr>
        <p:spPr>
          <a:xfrm>
            <a:off x="4480560" y="3611880"/>
            <a:ext cx="3200400" cy="274320"/>
          </a:xfrm>
          <a:prstGeom prst="rect">
            <a:avLst/>
          </a:prstGeom>
          <a:noFill/>
          <a:ln/>
        </p:spPr>
        <p:txBody>
          <a:bodyPr wrap="square" lIns="0" tIns="0" rIns="0" bIns="0" rtlCol="0" anchor="ctr"/>
          <a:lstStyle/>
          <a:p>
            <a:pPr algn="ctr" indent="0" marL="0">
              <a:buNone/>
            </a:pPr>
            <a:r>
              <a:rPr lang="en-US" sz="1050" b="1" dirty="0">
                <a:solidFill>
                  <a:srgbClr val="B8D4FF"/>
                </a:solidFill>
                <a:latin typeface="Bahnschrift" pitchFamily="34" charset="0"/>
                <a:ea typeface="Bahnschrift" pitchFamily="34" charset="-122"/>
                <a:cs typeface="Bahnschrift" pitchFamily="34" charset="-120"/>
              </a:rPr>
              <a:t>move_evaluations</a:t>
            </a:r>
            <a:endParaRPr lang="en-US" sz="1050" dirty="0"/>
          </a:p>
        </p:txBody>
      </p:sp>
      <p:sp>
        <p:nvSpPr>
          <p:cNvPr id="46" name="Text 44"/>
          <p:cNvSpPr/>
          <p:nvPr/>
        </p:nvSpPr>
        <p:spPr>
          <a:xfrm>
            <a:off x="4480560" y="4114800"/>
            <a:ext cx="3200400" cy="182880"/>
          </a:xfrm>
          <a:prstGeom prst="rect">
            <a:avLst/>
          </a:prstGeom>
          <a:noFill/>
          <a:ln/>
        </p:spPr>
        <p:txBody>
          <a:bodyPr wrap="square" lIns="0" tIns="0" rIns="0" bIns="0" rtlCol="0" anchor="ctr"/>
          <a:lstStyle/>
          <a:p>
            <a:pPr indent="0" marL="0">
              <a:buNone/>
            </a:pPr>
            <a:r>
              <a:rPr lang="en-US" sz="800" dirty="0">
                <a:solidFill>
                  <a:srgbClr val="5C5966"/>
                </a:solidFill>
                <a:latin typeface="Segoe UI" pitchFamily="34" charset="0"/>
                <a:ea typeface="Segoe UI" pitchFamily="34" charset="-122"/>
                <a:cs typeface="Segoe UI" pitchFamily="34" charset="-120"/>
              </a:rPr>
              <a:t>→ 1 import : many runs : many move evaluations</a:t>
            </a:r>
            <a:endParaRPr lang="en-US" sz="800" dirty="0"/>
          </a:p>
        </p:txBody>
      </p:sp>
      <p:sp>
        <p:nvSpPr>
          <p:cNvPr id="47" name="Text 45"/>
          <p:cNvSpPr/>
          <p:nvPr/>
        </p:nvSpPr>
        <p:spPr>
          <a:xfrm>
            <a:off x="8229600" y="1783080"/>
            <a:ext cx="3657600" cy="274320"/>
          </a:xfrm>
          <a:prstGeom prst="rect">
            <a:avLst/>
          </a:prstGeom>
          <a:noFill/>
          <a:ln/>
        </p:spPr>
        <p:txBody>
          <a:bodyPr wrap="square" lIns="0" tIns="0" rIns="0" bIns="0" rtlCol="0" anchor="ctr"/>
          <a:lstStyle/>
          <a:p>
            <a:pPr indent="0" marL="0">
              <a:buNone/>
            </a:pPr>
            <a:r>
              <a:rPr lang="en-US" sz="1050" b="1" spc="200" kern="0" dirty="0">
                <a:solidFill>
                  <a:srgbClr val="FFC62A"/>
                </a:solidFill>
                <a:latin typeface="Bahnschrift" pitchFamily="34" charset="0"/>
                <a:ea typeface="Bahnschrift" pitchFamily="34" charset="-122"/>
                <a:cs typeface="Bahnschrift" pitchFamily="34" charset="-120"/>
              </a:rPr>
              <a:t>LEARNING &amp; COMMUNITY</a:t>
            </a:r>
            <a:endParaRPr lang="en-US" sz="1050" dirty="0"/>
          </a:p>
        </p:txBody>
      </p:sp>
      <p:sp>
        <p:nvSpPr>
          <p:cNvPr id="48" name="Shape 46"/>
          <p:cNvSpPr/>
          <p:nvPr/>
        </p:nvSpPr>
        <p:spPr>
          <a:xfrm>
            <a:off x="8229600" y="2057400"/>
            <a:ext cx="3383280" cy="2011680"/>
          </a:xfrm>
          <a:prstGeom prst="roundRect">
            <a:avLst>
              <a:gd name="adj" fmla="val 3182"/>
            </a:avLst>
          </a:prstGeom>
          <a:solidFill>
            <a:srgbClr val="15151B"/>
          </a:solidFill>
          <a:ln w="12700">
            <a:solidFill>
              <a:srgbClr val="26262F"/>
            </a:solidFill>
            <a:prstDash val="solid"/>
          </a:ln>
        </p:spPr>
      </p:sp>
      <p:sp>
        <p:nvSpPr>
          <p:cNvPr id="49" name="Shape 47"/>
          <p:cNvSpPr/>
          <p:nvPr/>
        </p:nvSpPr>
        <p:spPr>
          <a:xfrm>
            <a:off x="8458200" y="2212848"/>
            <a:ext cx="2926080" cy="457200"/>
          </a:xfrm>
          <a:prstGeom prst="roundRect">
            <a:avLst>
              <a:gd name="adj" fmla="val 20000"/>
            </a:avLst>
          </a:prstGeom>
          <a:solidFill>
            <a:srgbClr val="12161E"/>
          </a:solidFill>
          <a:ln w="12700">
            <a:solidFill>
              <a:srgbClr val="2A3A52"/>
            </a:solidFill>
            <a:prstDash val="solid"/>
          </a:ln>
        </p:spPr>
      </p:sp>
      <p:sp>
        <p:nvSpPr>
          <p:cNvPr id="50" name="Text 48"/>
          <p:cNvSpPr/>
          <p:nvPr/>
        </p:nvSpPr>
        <p:spPr>
          <a:xfrm>
            <a:off x="8458200" y="2258568"/>
            <a:ext cx="2926080" cy="274320"/>
          </a:xfrm>
          <a:prstGeom prst="rect">
            <a:avLst/>
          </a:prstGeom>
          <a:noFill/>
          <a:ln/>
        </p:spPr>
        <p:txBody>
          <a:bodyPr wrap="square" lIns="0" tIns="0" rIns="0" bIns="0" rtlCol="0" anchor="ctr"/>
          <a:lstStyle/>
          <a:p>
            <a:pPr algn="ctr" indent="0" marL="0">
              <a:buNone/>
            </a:pPr>
            <a:r>
              <a:rPr lang="en-US" sz="1050" b="1" dirty="0">
                <a:solidFill>
                  <a:srgbClr val="B8D4FF"/>
                </a:solidFill>
                <a:latin typeface="Bahnschrift" pitchFamily="34" charset="0"/>
                <a:ea typeface="Bahnschrift" pitchFamily="34" charset="-122"/>
                <a:cs typeface="Bahnschrift" pitchFamily="34" charset="-120"/>
              </a:rPr>
              <a:t>puzzles → puzzle_attempts</a:t>
            </a:r>
            <a:endParaRPr lang="en-US" sz="1050" dirty="0"/>
          </a:p>
        </p:txBody>
      </p:sp>
      <p:sp>
        <p:nvSpPr>
          <p:cNvPr id="51" name="Shape 49"/>
          <p:cNvSpPr/>
          <p:nvPr/>
        </p:nvSpPr>
        <p:spPr>
          <a:xfrm>
            <a:off x="8458200" y="2551176"/>
            <a:ext cx="2926080" cy="457200"/>
          </a:xfrm>
          <a:prstGeom prst="roundRect">
            <a:avLst>
              <a:gd name="adj" fmla="val 20000"/>
            </a:avLst>
          </a:prstGeom>
          <a:solidFill>
            <a:srgbClr val="12161E"/>
          </a:solidFill>
          <a:ln w="12700">
            <a:solidFill>
              <a:srgbClr val="2A3A52"/>
            </a:solidFill>
            <a:prstDash val="solid"/>
          </a:ln>
        </p:spPr>
      </p:sp>
      <p:sp>
        <p:nvSpPr>
          <p:cNvPr id="52" name="Text 50"/>
          <p:cNvSpPr/>
          <p:nvPr/>
        </p:nvSpPr>
        <p:spPr>
          <a:xfrm>
            <a:off x="8458200" y="2596896"/>
            <a:ext cx="2926080" cy="274320"/>
          </a:xfrm>
          <a:prstGeom prst="rect">
            <a:avLst/>
          </a:prstGeom>
          <a:noFill/>
          <a:ln/>
        </p:spPr>
        <p:txBody>
          <a:bodyPr wrap="square" lIns="0" tIns="0" rIns="0" bIns="0" rtlCol="0" anchor="ctr"/>
          <a:lstStyle/>
          <a:p>
            <a:pPr algn="ctr" indent="0" marL="0">
              <a:buNone/>
            </a:pPr>
            <a:r>
              <a:rPr lang="en-US" sz="1050" b="1" dirty="0">
                <a:solidFill>
                  <a:srgbClr val="B8D4FF"/>
                </a:solidFill>
                <a:latin typeface="Bahnschrift" pitchFamily="34" charset="0"/>
                <a:ea typeface="Bahnschrift" pitchFamily="34" charset="-122"/>
                <a:cs typeface="Bahnschrift" pitchFamily="34" charset="-120"/>
              </a:rPr>
              <a:t>coach_snapshots</a:t>
            </a:r>
            <a:endParaRPr lang="en-US" sz="1050" dirty="0"/>
          </a:p>
        </p:txBody>
      </p:sp>
      <p:sp>
        <p:nvSpPr>
          <p:cNvPr id="53" name="Shape 51"/>
          <p:cNvSpPr/>
          <p:nvPr/>
        </p:nvSpPr>
        <p:spPr>
          <a:xfrm>
            <a:off x="8458200" y="2889504"/>
            <a:ext cx="2926080" cy="457200"/>
          </a:xfrm>
          <a:prstGeom prst="roundRect">
            <a:avLst>
              <a:gd name="adj" fmla="val 20000"/>
            </a:avLst>
          </a:prstGeom>
          <a:solidFill>
            <a:srgbClr val="12161E"/>
          </a:solidFill>
          <a:ln w="12700">
            <a:solidFill>
              <a:srgbClr val="2A3A52"/>
            </a:solidFill>
            <a:prstDash val="solid"/>
          </a:ln>
        </p:spPr>
      </p:sp>
      <p:sp>
        <p:nvSpPr>
          <p:cNvPr id="54" name="Text 52"/>
          <p:cNvSpPr/>
          <p:nvPr/>
        </p:nvSpPr>
        <p:spPr>
          <a:xfrm>
            <a:off x="8458200" y="2935224"/>
            <a:ext cx="2926080" cy="274320"/>
          </a:xfrm>
          <a:prstGeom prst="rect">
            <a:avLst/>
          </a:prstGeom>
          <a:noFill/>
          <a:ln/>
        </p:spPr>
        <p:txBody>
          <a:bodyPr wrap="square" lIns="0" tIns="0" rIns="0" bIns="0" rtlCol="0" anchor="ctr"/>
          <a:lstStyle/>
          <a:p>
            <a:pPr algn="ctr" indent="0" marL="0">
              <a:buNone/>
            </a:pPr>
            <a:r>
              <a:rPr lang="en-US" sz="1050" b="1" dirty="0">
                <a:solidFill>
                  <a:srgbClr val="B8D4FF"/>
                </a:solidFill>
                <a:latin typeface="Bahnschrift" pitchFamily="34" charset="0"/>
                <a:ea typeface="Bahnschrift" pitchFamily="34" charset="-122"/>
                <a:cs typeface="Bahnschrift" pitchFamily="34" charset="-120"/>
              </a:rPr>
              <a:t>leaderboard_entries</a:t>
            </a:r>
            <a:endParaRPr lang="en-US" sz="1050" dirty="0"/>
          </a:p>
        </p:txBody>
      </p:sp>
      <p:sp>
        <p:nvSpPr>
          <p:cNvPr id="55" name="Shape 53"/>
          <p:cNvSpPr/>
          <p:nvPr/>
        </p:nvSpPr>
        <p:spPr>
          <a:xfrm>
            <a:off x="8458200" y="3227832"/>
            <a:ext cx="2926080" cy="457200"/>
          </a:xfrm>
          <a:prstGeom prst="roundRect">
            <a:avLst>
              <a:gd name="adj" fmla="val 20000"/>
            </a:avLst>
          </a:prstGeom>
          <a:solidFill>
            <a:srgbClr val="12161E"/>
          </a:solidFill>
          <a:ln w="12700">
            <a:solidFill>
              <a:srgbClr val="2A3A52"/>
            </a:solidFill>
            <a:prstDash val="solid"/>
          </a:ln>
        </p:spPr>
      </p:sp>
      <p:sp>
        <p:nvSpPr>
          <p:cNvPr id="56" name="Text 54"/>
          <p:cNvSpPr/>
          <p:nvPr/>
        </p:nvSpPr>
        <p:spPr>
          <a:xfrm>
            <a:off x="8458200" y="3273552"/>
            <a:ext cx="2926080" cy="274320"/>
          </a:xfrm>
          <a:prstGeom prst="rect">
            <a:avLst/>
          </a:prstGeom>
          <a:noFill/>
          <a:ln/>
        </p:spPr>
        <p:txBody>
          <a:bodyPr wrap="square" lIns="0" tIns="0" rIns="0" bIns="0" rtlCol="0" anchor="ctr"/>
          <a:lstStyle/>
          <a:p>
            <a:pPr algn="ctr" indent="0" marL="0">
              <a:buNone/>
            </a:pPr>
            <a:r>
              <a:rPr lang="en-US" sz="1050" b="1" dirty="0">
                <a:solidFill>
                  <a:srgbClr val="B8D4FF"/>
                </a:solidFill>
                <a:latin typeface="Bahnschrift" pitchFamily="34" charset="0"/>
                <a:ea typeface="Bahnschrift" pitchFamily="34" charset="-122"/>
                <a:cs typeface="Bahnschrift" pitchFamily="34" charset="-120"/>
              </a:rPr>
              <a:t>leaderboards</a:t>
            </a:r>
            <a:endParaRPr lang="en-US" sz="1050" dirty="0"/>
          </a:p>
        </p:txBody>
      </p:sp>
      <p:sp>
        <p:nvSpPr>
          <p:cNvPr id="57" name="Text 55"/>
          <p:cNvSpPr/>
          <p:nvPr/>
        </p:nvSpPr>
        <p:spPr>
          <a:xfrm>
            <a:off x="8458200" y="4114800"/>
            <a:ext cx="2926080" cy="182880"/>
          </a:xfrm>
          <a:prstGeom prst="rect">
            <a:avLst/>
          </a:prstGeom>
          <a:noFill/>
          <a:ln/>
        </p:spPr>
        <p:txBody>
          <a:bodyPr wrap="square" lIns="0" tIns="0" rIns="0" bIns="0" rtlCol="0" anchor="ctr"/>
          <a:lstStyle/>
          <a:p>
            <a:pPr indent="0" marL="0">
              <a:buNone/>
            </a:pPr>
            <a:r>
              <a:rPr lang="en-US" sz="800" dirty="0">
                <a:solidFill>
                  <a:srgbClr val="5C5966"/>
                </a:solidFill>
                <a:latin typeface="Segoe UI" pitchFamily="34" charset="0"/>
                <a:ea typeface="Segoe UI" pitchFamily="34" charset="-122"/>
                <a:cs typeface="Segoe UI" pitchFamily="34" charset="-120"/>
              </a:rPr>
              <a:t>→ puzzles, attempts with rating, coach reports, rankings</a:t>
            </a:r>
            <a:endParaRPr lang="en-US" sz="800" dirty="0"/>
          </a:p>
        </p:txBody>
      </p:sp>
      <p:sp>
        <p:nvSpPr>
          <p:cNvPr id="58" name="Shape 56"/>
          <p:cNvSpPr/>
          <p:nvPr/>
        </p:nvSpPr>
        <p:spPr>
          <a:xfrm>
            <a:off x="566928" y="4572000"/>
            <a:ext cx="11064240" cy="914400"/>
          </a:xfrm>
          <a:prstGeom prst="roundRect">
            <a:avLst>
              <a:gd name="adj" fmla="val 9000"/>
            </a:avLst>
          </a:prstGeom>
          <a:solidFill>
            <a:srgbClr val="12141A"/>
          </a:solidFill>
          <a:ln w="12700">
            <a:solidFill>
              <a:srgbClr val="2A2A35"/>
            </a:solidFill>
            <a:prstDash val="solid"/>
          </a:ln>
        </p:spPr>
      </p:sp>
      <p:sp>
        <p:nvSpPr>
          <p:cNvPr id="59" name="Text 57"/>
          <p:cNvSpPr/>
          <p:nvPr/>
        </p:nvSpPr>
        <p:spPr>
          <a:xfrm>
            <a:off x="822960" y="4700016"/>
            <a:ext cx="10515600" cy="685800"/>
          </a:xfrm>
          <a:prstGeom prst="rect">
            <a:avLst/>
          </a:prstGeom>
          <a:noFill/>
          <a:ln/>
        </p:spPr>
        <p:txBody>
          <a:bodyPr wrap="square" lIns="0" tIns="0" rIns="0" bIns="0" rtlCol="0" anchor="ctr"/>
          <a:lstStyle/>
          <a:p>
            <a:pPr indent="0" marL="0">
              <a:spcAft>
                <a:spcPts val="300"/>
              </a:spcAft>
              <a:buNone/>
            </a:pPr>
            <a:r>
              <a:rPr lang="en-US" sz="1050" dirty="0">
                <a:solidFill>
                  <a:srgbClr val="F5F2EA"/>
                </a:solidFill>
                <a:latin typeface="Segoe UI" pitchFamily="34" charset="0"/>
                <a:ea typeface="Segoe UI" pitchFamily="34" charset="-122"/>
                <a:cs typeface="Segoe UI" pitchFamily="34" charset="-120"/>
              </a:rPr>
              <a:t>Unique indexes: email, public_id, pgn_hash, provider+provider_user</a:t>
            </a:r>
            <a:endParaRPr lang="en-US" sz="1050" dirty="0"/>
          </a:p>
          <a:p>
            <a:pPr indent="0" marL="0">
              <a:spcAft>
                <a:spcPts val="300"/>
              </a:spcAft>
              <a:buNone/>
            </a:pPr>
            <a:r>
              <a:rPr lang="en-US" sz="1050" dirty="0">
                <a:solidFill>
                  <a:srgbClr val="F5F2EA"/>
                </a:solidFill>
                <a:latin typeface="Segoe UI" pitchFamily="34" charset="0"/>
                <a:ea typeface="Segoe UI" pitchFamily="34" charset="-122"/>
                <a:cs typeface="Segoe UI" pitchFamily="34" charset="-120"/>
              </a:rPr>
              <a:t>JSONB payloads: engine lines, audit trails, themes, solutions</a:t>
            </a:r>
            <a:endParaRPr lang="en-US" sz="1050" dirty="0"/>
          </a:p>
          <a:p>
            <a:pPr indent="0" marL="0">
              <a:spcAft>
                <a:spcPts val="300"/>
              </a:spcAft>
              <a:buNone/>
            </a:pPr>
            <a:r>
              <a:rPr lang="en-US" sz="1050" dirty="0">
                <a:solidFill>
                  <a:srgbClr val="F5F2EA"/>
                </a:solidFill>
                <a:latin typeface="Segoe UI" pitchFamily="34" charset="0"/>
                <a:ea typeface="Segoe UI" pitchFamily="34" charset="-122"/>
                <a:cs typeface="Segoe UI" pitchFamily="34" charset="-120"/>
              </a:rPr>
              <a:t>Migrations versioned in /drizzle · seeded via npm run db:seed</a:t>
            </a:r>
            <a:endParaRPr lang="en-US" sz="1050" dirty="0"/>
          </a:p>
          <a:p>
            <a:pPr indent="0" marL="0">
              <a:spcAft>
                <a:spcPts val="300"/>
              </a:spcAft>
              <a:buNone/>
            </a:pPr>
            <a:r>
              <a:rPr lang="en-US" sz="1050" dirty="0">
                <a:solidFill>
                  <a:srgbClr val="F5F2EA"/>
                </a:solidFill>
                <a:latin typeface="Segoe UI" pitchFamily="34" charset="0"/>
                <a:ea typeface="Segoe UI" pitchFamily="34" charset="-122"/>
                <a:cs typeface="Segoe UI" pitchFamily="34" charset="-120"/>
              </a:rPr>
              <a:t>Optional MongoDB user store (MONGODB_URI)</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0B0F"/>
        </a:solidFill>
      </p:bgPr>
    </p:bg>
    <p:spTree>
      <p:nvGrpSpPr>
        <p:cNvPr id="1" name=""/>
        <p:cNvGrpSpPr/>
        <p:nvPr/>
      </p:nvGrpSpPr>
      <p:grpSpPr>
        <a:xfrm>
          <a:off x="0" y="0"/>
          <a:ext cx="0" cy="0"/>
          <a:chOff x="0" y="0"/>
          <a:chExt cx="0" cy="0"/>
        </a:xfrm>
      </p:grpSpPr>
      <p:sp>
        <p:nvSpPr>
          <p:cNvPr id="2" name="Shape 0"/>
          <p:cNvSpPr/>
          <p:nvPr/>
        </p:nvSpPr>
        <p:spPr>
          <a:xfrm>
            <a:off x="10716768" y="292608"/>
            <a:ext cx="155448" cy="155448"/>
          </a:xfrm>
          <a:prstGeom prst="rect">
            <a:avLst/>
          </a:prstGeom>
          <a:solidFill>
            <a:srgbClr val="14141A"/>
          </a:solidFill>
          <a:ln/>
        </p:spPr>
      </p:sp>
      <p:sp>
        <p:nvSpPr>
          <p:cNvPr id="3" name="Shape 1"/>
          <p:cNvSpPr/>
          <p:nvPr/>
        </p:nvSpPr>
        <p:spPr>
          <a:xfrm>
            <a:off x="11027664" y="292608"/>
            <a:ext cx="155448" cy="155448"/>
          </a:xfrm>
          <a:prstGeom prst="rect">
            <a:avLst/>
          </a:prstGeom>
          <a:solidFill>
            <a:srgbClr val="14141A"/>
          </a:solidFill>
          <a:ln/>
        </p:spPr>
      </p:sp>
      <p:sp>
        <p:nvSpPr>
          <p:cNvPr id="4" name="Shape 2"/>
          <p:cNvSpPr/>
          <p:nvPr/>
        </p:nvSpPr>
        <p:spPr>
          <a:xfrm>
            <a:off x="10561320" y="448056"/>
            <a:ext cx="155448" cy="155448"/>
          </a:xfrm>
          <a:prstGeom prst="rect">
            <a:avLst/>
          </a:prstGeom>
          <a:solidFill>
            <a:srgbClr val="14141A"/>
          </a:solidFill>
          <a:ln/>
        </p:spPr>
      </p:sp>
      <p:sp>
        <p:nvSpPr>
          <p:cNvPr id="5" name="Shape 3"/>
          <p:cNvSpPr/>
          <p:nvPr/>
        </p:nvSpPr>
        <p:spPr>
          <a:xfrm>
            <a:off x="10872216" y="448056"/>
            <a:ext cx="155448" cy="155448"/>
          </a:xfrm>
          <a:prstGeom prst="rect">
            <a:avLst/>
          </a:prstGeom>
          <a:solidFill>
            <a:srgbClr val="14141A"/>
          </a:solidFill>
          <a:ln/>
        </p:spPr>
      </p:sp>
      <p:sp>
        <p:nvSpPr>
          <p:cNvPr id="6" name="Shape 4"/>
          <p:cNvSpPr/>
          <p:nvPr/>
        </p:nvSpPr>
        <p:spPr>
          <a:xfrm>
            <a:off x="11183112" y="448056"/>
            <a:ext cx="155448" cy="155448"/>
          </a:xfrm>
          <a:prstGeom prst="rect">
            <a:avLst/>
          </a:prstGeom>
          <a:solidFill>
            <a:srgbClr val="14141A"/>
          </a:solidFill>
          <a:ln/>
        </p:spPr>
      </p:sp>
      <p:sp>
        <p:nvSpPr>
          <p:cNvPr id="7" name="Shape 5"/>
          <p:cNvSpPr/>
          <p:nvPr/>
        </p:nvSpPr>
        <p:spPr>
          <a:xfrm>
            <a:off x="10716768" y="603504"/>
            <a:ext cx="155448" cy="155448"/>
          </a:xfrm>
          <a:prstGeom prst="rect">
            <a:avLst/>
          </a:prstGeom>
          <a:solidFill>
            <a:srgbClr val="14141A"/>
          </a:solidFill>
          <a:ln/>
        </p:spPr>
      </p:sp>
      <p:sp>
        <p:nvSpPr>
          <p:cNvPr id="8" name="Shape 6"/>
          <p:cNvSpPr/>
          <p:nvPr/>
        </p:nvSpPr>
        <p:spPr>
          <a:xfrm>
            <a:off x="11027664" y="603504"/>
            <a:ext cx="155448" cy="155448"/>
          </a:xfrm>
          <a:prstGeom prst="rect">
            <a:avLst/>
          </a:prstGeom>
          <a:solidFill>
            <a:srgbClr val="14141A"/>
          </a:solidFill>
          <a:ln/>
        </p:spPr>
      </p:sp>
      <p:sp>
        <p:nvSpPr>
          <p:cNvPr id="9" name="Shape 7"/>
          <p:cNvSpPr/>
          <p:nvPr/>
        </p:nvSpPr>
        <p:spPr>
          <a:xfrm>
            <a:off x="10561320" y="758952"/>
            <a:ext cx="155448" cy="155448"/>
          </a:xfrm>
          <a:prstGeom prst="rect">
            <a:avLst/>
          </a:prstGeom>
          <a:solidFill>
            <a:srgbClr val="14141A"/>
          </a:solidFill>
          <a:ln/>
        </p:spPr>
      </p:sp>
      <p:sp>
        <p:nvSpPr>
          <p:cNvPr id="10" name="Shape 8"/>
          <p:cNvSpPr/>
          <p:nvPr/>
        </p:nvSpPr>
        <p:spPr>
          <a:xfrm>
            <a:off x="10872216" y="758952"/>
            <a:ext cx="155448" cy="155448"/>
          </a:xfrm>
          <a:prstGeom prst="rect">
            <a:avLst/>
          </a:prstGeom>
          <a:solidFill>
            <a:srgbClr val="14141A"/>
          </a:solidFill>
          <a:ln/>
        </p:spPr>
      </p:sp>
      <p:sp>
        <p:nvSpPr>
          <p:cNvPr id="11" name="Shape 9"/>
          <p:cNvSpPr/>
          <p:nvPr/>
        </p:nvSpPr>
        <p:spPr>
          <a:xfrm>
            <a:off x="11183112" y="758952"/>
            <a:ext cx="155448" cy="155448"/>
          </a:xfrm>
          <a:prstGeom prst="rect">
            <a:avLst/>
          </a:prstGeom>
          <a:solidFill>
            <a:srgbClr val="14141A"/>
          </a:solidFill>
          <a:ln/>
        </p:spPr>
      </p:sp>
      <p:sp>
        <p:nvSpPr>
          <p:cNvPr id="12" name="Shape 10"/>
          <p:cNvSpPr/>
          <p:nvPr/>
        </p:nvSpPr>
        <p:spPr>
          <a:xfrm>
            <a:off x="10716768" y="914400"/>
            <a:ext cx="155448" cy="155448"/>
          </a:xfrm>
          <a:prstGeom prst="rect">
            <a:avLst/>
          </a:prstGeom>
          <a:solidFill>
            <a:srgbClr val="14141A"/>
          </a:solidFill>
          <a:ln/>
        </p:spPr>
      </p:sp>
      <p:sp>
        <p:nvSpPr>
          <p:cNvPr id="13" name="Shape 11"/>
          <p:cNvSpPr/>
          <p:nvPr/>
        </p:nvSpPr>
        <p:spPr>
          <a:xfrm>
            <a:off x="11027664" y="914400"/>
            <a:ext cx="155448" cy="155448"/>
          </a:xfrm>
          <a:prstGeom prst="rect">
            <a:avLst/>
          </a:prstGeom>
          <a:solidFill>
            <a:srgbClr val="14141A"/>
          </a:solidFill>
          <a:ln/>
        </p:spPr>
      </p:sp>
      <p:sp>
        <p:nvSpPr>
          <p:cNvPr id="14" name="Shape 12"/>
          <p:cNvSpPr/>
          <p:nvPr/>
        </p:nvSpPr>
        <p:spPr>
          <a:xfrm>
            <a:off x="9859975" y="310896"/>
            <a:ext cx="1783080" cy="292608"/>
          </a:xfrm>
          <a:prstGeom prst="roundRect">
            <a:avLst>
              <a:gd name="adj" fmla="val 50000"/>
            </a:avLst>
          </a:prstGeom>
          <a:solidFill>
            <a:srgbClr val="2A2412"/>
          </a:solidFill>
          <a:ln w="9525">
            <a:solidFill>
              <a:srgbClr val="4A3D18"/>
            </a:solidFill>
            <a:prstDash val="solid"/>
          </a:ln>
        </p:spPr>
      </p:sp>
      <p:sp>
        <p:nvSpPr>
          <p:cNvPr id="15" name="Text 13"/>
          <p:cNvSpPr/>
          <p:nvPr/>
        </p:nvSpPr>
        <p:spPr>
          <a:xfrm>
            <a:off x="9859975" y="301752"/>
            <a:ext cx="1783080" cy="310896"/>
          </a:xfrm>
          <a:prstGeom prst="rect">
            <a:avLst/>
          </a:prstGeom>
          <a:noFill/>
          <a:ln/>
        </p:spPr>
        <p:txBody>
          <a:bodyPr wrap="square" lIns="0" tIns="0" rIns="0" bIns="0" rtlCol="0" anchor="ctr"/>
          <a:lstStyle/>
          <a:p>
            <a:pPr algn="ctr" indent="0" marL="0">
              <a:buNone/>
            </a:pPr>
            <a:r>
              <a:rPr lang="en-US" sz="800" b="1" spc="120" kern="0" dirty="0">
                <a:solidFill>
                  <a:srgbClr val="FFC62A"/>
                </a:solidFill>
                <a:latin typeface="Bahnschrift" pitchFamily="34" charset="0"/>
                <a:ea typeface="Bahnschrift" pitchFamily="34" charset="-122"/>
                <a:cs typeface="Bahnschrift" pitchFamily="34" charset="-120"/>
              </a:rPr>
              <a:t>VERIFIED · FROM SOURCE CODE</a:t>
            </a:r>
            <a:endParaRPr lang="en-US" sz="800" dirty="0"/>
          </a:p>
        </p:txBody>
      </p:sp>
      <p:sp>
        <p:nvSpPr>
          <p:cNvPr id="16" name="Text 14"/>
          <p:cNvSpPr/>
          <p:nvPr/>
        </p:nvSpPr>
        <p:spPr>
          <a:xfrm>
            <a:off x="566928" y="384048"/>
            <a:ext cx="8229600" cy="274320"/>
          </a:xfrm>
          <a:prstGeom prst="rect">
            <a:avLst/>
          </a:prstGeom>
          <a:noFill/>
          <a:ln/>
        </p:spPr>
        <p:txBody>
          <a:bodyPr wrap="square" lIns="0" tIns="0" rIns="0" bIns="0" rtlCol="0" anchor="ctr"/>
          <a:lstStyle/>
          <a:p>
            <a:pPr indent="0" marL="0">
              <a:buNone/>
            </a:pPr>
            <a:r>
              <a:rPr lang="en-US" sz="1100" b="1" spc="300" kern="0" dirty="0">
                <a:solidFill>
                  <a:srgbClr val="FFC62A"/>
                </a:solidFill>
                <a:latin typeface="Bahnschrift" pitchFamily="34" charset="0"/>
                <a:ea typeface="Bahnschrift" pitchFamily="34" charset="-122"/>
                <a:cs typeface="Bahnschrift" pitchFamily="34" charset="-120"/>
              </a:rPr>
              <a:t>15 · BENEFITS</a:t>
            </a:r>
            <a:endParaRPr lang="en-US" sz="1100" dirty="0"/>
          </a:p>
        </p:txBody>
      </p:sp>
      <p:sp>
        <p:nvSpPr>
          <p:cNvPr id="17" name="Shape 15"/>
          <p:cNvSpPr/>
          <p:nvPr/>
        </p:nvSpPr>
        <p:spPr>
          <a:xfrm>
            <a:off x="566928" y="713232"/>
            <a:ext cx="384048" cy="45720"/>
          </a:xfrm>
          <a:prstGeom prst="rect">
            <a:avLst/>
          </a:prstGeom>
          <a:solidFill>
            <a:srgbClr val="FFC62A"/>
          </a:solidFill>
          <a:ln/>
        </p:spPr>
      </p:sp>
      <p:sp>
        <p:nvSpPr>
          <p:cNvPr id="18" name="Text 16"/>
          <p:cNvSpPr/>
          <p:nvPr/>
        </p:nvSpPr>
        <p:spPr>
          <a:xfrm>
            <a:off x="548640" y="841248"/>
            <a:ext cx="11064240" cy="566928"/>
          </a:xfrm>
          <a:prstGeom prst="rect">
            <a:avLst/>
          </a:prstGeom>
          <a:noFill/>
          <a:ln/>
        </p:spPr>
        <p:txBody>
          <a:bodyPr wrap="square" lIns="0" tIns="0" rIns="0" bIns="0" rtlCol="0" anchor="ctr"/>
          <a:lstStyle/>
          <a:p>
            <a:pPr indent="0" marL="0">
              <a:buNone/>
            </a:pPr>
            <a:r>
              <a:rPr lang="en-US" sz="2700" b="1" dirty="0">
                <a:solidFill>
                  <a:srgbClr val="F5F2EA"/>
                </a:solidFill>
                <a:latin typeface="Bahnschrift" pitchFamily="34" charset="0"/>
                <a:ea typeface="Bahnschrift" pitchFamily="34" charset="-122"/>
                <a:cs typeface="Bahnschrift" pitchFamily="34" charset="-120"/>
              </a:rPr>
              <a:t>System advantages — by player level</a:t>
            </a:r>
            <a:endParaRPr lang="en-US" sz="2700" dirty="0"/>
          </a:p>
        </p:txBody>
      </p:sp>
      <p:sp>
        <p:nvSpPr>
          <p:cNvPr id="19" name="Text 17"/>
          <p:cNvSpPr/>
          <p:nvPr/>
        </p:nvSpPr>
        <p:spPr>
          <a:xfrm>
            <a:off x="566928" y="1389888"/>
            <a:ext cx="11064240" cy="274320"/>
          </a:xfrm>
          <a:prstGeom prst="rect">
            <a:avLst/>
          </a:prstGeom>
          <a:noFill/>
          <a:ln/>
        </p:spPr>
        <p:txBody>
          <a:bodyPr wrap="square" lIns="0" tIns="0" rIns="0" bIns="0" rtlCol="0" anchor="ctr"/>
          <a:lstStyle/>
          <a:p>
            <a:pPr indent="0" marL="0">
              <a:buNone/>
            </a:pPr>
            <a:r>
              <a:rPr lang="en-US" sz="1250" dirty="0">
                <a:solidFill>
                  <a:srgbClr val="9A97A6"/>
                </a:solidFill>
                <a:latin typeface="Segoe UI" pitchFamily="34" charset="0"/>
                <a:ea typeface="Segoe UI" pitchFamily="34" charset="-122"/>
                <a:cs typeface="Segoe UI" pitchFamily="34" charset="-120"/>
              </a:rPr>
              <a:t>Why each level of player gains something real.</a:t>
            </a:r>
            <a:endParaRPr lang="en-US" sz="1250" dirty="0"/>
          </a:p>
        </p:txBody>
      </p:sp>
      <p:sp>
        <p:nvSpPr>
          <p:cNvPr id="20" name="Text 18"/>
          <p:cNvSpPr/>
          <p:nvPr/>
        </p:nvSpPr>
        <p:spPr>
          <a:xfrm>
            <a:off x="566928" y="6492240"/>
            <a:ext cx="2743200" cy="256032"/>
          </a:xfrm>
          <a:prstGeom prst="rect">
            <a:avLst/>
          </a:prstGeom>
          <a:noFill/>
          <a:ln/>
        </p:spPr>
        <p:txBody>
          <a:bodyPr wrap="square" lIns="0" tIns="0" rIns="0" bIns="0" rtlCol="0" anchor="ctr"/>
          <a:lstStyle/>
          <a:p>
            <a:pPr indent="0" marL="0">
              <a:buNone/>
            </a:pPr>
            <a:r>
              <a:rPr lang="en-US" sz="850" b="1" spc="300" kern="0" dirty="0">
                <a:solidFill>
                  <a:srgbClr val="5C5966"/>
                </a:solidFill>
                <a:latin typeface="Bahnschrift" pitchFamily="34" charset="0"/>
                <a:ea typeface="Bahnschrift" pitchFamily="34" charset="-122"/>
                <a:cs typeface="Bahnschrift" pitchFamily="34" charset="-120"/>
              </a:rPr>
              <a:t>CHESSFORK</a:t>
            </a:r>
            <a:endParaRPr lang="en-US" sz="850" dirty="0"/>
          </a:p>
        </p:txBody>
      </p:sp>
      <p:sp>
        <p:nvSpPr>
          <p:cNvPr id="21" name="Text 19"/>
          <p:cNvSpPr/>
          <p:nvPr/>
        </p:nvSpPr>
        <p:spPr>
          <a:xfrm>
            <a:off x="3840480" y="6492240"/>
            <a:ext cx="4572000" cy="256032"/>
          </a:xfrm>
          <a:prstGeom prst="rect">
            <a:avLst/>
          </a:prstGeom>
          <a:noFill/>
          <a:ln/>
        </p:spPr>
        <p:txBody>
          <a:bodyPr wrap="square" lIns="0" tIns="0" rIns="0" bIns="0" rtlCol="0" anchor="ctr"/>
          <a:lstStyle/>
          <a:p>
            <a:pPr indent="0" marL="0">
              <a:buNone/>
            </a:pPr>
            <a:r>
              <a:rPr lang="en-US" sz="800" spc="150" kern="0" dirty="0">
                <a:solidFill>
                  <a:srgbClr val="5C5966"/>
                </a:solidFill>
                <a:latin typeface="Segoe UI" pitchFamily="34" charset="0"/>
                <a:ea typeface="Segoe UI" pitchFamily="34" charset="-122"/>
                <a:cs typeface="Segoe UI" pitchFamily="34" charset="-120"/>
              </a:rPr>
              <a:t>BCA FINAL YEAR PROJECT · 2026</a:t>
            </a:r>
            <a:endParaRPr lang="en-US" sz="800" dirty="0"/>
          </a:p>
        </p:txBody>
      </p:sp>
      <p:sp>
        <p:nvSpPr>
          <p:cNvPr id="22" name="Text 20"/>
          <p:cNvSpPr/>
          <p:nvPr/>
        </p:nvSpPr>
        <p:spPr>
          <a:xfrm>
            <a:off x="11292840" y="6473952"/>
            <a:ext cx="365760" cy="274320"/>
          </a:xfrm>
          <a:prstGeom prst="rect">
            <a:avLst/>
          </a:prstGeom>
          <a:noFill/>
          <a:ln/>
        </p:spPr>
        <p:txBody>
          <a:bodyPr wrap="square" lIns="0" tIns="0" rIns="0" bIns="0" rtlCol="0" anchor="ctr"/>
          <a:lstStyle/>
          <a:p>
            <a:pPr algn="r" indent="0" marL="0">
              <a:buNone/>
            </a:pPr>
            <a:r>
              <a:rPr lang="en-US" sz="900" b="1" dirty="0">
                <a:solidFill>
                  <a:srgbClr val="5C5966"/>
                </a:solidFill>
                <a:latin typeface="Bahnschrift" pitchFamily="34" charset="0"/>
                <a:ea typeface="Bahnschrift" pitchFamily="34" charset="-122"/>
                <a:cs typeface="Bahnschrift" pitchFamily="34" charset="-120"/>
              </a:rPr>
              <a:t>16</a:t>
            </a:r>
            <a:endParaRPr lang="en-US" sz="900" dirty="0"/>
          </a:p>
        </p:txBody>
      </p:sp>
      <p:sp>
        <p:nvSpPr>
          <p:cNvPr id="23" name="Shape 21"/>
          <p:cNvSpPr/>
          <p:nvPr/>
        </p:nvSpPr>
        <p:spPr>
          <a:xfrm>
            <a:off x="566928" y="1783080"/>
            <a:ext cx="3611880" cy="4023360"/>
          </a:xfrm>
          <a:prstGeom prst="roundRect">
            <a:avLst>
              <a:gd name="adj" fmla="val 1772"/>
            </a:avLst>
          </a:prstGeom>
          <a:solidFill>
            <a:srgbClr val="15151B"/>
          </a:solidFill>
          <a:ln w="12700">
            <a:solidFill>
              <a:srgbClr val="26262F"/>
            </a:solidFill>
            <a:prstDash val="solid"/>
          </a:ln>
        </p:spPr>
      </p:sp>
      <p:sp>
        <p:nvSpPr>
          <p:cNvPr id="24" name="Shape 22"/>
          <p:cNvSpPr/>
          <p:nvPr/>
        </p:nvSpPr>
        <p:spPr>
          <a:xfrm>
            <a:off x="795528" y="2011680"/>
            <a:ext cx="640080" cy="640080"/>
          </a:xfrm>
          <a:prstGeom prst="ellipse">
            <a:avLst/>
          </a:prstGeom>
          <a:solidFill>
            <a:srgbClr val="12141A"/>
          </a:solidFill>
          <a:ln w="19050">
            <a:solidFill>
              <a:srgbClr val="3DDC84"/>
            </a:solidFill>
            <a:prstDash val="solid"/>
          </a:ln>
        </p:spPr>
      </p:sp>
      <p:sp>
        <p:nvSpPr>
          <p:cNvPr id="25" name="Text 23"/>
          <p:cNvSpPr/>
          <p:nvPr/>
        </p:nvSpPr>
        <p:spPr>
          <a:xfrm>
            <a:off x="868680" y="2075688"/>
            <a:ext cx="493776" cy="493776"/>
          </a:xfrm>
          <a:prstGeom prst="rect">
            <a:avLst/>
          </a:prstGeom>
          <a:noFill/>
          <a:ln/>
        </p:spPr>
        <p:txBody>
          <a:bodyPr wrap="square" lIns="0" tIns="0" rIns="0" bIns="0" rtlCol="0" anchor="ctr"/>
          <a:lstStyle/>
          <a:p>
            <a:pPr algn="ctr" indent="0" marL="0">
              <a:buNone/>
            </a:pPr>
            <a:r>
              <a:rPr lang="en-US" sz="3499" dirty="0">
                <a:solidFill>
                  <a:srgbClr val="3DDC84"/>
                </a:solidFill>
                <a:latin typeface="Segoe UI Symbol" pitchFamily="34" charset="0"/>
                <a:ea typeface="Segoe UI Symbol" pitchFamily="34" charset="-122"/>
                <a:cs typeface="Segoe UI Symbol" pitchFamily="34" charset="-120"/>
              </a:rPr>
              <a:t>♟</a:t>
            </a:r>
            <a:endParaRPr lang="en-US" sz="3499" dirty="0"/>
          </a:p>
        </p:txBody>
      </p:sp>
      <p:sp>
        <p:nvSpPr>
          <p:cNvPr id="26" name="Text 24"/>
          <p:cNvSpPr/>
          <p:nvPr/>
        </p:nvSpPr>
        <p:spPr>
          <a:xfrm>
            <a:off x="1572768" y="2075688"/>
            <a:ext cx="2423160" cy="502920"/>
          </a:xfrm>
          <a:prstGeom prst="rect">
            <a:avLst/>
          </a:prstGeom>
          <a:noFill/>
          <a:ln/>
        </p:spPr>
        <p:txBody>
          <a:bodyPr wrap="square" lIns="0" tIns="0" rIns="0" bIns="0" rtlCol="0" anchor="ctr"/>
          <a:lstStyle/>
          <a:p>
            <a:pPr indent="0" marL="0">
              <a:buNone/>
            </a:pPr>
            <a:r>
              <a:rPr lang="en-US" sz="1600" b="1" dirty="0">
                <a:solidFill>
                  <a:srgbClr val="F5F2EA"/>
                </a:solidFill>
                <a:latin typeface="Bahnschrift" pitchFamily="34" charset="0"/>
                <a:ea typeface="Bahnschrift" pitchFamily="34" charset="-122"/>
                <a:cs typeface="Bahnschrift" pitchFamily="34" charset="-120"/>
              </a:rPr>
              <a:t>For Beginners</a:t>
            </a:r>
            <a:endParaRPr lang="en-US" sz="1600" dirty="0"/>
          </a:p>
        </p:txBody>
      </p:sp>
      <p:sp>
        <p:nvSpPr>
          <p:cNvPr id="27" name="Shape 25"/>
          <p:cNvSpPr/>
          <p:nvPr/>
        </p:nvSpPr>
        <p:spPr>
          <a:xfrm>
            <a:off x="795528" y="2788920"/>
            <a:ext cx="3154680" cy="22860"/>
          </a:xfrm>
          <a:prstGeom prst="rect">
            <a:avLst/>
          </a:prstGeom>
          <a:solidFill>
            <a:srgbClr val="2A2A35"/>
          </a:solidFill>
          <a:ln/>
        </p:spPr>
      </p:sp>
      <p:sp>
        <p:nvSpPr>
          <p:cNvPr id="28" name="Text 26"/>
          <p:cNvSpPr/>
          <p:nvPr/>
        </p:nvSpPr>
        <p:spPr>
          <a:xfrm>
            <a:off x="822960" y="3017520"/>
            <a:ext cx="3108960" cy="2606040"/>
          </a:xfrm>
          <a:prstGeom prst="rect">
            <a:avLst/>
          </a:prstGeom>
          <a:noFill/>
          <a:ln/>
        </p:spPr>
        <p:txBody>
          <a:bodyPr wrap="square" lIns="0" tIns="0" rIns="0" bIns="0" rtlCol="0" anchor="ctr"/>
          <a:lstStyle/>
          <a:p>
            <a:pPr marL="342900" indent="-342900">
              <a:lnSpc>
                <a:spcPct val="110000"/>
              </a:lnSpc>
              <a:spcAft>
                <a:spcPts val="1200"/>
              </a:spcAft>
              <a:buSzPct val="100000"/>
              <a:buChar char="•"/>
            </a:pPr>
            <a:r>
              <a:rPr lang="en-US" sz="1150" dirty="0">
                <a:solidFill>
                  <a:srgbClr val="F5F2EA"/>
                </a:solidFill>
                <a:latin typeface="Segoe UI" pitchFamily="34" charset="0"/>
                <a:ea typeface="Segoe UI" pitchFamily="34" charset="-122"/>
                <a:cs typeface="Segoe UI" pitchFamily="34" charset="-120"/>
              </a:rPr>
              <a:t>Free instant analysis — no signup</a:t>
            </a:r>
            <a:endParaRPr lang="en-US" sz="1150" dirty="0"/>
          </a:p>
          <a:p>
            <a:pPr marL="342900" indent="-342900">
              <a:lnSpc>
                <a:spcPct val="110000"/>
              </a:lnSpc>
              <a:spcAft>
                <a:spcPts val="1200"/>
              </a:spcAft>
              <a:buSzPct val="100000"/>
              <a:buChar char="•"/>
            </a:pPr>
            <a:r>
              <a:rPr lang="en-US" sz="1150" dirty="0">
                <a:solidFill>
                  <a:srgbClr val="F5F2EA"/>
                </a:solidFill>
                <a:latin typeface="Segoe UI" pitchFamily="34" charset="0"/>
                <a:ea typeface="Segoe UI" pitchFamily="34" charset="-122"/>
                <a:cs typeface="Segoe UI" pitchFamily="34" charset="-120"/>
              </a:rPr>
              <a:t>Plain-language AI explanations</a:t>
            </a:r>
            <a:endParaRPr lang="en-US" sz="1150" dirty="0"/>
          </a:p>
          <a:p>
            <a:pPr marL="342900" indent="-342900">
              <a:lnSpc>
                <a:spcPct val="110000"/>
              </a:lnSpc>
              <a:spcAft>
                <a:spcPts val="1200"/>
              </a:spcAft>
              <a:buSzPct val="100000"/>
              <a:buChar char="•"/>
            </a:pPr>
            <a:r>
              <a:rPr lang="en-US" sz="1150" dirty="0">
                <a:solidFill>
                  <a:srgbClr val="F5F2EA"/>
                </a:solidFill>
                <a:latin typeface="Segoe UI" pitchFamily="34" charset="0"/>
                <a:ea typeface="Segoe UI" pitchFamily="34" charset="-122"/>
                <a:cs typeface="Segoe UI" pitchFamily="34" charset="-120"/>
              </a:rPr>
              <a:t>Daily puzzles &amp; streaks to build habit</a:t>
            </a:r>
            <a:endParaRPr lang="en-US" sz="1150" dirty="0"/>
          </a:p>
          <a:p>
            <a:pPr marL="342900" indent="-342900">
              <a:lnSpc>
                <a:spcPct val="110000"/>
              </a:lnSpc>
              <a:spcAft>
                <a:spcPts val="1200"/>
              </a:spcAft>
              <a:buSzPct val="100000"/>
              <a:buChar char="•"/>
            </a:pPr>
            <a:r>
              <a:rPr lang="en-US" sz="1150" dirty="0">
                <a:solidFill>
                  <a:srgbClr val="F5F2EA"/>
                </a:solidFill>
                <a:latin typeface="Segoe UI" pitchFamily="34" charset="0"/>
                <a:ea typeface="Segoe UI" pitchFamily="34" charset="-122"/>
                <a:cs typeface="Segoe UI" pitchFamily="34" charset="-120"/>
              </a:rPr>
              <a:t>Every grade explained, not assumed</a:t>
            </a:r>
            <a:endParaRPr lang="en-US" sz="1150" dirty="0"/>
          </a:p>
        </p:txBody>
      </p:sp>
      <p:sp>
        <p:nvSpPr>
          <p:cNvPr id="29" name="Shape 27"/>
          <p:cNvSpPr/>
          <p:nvPr/>
        </p:nvSpPr>
        <p:spPr>
          <a:xfrm>
            <a:off x="4288536" y="1783080"/>
            <a:ext cx="3611880" cy="4023360"/>
          </a:xfrm>
          <a:prstGeom prst="roundRect">
            <a:avLst>
              <a:gd name="adj" fmla="val 1772"/>
            </a:avLst>
          </a:prstGeom>
          <a:solidFill>
            <a:srgbClr val="15151B"/>
          </a:solidFill>
          <a:ln w="12700">
            <a:solidFill>
              <a:srgbClr val="26262F"/>
            </a:solidFill>
            <a:prstDash val="solid"/>
          </a:ln>
        </p:spPr>
      </p:sp>
      <p:sp>
        <p:nvSpPr>
          <p:cNvPr id="30" name="Shape 28"/>
          <p:cNvSpPr/>
          <p:nvPr/>
        </p:nvSpPr>
        <p:spPr>
          <a:xfrm>
            <a:off x="4517136" y="2011680"/>
            <a:ext cx="640080" cy="640080"/>
          </a:xfrm>
          <a:prstGeom prst="ellipse">
            <a:avLst/>
          </a:prstGeom>
          <a:solidFill>
            <a:srgbClr val="12141A"/>
          </a:solidFill>
          <a:ln w="19050">
            <a:solidFill>
              <a:srgbClr val="FFC62A"/>
            </a:solidFill>
            <a:prstDash val="solid"/>
          </a:ln>
        </p:spPr>
      </p:sp>
      <p:sp>
        <p:nvSpPr>
          <p:cNvPr id="31" name="Text 29"/>
          <p:cNvSpPr/>
          <p:nvPr/>
        </p:nvSpPr>
        <p:spPr>
          <a:xfrm>
            <a:off x="4590288" y="2075688"/>
            <a:ext cx="493776" cy="493776"/>
          </a:xfrm>
          <a:prstGeom prst="rect">
            <a:avLst/>
          </a:prstGeom>
          <a:noFill/>
          <a:ln/>
        </p:spPr>
        <p:txBody>
          <a:bodyPr wrap="square" lIns="0" tIns="0" rIns="0" bIns="0" rtlCol="0" anchor="ctr"/>
          <a:lstStyle/>
          <a:p>
            <a:pPr algn="ctr" indent="0" marL="0">
              <a:buNone/>
            </a:pPr>
            <a:r>
              <a:rPr lang="en-US" sz="3499" dirty="0">
                <a:solidFill>
                  <a:srgbClr val="FFC62A"/>
                </a:solidFill>
                <a:latin typeface="Segoe UI Symbol" pitchFamily="34" charset="0"/>
                <a:ea typeface="Segoe UI Symbol" pitchFamily="34" charset="-122"/>
                <a:cs typeface="Segoe UI Symbol" pitchFamily="34" charset="-120"/>
              </a:rPr>
              <a:t>♞</a:t>
            </a:r>
            <a:endParaRPr lang="en-US" sz="3499" dirty="0"/>
          </a:p>
        </p:txBody>
      </p:sp>
      <p:sp>
        <p:nvSpPr>
          <p:cNvPr id="32" name="Text 30"/>
          <p:cNvSpPr/>
          <p:nvPr/>
        </p:nvSpPr>
        <p:spPr>
          <a:xfrm>
            <a:off x="5294376" y="2075688"/>
            <a:ext cx="2423160" cy="502920"/>
          </a:xfrm>
          <a:prstGeom prst="rect">
            <a:avLst/>
          </a:prstGeom>
          <a:noFill/>
          <a:ln/>
        </p:spPr>
        <p:txBody>
          <a:bodyPr wrap="square" lIns="0" tIns="0" rIns="0" bIns="0" rtlCol="0" anchor="ctr"/>
          <a:lstStyle/>
          <a:p>
            <a:pPr indent="0" marL="0">
              <a:buNone/>
            </a:pPr>
            <a:r>
              <a:rPr lang="en-US" sz="1600" b="1" dirty="0">
                <a:solidFill>
                  <a:srgbClr val="F5F2EA"/>
                </a:solidFill>
                <a:latin typeface="Bahnschrift" pitchFamily="34" charset="0"/>
                <a:ea typeface="Bahnschrift" pitchFamily="34" charset="-122"/>
                <a:cs typeface="Bahnschrift" pitchFamily="34" charset="-120"/>
              </a:rPr>
              <a:t>For Intermediate</a:t>
            </a:r>
            <a:endParaRPr lang="en-US" sz="1600" dirty="0"/>
          </a:p>
        </p:txBody>
      </p:sp>
      <p:sp>
        <p:nvSpPr>
          <p:cNvPr id="33" name="Shape 31"/>
          <p:cNvSpPr/>
          <p:nvPr/>
        </p:nvSpPr>
        <p:spPr>
          <a:xfrm>
            <a:off x="4517136" y="2788920"/>
            <a:ext cx="3154680" cy="22860"/>
          </a:xfrm>
          <a:prstGeom prst="rect">
            <a:avLst/>
          </a:prstGeom>
          <a:solidFill>
            <a:srgbClr val="2A2A35"/>
          </a:solidFill>
          <a:ln/>
        </p:spPr>
      </p:sp>
      <p:sp>
        <p:nvSpPr>
          <p:cNvPr id="34" name="Text 32"/>
          <p:cNvSpPr/>
          <p:nvPr/>
        </p:nvSpPr>
        <p:spPr>
          <a:xfrm>
            <a:off x="4544568" y="3017520"/>
            <a:ext cx="3108960" cy="2606040"/>
          </a:xfrm>
          <a:prstGeom prst="rect">
            <a:avLst/>
          </a:prstGeom>
          <a:noFill/>
          <a:ln/>
        </p:spPr>
        <p:txBody>
          <a:bodyPr wrap="square" lIns="0" tIns="0" rIns="0" bIns="0" rtlCol="0" anchor="ctr"/>
          <a:lstStyle/>
          <a:p>
            <a:pPr marL="342900" indent="-342900">
              <a:lnSpc>
                <a:spcPct val="110000"/>
              </a:lnSpc>
              <a:spcAft>
                <a:spcPts val="1200"/>
              </a:spcAft>
              <a:buSzPct val="100000"/>
              <a:buChar char="•"/>
            </a:pPr>
            <a:r>
              <a:rPr lang="en-US" sz="1150" dirty="0">
                <a:solidFill>
                  <a:srgbClr val="F5F2EA"/>
                </a:solidFill>
                <a:latin typeface="Segoe UI" pitchFamily="34" charset="0"/>
                <a:ea typeface="Segoe UI" pitchFamily="34" charset="-122"/>
                <a:cs typeface="Segoe UI" pitchFamily="34" charset="-120"/>
              </a:rPr>
              <a:t>AI Coach finds recurring weaknesses</a:t>
            </a:r>
            <a:endParaRPr lang="en-US" sz="1150" dirty="0"/>
          </a:p>
          <a:p>
            <a:pPr marL="342900" indent="-342900">
              <a:lnSpc>
                <a:spcPct val="110000"/>
              </a:lnSpc>
              <a:spcAft>
                <a:spcPts val="1200"/>
              </a:spcAft>
              <a:buSzPct val="100000"/>
              <a:buChar char="•"/>
            </a:pPr>
            <a:r>
              <a:rPr lang="en-US" sz="1150" dirty="0">
                <a:solidFill>
                  <a:srgbClr val="F5F2EA"/>
                </a:solidFill>
                <a:latin typeface="Segoe UI" pitchFamily="34" charset="0"/>
                <a:ea typeface="Segoe UI" pitchFamily="34" charset="-122"/>
                <a:cs typeface="Segoe UI" pitchFamily="34" charset="-120"/>
              </a:rPr>
              <a:t>Opening explorer + repertoire notes</a:t>
            </a:r>
            <a:endParaRPr lang="en-US" sz="1150" dirty="0"/>
          </a:p>
          <a:p>
            <a:pPr marL="342900" indent="-342900">
              <a:lnSpc>
                <a:spcPct val="110000"/>
              </a:lnSpc>
              <a:spcAft>
                <a:spcPts val="1200"/>
              </a:spcAft>
              <a:buSzPct val="100000"/>
              <a:buChar char="•"/>
            </a:pPr>
            <a:r>
              <a:rPr lang="en-US" sz="1150" dirty="0">
                <a:solidFill>
                  <a:srgbClr val="F5F2EA"/>
                </a:solidFill>
                <a:latin typeface="Segoe UI" pitchFamily="34" charset="0"/>
                <a:ea typeface="Segoe UI" pitchFamily="34" charset="-122"/>
                <a:cs typeface="Segoe UI" pitchFamily="34" charset="-120"/>
              </a:rPr>
              <a:t>What-If experiments to test ideas</a:t>
            </a:r>
            <a:endParaRPr lang="en-US" sz="1150" dirty="0"/>
          </a:p>
          <a:p>
            <a:pPr marL="342900" indent="-342900">
              <a:lnSpc>
                <a:spcPct val="110000"/>
              </a:lnSpc>
              <a:spcAft>
                <a:spcPts val="1200"/>
              </a:spcAft>
              <a:buSzPct val="100000"/>
              <a:buChar char="•"/>
            </a:pPr>
            <a:r>
              <a:rPr lang="en-US" sz="1150" dirty="0">
                <a:solidFill>
                  <a:srgbClr val="F5F2EA"/>
                </a:solidFill>
                <a:latin typeface="Segoe UI" pitchFamily="34" charset="0"/>
                <a:ea typeface="Segoe UI" pitchFamily="34" charset="-122"/>
                <a:cs typeface="Segoe UI" pitchFamily="34" charset="-120"/>
              </a:rPr>
              <a:t>Accuracy tracking across games</a:t>
            </a:r>
            <a:endParaRPr lang="en-US" sz="1150" dirty="0"/>
          </a:p>
        </p:txBody>
      </p:sp>
      <p:sp>
        <p:nvSpPr>
          <p:cNvPr id="35" name="Shape 33"/>
          <p:cNvSpPr/>
          <p:nvPr/>
        </p:nvSpPr>
        <p:spPr>
          <a:xfrm>
            <a:off x="8010144" y="1783080"/>
            <a:ext cx="3611880" cy="4023360"/>
          </a:xfrm>
          <a:prstGeom prst="roundRect">
            <a:avLst>
              <a:gd name="adj" fmla="val 1772"/>
            </a:avLst>
          </a:prstGeom>
          <a:solidFill>
            <a:srgbClr val="15151B"/>
          </a:solidFill>
          <a:ln w="12700">
            <a:solidFill>
              <a:srgbClr val="26262F"/>
            </a:solidFill>
            <a:prstDash val="solid"/>
          </a:ln>
        </p:spPr>
      </p:sp>
      <p:sp>
        <p:nvSpPr>
          <p:cNvPr id="36" name="Shape 34"/>
          <p:cNvSpPr/>
          <p:nvPr/>
        </p:nvSpPr>
        <p:spPr>
          <a:xfrm>
            <a:off x="8238744" y="2011680"/>
            <a:ext cx="640080" cy="640080"/>
          </a:xfrm>
          <a:prstGeom prst="ellipse">
            <a:avLst/>
          </a:prstGeom>
          <a:solidFill>
            <a:srgbClr val="12141A"/>
          </a:solidFill>
          <a:ln w="19050">
            <a:solidFill>
              <a:srgbClr val="7AA2FF"/>
            </a:solidFill>
            <a:prstDash val="solid"/>
          </a:ln>
        </p:spPr>
      </p:sp>
      <p:sp>
        <p:nvSpPr>
          <p:cNvPr id="37" name="Text 35"/>
          <p:cNvSpPr/>
          <p:nvPr/>
        </p:nvSpPr>
        <p:spPr>
          <a:xfrm>
            <a:off x="8311896" y="2075688"/>
            <a:ext cx="493776" cy="493776"/>
          </a:xfrm>
          <a:prstGeom prst="rect">
            <a:avLst/>
          </a:prstGeom>
          <a:noFill/>
          <a:ln/>
        </p:spPr>
        <p:txBody>
          <a:bodyPr wrap="square" lIns="0" tIns="0" rIns="0" bIns="0" rtlCol="0" anchor="ctr"/>
          <a:lstStyle/>
          <a:p>
            <a:pPr algn="ctr" indent="0" marL="0">
              <a:buNone/>
            </a:pPr>
            <a:r>
              <a:rPr lang="en-US" sz="3499" dirty="0">
                <a:solidFill>
                  <a:srgbClr val="7AA2FF"/>
                </a:solidFill>
                <a:latin typeface="Segoe UI Symbol" pitchFamily="34" charset="0"/>
                <a:ea typeface="Segoe UI Symbol" pitchFamily="34" charset="-122"/>
                <a:cs typeface="Segoe UI Symbol" pitchFamily="34" charset="-120"/>
              </a:rPr>
              <a:t>♛</a:t>
            </a:r>
            <a:endParaRPr lang="en-US" sz="3499" dirty="0"/>
          </a:p>
        </p:txBody>
      </p:sp>
      <p:sp>
        <p:nvSpPr>
          <p:cNvPr id="38" name="Text 36"/>
          <p:cNvSpPr/>
          <p:nvPr/>
        </p:nvSpPr>
        <p:spPr>
          <a:xfrm>
            <a:off x="9015984" y="2075688"/>
            <a:ext cx="2423160" cy="502920"/>
          </a:xfrm>
          <a:prstGeom prst="rect">
            <a:avLst/>
          </a:prstGeom>
          <a:noFill/>
          <a:ln/>
        </p:spPr>
        <p:txBody>
          <a:bodyPr wrap="square" lIns="0" tIns="0" rIns="0" bIns="0" rtlCol="0" anchor="ctr"/>
          <a:lstStyle/>
          <a:p>
            <a:pPr indent="0" marL="0">
              <a:buNone/>
            </a:pPr>
            <a:r>
              <a:rPr lang="en-US" sz="1600" b="1" dirty="0">
                <a:solidFill>
                  <a:srgbClr val="F5F2EA"/>
                </a:solidFill>
                <a:latin typeface="Bahnschrift" pitchFamily="34" charset="0"/>
                <a:ea typeface="Bahnschrift" pitchFamily="34" charset="-122"/>
                <a:cs typeface="Bahnschrift" pitchFamily="34" charset="-120"/>
              </a:rPr>
              <a:t>For Advanced</a:t>
            </a:r>
            <a:endParaRPr lang="en-US" sz="1600" dirty="0"/>
          </a:p>
        </p:txBody>
      </p:sp>
      <p:sp>
        <p:nvSpPr>
          <p:cNvPr id="39" name="Shape 37"/>
          <p:cNvSpPr/>
          <p:nvPr/>
        </p:nvSpPr>
        <p:spPr>
          <a:xfrm>
            <a:off x="8238744" y="2788920"/>
            <a:ext cx="3154680" cy="22860"/>
          </a:xfrm>
          <a:prstGeom prst="rect">
            <a:avLst/>
          </a:prstGeom>
          <a:solidFill>
            <a:srgbClr val="2A2A35"/>
          </a:solidFill>
          <a:ln/>
        </p:spPr>
      </p:sp>
      <p:sp>
        <p:nvSpPr>
          <p:cNvPr id="40" name="Text 38"/>
          <p:cNvSpPr/>
          <p:nvPr/>
        </p:nvSpPr>
        <p:spPr>
          <a:xfrm>
            <a:off x="8266176" y="3017520"/>
            <a:ext cx="3108960" cy="2606040"/>
          </a:xfrm>
          <a:prstGeom prst="rect">
            <a:avLst/>
          </a:prstGeom>
          <a:noFill/>
          <a:ln/>
        </p:spPr>
        <p:txBody>
          <a:bodyPr wrap="square" lIns="0" tIns="0" rIns="0" bIns="0" rtlCol="0" anchor="ctr"/>
          <a:lstStyle/>
          <a:p>
            <a:pPr marL="342900" indent="-342900">
              <a:lnSpc>
                <a:spcPct val="110000"/>
              </a:lnSpc>
              <a:spcAft>
                <a:spcPts val="1200"/>
              </a:spcAft>
              <a:buSzPct val="100000"/>
              <a:buChar char="•"/>
            </a:pPr>
            <a:r>
              <a:rPr lang="en-US" sz="1150" dirty="0">
                <a:solidFill>
                  <a:srgbClr val="F5F2EA"/>
                </a:solidFill>
                <a:latin typeface="Segoe UI" pitchFamily="34" charset="0"/>
                <a:ea typeface="Segoe UI" pitchFamily="34" charset="-122"/>
                <a:cs typeface="Segoe UI" pitchFamily="34" charset="-120"/>
              </a:rPr>
              <a:t>Deep analysis: depth 20–24, MultiPV</a:t>
            </a:r>
            <a:endParaRPr lang="en-US" sz="1150" dirty="0"/>
          </a:p>
          <a:p>
            <a:pPr marL="342900" indent="-342900">
              <a:lnSpc>
                <a:spcPct val="110000"/>
              </a:lnSpc>
              <a:spcAft>
                <a:spcPts val="1200"/>
              </a:spcAft>
              <a:buSzPct val="100000"/>
              <a:buChar char="•"/>
            </a:pPr>
            <a:r>
              <a:rPr lang="en-US" sz="1150" dirty="0">
                <a:solidFill>
                  <a:srgbClr val="F5F2EA"/>
                </a:solidFill>
                <a:latin typeface="Segoe UI" pitchFamily="34" charset="0"/>
                <a:ea typeface="Segoe UI" pitchFamily="34" charset="-122"/>
                <a:cs typeface="Segoe UI" pitchFamily="34" charset="-120"/>
              </a:rPr>
              <a:t>Syzygy 3-4-5 tablebases</a:t>
            </a:r>
            <a:endParaRPr lang="en-US" sz="1150" dirty="0"/>
          </a:p>
          <a:p>
            <a:pPr marL="342900" indent="-342900">
              <a:lnSpc>
                <a:spcPct val="110000"/>
              </a:lnSpc>
              <a:spcAft>
                <a:spcPts val="1200"/>
              </a:spcAft>
              <a:buSzPct val="100000"/>
              <a:buChar char="•"/>
            </a:pPr>
            <a:r>
              <a:rPr lang="en-US" sz="1150" dirty="0">
                <a:solidFill>
                  <a:srgbClr val="F5F2EA"/>
                </a:solidFill>
                <a:latin typeface="Segoe UI" pitchFamily="34" charset="0"/>
                <a:ea typeface="Segoe UI" pitchFamily="34" charset="-122"/>
                <a:cs typeface="Segoe UI" pitchFamily="34" charset="-120"/>
              </a:rPr>
              <a:t>Shareable report cards &amp; benchmarks</a:t>
            </a:r>
            <a:endParaRPr lang="en-US" sz="1150" dirty="0"/>
          </a:p>
          <a:p>
            <a:pPr marL="342900" indent="-342900">
              <a:lnSpc>
                <a:spcPct val="110000"/>
              </a:lnSpc>
              <a:spcAft>
                <a:spcPts val="1200"/>
              </a:spcAft>
              <a:buSzPct val="100000"/>
              <a:buChar char="•"/>
            </a:pPr>
            <a:r>
              <a:rPr lang="en-US" sz="1150" dirty="0">
                <a:solidFill>
                  <a:srgbClr val="F5F2EA"/>
                </a:solidFill>
                <a:latin typeface="Segoe UI" pitchFamily="34" charset="0"/>
                <a:ea typeface="Segoe UI" pitchFamily="34" charset="-122"/>
                <a:cs typeface="Segoe UI" pitchFamily="34" charset="-120"/>
              </a:rPr>
              <a:t>Engine diagnostics tooling</a:t>
            </a:r>
            <a:endParaRPr lang="en-US" sz="1150" dirty="0"/>
          </a:p>
        </p:txBody>
      </p:sp>
      <p:sp>
        <p:nvSpPr>
          <p:cNvPr id="41" name="Shape 39"/>
          <p:cNvSpPr/>
          <p:nvPr/>
        </p:nvSpPr>
        <p:spPr>
          <a:xfrm>
            <a:off x="566928" y="5989320"/>
            <a:ext cx="11064240" cy="502920"/>
          </a:xfrm>
          <a:prstGeom prst="roundRect">
            <a:avLst>
              <a:gd name="adj" fmla="val 14545"/>
            </a:avLst>
          </a:prstGeom>
          <a:solidFill>
            <a:srgbClr val="12141A"/>
          </a:solidFill>
          <a:ln w="12700">
            <a:solidFill>
              <a:srgbClr val="2A2A35"/>
            </a:solidFill>
            <a:prstDash val="solid"/>
          </a:ln>
        </p:spPr>
      </p:sp>
      <p:sp>
        <p:nvSpPr>
          <p:cNvPr id="42" name="Text 40"/>
          <p:cNvSpPr/>
          <p:nvPr/>
        </p:nvSpPr>
        <p:spPr>
          <a:xfrm>
            <a:off x="822960" y="5989320"/>
            <a:ext cx="10515600" cy="502920"/>
          </a:xfrm>
          <a:prstGeom prst="rect">
            <a:avLst/>
          </a:prstGeom>
          <a:noFill/>
          <a:ln/>
        </p:spPr>
        <p:txBody>
          <a:bodyPr wrap="square" lIns="0" tIns="0" rIns="0" bIns="0" rtlCol="0" anchor="ctr"/>
          <a:lstStyle/>
          <a:p>
            <a:pPr indent="0" marL="0">
              <a:buNone/>
            </a:pPr>
            <a:r>
              <a:rPr lang="en-US" sz="1050" b="1" spc="200" kern="0" dirty="0">
                <a:solidFill>
                  <a:srgbClr val="FFC62A"/>
                </a:solidFill>
                <a:latin typeface="Bahnschrift" pitchFamily="34" charset="0"/>
                <a:ea typeface="Bahnschrift" pitchFamily="34" charset="-122"/>
                <a:cs typeface="Bahnschrift" pitchFamily="34" charset="-120"/>
              </a:rPr>
              <a:t>FOR THE DEVELOPER  </a:t>
            </a:r>
            <a:pPr indent="0" marL="0">
              <a:buNone/>
            </a:pPr>
            <a:r>
              <a:rPr lang="en-US" sz="1050" dirty="0">
                <a:solidFill>
                  <a:srgbClr val="9A97A6"/>
                </a:solidFill>
              </a:rPr>
              <a:t>Type-safe end-to-end (TypeScript + Drizzle) · 12 Vitest suites · Playwright e2e · lint enforced at zero warnings.</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B0B0F"/>
        </a:solidFill>
      </p:bgPr>
    </p:bg>
    <p:spTree>
      <p:nvGrpSpPr>
        <p:cNvPr id="1" name=""/>
        <p:cNvGrpSpPr/>
        <p:nvPr/>
      </p:nvGrpSpPr>
      <p:grpSpPr>
        <a:xfrm>
          <a:off x="0" y="0"/>
          <a:ext cx="0" cy="0"/>
          <a:chOff x="0" y="0"/>
          <a:chExt cx="0" cy="0"/>
        </a:xfrm>
      </p:grpSpPr>
      <p:sp>
        <p:nvSpPr>
          <p:cNvPr id="2" name="Shape 0"/>
          <p:cNvSpPr/>
          <p:nvPr/>
        </p:nvSpPr>
        <p:spPr>
          <a:xfrm>
            <a:off x="10716768" y="292608"/>
            <a:ext cx="155448" cy="155448"/>
          </a:xfrm>
          <a:prstGeom prst="rect">
            <a:avLst/>
          </a:prstGeom>
          <a:solidFill>
            <a:srgbClr val="14141A"/>
          </a:solidFill>
          <a:ln/>
        </p:spPr>
      </p:sp>
      <p:sp>
        <p:nvSpPr>
          <p:cNvPr id="3" name="Shape 1"/>
          <p:cNvSpPr/>
          <p:nvPr/>
        </p:nvSpPr>
        <p:spPr>
          <a:xfrm>
            <a:off x="11027664" y="292608"/>
            <a:ext cx="155448" cy="155448"/>
          </a:xfrm>
          <a:prstGeom prst="rect">
            <a:avLst/>
          </a:prstGeom>
          <a:solidFill>
            <a:srgbClr val="14141A"/>
          </a:solidFill>
          <a:ln/>
        </p:spPr>
      </p:sp>
      <p:sp>
        <p:nvSpPr>
          <p:cNvPr id="4" name="Shape 2"/>
          <p:cNvSpPr/>
          <p:nvPr/>
        </p:nvSpPr>
        <p:spPr>
          <a:xfrm>
            <a:off x="10561320" y="448056"/>
            <a:ext cx="155448" cy="155448"/>
          </a:xfrm>
          <a:prstGeom prst="rect">
            <a:avLst/>
          </a:prstGeom>
          <a:solidFill>
            <a:srgbClr val="14141A"/>
          </a:solidFill>
          <a:ln/>
        </p:spPr>
      </p:sp>
      <p:sp>
        <p:nvSpPr>
          <p:cNvPr id="5" name="Shape 3"/>
          <p:cNvSpPr/>
          <p:nvPr/>
        </p:nvSpPr>
        <p:spPr>
          <a:xfrm>
            <a:off x="10872216" y="448056"/>
            <a:ext cx="155448" cy="155448"/>
          </a:xfrm>
          <a:prstGeom prst="rect">
            <a:avLst/>
          </a:prstGeom>
          <a:solidFill>
            <a:srgbClr val="14141A"/>
          </a:solidFill>
          <a:ln/>
        </p:spPr>
      </p:sp>
      <p:sp>
        <p:nvSpPr>
          <p:cNvPr id="6" name="Shape 4"/>
          <p:cNvSpPr/>
          <p:nvPr/>
        </p:nvSpPr>
        <p:spPr>
          <a:xfrm>
            <a:off x="11183112" y="448056"/>
            <a:ext cx="155448" cy="155448"/>
          </a:xfrm>
          <a:prstGeom prst="rect">
            <a:avLst/>
          </a:prstGeom>
          <a:solidFill>
            <a:srgbClr val="14141A"/>
          </a:solidFill>
          <a:ln/>
        </p:spPr>
      </p:sp>
      <p:sp>
        <p:nvSpPr>
          <p:cNvPr id="7" name="Shape 5"/>
          <p:cNvSpPr/>
          <p:nvPr/>
        </p:nvSpPr>
        <p:spPr>
          <a:xfrm>
            <a:off x="10716768" y="603504"/>
            <a:ext cx="155448" cy="155448"/>
          </a:xfrm>
          <a:prstGeom prst="rect">
            <a:avLst/>
          </a:prstGeom>
          <a:solidFill>
            <a:srgbClr val="14141A"/>
          </a:solidFill>
          <a:ln/>
        </p:spPr>
      </p:sp>
      <p:sp>
        <p:nvSpPr>
          <p:cNvPr id="8" name="Shape 6"/>
          <p:cNvSpPr/>
          <p:nvPr/>
        </p:nvSpPr>
        <p:spPr>
          <a:xfrm>
            <a:off x="11027664" y="603504"/>
            <a:ext cx="155448" cy="155448"/>
          </a:xfrm>
          <a:prstGeom prst="rect">
            <a:avLst/>
          </a:prstGeom>
          <a:solidFill>
            <a:srgbClr val="14141A"/>
          </a:solidFill>
          <a:ln/>
        </p:spPr>
      </p:sp>
      <p:sp>
        <p:nvSpPr>
          <p:cNvPr id="9" name="Shape 7"/>
          <p:cNvSpPr/>
          <p:nvPr/>
        </p:nvSpPr>
        <p:spPr>
          <a:xfrm>
            <a:off x="10561320" y="758952"/>
            <a:ext cx="155448" cy="155448"/>
          </a:xfrm>
          <a:prstGeom prst="rect">
            <a:avLst/>
          </a:prstGeom>
          <a:solidFill>
            <a:srgbClr val="14141A"/>
          </a:solidFill>
          <a:ln/>
        </p:spPr>
      </p:sp>
      <p:sp>
        <p:nvSpPr>
          <p:cNvPr id="10" name="Shape 8"/>
          <p:cNvSpPr/>
          <p:nvPr/>
        </p:nvSpPr>
        <p:spPr>
          <a:xfrm>
            <a:off x="10872216" y="758952"/>
            <a:ext cx="155448" cy="155448"/>
          </a:xfrm>
          <a:prstGeom prst="rect">
            <a:avLst/>
          </a:prstGeom>
          <a:solidFill>
            <a:srgbClr val="14141A"/>
          </a:solidFill>
          <a:ln/>
        </p:spPr>
      </p:sp>
      <p:sp>
        <p:nvSpPr>
          <p:cNvPr id="11" name="Shape 9"/>
          <p:cNvSpPr/>
          <p:nvPr/>
        </p:nvSpPr>
        <p:spPr>
          <a:xfrm>
            <a:off x="11183112" y="758952"/>
            <a:ext cx="155448" cy="155448"/>
          </a:xfrm>
          <a:prstGeom prst="rect">
            <a:avLst/>
          </a:prstGeom>
          <a:solidFill>
            <a:srgbClr val="14141A"/>
          </a:solidFill>
          <a:ln/>
        </p:spPr>
      </p:sp>
      <p:sp>
        <p:nvSpPr>
          <p:cNvPr id="12" name="Shape 10"/>
          <p:cNvSpPr/>
          <p:nvPr/>
        </p:nvSpPr>
        <p:spPr>
          <a:xfrm>
            <a:off x="10716768" y="914400"/>
            <a:ext cx="155448" cy="155448"/>
          </a:xfrm>
          <a:prstGeom prst="rect">
            <a:avLst/>
          </a:prstGeom>
          <a:solidFill>
            <a:srgbClr val="14141A"/>
          </a:solidFill>
          <a:ln/>
        </p:spPr>
      </p:sp>
      <p:sp>
        <p:nvSpPr>
          <p:cNvPr id="13" name="Shape 11"/>
          <p:cNvSpPr/>
          <p:nvPr/>
        </p:nvSpPr>
        <p:spPr>
          <a:xfrm>
            <a:off x="11027664" y="914400"/>
            <a:ext cx="155448" cy="155448"/>
          </a:xfrm>
          <a:prstGeom prst="rect">
            <a:avLst/>
          </a:prstGeom>
          <a:solidFill>
            <a:srgbClr val="14141A"/>
          </a:solidFill>
          <a:ln/>
        </p:spPr>
      </p:sp>
      <p:sp>
        <p:nvSpPr>
          <p:cNvPr id="14" name="Shape 12"/>
          <p:cNvSpPr/>
          <p:nvPr/>
        </p:nvSpPr>
        <p:spPr>
          <a:xfrm>
            <a:off x="9859975" y="310896"/>
            <a:ext cx="1783080" cy="292608"/>
          </a:xfrm>
          <a:prstGeom prst="roundRect">
            <a:avLst>
              <a:gd name="adj" fmla="val 50000"/>
            </a:avLst>
          </a:prstGeom>
          <a:solidFill>
            <a:srgbClr val="2A2412"/>
          </a:solidFill>
          <a:ln w="9525">
            <a:solidFill>
              <a:srgbClr val="4A3D18"/>
            </a:solidFill>
            <a:prstDash val="solid"/>
          </a:ln>
        </p:spPr>
      </p:sp>
      <p:sp>
        <p:nvSpPr>
          <p:cNvPr id="15" name="Text 13"/>
          <p:cNvSpPr/>
          <p:nvPr/>
        </p:nvSpPr>
        <p:spPr>
          <a:xfrm>
            <a:off x="9859975" y="301752"/>
            <a:ext cx="1783080" cy="310896"/>
          </a:xfrm>
          <a:prstGeom prst="rect">
            <a:avLst/>
          </a:prstGeom>
          <a:noFill/>
          <a:ln/>
        </p:spPr>
        <p:txBody>
          <a:bodyPr wrap="square" lIns="0" tIns="0" rIns="0" bIns="0" rtlCol="0" anchor="ctr"/>
          <a:lstStyle/>
          <a:p>
            <a:pPr algn="ctr" indent="0" marL="0">
              <a:buNone/>
            </a:pPr>
            <a:r>
              <a:rPr lang="en-US" sz="800" b="1" spc="120" kern="0" dirty="0">
                <a:solidFill>
                  <a:srgbClr val="FFC62A"/>
                </a:solidFill>
                <a:latin typeface="Bahnschrift" pitchFamily="34" charset="0"/>
                <a:ea typeface="Bahnschrift" pitchFamily="34" charset="-122"/>
                <a:cs typeface="Bahnschrift" pitchFamily="34" charset="-120"/>
              </a:rPr>
              <a:t>VERIFIED · FROM SOURCE CODE</a:t>
            </a:r>
            <a:endParaRPr lang="en-US" sz="800" dirty="0"/>
          </a:p>
        </p:txBody>
      </p:sp>
      <p:sp>
        <p:nvSpPr>
          <p:cNvPr id="16" name="Text 14"/>
          <p:cNvSpPr/>
          <p:nvPr/>
        </p:nvSpPr>
        <p:spPr>
          <a:xfrm>
            <a:off x="566928" y="384048"/>
            <a:ext cx="8229600" cy="274320"/>
          </a:xfrm>
          <a:prstGeom prst="rect">
            <a:avLst/>
          </a:prstGeom>
          <a:noFill/>
          <a:ln/>
        </p:spPr>
        <p:txBody>
          <a:bodyPr wrap="square" lIns="0" tIns="0" rIns="0" bIns="0" rtlCol="0" anchor="ctr"/>
          <a:lstStyle/>
          <a:p>
            <a:pPr indent="0" marL="0">
              <a:buNone/>
            </a:pPr>
            <a:r>
              <a:rPr lang="en-US" sz="1100" b="1" spc="300" kern="0" dirty="0">
                <a:solidFill>
                  <a:srgbClr val="FFC62A"/>
                </a:solidFill>
                <a:latin typeface="Bahnschrift" pitchFamily="34" charset="0"/>
                <a:ea typeface="Bahnschrift" pitchFamily="34" charset="-122"/>
                <a:cs typeface="Bahnschrift" pitchFamily="34" charset="-120"/>
              </a:rPr>
              <a:t>16 · ROADMAP</a:t>
            </a:r>
            <a:endParaRPr lang="en-US" sz="1100" dirty="0"/>
          </a:p>
        </p:txBody>
      </p:sp>
      <p:sp>
        <p:nvSpPr>
          <p:cNvPr id="17" name="Shape 15"/>
          <p:cNvSpPr/>
          <p:nvPr/>
        </p:nvSpPr>
        <p:spPr>
          <a:xfrm>
            <a:off x="566928" y="713232"/>
            <a:ext cx="384048" cy="45720"/>
          </a:xfrm>
          <a:prstGeom prst="rect">
            <a:avLst/>
          </a:prstGeom>
          <a:solidFill>
            <a:srgbClr val="FFC62A"/>
          </a:solidFill>
          <a:ln/>
        </p:spPr>
      </p:sp>
      <p:sp>
        <p:nvSpPr>
          <p:cNvPr id="18" name="Text 16"/>
          <p:cNvSpPr/>
          <p:nvPr/>
        </p:nvSpPr>
        <p:spPr>
          <a:xfrm>
            <a:off x="548640" y="841248"/>
            <a:ext cx="11064240" cy="566928"/>
          </a:xfrm>
          <a:prstGeom prst="rect">
            <a:avLst/>
          </a:prstGeom>
          <a:noFill/>
          <a:ln/>
        </p:spPr>
        <p:txBody>
          <a:bodyPr wrap="square" lIns="0" tIns="0" rIns="0" bIns="0" rtlCol="0" anchor="ctr"/>
          <a:lstStyle/>
          <a:p>
            <a:pPr indent="0" marL="0">
              <a:buNone/>
            </a:pPr>
            <a:r>
              <a:rPr lang="en-US" sz="2700" b="1" dirty="0">
                <a:solidFill>
                  <a:srgbClr val="F5F2EA"/>
                </a:solidFill>
                <a:latin typeface="Bahnschrift" pitchFamily="34" charset="0"/>
                <a:ea typeface="Bahnschrift" pitchFamily="34" charset="-122"/>
                <a:cs typeface="Bahnschrift" pitchFamily="34" charset="-120"/>
              </a:rPr>
              <a:t>Future enhancements — planned, not promised</a:t>
            </a:r>
            <a:endParaRPr lang="en-US" sz="2700" dirty="0"/>
          </a:p>
        </p:txBody>
      </p:sp>
      <p:sp>
        <p:nvSpPr>
          <p:cNvPr id="19" name="Text 17"/>
          <p:cNvSpPr/>
          <p:nvPr/>
        </p:nvSpPr>
        <p:spPr>
          <a:xfrm>
            <a:off x="566928" y="1389888"/>
            <a:ext cx="11064240" cy="274320"/>
          </a:xfrm>
          <a:prstGeom prst="rect">
            <a:avLst/>
          </a:prstGeom>
          <a:noFill/>
          <a:ln/>
        </p:spPr>
        <p:txBody>
          <a:bodyPr wrap="square" lIns="0" tIns="0" rIns="0" bIns="0" rtlCol="0" anchor="ctr"/>
          <a:lstStyle/>
          <a:p>
            <a:pPr indent="0" marL="0">
              <a:buNone/>
            </a:pPr>
            <a:r>
              <a:rPr lang="en-US" sz="1250" dirty="0">
                <a:solidFill>
                  <a:srgbClr val="9A97A6"/>
                </a:solidFill>
                <a:latin typeface="Segoe UI" pitchFamily="34" charset="0"/>
                <a:ea typeface="Segoe UI" pitchFamily="34" charset="-122"/>
                <a:cs typeface="Segoe UI" pitchFamily="34" charset="-120"/>
              </a:rPr>
              <a:t>Honest scope: these are next steps, not current features.</a:t>
            </a:r>
            <a:endParaRPr lang="en-US" sz="1250" dirty="0"/>
          </a:p>
        </p:txBody>
      </p:sp>
      <p:sp>
        <p:nvSpPr>
          <p:cNvPr id="20" name="Text 18"/>
          <p:cNvSpPr/>
          <p:nvPr/>
        </p:nvSpPr>
        <p:spPr>
          <a:xfrm>
            <a:off x="566928" y="6492240"/>
            <a:ext cx="2743200" cy="256032"/>
          </a:xfrm>
          <a:prstGeom prst="rect">
            <a:avLst/>
          </a:prstGeom>
          <a:noFill/>
          <a:ln/>
        </p:spPr>
        <p:txBody>
          <a:bodyPr wrap="square" lIns="0" tIns="0" rIns="0" bIns="0" rtlCol="0" anchor="ctr"/>
          <a:lstStyle/>
          <a:p>
            <a:pPr indent="0" marL="0">
              <a:buNone/>
            </a:pPr>
            <a:r>
              <a:rPr lang="en-US" sz="850" b="1" spc="300" kern="0" dirty="0">
                <a:solidFill>
                  <a:srgbClr val="5C5966"/>
                </a:solidFill>
                <a:latin typeface="Bahnschrift" pitchFamily="34" charset="0"/>
                <a:ea typeface="Bahnschrift" pitchFamily="34" charset="-122"/>
                <a:cs typeface="Bahnschrift" pitchFamily="34" charset="-120"/>
              </a:rPr>
              <a:t>CHESSFORK</a:t>
            </a:r>
            <a:endParaRPr lang="en-US" sz="850" dirty="0"/>
          </a:p>
        </p:txBody>
      </p:sp>
      <p:sp>
        <p:nvSpPr>
          <p:cNvPr id="21" name="Text 19"/>
          <p:cNvSpPr/>
          <p:nvPr/>
        </p:nvSpPr>
        <p:spPr>
          <a:xfrm>
            <a:off x="3840480" y="6492240"/>
            <a:ext cx="4572000" cy="256032"/>
          </a:xfrm>
          <a:prstGeom prst="rect">
            <a:avLst/>
          </a:prstGeom>
          <a:noFill/>
          <a:ln/>
        </p:spPr>
        <p:txBody>
          <a:bodyPr wrap="square" lIns="0" tIns="0" rIns="0" bIns="0" rtlCol="0" anchor="ctr"/>
          <a:lstStyle/>
          <a:p>
            <a:pPr indent="0" marL="0">
              <a:buNone/>
            </a:pPr>
            <a:r>
              <a:rPr lang="en-US" sz="800" spc="150" kern="0" dirty="0">
                <a:solidFill>
                  <a:srgbClr val="5C5966"/>
                </a:solidFill>
                <a:latin typeface="Segoe UI" pitchFamily="34" charset="0"/>
                <a:ea typeface="Segoe UI" pitchFamily="34" charset="-122"/>
                <a:cs typeface="Segoe UI" pitchFamily="34" charset="-120"/>
              </a:rPr>
              <a:t>BCA FINAL YEAR PROJECT · 2026</a:t>
            </a:r>
            <a:endParaRPr lang="en-US" sz="800" dirty="0"/>
          </a:p>
        </p:txBody>
      </p:sp>
      <p:sp>
        <p:nvSpPr>
          <p:cNvPr id="22" name="Text 20"/>
          <p:cNvSpPr/>
          <p:nvPr/>
        </p:nvSpPr>
        <p:spPr>
          <a:xfrm>
            <a:off x="11292840" y="6473952"/>
            <a:ext cx="365760" cy="274320"/>
          </a:xfrm>
          <a:prstGeom prst="rect">
            <a:avLst/>
          </a:prstGeom>
          <a:noFill/>
          <a:ln/>
        </p:spPr>
        <p:txBody>
          <a:bodyPr wrap="square" lIns="0" tIns="0" rIns="0" bIns="0" rtlCol="0" anchor="ctr"/>
          <a:lstStyle/>
          <a:p>
            <a:pPr algn="r" indent="0" marL="0">
              <a:buNone/>
            </a:pPr>
            <a:r>
              <a:rPr lang="en-US" sz="900" b="1" dirty="0">
                <a:solidFill>
                  <a:srgbClr val="5C5966"/>
                </a:solidFill>
                <a:latin typeface="Bahnschrift" pitchFamily="34" charset="0"/>
                <a:ea typeface="Bahnschrift" pitchFamily="34" charset="-122"/>
                <a:cs typeface="Bahnschrift" pitchFamily="34" charset="-120"/>
              </a:rPr>
              <a:t>17</a:t>
            </a:r>
            <a:endParaRPr lang="en-US" sz="900" dirty="0"/>
          </a:p>
        </p:txBody>
      </p:sp>
      <p:sp>
        <p:nvSpPr>
          <p:cNvPr id="23" name="Shape 21"/>
          <p:cNvSpPr/>
          <p:nvPr/>
        </p:nvSpPr>
        <p:spPr>
          <a:xfrm>
            <a:off x="566928" y="1783080"/>
            <a:ext cx="2724912" cy="1536192"/>
          </a:xfrm>
          <a:prstGeom prst="roundRect">
            <a:avLst>
              <a:gd name="adj" fmla="val 3571"/>
            </a:avLst>
          </a:prstGeom>
          <a:solidFill>
            <a:srgbClr val="15151B"/>
          </a:solidFill>
          <a:ln w="12700">
            <a:solidFill>
              <a:srgbClr val="26262F"/>
            </a:solidFill>
            <a:prstDash val="solid"/>
          </a:ln>
        </p:spPr>
      </p:sp>
      <p:sp>
        <p:nvSpPr>
          <p:cNvPr id="24" name="Text 22"/>
          <p:cNvSpPr/>
          <p:nvPr/>
        </p:nvSpPr>
        <p:spPr>
          <a:xfrm>
            <a:off x="749808" y="1892808"/>
            <a:ext cx="914400" cy="329184"/>
          </a:xfrm>
          <a:prstGeom prst="rect">
            <a:avLst/>
          </a:prstGeom>
          <a:noFill/>
          <a:ln/>
        </p:spPr>
        <p:txBody>
          <a:bodyPr wrap="square" lIns="0" tIns="0" rIns="0" bIns="0" rtlCol="0" anchor="ctr"/>
          <a:lstStyle/>
          <a:p>
            <a:pPr indent="0" marL="0">
              <a:buNone/>
            </a:pPr>
            <a:r>
              <a:rPr lang="en-US" sz="1600" b="1" dirty="0">
                <a:solidFill>
                  <a:srgbClr val="FFC62A"/>
                </a:solidFill>
                <a:latin typeface="Bahnschrift" pitchFamily="34" charset="0"/>
                <a:ea typeface="Bahnschrift" pitchFamily="34" charset="-122"/>
                <a:cs typeface="Bahnschrift" pitchFamily="34" charset="-120"/>
              </a:rPr>
              <a:t>01</a:t>
            </a:r>
            <a:endParaRPr lang="en-US" sz="1600" dirty="0"/>
          </a:p>
        </p:txBody>
      </p:sp>
      <p:sp>
        <p:nvSpPr>
          <p:cNvPr id="25" name="Text 23"/>
          <p:cNvSpPr/>
          <p:nvPr/>
        </p:nvSpPr>
        <p:spPr>
          <a:xfrm>
            <a:off x="749808" y="2258568"/>
            <a:ext cx="2359152" cy="292608"/>
          </a:xfrm>
          <a:prstGeom prst="rect">
            <a:avLst/>
          </a:prstGeom>
          <a:noFill/>
          <a:ln/>
        </p:spPr>
        <p:txBody>
          <a:bodyPr wrap="square" lIns="0" tIns="0" rIns="0" bIns="0" rtlCol="0" anchor="ctr"/>
          <a:lstStyle/>
          <a:p>
            <a:pPr indent="0" marL="0">
              <a:buNone/>
            </a:pPr>
            <a:r>
              <a:rPr lang="en-US" sz="1250" b="1" dirty="0">
                <a:solidFill>
                  <a:srgbClr val="F5F2EA"/>
                </a:solidFill>
                <a:latin typeface="Bahnschrift" pitchFamily="34" charset="0"/>
                <a:ea typeface="Bahnschrift" pitchFamily="34" charset="-122"/>
                <a:cs typeface="Bahnschrift" pitchFamily="34" charset="-120"/>
              </a:rPr>
              <a:t>Multiplayer PvP</a:t>
            </a:r>
            <a:endParaRPr lang="en-US" sz="1250" dirty="0"/>
          </a:p>
        </p:txBody>
      </p:sp>
      <p:sp>
        <p:nvSpPr>
          <p:cNvPr id="26" name="Text 24"/>
          <p:cNvSpPr/>
          <p:nvPr/>
        </p:nvSpPr>
        <p:spPr>
          <a:xfrm>
            <a:off x="749808" y="2606040"/>
            <a:ext cx="2359152" cy="402336"/>
          </a:xfrm>
          <a:prstGeom prst="rect">
            <a:avLst/>
          </a:prstGeom>
          <a:noFill/>
          <a:ln/>
        </p:spPr>
        <p:txBody>
          <a:bodyPr wrap="square" lIns="0" tIns="0" rIns="0" bIns="0" rtlCol="0" anchor="t"/>
          <a:lstStyle/>
          <a:p>
            <a:pPr indent="0" marL="0">
              <a:lnSpc>
                <a:spcPct val="108000"/>
              </a:lnSpc>
              <a:buNone/>
            </a:pPr>
            <a:r>
              <a:rPr lang="en-US" sz="950" dirty="0">
                <a:solidFill>
                  <a:srgbClr val="9A97A6"/>
                </a:solidFill>
                <a:latin typeface="Segoe UI" pitchFamily="34" charset="0"/>
                <a:ea typeface="Segoe UI" pitchFamily="34" charset="-122"/>
                <a:cs typeface="Segoe UI" pitchFamily="34" charset="-120"/>
              </a:rPr>
              <a:t>Internet matchmaking; today only local two-player play exists (/play/local).</a:t>
            </a:r>
            <a:endParaRPr lang="en-US" sz="950" dirty="0"/>
          </a:p>
        </p:txBody>
      </p:sp>
      <p:sp>
        <p:nvSpPr>
          <p:cNvPr id="27" name="Shape 25"/>
          <p:cNvSpPr/>
          <p:nvPr/>
        </p:nvSpPr>
        <p:spPr>
          <a:xfrm>
            <a:off x="3401568" y="1783080"/>
            <a:ext cx="2724912" cy="1536192"/>
          </a:xfrm>
          <a:prstGeom prst="roundRect">
            <a:avLst>
              <a:gd name="adj" fmla="val 3571"/>
            </a:avLst>
          </a:prstGeom>
          <a:solidFill>
            <a:srgbClr val="15151B"/>
          </a:solidFill>
          <a:ln w="12700">
            <a:solidFill>
              <a:srgbClr val="26262F"/>
            </a:solidFill>
            <a:prstDash val="solid"/>
          </a:ln>
        </p:spPr>
      </p:sp>
      <p:sp>
        <p:nvSpPr>
          <p:cNvPr id="28" name="Text 26"/>
          <p:cNvSpPr/>
          <p:nvPr/>
        </p:nvSpPr>
        <p:spPr>
          <a:xfrm>
            <a:off x="3584448" y="1892808"/>
            <a:ext cx="914400" cy="329184"/>
          </a:xfrm>
          <a:prstGeom prst="rect">
            <a:avLst/>
          </a:prstGeom>
          <a:noFill/>
          <a:ln/>
        </p:spPr>
        <p:txBody>
          <a:bodyPr wrap="square" lIns="0" tIns="0" rIns="0" bIns="0" rtlCol="0" anchor="ctr"/>
          <a:lstStyle/>
          <a:p>
            <a:pPr indent="0" marL="0">
              <a:buNone/>
            </a:pPr>
            <a:r>
              <a:rPr lang="en-US" sz="1600" b="1" dirty="0">
                <a:solidFill>
                  <a:srgbClr val="FFC62A"/>
                </a:solidFill>
                <a:latin typeface="Bahnschrift" pitchFamily="34" charset="0"/>
                <a:ea typeface="Bahnschrift" pitchFamily="34" charset="-122"/>
                <a:cs typeface="Bahnschrift" pitchFamily="34" charset="-120"/>
              </a:rPr>
              <a:t>02</a:t>
            </a:r>
            <a:endParaRPr lang="en-US" sz="1600" dirty="0"/>
          </a:p>
        </p:txBody>
      </p:sp>
      <p:sp>
        <p:nvSpPr>
          <p:cNvPr id="29" name="Text 27"/>
          <p:cNvSpPr/>
          <p:nvPr/>
        </p:nvSpPr>
        <p:spPr>
          <a:xfrm>
            <a:off x="3584448" y="2258568"/>
            <a:ext cx="2359152" cy="292608"/>
          </a:xfrm>
          <a:prstGeom prst="rect">
            <a:avLst/>
          </a:prstGeom>
          <a:noFill/>
          <a:ln/>
        </p:spPr>
        <p:txBody>
          <a:bodyPr wrap="square" lIns="0" tIns="0" rIns="0" bIns="0" rtlCol="0" anchor="ctr"/>
          <a:lstStyle/>
          <a:p>
            <a:pPr indent="0" marL="0">
              <a:buNone/>
            </a:pPr>
            <a:r>
              <a:rPr lang="en-US" sz="1250" b="1" dirty="0">
                <a:solidFill>
                  <a:srgbClr val="F5F2EA"/>
                </a:solidFill>
                <a:latin typeface="Bahnschrift" pitchFamily="34" charset="0"/>
                <a:ea typeface="Bahnschrift" pitchFamily="34" charset="-122"/>
                <a:cs typeface="Bahnschrift" pitchFamily="34" charset="-120"/>
              </a:rPr>
              <a:t>Live Game Review</a:t>
            </a:r>
            <a:endParaRPr lang="en-US" sz="1250" dirty="0"/>
          </a:p>
        </p:txBody>
      </p:sp>
      <p:sp>
        <p:nvSpPr>
          <p:cNvPr id="30" name="Text 28"/>
          <p:cNvSpPr/>
          <p:nvPr/>
        </p:nvSpPr>
        <p:spPr>
          <a:xfrm>
            <a:off x="3584448" y="2606040"/>
            <a:ext cx="2359152" cy="402336"/>
          </a:xfrm>
          <a:prstGeom prst="rect">
            <a:avLst/>
          </a:prstGeom>
          <a:noFill/>
          <a:ln/>
        </p:spPr>
        <p:txBody>
          <a:bodyPr wrap="square" lIns="0" tIns="0" rIns="0" bIns="0" rtlCol="0" anchor="t"/>
          <a:lstStyle/>
          <a:p>
            <a:pPr indent="0" marL="0">
              <a:lnSpc>
                <a:spcPct val="108000"/>
              </a:lnSpc>
              <a:buNone/>
            </a:pPr>
            <a:r>
              <a:rPr lang="en-US" sz="950" dirty="0">
                <a:solidFill>
                  <a:srgbClr val="9A97A6"/>
                </a:solidFill>
                <a:latin typeface="Segoe UI" pitchFamily="34" charset="0"/>
                <a:ea typeface="Segoe UI" pitchFamily="34" charset="-122"/>
                <a:cs typeface="Segoe UI" pitchFamily="34" charset="-120"/>
              </a:rPr>
              <a:t>Analyze games while they are being played — streaming position eval.</a:t>
            </a:r>
            <a:endParaRPr lang="en-US" sz="950" dirty="0"/>
          </a:p>
        </p:txBody>
      </p:sp>
      <p:sp>
        <p:nvSpPr>
          <p:cNvPr id="31" name="Shape 29"/>
          <p:cNvSpPr/>
          <p:nvPr/>
        </p:nvSpPr>
        <p:spPr>
          <a:xfrm>
            <a:off x="6236208" y="1783080"/>
            <a:ext cx="2724912" cy="1536192"/>
          </a:xfrm>
          <a:prstGeom prst="roundRect">
            <a:avLst>
              <a:gd name="adj" fmla="val 3571"/>
            </a:avLst>
          </a:prstGeom>
          <a:solidFill>
            <a:srgbClr val="15151B"/>
          </a:solidFill>
          <a:ln w="12700">
            <a:solidFill>
              <a:srgbClr val="26262F"/>
            </a:solidFill>
            <a:prstDash val="solid"/>
          </a:ln>
        </p:spPr>
      </p:sp>
      <p:sp>
        <p:nvSpPr>
          <p:cNvPr id="32" name="Text 30"/>
          <p:cNvSpPr/>
          <p:nvPr/>
        </p:nvSpPr>
        <p:spPr>
          <a:xfrm>
            <a:off x="6419088" y="1892808"/>
            <a:ext cx="914400" cy="329184"/>
          </a:xfrm>
          <a:prstGeom prst="rect">
            <a:avLst/>
          </a:prstGeom>
          <a:noFill/>
          <a:ln/>
        </p:spPr>
        <p:txBody>
          <a:bodyPr wrap="square" lIns="0" tIns="0" rIns="0" bIns="0" rtlCol="0" anchor="ctr"/>
          <a:lstStyle/>
          <a:p>
            <a:pPr indent="0" marL="0">
              <a:buNone/>
            </a:pPr>
            <a:r>
              <a:rPr lang="en-US" sz="1600" b="1" dirty="0">
                <a:solidFill>
                  <a:srgbClr val="FFC62A"/>
                </a:solidFill>
                <a:latin typeface="Bahnschrift" pitchFamily="34" charset="0"/>
                <a:ea typeface="Bahnschrift" pitchFamily="34" charset="-122"/>
                <a:cs typeface="Bahnschrift" pitchFamily="34" charset="-120"/>
              </a:rPr>
              <a:t>03</a:t>
            </a:r>
            <a:endParaRPr lang="en-US" sz="1600" dirty="0"/>
          </a:p>
        </p:txBody>
      </p:sp>
      <p:sp>
        <p:nvSpPr>
          <p:cNvPr id="33" name="Text 31"/>
          <p:cNvSpPr/>
          <p:nvPr/>
        </p:nvSpPr>
        <p:spPr>
          <a:xfrm>
            <a:off x="6419088" y="2258568"/>
            <a:ext cx="2359152" cy="292608"/>
          </a:xfrm>
          <a:prstGeom prst="rect">
            <a:avLst/>
          </a:prstGeom>
          <a:noFill/>
          <a:ln/>
        </p:spPr>
        <p:txBody>
          <a:bodyPr wrap="square" lIns="0" tIns="0" rIns="0" bIns="0" rtlCol="0" anchor="ctr"/>
          <a:lstStyle/>
          <a:p>
            <a:pPr indent="0" marL="0">
              <a:buNone/>
            </a:pPr>
            <a:r>
              <a:rPr lang="en-US" sz="1250" b="1" dirty="0">
                <a:solidFill>
                  <a:srgbClr val="F5F2EA"/>
                </a:solidFill>
                <a:latin typeface="Bahnschrift" pitchFamily="34" charset="0"/>
                <a:ea typeface="Bahnschrift" pitchFamily="34" charset="-122"/>
                <a:cs typeface="Bahnschrift" pitchFamily="34" charset="-120"/>
              </a:rPr>
              <a:t>Chess Globe with real data</a:t>
            </a:r>
            <a:endParaRPr lang="en-US" sz="1250" dirty="0"/>
          </a:p>
        </p:txBody>
      </p:sp>
      <p:sp>
        <p:nvSpPr>
          <p:cNvPr id="34" name="Text 32"/>
          <p:cNvSpPr/>
          <p:nvPr/>
        </p:nvSpPr>
        <p:spPr>
          <a:xfrm>
            <a:off x="6419088" y="2606040"/>
            <a:ext cx="2359152" cy="402336"/>
          </a:xfrm>
          <a:prstGeom prst="rect">
            <a:avLst/>
          </a:prstGeom>
          <a:noFill/>
          <a:ln/>
        </p:spPr>
        <p:txBody>
          <a:bodyPr wrap="square" lIns="0" tIns="0" rIns="0" bIns="0" rtlCol="0" anchor="t"/>
          <a:lstStyle/>
          <a:p>
            <a:pPr indent="0" marL="0">
              <a:lnSpc>
                <a:spcPct val="108000"/>
              </a:lnSpc>
              <a:buNone/>
            </a:pPr>
            <a:r>
              <a:rPr lang="en-US" sz="950" dirty="0">
                <a:solidFill>
                  <a:srgbClr val="9A97A6"/>
                </a:solidFill>
                <a:latin typeface="Segoe UI" pitchFamily="34" charset="0"/>
                <a:ea typeface="Segoe UI" pitchFamily="34" charset="-122"/>
                <a:cs typeface="Segoe UI" pitchFamily="34" charset="-120"/>
              </a:rPr>
              <a:t>Replace demo arcs with real-world live game traffic on the 3D globe.</a:t>
            </a:r>
            <a:endParaRPr lang="en-US" sz="950" dirty="0"/>
          </a:p>
        </p:txBody>
      </p:sp>
      <p:sp>
        <p:nvSpPr>
          <p:cNvPr id="35" name="Shape 33"/>
          <p:cNvSpPr/>
          <p:nvPr/>
        </p:nvSpPr>
        <p:spPr>
          <a:xfrm>
            <a:off x="9070848" y="1783080"/>
            <a:ext cx="2724912" cy="1536192"/>
          </a:xfrm>
          <a:prstGeom prst="roundRect">
            <a:avLst>
              <a:gd name="adj" fmla="val 3571"/>
            </a:avLst>
          </a:prstGeom>
          <a:solidFill>
            <a:srgbClr val="15151B"/>
          </a:solidFill>
          <a:ln w="12700">
            <a:solidFill>
              <a:srgbClr val="26262F"/>
            </a:solidFill>
            <a:prstDash val="solid"/>
          </a:ln>
        </p:spPr>
      </p:sp>
      <p:sp>
        <p:nvSpPr>
          <p:cNvPr id="36" name="Text 34"/>
          <p:cNvSpPr/>
          <p:nvPr/>
        </p:nvSpPr>
        <p:spPr>
          <a:xfrm>
            <a:off x="9253728" y="1892808"/>
            <a:ext cx="914400" cy="329184"/>
          </a:xfrm>
          <a:prstGeom prst="rect">
            <a:avLst/>
          </a:prstGeom>
          <a:noFill/>
          <a:ln/>
        </p:spPr>
        <p:txBody>
          <a:bodyPr wrap="square" lIns="0" tIns="0" rIns="0" bIns="0" rtlCol="0" anchor="ctr"/>
          <a:lstStyle/>
          <a:p>
            <a:pPr indent="0" marL="0">
              <a:buNone/>
            </a:pPr>
            <a:r>
              <a:rPr lang="en-US" sz="1600" b="1" dirty="0">
                <a:solidFill>
                  <a:srgbClr val="FFC62A"/>
                </a:solidFill>
                <a:latin typeface="Bahnschrift" pitchFamily="34" charset="0"/>
                <a:ea typeface="Bahnschrift" pitchFamily="34" charset="-122"/>
                <a:cs typeface="Bahnschrift" pitchFamily="34" charset="-120"/>
              </a:rPr>
              <a:t>04</a:t>
            </a:r>
            <a:endParaRPr lang="en-US" sz="1600" dirty="0"/>
          </a:p>
        </p:txBody>
      </p:sp>
      <p:sp>
        <p:nvSpPr>
          <p:cNvPr id="37" name="Text 35"/>
          <p:cNvSpPr/>
          <p:nvPr/>
        </p:nvSpPr>
        <p:spPr>
          <a:xfrm>
            <a:off x="9253728" y="2258568"/>
            <a:ext cx="2359152" cy="292608"/>
          </a:xfrm>
          <a:prstGeom prst="rect">
            <a:avLst/>
          </a:prstGeom>
          <a:noFill/>
          <a:ln/>
        </p:spPr>
        <p:txBody>
          <a:bodyPr wrap="square" lIns="0" tIns="0" rIns="0" bIns="0" rtlCol="0" anchor="ctr"/>
          <a:lstStyle/>
          <a:p>
            <a:pPr indent="0" marL="0">
              <a:buNone/>
            </a:pPr>
            <a:r>
              <a:rPr lang="en-US" sz="1250" b="1" dirty="0">
                <a:solidFill>
                  <a:srgbClr val="F5F2EA"/>
                </a:solidFill>
                <a:latin typeface="Bahnschrift" pitchFamily="34" charset="0"/>
                <a:ea typeface="Bahnschrift" pitchFamily="34" charset="-122"/>
                <a:cs typeface="Bahnschrift" pitchFamily="34" charset="-120"/>
              </a:rPr>
              <a:t>AI Voice Coach</a:t>
            </a:r>
            <a:endParaRPr lang="en-US" sz="1250" dirty="0"/>
          </a:p>
        </p:txBody>
      </p:sp>
      <p:sp>
        <p:nvSpPr>
          <p:cNvPr id="38" name="Text 36"/>
          <p:cNvSpPr/>
          <p:nvPr/>
        </p:nvSpPr>
        <p:spPr>
          <a:xfrm>
            <a:off x="9253728" y="2606040"/>
            <a:ext cx="2359152" cy="402336"/>
          </a:xfrm>
          <a:prstGeom prst="rect">
            <a:avLst/>
          </a:prstGeom>
          <a:noFill/>
          <a:ln/>
        </p:spPr>
        <p:txBody>
          <a:bodyPr wrap="square" lIns="0" tIns="0" rIns="0" bIns="0" rtlCol="0" anchor="t"/>
          <a:lstStyle/>
          <a:p>
            <a:pPr indent="0" marL="0">
              <a:lnSpc>
                <a:spcPct val="108000"/>
              </a:lnSpc>
              <a:buNone/>
            </a:pPr>
            <a:r>
              <a:rPr lang="en-US" sz="950" dirty="0">
                <a:solidFill>
                  <a:srgbClr val="9A97A6"/>
                </a:solidFill>
                <a:latin typeface="Segoe UI" pitchFamily="34" charset="0"/>
                <a:ea typeface="Segoe UI" pitchFamily="34" charset="-122"/>
                <a:cs typeface="Segoe UI" pitchFamily="34" charset="-120"/>
              </a:rPr>
              <a:t>Spoken coaching feedback during review sessions.</a:t>
            </a:r>
            <a:endParaRPr lang="en-US" sz="950" dirty="0"/>
          </a:p>
        </p:txBody>
      </p:sp>
      <p:sp>
        <p:nvSpPr>
          <p:cNvPr id="39" name="Shape 37"/>
          <p:cNvSpPr/>
          <p:nvPr/>
        </p:nvSpPr>
        <p:spPr>
          <a:xfrm>
            <a:off x="566928" y="3502152"/>
            <a:ext cx="2724912" cy="1536192"/>
          </a:xfrm>
          <a:prstGeom prst="roundRect">
            <a:avLst>
              <a:gd name="adj" fmla="val 3571"/>
            </a:avLst>
          </a:prstGeom>
          <a:solidFill>
            <a:srgbClr val="15151B"/>
          </a:solidFill>
          <a:ln w="12700">
            <a:solidFill>
              <a:srgbClr val="26262F"/>
            </a:solidFill>
            <a:prstDash val="solid"/>
          </a:ln>
        </p:spPr>
      </p:sp>
      <p:sp>
        <p:nvSpPr>
          <p:cNvPr id="40" name="Text 38"/>
          <p:cNvSpPr/>
          <p:nvPr/>
        </p:nvSpPr>
        <p:spPr>
          <a:xfrm>
            <a:off x="749808" y="3611880"/>
            <a:ext cx="914400" cy="329184"/>
          </a:xfrm>
          <a:prstGeom prst="rect">
            <a:avLst/>
          </a:prstGeom>
          <a:noFill/>
          <a:ln/>
        </p:spPr>
        <p:txBody>
          <a:bodyPr wrap="square" lIns="0" tIns="0" rIns="0" bIns="0" rtlCol="0" anchor="ctr"/>
          <a:lstStyle/>
          <a:p>
            <a:pPr indent="0" marL="0">
              <a:buNone/>
            </a:pPr>
            <a:r>
              <a:rPr lang="en-US" sz="1600" b="1" dirty="0">
                <a:solidFill>
                  <a:srgbClr val="FFC62A"/>
                </a:solidFill>
                <a:latin typeface="Bahnschrift" pitchFamily="34" charset="0"/>
                <a:ea typeface="Bahnschrift" pitchFamily="34" charset="-122"/>
                <a:cs typeface="Bahnschrift" pitchFamily="34" charset="-120"/>
              </a:rPr>
              <a:t>05</a:t>
            </a:r>
            <a:endParaRPr lang="en-US" sz="1600" dirty="0"/>
          </a:p>
        </p:txBody>
      </p:sp>
      <p:sp>
        <p:nvSpPr>
          <p:cNvPr id="41" name="Text 39"/>
          <p:cNvSpPr/>
          <p:nvPr/>
        </p:nvSpPr>
        <p:spPr>
          <a:xfrm>
            <a:off x="749808" y="3977640"/>
            <a:ext cx="2359152" cy="292608"/>
          </a:xfrm>
          <a:prstGeom prst="rect">
            <a:avLst/>
          </a:prstGeom>
          <a:noFill/>
          <a:ln/>
        </p:spPr>
        <p:txBody>
          <a:bodyPr wrap="square" lIns="0" tIns="0" rIns="0" bIns="0" rtlCol="0" anchor="ctr"/>
          <a:lstStyle/>
          <a:p>
            <a:pPr indent="0" marL="0">
              <a:buNone/>
            </a:pPr>
            <a:r>
              <a:rPr lang="en-US" sz="1250" b="1" dirty="0">
                <a:solidFill>
                  <a:srgbClr val="F5F2EA"/>
                </a:solidFill>
                <a:latin typeface="Bahnschrift" pitchFamily="34" charset="0"/>
                <a:ea typeface="Bahnschrift" pitchFamily="34" charset="-122"/>
                <a:cs typeface="Bahnschrift" pitchFamily="34" charset="-120"/>
              </a:rPr>
              <a:t>Mobile App</a:t>
            </a:r>
            <a:endParaRPr lang="en-US" sz="1250" dirty="0"/>
          </a:p>
        </p:txBody>
      </p:sp>
      <p:sp>
        <p:nvSpPr>
          <p:cNvPr id="42" name="Text 40"/>
          <p:cNvSpPr/>
          <p:nvPr/>
        </p:nvSpPr>
        <p:spPr>
          <a:xfrm>
            <a:off x="749808" y="4325112"/>
            <a:ext cx="2359152" cy="402336"/>
          </a:xfrm>
          <a:prstGeom prst="rect">
            <a:avLst/>
          </a:prstGeom>
          <a:noFill/>
          <a:ln/>
        </p:spPr>
        <p:txBody>
          <a:bodyPr wrap="square" lIns="0" tIns="0" rIns="0" bIns="0" rtlCol="0" anchor="t"/>
          <a:lstStyle/>
          <a:p>
            <a:pPr indent="0" marL="0">
              <a:lnSpc>
                <a:spcPct val="108000"/>
              </a:lnSpc>
              <a:buNone/>
            </a:pPr>
            <a:r>
              <a:rPr lang="en-US" sz="950" dirty="0">
                <a:solidFill>
                  <a:srgbClr val="9A97A6"/>
                </a:solidFill>
                <a:latin typeface="Segoe UI" pitchFamily="34" charset="0"/>
                <a:ea typeface="Segoe UI" pitchFamily="34" charset="-122"/>
                <a:cs typeface="Segoe UI" pitchFamily="34" charset="-120"/>
              </a:rPr>
              <a:t>PWA exists today; native apps with offline report sync.</a:t>
            </a:r>
            <a:endParaRPr lang="en-US" sz="950" dirty="0"/>
          </a:p>
        </p:txBody>
      </p:sp>
      <p:sp>
        <p:nvSpPr>
          <p:cNvPr id="43" name="Shape 41"/>
          <p:cNvSpPr/>
          <p:nvPr/>
        </p:nvSpPr>
        <p:spPr>
          <a:xfrm>
            <a:off x="749808" y="4754880"/>
            <a:ext cx="763981" cy="246888"/>
          </a:xfrm>
          <a:prstGeom prst="roundRect">
            <a:avLst>
              <a:gd name="adj" fmla="val 50000"/>
            </a:avLst>
          </a:prstGeom>
          <a:solidFill>
            <a:srgbClr val="2E1010"/>
          </a:solidFill>
          <a:ln w="9525">
            <a:solidFill>
              <a:srgbClr val="5F1E1E"/>
            </a:solidFill>
            <a:prstDash val="solid"/>
          </a:ln>
        </p:spPr>
      </p:sp>
      <p:sp>
        <p:nvSpPr>
          <p:cNvPr id="44" name="Text 42"/>
          <p:cNvSpPr/>
          <p:nvPr/>
        </p:nvSpPr>
        <p:spPr>
          <a:xfrm>
            <a:off x="749808" y="4743907"/>
            <a:ext cx="763981" cy="269748"/>
          </a:xfrm>
          <a:prstGeom prst="rect">
            <a:avLst/>
          </a:prstGeom>
          <a:noFill/>
          <a:ln/>
        </p:spPr>
        <p:txBody>
          <a:bodyPr wrap="square" lIns="0" tIns="0" rIns="0" bIns="0" rtlCol="0" anchor="ctr"/>
          <a:lstStyle/>
          <a:p>
            <a:pPr algn="ctr" indent="0" marL="0">
              <a:buNone/>
            </a:pPr>
            <a:r>
              <a:rPr lang="en-US" sz="850" b="1" spc="80" kern="0" dirty="0">
                <a:solidFill>
                  <a:srgbClr val="FF6B6B"/>
                </a:solidFill>
                <a:latin typeface="Segoe UI" pitchFamily="34" charset="0"/>
                <a:ea typeface="Segoe UI" pitchFamily="34" charset="-122"/>
                <a:cs typeface="Segoe UI" pitchFamily="34" charset="-120"/>
              </a:rPr>
              <a:t>PLANNED</a:t>
            </a:r>
            <a:endParaRPr lang="en-US" sz="850" dirty="0"/>
          </a:p>
        </p:txBody>
      </p:sp>
      <p:sp>
        <p:nvSpPr>
          <p:cNvPr id="45" name="Shape 43"/>
          <p:cNvSpPr/>
          <p:nvPr/>
        </p:nvSpPr>
        <p:spPr>
          <a:xfrm>
            <a:off x="3401568" y="3502152"/>
            <a:ext cx="2724912" cy="1536192"/>
          </a:xfrm>
          <a:prstGeom prst="roundRect">
            <a:avLst>
              <a:gd name="adj" fmla="val 3571"/>
            </a:avLst>
          </a:prstGeom>
          <a:solidFill>
            <a:srgbClr val="15151B"/>
          </a:solidFill>
          <a:ln w="12700">
            <a:solidFill>
              <a:srgbClr val="26262F"/>
            </a:solidFill>
            <a:prstDash val="solid"/>
          </a:ln>
        </p:spPr>
      </p:sp>
      <p:sp>
        <p:nvSpPr>
          <p:cNvPr id="46" name="Text 44"/>
          <p:cNvSpPr/>
          <p:nvPr/>
        </p:nvSpPr>
        <p:spPr>
          <a:xfrm>
            <a:off x="3584448" y="3611880"/>
            <a:ext cx="914400" cy="329184"/>
          </a:xfrm>
          <a:prstGeom prst="rect">
            <a:avLst/>
          </a:prstGeom>
          <a:noFill/>
          <a:ln/>
        </p:spPr>
        <p:txBody>
          <a:bodyPr wrap="square" lIns="0" tIns="0" rIns="0" bIns="0" rtlCol="0" anchor="ctr"/>
          <a:lstStyle/>
          <a:p>
            <a:pPr indent="0" marL="0">
              <a:buNone/>
            </a:pPr>
            <a:r>
              <a:rPr lang="en-US" sz="1600" b="1" dirty="0">
                <a:solidFill>
                  <a:srgbClr val="FFC62A"/>
                </a:solidFill>
                <a:latin typeface="Bahnschrift" pitchFamily="34" charset="0"/>
                <a:ea typeface="Bahnschrift" pitchFamily="34" charset="-122"/>
                <a:cs typeface="Bahnschrift" pitchFamily="34" charset="-120"/>
              </a:rPr>
              <a:t>06</a:t>
            </a:r>
            <a:endParaRPr lang="en-US" sz="1600" dirty="0"/>
          </a:p>
        </p:txBody>
      </p:sp>
      <p:sp>
        <p:nvSpPr>
          <p:cNvPr id="47" name="Text 45"/>
          <p:cNvSpPr/>
          <p:nvPr/>
        </p:nvSpPr>
        <p:spPr>
          <a:xfrm>
            <a:off x="3584448" y="3977640"/>
            <a:ext cx="2359152" cy="292608"/>
          </a:xfrm>
          <a:prstGeom prst="rect">
            <a:avLst/>
          </a:prstGeom>
          <a:noFill/>
          <a:ln/>
        </p:spPr>
        <p:txBody>
          <a:bodyPr wrap="square" lIns="0" tIns="0" rIns="0" bIns="0" rtlCol="0" anchor="ctr"/>
          <a:lstStyle/>
          <a:p>
            <a:pPr indent="0" marL="0">
              <a:buNone/>
            </a:pPr>
            <a:r>
              <a:rPr lang="en-US" sz="1250" b="1" dirty="0">
                <a:solidFill>
                  <a:srgbClr val="F5F2EA"/>
                </a:solidFill>
                <a:latin typeface="Bahnschrift" pitchFamily="34" charset="0"/>
                <a:ea typeface="Bahnschrift" pitchFamily="34" charset="-122"/>
                <a:cs typeface="Bahnschrift" pitchFamily="34" charset="-120"/>
              </a:rPr>
              <a:t>Opening Repertoire AI</a:t>
            </a:r>
            <a:endParaRPr lang="en-US" sz="1250" dirty="0"/>
          </a:p>
        </p:txBody>
      </p:sp>
      <p:sp>
        <p:nvSpPr>
          <p:cNvPr id="48" name="Text 46"/>
          <p:cNvSpPr/>
          <p:nvPr/>
        </p:nvSpPr>
        <p:spPr>
          <a:xfrm>
            <a:off x="3584448" y="4325112"/>
            <a:ext cx="2359152" cy="402336"/>
          </a:xfrm>
          <a:prstGeom prst="rect">
            <a:avLst/>
          </a:prstGeom>
          <a:noFill/>
          <a:ln/>
        </p:spPr>
        <p:txBody>
          <a:bodyPr wrap="square" lIns="0" tIns="0" rIns="0" bIns="0" rtlCol="0" anchor="t"/>
          <a:lstStyle/>
          <a:p>
            <a:pPr indent="0" marL="0">
              <a:lnSpc>
                <a:spcPct val="108000"/>
              </a:lnSpc>
              <a:buNone/>
            </a:pPr>
            <a:r>
              <a:rPr lang="en-US" sz="950" dirty="0">
                <a:solidFill>
                  <a:srgbClr val="9A97A6"/>
                </a:solidFill>
                <a:latin typeface="Segoe UI" pitchFamily="34" charset="0"/>
                <a:ea typeface="Segoe UI" pitchFamily="34" charset="-122"/>
                <a:cs typeface="Segoe UI" pitchFamily="34" charset="-120"/>
              </a:rPr>
              <a:t>Auto-built repertoire from a player's actual games and preferences.</a:t>
            </a:r>
            <a:endParaRPr lang="en-US" sz="950" dirty="0"/>
          </a:p>
        </p:txBody>
      </p:sp>
      <p:sp>
        <p:nvSpPr>
          <p:cNvPr id="49" name="Shape 47"/>
          <p:cNvSpPr/>
          <p:nvPr/>
        </p:nvSpPr>
        <p:spPr>
          <a:xfrm>
            <a:off x="3584448" y="4754880"/>
            <a:ext cx="763981" cy="246888"/>
          </a:xfrm>
          <a:prstGeom prst="roundRect">
            <a:avLst>
              <a:gd name="adj" fmla="val 50000"/>
            </a:avLst>
          </a:prstGeom>
          <a:solidFill>
            <a:srgbClr val="2E1010"/>
          </a:solidFill>
          <a:ln w="9525">
            <a:solidFill>
              <a:srgbClr val="5F1E1E"/>
            </a:solidFill>
            <a:prstDash val="solid"/>
          </a:ln>
        </p:spPr>
      </p:sp>
      <p:sp>
        <p:nvSpPr>
          <p:cNvPr id="50" name="Text 48"/>
          <p:cNvSpPr/>
          <p:nvPr/>
        </p:nvSpPr>
        <p:spPr>
          <a:xfrm>
            <a:off x="3584448" y="4743907"/>
            <a:ext cx="763981" cy="269748"/>
          </a:xfrm>
          <a:prstGeom prst="rect">
            <a:avLst/>
          </a:prstGeom>
          <a:noFill/>
          <a:ln/>
        </p:spPr>
        <p:txBody>
          <a:bodyPr wrap="square" lIns="0" tIns="0" rIns="0" bIns="0" rtlCol="0" anchor="ctr"/>
          <a:lstStyle/>
          <a:p>
            <a:pPr algn="ctr" indent="0" marL="0">
              <a:buNone/>
            </a:pPr>
            <a:r>
              <a:rPr lang="en-US" sz="850" b="1" spc="80" kern="0" dirty="0">
                <a:solidFill>
                  <a:srgbClr val="FF6B6B"/>
                </a:solidFill>
                <a:latin typeface="Segoe UI" pitchFamily="34" charset="0"/>
                <a:ea typeface="Segoe UI" pitchFamily="34" charset="-122"/>
                <a:cs typeface="Segoe UI" pitchFamily="34" charset="-120"/>
              </a:rPr>
              <a:t>PLANNED</a:t>
            </a:r>
            <a:endParaRPr lang="en-US" sz="850" dirty="0"/>
          </a:p>
        </p:txBody>
      </p:sp>
      <p:sp>
        <p:nvSpPr>
          <p:cNvPr id="51" name="Shape 49"/>
          <p:cNvSpPr/>
          <p:nvPr/>
        </p:nvSpPr>
        <p:spPr>
          <a:xfrm>
            <a:off x="6236208" y="3502152"/>
            <a:ext cx="2724912" cy="1536192"/>
          </a:xfrm>
          <a:prstGeom prst="roundRect">
            <a:avLst>
              <a:gd name="adj" fmla="val 3571"/>
            </a:avLst>
          </a:prstGeom>
          <a:solidFill>
            <a:srgbClr val="15151B"/>
          </a:solidFill>
          <a:ln w="12700">
            <a:solidFill>
              <a:srgbClr val="26262F"/>
            </a:solidFill>
            <a:prstDash val="solid"/>
          </a:ln>
        </p:spPr>
      </p:sp>
      <p:sp>
        <p:nvSpPr>
          <p:cNvPr id="52" name="Text 50"/>
          <p:cNvSpPr/>
          <p:nvPr/>
        </p:nvSpPr>
        <p:spPr>
          <a:xfrm>
            <a:off x="6419088" y="3611880"/>
            <a:ext cx="914400" cy="329184"/>
          </a:xfrm>
          <a:prstGeom prst="rect">
            <a:avLst/>
          </a:prstGeom>
          <a:noFill/>
          <a:ln/>
        </p:spPr>
        <p:txBody>
          <a:bodyPr wrap="square" lIns="0" tIns="0" rIns="0" bIns="0" rtlCol="0" anchor="ctr"/>
          <a:lstStyle/>
          <a:p>
            <a:pPr indent="0" marL="0">
              <a:buNone/>
            </a:pPr>
            <a:r>
              <a:rPr lang="en-US" sz="1600" b="1" dirty="0">
                <a:solidFill>
                  <a:srgbClr val="FFC62A"/>
                </a:solidFill>
                <a:latin typeface="Bahnschrift" pitchFamily="34" charset="0"/>
                <a:ea typeface="Bahnschrift" pitchFamily="34" charset="-122"/>
                <a:cs typeface="Bahnschrift" pitchFamily="34" charset="-120"/>
              </a:rPr>
              <a:t>07</a:t>
            </a:r>
            <a:endParaRPr lang="en-US" sz="1600" dirty="0"/>
          </a:p>
        </p:txBody>
      </p:sp>
      <p:sp>
        <p:nvSpPr>
          <p:cNvPr id="53" name="Text 51"/>
          <p:cNvSpPr/>
          <p:nvPr/>
        </p:nvSpPr>
        <p:spPr>
          <a:xfrm>
            <a:off x="6419088" y="3977640"/>
            <a:ext cx="2359152" cy="292608"/>
          </a:xfrm>
          <a:prstGeom prst="rect">
            <a:avLst/>
          </a:prstGeom>
          <a:noFill/>
          <a:ln/>
        </p:spPr>
        <p:txBody>
          <a:bodyPr wrap="square" lIns="0" tIns="0" rIns="0" bIns="0" rtlCol="0" anchor="ctr"/>
          <a:lstStyle/>
          <a:p>
            <a:pPr indent="0" marL="0">
              <a:buNone/>
            </a:pPr>
            <a:r>
              <a:rPr lang="en-US" sz="1250" b="1" dirty="0">
                <a:solidFill>
                  <a:srgbClr val="F5F2EA"/>
                </a:solidFill>
                <a:latin typeface="Bahnschrift" pitchFamily="34" charset="0"/>
                <a:ea typeface="Bahnschrift" pitchFamily="34" charset="-122"/>
                <a:cs typeface="Bahnschrift" pitchFamily="34" charset="-120"/>
              </a:rPr>
              <a:t>Cloud Sync</a:t>
            </a:r>
            <a:endParaRPr lang="en-US" sz="1250" dirty="0"/>
          </a:p>
        </p:txBody>
      </p:sp>
      <p:sp>
        <p:nvSpPr>
          <p:cNvPr id="54" name="Text 52"/>
          <p:cNvSpPr/>
          <p:nvPr/>
        </p:nvSpPr>
        <p:spPr>
          <a:xfrm>
            <a:off x="6419088" y="4325112"/>
            <a:ext cx="2359152" cy="402336"/>
          </a:xfrm>
          <a:prstGeom prst="rect">
            <a:avLst/>
          </a:prstGeom>
          <a:noFill/>
          <a:ln/>
        </p:spPr>
        <p:txBody>
          <a:bodyPr wrap="square" lIns="0" tIns="0" rIns="0" bIns="0" rtlCol="0" anchor="t"/>
          <a:lstStyle/>
          <a:p>
            <a:pPr indent="0" marL="0">
              <a:lnSpc>
                <a:spcPct val="108000"/>
              </a:lnSpc>
              <a:buNone/>
            </a:pPr>
            <a:r>
              <a:rPr lang="en-US" sz="950" dirty="0">
                <a:solidFill>
                  <a:srgbClr val="9A97A6"/>
                </a:solidFill>
                <a:latin typeface="Segoe UI" pitchFamily="34" charset="0"/>
                <a:ea typeface="Segoe UI" pitchFamily="34" charset="-122"/>
                <a:cs typeface="Segoe UI" pitchFamily="34" charset="-120"/>
              </a:rPr>
              <a:t>Guest-local reports become cross-device saved libraries.</a:t>
            </a:r>
            <a:endParaRPr lang="en-US" sz="950" dirty="0"/>
          </a:p>
        </p:txBody>
      </p:sp>
      <p:sp>
        <p:nvSpPr>
          <p:cNvPr id="55" name="Shape 53"/>
          <p:cNvSpPr/>
          <p:nvPr/>
        </p:nvSpPr>
        <p:spPr>
          <a:xfrm>
            <a:off x="6419088" y="4754880"/>
            <a:ext cx="763981" cy="246888"/>
          </a:xfrm>
          <a:prstGeom prst="roundRect">
            <a:avLst>
              <a:gd name="adj" fmla="val 50000"/>
            </a:avLst>
          </a:prstGeom>
          <a:solidFill>
            <a:srgbClr val="2E1010"/>
          </a:solidFill>
          <a:ln w="9525">
            <a:solidFill>
              <a:srgbClr val="5F1E1E"/>
            </a:solidFill>
            <a:prstDash val="solid"/>
          </a:ln>
        </p:spPr>
      </p:sp>
      <p:sp>
        <p:nvSpPr>
          <p:cNvPr id="56" name="Text 54"/>
          <p:cNvSpPr/>
          <p:nvPr/>
        </p:nvSpPr>
        <p:spPr>
          <a:xfrm>
            <a:off x="6419088" y="4743907"/>
            <a:ext cx="763981" cy="269748"/>
          </a:xfrm>
          <a:prstGeom prst="rect">
            <a:avLst/>
          </a:prstGeom>
          <a:noFill/>
          <a:ln/>
        </p:spPr>
        <p:txBody>
          <a:bodyPr wrap="square" lIns="0" tIns="0" rIns="0" bIns="0" rtlCol="0" anchor="ctr"/>
          <a:lstStyle/>
          <a:p>
            <a:pPr algn="ctr" indent="0" marL="0">
              <a:buNone/>
            </a:pPr>
            <a:r>
              <a:rPr lang="en-US" sz="850" b="1" spc="80" kern="0" dirty="0">
                <a:solidFill>
                  <a:srgbClr val="FF6B6B"/>
                </a:solidFill>
                <a:latin typeface="Segoe UI" pitchFamily="34" charset="0"/>
                <a:ea typeface="Segoe UI" pitchFamily="34" charset="-122"/>
                <a:cs typeface="Segoe UI" pitchFamily="34" charset="-120"/>
              </a:rPr>
              <a:t>PLANNED</a:t>
            </a:r>
            <a:endParaRPr lang="en-US" sz="850" dirty="0"/>
          </a:p>
        </p:txBody>
      </p:sp>
      <p:sp>
        <p:nvSpPr>
          <p:cNvPr id="57" name="Shape 55"/>
          <p:cNvSpPr/>
          <p:nvPr/>
        </p:nvSpPr>
        <p:spPr>
          <a:xfrm>
            <a:off x="9070848" y="3502152"/>
            <a:ext cx="2724912" cy="1536192"/>
          </a:xfrm>
          <a:prstGeom prst="roundRect">
            <a:avLst>
              <a:gd name="adj" fmla="val 3571"/>
            </a:avLst>
          </a:prstGeom>
          <a:solidFill>
            <a:srgbClr val="15151B"/>
          </a:solidFill>
          <a:ln w="12700">
            <a:solidFill>
              <a:srgbClr val="26262F"/>
            </a:solidFill>
            <a:prstDash val="solid"/>
          </a:ln>
        </p:spPr>
      </p:sp>
      <p:sp>
        <p:nvSpPr>
          <p:cNvPr id="58" name="Text 56"/>
          <p:cNvSpPr/>
          <p:nvPr/>
        </p:nvSpPr>
        <p:spPr>
          <a:xfrm>
            <a:off x="9253728" y="3611880"/>
            <a:ext cx="914400" cy="329184"/>
          </a:xfrm>
          <a:prstGeom prst="rect">
            <a:avLst/>
          </a:prstGeom>
          <a:noFill/>
          <a:ln/>
        </p:spPr>
        <p:txBody>
          <a:bodyPr wrap="square" lIns="0" tIns="0" rIns="0" bIns="0" rtlCol="0" anchor="ctr"/>
          <a:lstStyle/>
          <a:p>
            <a:pPr indent="0" marL="0">
              <a:buNone/>
            </a:pPr>
            <a:r>
              <a:rPr lang="en-US" sz="1600" b="1" dirty="0">
                <a:solidFill>
                  <a:srgbClr val="FFC62A"/>
                </a:solidFill>
                <a:latin typeface="Bahnschrift" pitchFamily="34" charset="0"/>
                <a:ea typeface="Bahnschrift" pitchFamily="34" charset="-122"/>
                <a:cs typeface="Bahnschrift" pitchFamily="34" charset="-120"/>
              </a:rPr>
              <a:t>08</a:t>
            </a:r>
            <a:endParaRPr lang="en-US" sz="1600" dirty="0"/>
          </a:p>
        </p:txBody>
      </p:sp>
      <p:sp>
        <p:nvSpPr>
          <p:cNvPr id="59" name="Text 57"/>
          <p:cNvSpPr/>
          <p:nvPr/>
        </p:nvSpPr>
        <p:spPr>
          <a:xfrm>
            <a:off x="9253728" y="3977640"/>
            <a:ext cx="2359152" cy="292608"/>
          </a:xfrm>
          <a:prstGeom prst="rect">
            <a:avLst/>
          </a:prstGeom>
          <a:noFill/>
          <a:ln/>
        </p:spPr>
        <p:txBody>
          <a:bodyPr wrap="square" lIns="0" tIns="0" rIns="0" bIns="0" rtlCol="0" anchor="ctr"/>
          <a:lstStyle/>
          <a:p>
            <a:pPr indent="0" marL="0">
              <a:buNone/>
            </a:pPr>
            <a:r>
              <a:rPr lang="en-US" sz="1250" b="1" dirty="0">
                <a:solidFill>
                  <a:srgbClr val="F5F2EA"/>
                </a:solidFill>
                <a:latin typeface="Bahnschrift" pitchFamily="34" charset="0"/>
                <a:ea typeface="Bahnschrift" pitchFamily="34" charset="-122"/>
                <a:cs typeface="Bahnschrift" pitchFamily="34" charset="-120"/>
              </a:rPr>
              <a:t>Tournament Mode</a:t>
            </a:r>
            <a:endParaRPr lang="en-US" sz="1250" dirty="0"/>
          </a:p>
        </p:txBody>
      </p:sp>
      <p:sp>
        <p:nvSpPr>
          <p:cNvPr id="60" name="Text 58"/>
          <p:cNvSpPr/>
          <p:nvPr/>
        </p:nvSpPr>
        <p:spPr>
          <a:xfrm>
            <a:off x="9253728" y="4325112"/>
            <a:ext cx="2359152" cy="402336"/>
          </a:xfrm>
          <a:prstGeom prst="rect">
            <a:avLst/>
          </a:prstGeom>
          <a:noFill/>
          <a:ln/>
        </p:spPr>
        <p:txBody>
          <a:bodyPr wrap="square" lIns="0" tIns="0" rIns="0" bIns="0" rtlCol="0" anchor="t"/>
          <a:lstStyle/>
          <a:p>
            <a:pPr indent="0" marL="0">
              <a:lnSpc>
                <a:spcPct val="108000"/>
              </a:lnSpc>
              <a:buNone/>
            </a:pPr>
            <a:r>
              <a:rPr lang="en-US" sz="950" dirty="0">
                <a:solidFill>
                  <a:srgbClr val="9A97A6"/>
                </a:solidFill>
                <a:latin typeface="Segoe UI" pitchFamily="34" charset="0"/>
                <a:ea typeface="Segoe UI" pitchFamily="34" charset="-122"/>
                <a:cs typeface="Segoe UI" pitchFamily="34" charset="-120"/>
              </a:rPr>
              <a:t>Structured study groups with match pairing and standings.</a:t>
            </a:r>
            <a:endParaRPr lang="en-US" sz="950" dirty="0"/>
          </a:p>
        </p:txBody>
      </p:sp>
      <p:sp>
        <p:nvSpPr>
          <p:cNvPr id="61" name="Shape 59"/>
          <p:cNvSpPr/>
          <p:nvPr/>
        </p:nvSpPr>
        <p:spPr>
          <a:xfrm>
            <a:off x="9253728" y="4754880"/>
            <a:ext cx="763981" cy="246888"/>
          </a:xfrm>
          <a:prstGeom prst="roundRect">
            <a:avLst>
              <a:gd name="adj" fmla="val 50000"/>
            </a:avLst>
          </a:prstGeom>
          <a:solidFill>
            <a:srgbClr val="2E1010"/>
          </a:solidFill>
          <a:ln w="9525">
            <a:solidFill>
              <a:srgbClr val="5F1E1E"/>
            </a:solidFill>
            <a:prstDash val="solid"/>
          </a:ln>
        </p:spPr>
      </p:sp>
      <p:sp>
        <p:nvSpPr>
          <p:cNvPr id="62" name="Text 60"/>
          <p:cNvSpPr/>
          <p:nvPr/>
        </p:nvSpPr>
        <p:spPr>
          <a:xfrm>
            <a:off x="9253728" y="4743907"/>
            <a:ext cx="763981" cy="269748"/>
          </a:xfrm>
          <a:prstGeom prst="rect">
            <a:avLst/>
          </a:prstGeom>
          <a:noFill/>
          <a:ln/>
        </p:spPr>
        <p:txBody>
          <a:bodyPr wrap="square" lIns="0" tIns="0" rIns="0" bIns="0" rtlCol="0" anchor="ctr"/>
          <a:lstStyle/>
          <a:p>
            <a:pPr algn="ctr" indent="0" marL="0">
              <a:buNone/>
            </a:pPr>
            <a:r>
              <a:rPr lang="en-US" sz="850" b="1" spc="80" kern="0" dirty="0">
                <a:solidFill>
                  <a:srgbClr val="FF6B6B"/>
                </a:solidFill>
                <a:latin typeface="Segoe UI" pitchFamily="34" charset="0"/>
                <a:ea typeface="Segoe UI" pitchFamily="34" charset="-122"/>
                <a:cs typeface="Segoe UI" pitchFamily="34" charset="-120"/>
              </a:rPr>
              <a:t>PLANNED</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B0B0F"/>
        </a:solidFill>
      </p:bgPr>
    </p:bg>
    <p:spTree>
      <p:nvGrpSpPr>
        <p:cNvPr id="1" name=""/>
        <p:cNvGrpSpPr/>
        <p:nvPr/>
      </p:nvGrpSpPr>
      <p:grpSpPr>
        <a:xfrm>
          <a:off x="0" y="0"/>
          <a:ext cx="0" cy="0"/>
          <a:chOff x="0" y="0"/>
          <a:chExt cx="0" cy="0"/>
        </a:xfrm>
      </p:grpSpPr>
      <p:sp>
        <p:nvSpPr>
          <p:cNvPr id="2" name="Shape 0"/>
          <p:cNvSpPr/>
          <p:nvPr/>
        </p:nvSpPr>
        <p:spPr>
          <a:xfrm>
            <a:off x="10716768" y="292608"/>
            <a:ext cx="155448" cy="155448"/>
          </a:xfrm>
          <a:prstGeom prst="rect">
            <a:avLst/>
          </a:prstGeom>
          <a:solidFill>
            <a:srgbClr val="14141A"/>
          </a:solidFill>
          <a:ln/>
        </p:spPr>
      </p:sp>
      <p:sp>
        <p:nvSpPr>
          <p:cNvPr id="3" name="Shape 1"/>
          <p:cNvSpPr/>
          <p:nvPr/>
        </p:nvSpPr>
        <p:spPr>
          <a:xfrm>
            <a:off x="11027664" y="292608"/>
            <a:ext cx="155448" cy="155448"/>
          </a:xfrm>
          <a:prstGeom prst="rect">
            <a:avLst/>
          </a:prstGeom>
          <a:solidFill>
            <a:srgbClr val="14141A"/>
          </a:solidFill>
          <a:ln/>
        </p:spPr>
      </p:sp>
      <p:sp>
        <p:nvSpPr>
          <p:cNvPr id="4" name="Shape 2"/>
          <p:cNvSpPr/>
          <p:nvPr/>
        </p:nvSpPr>
        <p:spPr>
          <a:xfrm>
            <a:off x="10561320" y="448056"/>
            <a:ext cx="155448" cy="155448"/>
          </a:xfrm>
          <a:prstGeom prst="rect">
            <a:avLst/>
          </a:prstGeom>
          <a:solidFill>
            <a:srgbClr val="14141A"/>
          </a:solidFill>
          <a:ln/>
        </p:spPr>
      </p:sp>
      <p:sp>
        <p:nvSpPr>
          <p:cNvPr id="5" name="Shape 3"/>
          <p:cNvSpPr/>
          <p:nvPr/>
        </p:nvSpPr>
        <p:spPr>
          <a:xfrm>
            <a:off x="10872216" y="448056"/>
            <a:ext cx="155448" cy="155448"/>
          </a:xfrm>
          <a:prstGeom prst="rect">
            <a:avLst/>
          </a:prstGeom>
          <a:solidFill>
            <a:srgbClr val="14141A"/>
          </a:solidFill>
          <a:ln/>
        </p:spPr>
      </p:sp>
      <p:sp>
        <p:nvSpPr>
          <p:cNvPr id="6" name="Shape 4"/>
          <p:cNvSpPr/>
          <p:nvPr/>
        </p:nvSpPr>
        <p:spPr>
          <a:xfrm>
            <a:off x="11183112" y="448056"/>
            <a:ext cx="155448" cy="155448"/>
          </a:xfrm>
          <a:prstGeom prst="rect">
            <a:avLst/>
          </a:prstGeom>
          <a:solidFill>
            <a:srgbClr val="14141A"/>
          </a:solidFill>
          <a:ln/>
        </p:spPr>
      </p:sp>
      <p:sp>
        <p:nvSpPr>
          <p:cNvPr id="7" name="Shape 5"/>
          <p:cNvSpPr/>
          <p:nvPr/>
        </p:nvSpPr>
        <p:spPr>
          <a:xfrm>
            <a:off x="10716768" y="603504"/>
            <a:ext cx="155448" cy="155448"/>
          </a:xfrm>
          <a:prstGeom prst="rect">
            <a:avLst/>
          </a:prstGeom>
          <a:solidFill>
            <a:srgbClr val="14141A"/>
          </a:solidFill>
          <a:ln/>
        </p:spPr>
      </p:sp>
      <p:sp>
        <p:nvSpPr>
          <p:cNvPr id="8" name="Shape 6"/>
          <p:cNvSpPr/>
          <p:nvPr/>
        </p:nvSpPr>
        <p:spPr>
          <a:xfrm>
            <a:off x="11027664" y="603504"/>
            <a:ext cx="155448" cy="155448"/>
          </a:xfrm>
          <a:prstGeom prst="rect">
            <a:avLst/>
          </a:prstGeom>
          <a:solidFill>
            <a:srgbClr val="14141A"/>
          </a:solidFill>
          <a:ln/>
        </p:spPr>
      </p:sp>
      <p:sp>
        <p:nvSpPr>
          <p:cNvPr id="9" name="Shape 7"/>
          <p:cNvSpPr/>
          <p:nvPr/>
        </p:nvSpPr>
        <p:spPr>
          <a:xfrm>
            <a:off x="10561320" y="758952"/>
            <a:ext cx="155448" cy="155448"/>
          </a:xfrm>
          <a:prstGeom prst="rect">
            <a:avLst/>
          </a:prstGeom>
          <a:solidFill>
            <a:srgbClr val="14141A"/>
          </a:solidFill>
          <a:ln/>
        </p:spPr>
      </p:sp>
      <p:sp>
        <p:nvSpPr>
          <p:cNvPr id="10" name="Shape 8"/>
          <p:cNvSpPr/>
          <p:nvPr/>
        </p:nvSpPr>
        <p:spPr>
          <a:xfrm>
            <a:off x="10872216" y="758952"/>
            <a:ext cx="155448" cy="155448"/>
          </a:xfrm>
          <a:prstGeom prst="rect">
            <a:avLst/>
          </a:prstGeom>
          <a:solidFill>
            <a:srgbClr val="14141A"/>
          </a:solidFill>
          <a:ln/>
        </p:spPr>
      </p:sp>
      <p:sp>
        <p:nvSpPr>
          <p:cNvPr id="11" name="Shape 9"/>
          <p:cNvSpPr/>
          <p:nvPr/>
        </p:nvSpPr>
        <p:spPr>
          <a:xfrm>
            <a:off x="11183112" y="758952"/>
            <a:ext cx="155448" cy="155448"/>
          </a:xfrm>
          <a:prstGeom prst="rect">
            <a:avLst/>
          </a:prstGeom>
          <a:solidFill>
            <a:srgbClr val="14141A"/>
          </a:solidFill>
          <a:ln/>
        </p:spPr>
      </p:sp>
      <p:sp>
        <p:nvSpPr>
          <p:cNvPr id="12" name="Shape 10"/>
          <p:cNvSpPr/>
          <p:nvPr/>
        </p:nvSpPr>
        <p:spPr>
          <a:xfrm>
            <a:off x="10716768" y="914400"/>
            <a:ext cx="155448" cy="155448"/>
          </a:xfrm>
          <a:prstGeom prst="rect">
            <a:avLst/>
          </a:prstGeom>
          <a:solidFill>
            <a:srgbClr val="14141A"/>
          </a:solidFill>
          <a:ln/>
        </p:spPr>
      </p:sp>
      <p:sp>
        <p:nvSpPr>
          <p:cNvPr id="13" name="Shape 11"/>
          <p:cNvSpPr/>
          <p:nvPr/>
        </p:nvSpPr>
        <p:spPr>
          <a:xfrm>
            <a:off x="11027664" y="914400"/>
            <a:ext cx="155448" cy="155448"/>
          </a:xfrm>
          <a:prstGeom prst="rect">
            <a:avLst/>
          </a:prstGeom>
          <a:solidFill>
            <a:srgbClr val="14141A"/>
          </a:solidFill>
          <a:ln/>
        </p:spPr>
      </p:sp>
      <p:sp>
        <p:nvSpPr>
          <p:cNvPr id="14" name="Shape 12"/>
          <p:cNvSpPr/>
          <p:nvPr/>
        </p:nvSpPr>
        <p:spPr>
          <a:xfrm>
            <a:off x="9859975" y="310896"/>
            <a:ext cx="1783080" cy="292608"/>
          </a:xfrm>
          <a:prstGeom prst="roundRect">
            <a:avLst>
              <a:gd name="adj" fmla="val 50000"/>
            </a:avLst>
          </a:prstGeom>
          <a:solidFill>
            <a:srgbClr val="2A2412"/>
          </a:solidFill>
          <a:ln w="9525">
            <a:solidFill>
              <a:srgbClr val="4A3D18"/>
            </a:solidFill>
            <a:prstDash val="solid"/>
          </a:ln>
        </p:spPr>
      </p:sp>
      <p:sp>
        <p:nvSpPr>
          <p:cNvPr id="15" name="Text 13"/>
          <p:cNvSpPr/>
          <p:nvPr/>
        </p:nvSpPr>
        <p:spPr>
          <a:xfrm>
            <a:off x="9859975" y="301752"/>
            <a:ext cx="1783080" cy="310896"/>
          </a:xfrm>
          <a:prstGeom prst="rect">
            <a:avLst/>
          </a:prstGeom>
          <a:noFill/>
          <a:ln/>
        </p:spPr>
        <p:txBody>
          <a:bodyPr wrap="square" lIns="0" tIns="0" rIns="0" bIns="0" rtlCol="0" anchor="ctr"/>
          <a:lstStyle/>
          <a:p>
            <a:pPr algn="ctr" indent="0" marL="0">
              <a:buNone/>
            </a:pPr>
            <a:r>
              <a:rPr lang="en-US" sz="800" b="1" spc="120" kern="0" dirty="0">
                <a:solidFill>
                  <a:srgbClr val="FFC62A"/>
                </a:solidFill>
                <a:latin typeface="Bahnschrift" pitchFamily="34" charset="0"/>
                <a:ea typeface="Bahnschrift" pitchFamily="34" charset="-122"/>
                <a:cs typeface="Bahnschrift" pitchFamily="34" charset="-120"/>
              </a:rPr>
              <a:t>VERIFIED · FROM SOURCE CODE</a:t>
            </a:r>
            <a:endParaRPr lang="en-US" sz="800" dirty="0"/>
          </a:p>
        </p:txBody>
      </p:sp>
      <p:sp>
        <p:nvSpPr>
          <p:cNvPr id="16" name="Text 14"/>
          <p:cNvSpPr/>
          <p:nvPr/>
        </p:nvSpPr>
        <p:spPr>
          <a:xfrm>
            <a:off x="566928" y="384048"/>
            <a:ext cx="8229600" cy="274320"/>
          </a:xfrm>
          <a:prstGeom prst="rect">
            <a:avLst/>
          </a:prstGeom>
          <a:noFill/>
          <a:ln/>
        </p:spPr>
        <p:txBody>
          <a:bodyPr wrap="square" lIns="0" tIns="0" rIns="0" bIns="0" rtlCol="0" anchor="ctr"/>
          <a:lstStyle/>
          <a:p>
            <a:pPr indent="0" marL="0">
              <a:buNone/>
            </a:pPr>
            <a:r>
              <a:rPr lang="en-US" sz="1100" b="1" spc="300" kern="0" dirty="0">
                <a:solidFill>
                  <a:srgbClr val="FFC62A"/>
                </a:solidFill>
                <a:latin typeface="Bahnschrift" pitchFamily="34" charset="0"/>
                <a:ea typeface="Bahnschrift" pitchFamily="34" charset="-122"/>
                <a:cs typeface="Bahnschrift" pitchFamily="34" charset="-120"/>
              </a:rPr>
              <a:t>CONCLUSION</a:t>
            </a:r>
            <a:endParaRPr lang="en-US" sz="1100" dirty="0"/>
          </a:p>
        </p:txBody>
      </p:sp>
      <p:sp>
        <p:nvSpPr>
          <p:cNvPr id="17" name="Shape 15"/>
          <p:cNvSpPr/>
          <p:nvPr/>
        </p:nvSpPr>
        <p:spPr>
          <a:xfrm>
            <a:off x="566928" y="713232"/>
            <a:ext cx="384048" cy="45720"/>
          </a:xfrm>
          <a:prstGeom prst="rect">
            <a:avLst/>
          </a:prstGeom>
          <a:solidFill>
            <a:srgbClr val="FFC62A"/>
          </a:solidFill>
          <a:ln/>
        </p:spPr>
      </p:sp>
      <p:sp>
        <p:nvSpPr>
          <p:cNvPr id="18" name="Text 16"/>
          <p:cNvSpPr/>
          <p:nvPr/>
        </p:nvSpPr>
        <p:spPr>
          <a:xfrm>
            <a:off x="548640" y="841248"/>
            <a:ext cx="11064240" cy="566928"/>
          </a:xfrm>
          <a:prstGeom prst="rect">
            <a:avLst/>
          </a:prstGeom>
          <a:noFill/>
          <a:ln/>
        </p:spPr>
        <p:txBody>
          <a:bodyPr wrap="square" lIns="0" tIns="0" rIns="0" bIns="0" rtlCol="0" anchor="ctr"/>
          <a:lstStyle/>
          <a:p>
            <a:pPr indent="0" marL="0">
              <a:buNone/>
            </a:pPr>
            <a:r>
              <a:rPr lang="en-US" sz="2700" b="1" dirty="0">
                <a:solidFill>
                  <a:srgbClr val="F5F2EA"/>
                </a:solidFill>
                <a:latin typeface="Bahnschrift" pitchFamily="34" charset="0"/>
                <a:ea typeface="Bahnschrift" pitchFamily="34" charset="-122"/>
                <a:cs typeface="Bahnschrift" pitchFamily="34" charset="-120"/>
              </a:rPr>
              <a:t>What was built, and why it matters</a:t>
            </a:r>
            <a:endParaRPr lang="en-US" sz="2700" dirty="0"/>
          </a:p>
        </p:txBody>
      </p:sp>
      <p:sp>
        <p:nvSpPr>
          <p:cNvPr id="19" name="Text 17"/>
          <p:cNvSpPr/>
          <p:nvPr/>
        </p:nvSpPr>
        <p:spPr>
          <a:xfrm>
            <a:off x="566928" y="1389888"/>
            <a:ext cx="11064240" cy="274320"/>
          </a:xfrm>
          <a:prstGeom prst="rect">
            <a:avLst/>
          </a:prstGeom>
          <a:noFill/>
          <a:ln/>
        </p:spPr>
        <p:txBody>
          <a:bodyPr wrap="square" lIns="0" tIns="0" rIns="0" bIns="0" rtlCol="0" anchor="ctr"/>
          <a:lstStyle/>
          <a:p>
            <a:pPr indent="0" marL="0">
              <a:buNone/>
            </a:pPr>
            <a:r>
              <a:rPr lang="en-US" sz="1250" dirty="0">
                <a:solidFill>
                  <a:srgbClr val="9A97A6"/>
                </a:solidFill>
                <a:latin typeface="Segoe UI" pitchFamily="34" charset="0"/>
                <a:ea typeface="Segoe UI" pitchFamily="34" charset="-122"/>
                <a:cs typeface="Segoe UI" pitchFamily="34" charset="-120"/>
              </a:rPr>
              <a:t>Verified end-to-end in the repository.</a:t>
            </a:r>
            <a:endParaRPr lang="en-US" sz="1250" dirty="0"/>
          </a:p>
        </p:txBody>
      </p:sp>
      <p:sp>
        <p:nvSpPr>
          <p:cNvPr id="20" name="Text 18"/>
          <p:cNvSpPr/>
          <p:nvPr/>
        </p:nvSpPr>
        <p:spPr>
          <a:xfrm>
            <a:off x="566928" y="6492240"/>
            <a:ext cx="2743200" cy="256032"/>
          </a:xfrm>
          <a:prstGeom prst="rect">
            <a:avLst/>
          </a:prstGeom>
          <a:noFill/>
          <a:ln/>
        </p:spPr>
        <p:txBody>
          <a:bodyPr wrap="square" lIns="0" tIns="0" rIns="0" bIns="0" rtlCol="0" anchor="ctr"/>
          <a:lstStyle/>
          <a:p>
            <a:pPr indent="0" marL="0">
              <a:buNone/>
            </a:pPr>
            <a:r>
              <a:rPr lang="en-US" sz="850" b="1" spc="300" kern="0" dirty="0">
                <a:solidFill>
                  <a:srgbClr val="5C5966"/>
                </a:solidFill>
                <a:latin typeface="Bahnschrift" pitchFamily="34" charset="0"/>
                <a:ea typeface="Bahnschrift" pitchFamily="34" charset="-122"/>
                <a:cs typeface="Bahnschrift" pitchFamily="34" charset="-120"/>
              </a:rPr>
              <a:t>CHESSFORK</a:t>
            </a:r>
            <a:endParaRPr lang="en-US" sz="850" dirty="0"/>
          </a:p>
        </p:txBody>
      </p:sp>
      <p:sp>
        <p:nvSpPr>
          <p:cNvPr id="21" name="Text 19"/>
          <p:cNvSpPr/>
          <p:nvPr/>
        </p:nvSpPr>
        <p:spPr>
          <a:xfrm>
            <a:off x="3840480" y="6492240"/>
            <a:ext cx="4572000" cy="256032"/>
          </a:xfrm>
          <a:prstGeom prst="rect">
            <a:avLst/>
          </a:prstGeom>
          <a:noFill/>
          <a:ln/>
        </p:spPr>
        <p:txBody>
          <a:bodyPr wrap="square" lIns="0" tIns="0" rIns="0" bIns="0" rtlCol="0" anchor="ctr"/>
          <a:lstStyle/>
          <a:p>
            <a:pPr indent="0" marL="0">
              <a:buNone/>
            </a:pPr>
            <a:r>
              <a:rPr lang="en-US" sz="800" spc="150" kern="0" dirty="0">
                <a:solidFill>
                  <a:srgbClr val="5C5966"/>
                </a:solidFill>
                <a:latin typeface="Segoe UI" pitchFamily="34" charset="0"/>
                <a:ea typeface="Segoe UI" pitchFamily="34" charset="-122"/>
                <a:cs typeface="Segoe UI" pitchFamily="34" charset="-120"/>
              </a:rPr>
              <a:t>BCA FINAL YEAR PROJECT · 2026</a:t>
            </a:r>
            <a:endParaRPr lang="en-US" sz="800" dirty="0"/>
          </a:p>
        </p:txBody>
      </p:sp>
      <p:sp>
        <p:nvSpPr>
          <p:cNvPr id="22" name="Text 20"/>
          <p:cNvSpPr/>
          <p:nvPr/>
        </p:nvSpPr>
        <p:spPr>
          <a:xfrm>
            <a:off x="11292840" y="6473952"/>
            <a:ext cx="365760" cy="274320"/>
          </a:xfrm>
          <a:prstGeom prst="rect">
            <a:avLst/>
          </a:prstGeom>
          <a:noFill/>
          <a:ln/>
        </p:spPr>
        <p:txBody>
          <a:bodyPr wrap="square" lIns="0" tIns="0" rIns="0" bIns="0" rtlCol="0" anchor="ctr"/>
          <a:lstStyle/>
          <a:p>
            <a:pPr algn="r" indent="0" marL="0">
              <a:buNone/>
            </a:pPr>
            <a:r>
              <a:rPr lang="en-US" sz="900" b="1" dirty="0">
                <a:solidFill>
                  <a:srgbClr val="5C5966"/>
                </a:solidFill>
                <a:latin typeface="Bahnschrift" pitchFamily="34" charset="0"/>
                <a:ea typeface="Bahnschrift" pitchFamily="34" charset="-122"/>
                <a:cs typeface="Bahnschrift" pitchFamily="34" charset="-120"/>
              </a:rPr>
              <a:t>18</a:t>
            </a:r>
            <a:endParaRPr lang="en-US" sz="900" dirty="0"/>
          </a:p>
        </p:txBody>
      </p:sp>
      <p:sp>
        <p:nvSpPr>
          <p:cNvPr id="23" name="Shape 21"/>
          <p:cNvSpPr/>
          <p:nvPr/>
        </p:nvSpPr>
        <p:spPr>
          <a:xfrm>
            <a:off x="566928" y="1828800"/>
            <a:ext cx="6309360" cy="3291840"/>
          </a:xfrm>
          <a:prstGeom prst="roundRect">
            <a:avLst>
              <a:gd name="adj" fmla="val 1944"/>
            </a:avLst>
          </a:prstGeom>
          <a:solidFill>
            <a:srgbClr val="15151B"/>
          </a:solidFill>
          <a:ln w="12700">
            <a:solidFill>
              <a:srgbClr val="26262F"/>
            </a:solidFill>
            <a:prstDash val="solid"/>
          </a:ln>
        </p:spPr>
      </p:sp>
      <p:sp>
        <p:nvSpPr>
          <p:cNvPr id="24" name="Text 22"/>
          <p:cNvSpPr/>
          <p:nvPr/>
        </p:nvSpPr>
        <p:spPr>
          <a:xfrm>
            <a:off x="841248" y="2103120"/>
            <a:ext cx="5760720" cy="2834640"/>
          </a:xfrm>
          <a:prstGeom prst="rect">
            <a:avLst/>
          </a:prstGeom>
          <a:noFill/>
          <a:ln/>
        </p:spPr>
        <p:txBody>
          <a:bodyPr wrap="square" lIns="0" tIns="0" rIns="0" bIns="0" rtlCol="0" anchor="ctr"/>
          <a:lstStyle/>
          <a:p>
            <a:pPr marL="342900" indent="-342900">
              <a:lnSpc>
                <a:spcPct val="112000"/>
              </a:lnSpc>
              <a:spcAft>
                <a:spcPts val="1300"/>
              </a:spcAft>
              <a:buSzPct val="100000"/>
              <a:buChar char="•"/>
            </a:pPr>
            <a:r>
              <a:rPr lang="en-US" sz="1250" dirty="0">
                <a:solidFill>
                  <a:srgbClr val="F5F2EA"/>
                </a:solidFill>
                <a:latin typeface="Segoe UI" pitchFamily="34" charset="0"/>
                <a:ea typeface="Segoe UI" pitchFamily="34" charset="-122"/>
                <a:cs typeface="Segoe UI" pitchFamily="34" charset="-120"/>
              </a:rPr>
              <a:t>Chessfork is a complete, free analysis + coaching platform — not a prototype</a:t>
            </a:r>
            <a:endParaRPr lang="en-US" sz="1250" dirty="0"/>
          </a:p>
          <a:p>
            <a:pPr marL="342900" indent="-342900">
              <a:lnSpc>
                <a:spcPct val="112000"/>
              </a:lnSpc>
              <a:spcAft>
                <a:spcPts val="1300"/>
              </a:spcAft>
              <a:buSzPct val="100000"/>
              <a:buChar char="•"/>
            </a:pPr>
            <a:r>
              <a:rPr lang="en-US" sz="1250" dirty="0">
                <a:solidFill>
                  <a:srgbClr val="F5F2EA"/>
                </a:solidFill>
                <a:latin typeface="Segoe UI" pitchFamily="34" charset="0"/>
                <a:ea typeface="Segoe UI" pitchFamily="34" charset="-122"/>
                <a:cs typeface="Segoe UI" pitchFamily="34" charset="-120"/>
              </a:rPr>
              <a:t>Stockfish 18 engine + LLM explanations: analysis with understanding</a:t>
            </a:r>
            <a:endParaRPr lang="en-US" sz="1250" dirty="0"/>
          </a:p>
          <a:p>
            <a:pPr marL="342900" indent="-342900">
              <a:lnSpc>
                <a:spcPct val="112000"/>
              </a:lnSpc>
              <a:spcAft>
                <a:spcPts val="1300"/>
              </a:spcAft>
              <a:buSzPct val="100000"/>
              <a:buChar char="•"/>
            </a:pPr>
            <a:r>
              <a:rPr lang="en-US" sz="1250" dirty="0">
                <a:solidFill>
                  <a:srgbClr val="F5F2EA"/>
                </a:solidFill>
                <a:latin typeface="Segoe UI" pitchFamily="34" charset="0"/>
                <a:ea typeface="Segoe UI" pitchFamily="34" charset="-122"/>
                <a:cs typeface="Segoe UI" pitchFamily="34" charset="-120"/>
              </a:rPr>
              <a:t>Personalized AI Coach turns game history into a training plan</a:t>
            </a:r>
            <a:endParaRPr lang="en-US" sz="1250" dirty="0"/>
          </a:p>
          <a:p>
            <a:pPr marL="342900" indent="-342900">
              <a:lnSpc>
                <a:spcPct val="112000"/>
              </a:lnSpc>
              <a:spcAft>
                <a:spcPts val="1300"/>
              </a:spcAft>
              <a:buSzPct val="100000"/>
              <a:buChar char="•"/>
            </a:pPr>
            <a:r>
              <a:rPr lang="en-US" sz="1250" dirty="0">
                <a:solidFill>
                  <a:srgbClr val="F5F2EA"/>
                </a:solidFill>
                <a:latin typeface="Segoe UI" pitchFamily="34" charset="0"/>
                <a:ea typeface="Segoe UI" pitchFamily="34" charset="-122"/>
                <a:cs typeface="Segoe UI" pitchFamily="34" charset="-120"/>
              </a:rPr>
              <a:t>25 API routes · 39 pages · 12 database tables · 7-level grading system</a:t>
            </a:r>
            <a:endParaRPr lang="en-US" sz="1250" dirty="0"/>
          </a:p>
          <a:p>
            <a:pPr marL="342900" indent="-342900">
              <a:lnSpc>
                <a:spcPct val="112000"/>
              </a:lnSpc>
              <a:spcAft>
                <a:spcPts val="1300"/>
              </a:spcAft>
              <a:buSzPct val="100000"/>
              <a:buChar char="•"/>
            </a:pPr>
            <a:r>
              <a:rPr lang="en-US" sz="1250" dirty="0">
                <a:solidFill>
                  <a:srgbClr val="F5F2EA"/>
                </a:solidFill>
                <a:latin typeface="Segoe UI" pitchFamily="34" charset="0"/>
                <a:ea typeface="Segoe UI" pitchFamily="34" charset="-122"/>
                <a:cs typeface="Segoe UI" pitchFamily="34" charset="-120"/>
              </a:rPr>
              <a:t>Honest scope: Beta modules flagged, roadmap published</a:t>
            </a:r>
            <a:endParaRPr lang="en-US" sz="1250" dirty="0"/>
          </a:p>
        </p:txBody>
      </p:sp>
      <p:sp>
        <p:nvSpPr>
          <p:cNvPr id="25" name="Shape 23"/>
          <p:cNvSpPr/>
          <p:nvPr/>
        </p:nvSpPr>
        <p:spPr>
          <a:xfrm>
            <a:off x="6995160" y="1828800"/>
            <a:ext cx="960120" cy="1325880"/>
          </a:xfrm>
          <a:prstGeom prst="roundRect">
            <a:avLst>
              <a:gd name="adj" fmla="val 7619"/>
            </a:avLst>
          </a:prstGeom>
          <a:solidFill>
            <a:srgbClr val="12141A"/>
          </a:solidFill>
          <a:ln w="12700">
            <a:solidFill>
              <a:srgbClr val="2A2A35"/>
            </a:solidFill>
            <a:prstDash val="solid"/>
          </a:ln>
        </p:spPr>
      </p:sp>
      <p:sp>
        <p:nvSpPr>
          <p:cNvPr id="26" name="Text 24"/>
          <p:cNvSpPr/>
          <p:nvPr/>
        </p:nvSpPr>
        <p:spPr>
          <a:xfrm>
            <a:off x="6995160" y="1965960"/>
            <a:ext cx="960120" cy="502920"/>
          </a:xfrm>
          <a:prstGeom prst="rect">
            <a:avLst/>
          </a:prstGeom>
          <a:noFill/>
          <a:ln/>
        </p:spPr>
        <p:txBody>
          <a:bodyPr wrap="square" lIns="0" tIns="0" rIns="0" bIns="0" rtlCol="0" anchor="ctr"/>
          <a:lstStyle/>
          <a:p>
            <a:pPr algn="ctr" indent="0" marL="0">
              <a:buNone/>
            </a:pPr>
            <a:r>
              <a:rPr lang="en-US" sz="2400" b="1" dirty="0">
                <a:solidFill>
                  <a:srgbClr val="FFC62A"/>
                </a:solidFill>
                <a:latin typeface="Bahnschrift" pitchFamily="34" charset="0"/>
                <a:ea typeface="Bahnschrift" pitchFamily="34" charset="-122"/>
                <a:cs typeface="Bahnschrift" pitchFamily="34" charset="-120"/>
              </a:rPr>
              <a:t>25</a:t>
            </a:r>
            <a:endParaRPr lang="en-US" sz="2400" dirty="0"/>
          </a:p>
        </p:txBody>
      </p:sp>
      <p:sp>
        <p:nvSpPr>
          <p:cNvPr id="27" name="Text 25"/>
          <p:cNvSpPr/>
          <p:nvPr/>
        </p:nvSpPr>
        <p:spPr>
          <a:xfrm>
            <a:off x="6995160" y="2560320"/>
            <a:ext cx="960120" cy="457200"/>
          </a:xfrm>
          <a:prstGeom prst="rect">
            <a:avLst/>
          </a:prstGeom>
          <a:noFill/>
          <a:ln/>
        </p:spPr>
        <p:txBody>
          <a:bodyPr wrap="square" lIns="0" tIns="0" rIns="0" bIns="0" rtlCol="0" anchor="ctr"/>
          <a:lstStyle/>
          <a:p>
            <a:pPr algn="ctr" indent="0" marL="0">
              <a:buNone/>
            </a:pPr>
            <a:r>
              <a:rPr lang="en-US" sz="750" dirty="0">
                <a:solidFill>
                  <a:srgbClr val="9A97A6"/>
                </a:solidFill>
                <a:latin typeface="Bahnschrift" pitchFamily="34" charset="0"/>
                <a:ea typeface="Bahnschrift" pitchFamily="34" charset="-122"/>
                <a:cs typeface="Bahnschrift" pitchFamily="34" charset="-120"/>
              </a:rPr>
              <a:t>API ROUTES</a:t>
            </a:r>
            <a:endParaRPr lang="en-US" sz="750" dirty="0"/>
          </a:p>
        </p:txBody>
      </p:sp>
      <p:sp>
        <p:nvSpPr>
          <p:cNvPr id="28" name="Shape 26"/>
          <p:cNvSpPr/>
          <p:nvPr/>
        </p:nvSpPr>
        <p:spPr>
          <a:xfrm>
            <a:off x="8037576" y="1828800"/>
            <a:ext cx="960120" cy="1325880"/>
          </a:xfrm>
          <a:prstGeom prst="roundRect">
            <a:avLst>
              <a:gd name="adj" fmla="val 7619"/>
            </a:avLst>
          </a:prstGeom>
          <a:solidFill>
            <a:srgbClr val="12141A"/>
          </a:solidFill>
          <a:ln w="12700">
            <a:solidFill>
              <a:srgbClr val="2A2A35"/>
            </a:solidFill>
            <a:prstDash val="solid"/>
          </a:ln>
        </p:spPr>
      </p:sp>
      <p:sp>
        <p:nvSpPr>
          <p:cNvPr id="29" name="Text 27"/>
          <p:cNvSpPr/>
          <p:nvPr/>
        </p:nvSpPr>
        <p:spPr>
          <a:xfrm>
            <a:off x="8037576" y="1965960"/>
            <a:ext cx="960120" cy="502920"/>
          </a:xfrm>
          <a:prstGeom prst="rect">
            <a:avLst/>
          </a:prstGeom>
          <a:noFill/>
          <a:ln/>
        </p:spPr>
        <p:txBody>
          <a:bodyPr wrap="square" lIns="0" tIns="0" rIns="0" bIns="0" rtlCol="0" anchor="ctr"/>
          <a:lstStyle/>
          <a:p>
            <a:pPr algn="ctr" indent="0" marL="0">
              <a:buNone/>
            </a:pPr>
            <a:r>
              <a:rPr lang="en-US" sz="2400" b="1" dirty="0">
                <a:solidFill>
                  <a:srgbClr val="FFC62A"/>
                </a:solidFill>
                <a:latin typeface="Bahnschrift" pitchFamily="34" charset="0"/>
                <a:ea typeface="Bahnschrift" pitchFamily="34" charset="-122"/>
                <a:cs typeface="Bahnschrift" pitchFamily="34" charset="-120"/>
              </a:rPr>
              <a:t>39</a:t>
            </a:r>
            <a:endParaRPr lang="en-US" sz="2400" dirty="0"/>
          </a:p>
        </p:txBody>
      </p:sp>
      <p:sp>
        <p:nvSpPr>
          <p:cNvPr id="30" name="Text 28"/>
          <p:cNvSpPr/>
          <p:nvPr/>
        </p:nvSpPr>
        <p:spPr>
          <a:xfrm>
            <a:off x="8037576" y="2560320"/>
            <a:ext cx="960120" cy="457200"/>
          </a:xfrm>
          <a:prstGeom prst="rect">
            <a:avLst/>
          </a:prstGeom>
          <a:noFill/>
          <a:ln/>
        </p:spPr>
        <p:txBody>
          <a:bodyPr wrap="square" lIns="0" tIns="0" rIns="0" bIns="0" rtlCol="0" anchor="ctr"/>
          <a:lstStyle/>
          <a:p>
            <a:pPr algn="ctr" indent="0" marL="0">
              <a:buNone/>
            </a:pPr>
            <a:r>
              <a:rPr lang="en-US" sz="750" dirty="0">
                <a:solidFill>
                  <a:srgbClr val="9A97A6"/>
                </a:solidFill>
                <a:latin typeface="Bahnschrift" pitchFamily="34" charset="0"/>
                <a:ea typeface="Bahnschrift" pitchFamily="34" charset="-122"/>
                <a:cs typeface="Bahnschrift" pitchFamily="34" charset="-120"/>
              </a:rPr>
              <a:t>PAGES</a:t>
            </a:r>
            <a:endParaRPr lang="en-US" sz="750" dirty="0"/>
          </a:p>
        </p:txBody>
      </p:sp>
      <p:sp>
        <p:nvSpPr>
          <p:cNvPr id="31" name="Shape 29"/>
          <p:cNvSpPr/>
          <p:nvPr/>
        </p:nvSpPr>
        <p:spPr>
          <a:xfrm>
            <a:off x="9079992" y="1828800"/>
            <a:ext cx="960120" cy="1325880"/>
          </a:xfrm>
          <a:prstGeom prst="roundRect">
            <a:avLst>
              <a:gd name="adj" fmla="val 7619"/>
            </a:avLst>
          </a:prstGeom>
          <a:solidFill>
            <a:srgbClr val="12141A"/>
          </a:solidFill>
          <a:ln w="12700">
            <a:solidFill>
              <a:srgbClr val="2A2A35"/>
            </a:solidFill>
            <a:prstDash val="solid"/>
          </a:ln>
        </p:spPr>
      </p:sp>
      <p:sp>
        <p:nvSpPr>
          <p:cNvPr id="32" name="Text 30"/>
          <p:cNvSpPr/>
          <p:nvPr/>
        </p:nvSpPr>
        <p:spPr>
          <a:xfrm>
            <a:off x="9079992" y="1965960"/>
            <a:ext cx="960120" cy="502920"/>
          </a:xfrm>
          <a:prstGeom prst="rect">
            <a:avLst/>
          </a:prstGeom>
          <a:noFill/>
          <a:ln/>
        </p:spPr>
        <p:txBody>
          <a:bodyPr wrap="square" lIns="0" tIns="0" rIns="0" bIns="0" rtlCol="0" anchor="ctr"/>
          <a:lstStyle/>
          <a:p>
            <a:pPr algn="ctr" indent="0" marL="0">
              <a:buNone/>
            </a:pPr>
            <a:r>
              <a:rPr lang="en-US" sz="2400" b="1" dirty="0">
                <a:solidFill>
                  <a:srgbClr val="FFC62A"/>
                </a:solidFill>
                <a:latin typeface="Bahnschrift" pitchFamily="34" charset="0"/>
                <a:ea typeface="Bahnschrift" pitchFamily="34" charset="-122"/>
                <a:cs typeface="Bahnschrift" pitchFamily="34" charset="-120"/>
              </a:rPr>
              <a:t>12</a:t>
            </a:r>
            <a:endParaRPr lang="en-US" sz="2400" dirty="0"/>
          </a:p>
        </p:txBody>
      </p:sp>
      <p:sp>
        <p:nvSpPr>
          <p:cNvPr id="33" name="Text 31"/>
          <p:cNvSpPr/>
          <p:nvPr/>
        </p:nvSpPr>
        <p:spPr>
          <a:xfrm>
            <a:off x="9079992" y="2560320"/>
            <a:ext cx="960120" cy="457200"/>
          </a:xfrm>
          <a:prstGeom prst="rect">
            <a:avLst/>
          </a:prstGeom>
          <a:noFill/>
          <a:ln/>
        </p:spPr>
        <p:txBody>
          <a:bodyPr wrap="square" lIns="0" tIns="0" rIns="0" bIns="0" rtlCol="0" anchor="ctr"/>
          <a:lstStyle/>
          <a:p>
            <a:pPr algn="ctr" indent="0" marL="0">
              <a:buNone/>
            </a:pPr>
            <a:r>
              <a:rPr lang="en-US" sz="750" dirty="0">
                <a:solidFill>
                  <a:srgbClr val="9A97A6"/>
                </a:solidFill>
                <a:latin typeface="Bahnschrift" pitchFamily="34" charset="0"/>
                <a:ea typeface="Bahnschrift" pitchFamily="34" charset="-122"/>
                <a:cs typeface="Bahnschrift" pitchFamily="34" charset="-120"/>
              </a:rPr>
              <a:t>DB TABLES</a:t>
            </a:r>
            <a:endParaRPr lang="en-US" sz="750" dirty="0"/>
          </a:p>
        </p:txBody>
      </p:sp>
      <p:sp>
        <p:nvSpPr>
          <p:cNvPr id="34" name="Shape 32"/>
          <p:cNvSpPr/>
          <p:nvPr/>
        </p:nvSpPr>
        <p:spPr>
          <a:xfrm>
            <a:off x="10122408" y="1828800"/>
            <a:ext cx="960120" cy="1325880"/>
          </a:xfrm>
          <a:prstGeom prst="roundRect">
            <a:avLst>
              <a:gd name="adj" fmla="val 7619"/>
            </a:avLst>
          </a:prstGeom>
          <a:solidFill>
            <a:srgbClr val="12141A"/>
          </a:solidFill>
          <a:ln w="12700">
            <a:solidFill>
              <a:srgbClr val="2A2A35"/>
            </a:solidFill>
            <a:prstDash val="solid"/>
          </a:ln>
        </p:spPr>
      </p:sp>
      <p:sp>
        <p:nvSpPr>
          <p:cNvPr id="35" name="Text 33"/>
          <p:cNvSpPr/>
          <p:nvPr/>
        </p:nvSpPr>
        <p:spPr>
          <a:xfrm>
            <a:off x="10122408" y="1965960"/>
            <a:ext cx="960120" cy="502920"/>
          </a:xfrm>
          <a:prstGeom prst="rect">
            <a:avLst/>
          </a:prstGeom>
          <a:noFill/>
          <a:ln/>
        </p:spPr>
        <p:txBody>
          <a:bodyPr wrap="square" lIns="0" tIns="0" rIns="0" bIns="0" rtlCol="0" anchor="ctr"/>
          <a:lstStyle/>
          <a:p>
            <a:pPr algn="ctr" indent="0" marL="0">
              <a:buNone/>
            </a:pPr>
            <a:r>
              <a:rPr lang="en-US" sz="2400" b="1" dirty="0">
                <a:solidFill>
                  <a:srgbClr val="FFC62A"/>
                </a:solidFill>
                <a:latin typeface="Bahnschrift" pitchFamily="34" charset="0"/>
                <a:ea typeface="Bahnschrift" pitchFamily="34" charset="-122"/>
                <a:cs typeface="Bahnschrift" pitchFamily="34" charset="-120"/>
              </a:rPr>
              <a:t>7</a:t>
            </a:r>
            <a:endParaRPr lang="en-US" sz="2400" dirty="0"/>
          </a:p>
        </p:txBody>
      </p:sp>
      <p:sp>
        <p:nvSpPr>
          <p:cNvPr id="36" name="Text 34"/>
          <p:cNvSpPr/>
          <p:nvPr/>
        </p:nvSpPr>
        <p:spPr>
          <a:xfrm>
            <a:off x="10122408" y="2560320"/>
            <a:ext cx="960120" cy="457200"/>
          </a:xfrm>
          <a:prstGeom prst="rect">
            <a:avLst/>
          </a:prstGeom>
          <a:noFill/>
          <a:ln/>
        </p:spPr>
        <p:txBody>
          <a:bodyPr wrap="square" lIns="0" tIns="0" rIns="0" bIns="0" rtlCol="0" anchor="ctr"/>
          <a:lstStyle/>
          <a:p>
            <a:pPr algn="ctr" indent="0" marL="0">
              <a:buNone/>
            </a:pPr>
            <a:r>
              <a:rPr lang="en-US" sz="750" dirty="0">
                <a:solidFill>
                  <a:srgbClr val="9A97A6"/>
                </a:solidFill>
                <a:latin typeface="Bahnschrift" pitchFamily="34" charset="0"/>
                <a:ea typeface="Bahnschrift" pitchFamily="34" charset="-122"/>
                <a:cs typeface="Bahnschrift" pitchFamily="34" charset="-120"/>
              </a:rPr>
              <a:t>MOVE GRADES</a:t>
            </a:r>
            <a:endParaRPr lang="en-US" sz="750" dirty="0"/>
          </a:p>
        </p:txBody>
      </p:sp>
      <p:sp>
        <p:nvSpPr>
          <p:cNvPr id="37" name="Shape 35"/>
          <p:cNvSpPr/>
          <p:nvPr/>
        </p:nvSpPr>
        <p:spPr>
          <a:xfrm>
            <a:off x="11164824" y="1828800"/>
            <a:ext cx="960120" cy="1325880"/>
          </a:xfrm>
          <a:prstGeom prst="roundRect">
            <a:avLst>
              <a:gd name="adj" fmla="val 7619"/>
            </a:avLst>
          </a:prstGeom>
          <a:solidFill>
            <a:srgbClr val="12141A"/>
          </a:solidFill>
          <a:ln w="12700">
            <a:solidFill>
              <a:srgbClr val="2A2A35"/>
            </a:solidFill>
            <a:prstDash val="solid"/>
          </a:ln>
        </p:spPr>
      </p:sp>
      <p:sp>
        <p:nvSpPr>
          <p:cNvPr id="38" name="Text 36"/>
          <p:cNvSpPr/>
          <p:nvPr/>
        </p:nvSpPr>
        <p:spPr>
          <a:xfrm>
            <a:off x="11164824" y="1965960"/>
            <a:ext cx="960120" cy="502920"/>
          </a:xfrm>
          <a:prstGeom prst="rect">
            <a:avLst/>
          </a:prstGeom>
          <a:noFill/>
          <a:ln/>
        </p:spPr>
        <p:txBody>
          <a:bodyPr wrap="square" lIns="0" tIns="0" rIns="0" bIns="0" rtlCol="0" anchor="ctr"/>
          <a:lstStyle/>
          <a:p>
            <a:pPr algn="ctr" indent="0" marL="0">
              <a:buNone/>
            </a:pPr>
            <a:r>
              <a:rPr lang="en-US" sz="2400" b="1" dirty="0">
                <a:solidFill>
                  <a:srgbClr val="FFC62A"/>
                </a:solidFill>
                <a:latin typeface="Bahnschrift" pitchFamily="34" charset="0"/>
                <a:ea typeface="Bahnschrift" pitchFamily="34" charset="-122"/>
                <a:cs typeface="Bahnschrift" pitchFamily="34" charset="-120"/>
              </a:rPr>
              <a:t>18</a:t>
            </a:r>
            <a:endParaRPr lang="en-US" sz="2400" dirty="0"/>
          </a:p>
        </p:txBody>
      </p:sp>
      <p:sp>
        <p:nvSpPr>
          <p:cNvPr id="39" name="Text 37"/>
          <p:cNvSpPr/>
          <p:nvPr/>
        </p:nvSpPr>
        <p:spPr>
          <a:xfrm>
            <a:off x="11164824" y="2560320"/>
            <a:ext cx="960120" cy="457200"/>
          </a:xfrm>
          <a:prstGeom prst="rect">
            <a:avLst/>
          </a:prstGeom>
          <a:noFill/>
          <a:ln/>
        </p:spPr>
        <p:txBody>
          <a:bodyPr wrap="square" lIns="0" tIns="0" rIns="0" bIns="0" rtlCol="0" anchor="ctr"/>
          <a:lstStyle/>
          <a:p>
            <a:pPr algn="ctr" indent="0" marL="0">
              <a:buNone/>
            </a:pPr>
            <a:r>
              <a:rPr lang="en-US" sz="750" dirty="0">
                <a:solidFill>
                  <a:srgbClr val="9A97A6"/>
                </a:solidFill>
                <a:latin typeface="Bahnschrift" pitchFamily="34" charset="0"/>
                <a:ea typeface="Bahnschrift" pitchFamily="34" charset="-122"/>
                <a:cs typeface="Bahnschrift" pitchFamily="34" charset="-120"/>
              </a:rPr>
              <a:t>STOCKFISH</a:t>
            </a:r>
            <a:endParaRPr lang="en-US" sz="750" dirty="0"/>
          </a:p>
        </p:txBody>
      </p:sp>
      <p:sp>
        <p:nvSpPr>
          <p:cNvPr id="40" name="Shape 38"/>
          <p:cNvSpPr/>
          <p:nvPr/>
        </p:nvSpPr>
        <p:spPr>
          <a:xfrm>
            <a:off x="7086600" y="3429000"/>
            <a:ext cx="4526280" cy="1691640"/>
          </a:xfrm>
          <a:prstGeom prst="roundRect">
            <a:avLst>
              <a:gd name="adj" fmla="val 3784"/>
            </a:avLst>
          </a:prstGeom>
          <a:solidFill>
            <a:srgbClr val="15151B"/>
          </a:solidFill>
          <a:ln w="12700">
            <a:solidFill>
              <a:srgbClr val="26262F"/>
            </a:solidFill>
            <a:prstDash val="solid"/>
          </a:ln>
        </p:spPr>
      </p:sp>
      <p:sp>
        <p:nvSpPr>
          <p:cNvPr id="41" name="Text 39"/>
          <p:cNvSpPr/>
          <p:nvPr/>
        </p:nvSpPr>
        <p:spPr>
          <a:xfrm>
            <a:off x="7315200" y="3566160"/>
            <a:ext cx="4023360" cy="274320"/>
          </a:xfrm>
          <a:prstGeom prst="rect">
            <a:avLst/>
          </a:prstGeom>
          <a:noFill/>
          <a:ln/>
        </p:spPr>
        <p:txBody>
          <a:bodyPr wrap="square" lIns="0" tIns="0" rIns="0" bIns="0" rtlCol="0" anchor="ctr"/>
          <a:lstStyle/>
          <a:p>
            <a:pPr indent="0" marL="0">
              <a:buNone/>
            </a:pPr>
            <a:r>
              <a:rPr lang="en-US" sz="1050" b="1" spc="200" kern="0" dirty="0">
                <a:solidFill>
                  <a:srgbClr val="FFC62A"/>
                </a:solidFill>
                <a:latin typeface="Bahnschrift" pitchFamily="34" charset="0"/>
                <a:ea typeface="Bahnschrift" pitchFamily="34" charset="-122"/>
                <a:cs typeface="Bahnschrift" pitchFamily="34" charset="-120"/>
              </a:rPr>
              <a:t>FINAL STATEMENT</a:t>
            </a:r>
            <a:endParaRPr lang="en-US" sz="1050" dirty="0"/>
          </a:p>
        </p:txBody>
      </p:sp>
      <p:sp>
        <p:nvSpPr>
          <p:cNvPr id="42" name="Text 40"/>
          <p:cNvSpPr/>
          <p:nvPr/>
        </p:nvSpPr>
        <p:spPr>
          <a:xfrm>
            <a:off x="7315200" y="3886200"/>
            <a:ext cx="4069080" cy="1097280"/>
          </a:xfrm>
          <a:prstGeom prst="rect">
            <a:avLst/>
          </a:prstGeom>
          <a:noFill/>
          <a:ln/>
        </p:spPr>
        <p:txBody>
          <a:bodyPr wrap="square" lIns="0" tIns="0" rIns="0" bIns="0" rtlCol="0" anchor="ctr"/>
          <a:lstStyle/>
          <a:p>
            <a:pPr indent="0" marL="0">
              <a:lnSpc>
                <a:spcPct val="120000"/>
              </a:lnSpc>
              <a:buNone/>
            </a:pPr>
            <a:r>
              <a:rPr lang="en-US" sz="1200" dirty="0">
                <a:solidFill>
                  <a:srgbClr val="F5F2EA"/>
                </a:solidFill>
                <a:latin typeface="Segoe UI" pitchFamily="34" charset="0"/>
                <a:ea typeface="Segoe UI" pitchFamily="34" charset="-122"/>
                <a:cs typeface="Segoe UI" pitchFamily="34" charset="-120"/>
              </a:rPr>
              <a:t>An analysis product that teaches, and a coaching product built on real engine data — delivered as one free, working platform.</a:t>
            </a:r>
            <a:endParaRPr lang="en-US" sz="1200" dirty="0"/>
          </a:p>
        </p:txBody>
      </p:sp>
      <p:sp>
        <p:nvSpPr>
          <p:cNvPr id="43" name="Shape 41"/>
          <p:cNvSpPr/>
          <p:nvPr/>
        </p:nvSpPr>
        <p:spPr>
          <a:xfrm>
            <a:off x="566928" y="5349240"/>
            <a:ext cx="11064240" cy="685800"/>
          </a:xfrm>
          <a:prstGeom prst="roundRect">
            <a:avLst>
              <a:gd name="adj" fmla="val 12000"/>
            </a:avLst>
          </a:prstGeom>
          <a:solidFill>
            <a:srgbClr val="12141A"/>
          </a:solidFill>
          <a:ln w="12700">
            <a:solidFill>
              <a:srgbClr val="2A2A35"/>
            </a:solidFill>
            <a:prstDash val="solid"/>
          </a:ln>
        </p:spPr>
      </p:sp>
      <p:sp>
        <p:nvSpPr>
          <p:cNvPr id="44" name="Text 42"/>
          <p:cNvSpPr/>
          <p:nvPr/>
        </p:nvSpPr>
        <p:spPr>
          <a:xfrm>
            <a:off x="822960" y="5349240"/>
            <a:ext cx="10515600" cy="685800"/>
          </a:xfrm>
          <a:prstGeom prst="rect">
            <a:avLst/>
          </a:prstGeom>
          <a:noFill/>
          <a:ln/>
        </p:spPr>
        <p:txBody>
          <a:bodyPr wrap="square" lIns="0" tIns="0" rIns="0" bIns="0" rtlCol="0" anchor="ctr"/>
          <a:lstStyle/>
          <a:p>
            <a:pPr indent="0" marL="0">
              <a:buNone/>
            </a:pPr>
            <a:r>
              <a:rPr lang="en-US" sz="1050" b="1" spc="200" kern="0" dirty="0">
                <a:solidFill>
                  <a:srgbClr val="FFC62A"/>
                </a:solidFill>
                <a:latin typeface="Bahnschrift" pitchFamily="34" charset="0"/>
                <a:ea typeface="Bahnschrift" pitchFamily="34" charset="-122"/>
                <a:cs typeface="Bahnschrift" pitchFamily="34" charset="-120"/>
              </a:rPr>
              <a:t>STACK SNAPSHOT  </a:t>
            </a:r>
            <a:pPr indent="0" marL="0">
              <a:buNone/>
            </a:pPr>
            <a:r>
              <a:rPr lang="en-US" sz="1050" dirty="0">
                <a:solidFill>
                  <a:srgbClr val="9A97A6"/>
                </a:solidFill>
              </a:rPr>
              <a:t>Next.js 16 · TypeScript · Tailwind v4 · Stockfish 18 · Drizzle ORM + PostgreSQL · BullMQ + Redis · Claude / DeepSeek</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B0B0F"/>
        </a:solidFill>
      </p:bgPr>
    </p:bg>
    <p:spTree>
      <p:nvGrpSpPr>
        <p:cNvPr id="1" name=""/>
        <p:cNvGrpSpPr/>
        <p:nvPr/>
      </p:nvGrpSpPr>
      <p:grpSpPr>
        <a:xfrm>
          <a:off x="0" y="0"/>
          <a:ext cx="0" cy="0"/>
          <a:chOff x="0" y="0"/>
          <a:chExt cx="0" cy="0"/>
        </a:xfrm>
      </p:grpSpPr>
      <p:sp>
        <p:nvSpPr>
          <p:cNvPr id="2" name="Shape 0"/>
          <p:cNvSpPr/>
          <p:nvPr/>
        </p:nvSpPr>
        <p:spPr>
          <a:xfrm>
            <a:off x="676656" y="365760"/>
            <a:ext cx="219456" cy="219456"/>
          </a:xfrm>
          <a:prstGeom prst="rect">
            <a:avLst/>
          </a:prstGeom>
          <a:solidFill>
            <a:srgbClr val="101015"/>
          </a:solidFill>
          <a:ln/>
        </p:spPr>
      </p:sp>
      <p:sp>
        <p:nvSpPr>
          <p:cNvPr id="3" name="Shape 1"/>
          <p:cNvSpPr/>
          <p:nvPr/>
        </p:nvSpPr>
        <p:spPr>
          <a:xfrm>
            <a:off x="1115568" y="365760"/>
            <a:ext cx="219456" cy="219456"/>
          </a:xfrm>
          <a:prstGeom prst="rect">
            <a:avLst/>
          </a:prstGeom>
          <a:solidFill>
            <a:srgbClr val="101015"/>
          </a:solidFill>
          <a:ln/>
        </p:spPr>
      </p:sp>
      <p:sp>
        <p:nvSpPr>
          <p:cNvPr id="4" name="Shape 2"/>
          <p:cNvSpPr/>
          <p:nvPr/>
        </p:nvSpPr>
        <p:spPr>
          <a:xfrm>
            <a:off x="1554480" y="365760"/>
            <a:ext cx="219456" cy="219456"/>
          </a:xfrm>
          <a:prstGeom prst="rect">
            <a:avLst/>
          </a:prstGeom>
          <a:solidFill>
            <a:srgbClr val="101015"/>
          </a:solidFill>
          <a:ln/>
        </p:spPr>
      </p:sp>
      <p:sp>
        <p:nvSpPr>
          <p:cNvPr id="5" name="Shape 3"/>
          <p:cNvSpPr/>
          <p:nvPr/>
        </p:nvSpPr>
        <p:spPr>
          <a:xfrm>
            <a:off x="1993392" y="365760"/>
            <a:ext cx="219456" cy="219456"/>
          </a:xfrm>
          <a:prstGeom prst="rect">
            <a:avLst/>
          </a:prstGeom>
          <a:solidFill>
            <a:srgbClr val="101015"/>
          </a:solidFill>
          <a:ln/>
        </p:spPr>
      </p:sp>
      <p:sp>
        <p:nvSpPr>
          <p:cNvPr id="6" name="Shape 4"/>
          <p:cNvSpPr/>
          <p:nvPr/>
        </p:nvSpPr>
        <p:spPr>
          <a:xfrm>
            <a:off x="2432304" y="365760"/>
            <a:ext cx="219456" cy="219456"/>
          </a:xfrm>
          <a:prstGeom prst="rect">
            <a:avLst/>
          </a:prstGeom>
          <a:solidFill>
            <a:srgbClr val="101015"/>
          </a:solidFill>
          <a:ln/>
        </p:spPr>
      </p:sp>
      <p:sp>
        <p:nvSpPr>
          <p:cNvPr id="7" name="Shape 5"/>
          <p:cNvSpPr/>
          <p:nvPr/>
        </p:nvSpPr>
        <p:spPr>
          <a:xfrm>
            <a:off x="2871216" y="365760"/>
            <a:ext cx="219456" cy="219456"/>
          </a:xfrm>
          <a:prstGeom prst="rect">
            <a:avLst/>
          </a:prstGeom>
          <a:solidFill>
            <a:srgbClr val="101015"/>
          </a:solidFill>
          <a:ln/>
        </p:spPr>
      </p:sp>
      <p:sp>
        <p:nvSpPr>
          <p:cNvPr id="8" name="Shape 6"/>
          <p:cNvSpPr/>
          <p:nvPr/>
        </p:nvSpPr>
        <p:spPr>
          <a:xfrm>
            <a:off x="3310128" y="365760"/>
            <a:ext cx="219456" cy="219456"/>
          </a:xfrm>
          <a:prstGeom prst="rect">
            <a:avLst/>
          </a:prstGeom>
          <a:solidFill>
            <a:srgbClr val="101015"/>
          </a:solidFill>
          <a:ln/>
        </p:spPr>
      </p:sp>
      <p:sp>
        <p:nvSpPr>
          <p:cNvPr id="9" name="Shape 7"/>
          <p:cNvSpPr/>
          <p:nvPr/>
        </p:nvSpPr>
        <p:spPr>
          <a:xfrm>
            <a:off x="457200" y="585216"/>
            <a:ext cx="219456" cy="219456"/>
          </a:xfrm>
          <a:prstGeom prst="rect">
            <a:avLst/>
          </a:prstGeom>
          <a:solidFill>
            <a:srgbClr val="101015"/>
          </a:solidFill>
          <a:ln/>
        </p:spPr>
      </p:sp>
      <p:sp>
        <p:nvSpPr>
          <p:cNvPr id="10" name="Shape 8"/>
          <p:cNvSpPr/>
          <p:nvPr/>
        </p:nvSpPr>
        <p:spPr>
          <a:xfrm>
            <a:off x="896112" y="585216"/>
            <a:ext cx="219456" cy="219456"/>
          </a:xfrm>
          <a:prstGeom prst="rect">
            <a:avLst/>
          </a:prstGeom>
          <a:solidFill>
            <a:srgbClr val="101015"/>
          </a:solidFill>
          <a:ln/>
        </p:spPr>
      </p:sp>
      <p:sp>
        <p:nvSpPr>
          <p:cNvPr id="11" name="Shape 9"/>
          <p:cNvSpPr/>
          <p:nvPr/>
        </p:nvSpPr>
        <p:spPr>
          <a:xfrm>
            <a:off x="1335024" y="585216"/>
            <a:ext cx="219456" cy="219456"/>
          </a:xfrm>
          <a:prstGeom prst="rect">
            <a:avLst/>
          </a:prstGeom>
          <a:solidFill>
            <a:srgbClr val="101015"/>
          </a:solidFill>
          <a:ln/>
        </p:spPr>
      </p:sp>
      <p:sp>
        <p:nvSpPr>
          <p:cNvPr id="12" name="Shape 10"/>
          <p:cNvSpPr/>
          <p:nvPr/>
        </p:nvSpPr>
        <p:spPr>
          <a:xfrm>
            <a:off x="1773936" y="585216"/>
            <a:ext cx="219456" cy="219456"/>
          </a:xfrm>
          <a:prstGeom prst="rect">
            <a:avLst/>
          </a:prstGeom>
          <a:solidFill>
            <a:srgbClr val="101015"/>
          </a:solidFill>
          <a:ln/>
        </p:spPr>
      </p:sp>
      <p:sp>
        <p:nvSpPr>
          <p:cNvPr id="13" name="Shape 11"/>
          <p:cNvSpPr/>
          <p:nvPr/>
        </p:nvSpPr>
        <p:spPr>
          <a:xfrm>
            <a:off x="2212848" y="585216"/>
            <a:ext cx="219456" cy="219456"/>
          </a:xfrm>
          <a:prstGeom prst="rect">
            <a:avLst/>
          </a:prstGeom>
          <a:solidFill>
            <a:srgbClr val="101015"/>
          </a:solidFill>
          <a:ln/>
        </p:spPr>
      </p:sp>
      <p:sp>
        <p:nvSpPr>
          <p:cNvPr id="14" name="Shape 12"/>
          <p:cNvSpPr/>
          <p:nvPr/>
        </p:nvSpPr>
        <p:spPr>
          <a:xfrm>
            <a:off x="2651760" y="585216"/>
            <a:ext cx="219456" cy="219456"/>
          </a:xfrm>
          <a:prstGeom prst="rect">
            <a:avLst/>
          </a:prstGeom>
          <a:solidFill>
            <a:srgbClr val="101015"/>
          </a:solidFill>
          <a:ln/>
        </p:spPr>
      </p:sp>
      <p:sp>
        <p:nvSpPr>
          <p:cNvPr id="15" name="Shape 13"/>
          <p:cNvSpPr/>
          <p:nvPr/>
        </p:nvSpPr>
        <p:spPr>
          <a:xfrm>
            <a:off x="3090672" y="585216"/>
            <a:ext cx="219456" cy="219456"/>
          </a:xfrm>
          <a:prstGeom prst="rect">
            <a:avLst/>
          </a:prstGeom>
          <a:solidFill>
            <a:srgbClr val="101015"/>
          </a:solidFill>
          <a:ln/>
        </p:spPr>
      </p:sp>
      <p:sp>
        <p:nvSpPr>
          <p:cNvPr id="16" name="Shape 14"/>
          <p:cNvSpPr/>
          <p:nvPr/>
        </p:nvSpPr>
        <p:spPr>
          <a:xfrm>
            <a:off x="676656" y="804672"/>
            <a:ext cx="219456" cy="219456"/>
          </a:xfrm>
          <a:prstGeom prst="rect">
            <a:avLst/>
          </a:prstGeom>
          <a:solidFill>
            <a:srgbClr val="101015"/>
          </a:solidFill>
          <a:ln/>
        </p:spPr>
      </p:sp>
      <p:sp>
        <p:nvSpPr>
          <p:cNvPr id="17" name="Shape 15"/>
          <p:cNvSpPr/>
          <p:nvPr/>
        </p:nvSpPr>
        <p:spPr>
          <a:xfrm>
            <a:off x="1115568" y="804672"/>
            <a:ext cx="219456" cy="219456"/>
          </a:xfrm>
          <a:prstGeom prst="rect">
            <a:avLst/>
          </a:prstGeom>
          <a:solidFill>
            <a:srgbClr val="101015"/>
          </a:solidFill>
          <a:ln/>
        </p:spPr>
      </p:sp>
      <p:sp>
        <p:nvSpPr>
          <p:cNvPr id="18" name="Shape 16"/>
          <p:cNvSpPr/>
          <p:nvPr/>
        </p:nvSpPr>
        <p:spPr>
          <a:xfrm>
            <a:off x="1554480" y="804672"/>
            <a:ext cx="219456" cy="219456"/>
          </a:xfrm>
          <a:prstGeom prst="rect">
            <a:avLst/>
          </a:prstGeom>
          <a:solidFill>
            <a:srgbClr val="101015"/>
          </a:solidFill>
          <a:ln/>
        </p:spPr>
      </p:sp>
      <p:sp>
        <p:nvSpPr>
          <p:cNvPr id="19" name="Shape 17"/>
          <p:cNvSpPr/>
          <p:nvPr/>
        </p:nvSpPr>
        <p:spPr>
          <a:xfrm>
            <a:off x="1993392" y="804672"/>
            <a:ext cx="219456" cy="219456"/>
          </a:xfrm>
          <a:prstGeom prst="rect">
            <a:avLst/>
          </a:prstGeom>
          <a:solidFill>
            <a:srgbClr val="101015"/>
          </a:solidFill>
          <a:ln/>
        </p:spPr>
      </p:sp>
      <p:sp>
        <p:nvSpPr>
          <p:cNvPr id="20" name="Shape 18"/>
          <p:cNvSpPr/>
          <p:nvPr/>
        </p:nvSpPr>
        <p:spPr>
          <a:xfrm>
            <a:off x="2432304" y="804672"/>
            <a:ext cx="219456" cy="219456"/>
          </a:xfrm>
          <a:prstGeom prst="rect">
            <a:avLst/>
          </a:prstGeom>
          <a:solidFill>
            <a:srgbClr val="101015"/>
          </a:solidFill>
          <a:ln/>
        </p:spPr>
      </p:sp>
      <p:sp>
        <p:nvSpPr>
          <p:cNvPr id="21" name="Shape 19"/>
          <p:cNvSpPr/>
          <p:nvPr/>
        </p:nvSpPr>
        <p:spPr>
          <a:xfrm>
            <a:off x="2871216" y="804672"/>
            <a:ext cx="219456" cy="219456"/>
          </a:xfrm>
          <a:prstGeom prst="rect">
            <a:avLst/>
          </a:prstGeom>
          <a:solidFill>
            <a:srgbClr val="101015"/>
          </a:solidFill>
          <a:ln/>
        </p:spPr>
      </p:sp>
      <p:sp>
        <p:nvSpPr>
          <p:cNvPr id="22" name="Shape 20"/>
          <p:cNvSpPr/>
          <p:nvPr/>
        </p:nvSpPr>
        <p:spPr>
          <a:xfrm>
            <a:off x="3310128" y="804672"/>
            <a:ext cx="219456" cy="219456"/>
          </a:xfrm>
          <a:prstGeom prst="rect">
            <a:avLst/>
          </a:prstGeom>
          <a:solidFill>
            <a:srgbClr val="101015"/>
          </a:solidFill>
          <a:ln/>
        </p:spPr>
      </p:sp>
      <p:sp>
        <p:nvSpPr>
          <p:cNvPr id="23" name="Shape 21"/>
          <p:cNvSpPr/>
          <p:nvPr/>
        </p:nvSpPr>
        <p:spPr>
          <a:xfrm>
            <a:off x="457200" y="1024128"/>
            <a:ext cx="219456" cy="219456"/>
          </a:xfrm>
          <a:prstGeom prst="rect">
            <a:avLst/>
          </a:prstGeom>
          <a:solidFill>
            <a:srgbClr val="101015"/>
          </a:solidFill>
          <a:ln/>
        </p:spPr>
      </p:sp>
      <p:sp>
        <p:nvSpPr>
          <p:cNvPr id="24" name="Shape 22"/>
          <p:cNvSpPr/>
          <p:nvPr/>
        </p:nvSpPr>
        <p:spPr>
          <a:xfrm>
            <a:off x="896112" y="1024128"/>
            <a:ext cx="219456" cy="219456"/>
          </a:xfrm>
          <a:prstGeom prst="rect">
            <a:avLst/>
          </a:prstGeom>
          <a:solidFill>
            <a:srgbClr val="101015"/>
          </a:solidFill>
          <a:ln/>
        </p:spPr>
      </p:sp>
      <p:sp>
        <p:nvSpPr>
          <p:cNvPr id="25" name="Shape 23"/>
          <p:cNvSpPr/>
          <p:nvPr/>
        </p:nvSpPr>
        <p:spPr>
          <a:xfrm>
            <a:off x="1335024" y="1024128"/>
            <a:ext cx="219456" cy="219456"/>
          </a:xfrm>
          <a:prstGeom prst="rect">
            <a:avLst/>
          </a:prstGeom>
          <a:solidFill>
            <a:srgbClr val="101015"/>
          </a:solidFill>
          <a:ln/>
        </p:spPr>
      </p:sp>
      <p:sp>
        <p:nvSpPr>
          <p:cNvPr id="26" name="Shape 24"/>
          <p:cNvSpPr/>
          <p:nvPr/>
        </p:nvSpPr>
        <p:spPr>
          <a:xfrm>
            <a:off x="1773936" y="1024128"/>
            <a:ext cx="219456" cy="219456"/>
          </a:xfrm>
          <a:prstGeom prst="rect">
            <a:avLst/>
          </a:prstGeom>
          <a:solidFill>
            <a:srgbClr val="101015"/>
          </a:solidFill>
          <a:ln/>
        </p:spPr>
      </p:sp>
      <p:sp>
        <p:nvSpPr>
          <p:cNvPr id="27" name="Shape 25"/>
          <p:cNvSpPr/>
          <p:nvPr/>
        </p:nvSpPr>
        <p:spPr>
          <a:xfrm>
            <a:off x="2212848" y="1024128"/>
            <a:ext cx="219456" cy="219456"/>
          </a:xfrm>
          <a:prstGeom prst="rect">
            <a:avLst/>
          </a:prstGeom>
          <a:solidFill>
            <a:srgbClr val="101015"/>
          </a:solidFill>
          <a:ln/>
        </p:spPr>
      </p:sp>
      <p:sp>
        <p:nvSpPr>
          <p:cNvPr id="28" name="Shape 26"/>
          <p:cNvSpPr/>
          <p:nvPr/>
        </p:nvSpPr>
        <p:spPr>
          <a:xfrm>
            <a:off x="2651760" y="1024128"/>
            <a:ext cx="219456" cy="219456"/>
          </a:xfrm>
          <a:prstGeom prst="rect">
            <a:avLst/>
          </a:prstGeom>
          <a:solidFill>
            <a:srgbClr val="101015"/>
          </a:solidFill>
          <a:ln/>
        </p:spPr>
      </p:sp>
      <p:sp>
        <p:nvSpPr>
          <p:cNvPr id="29" name="Shape 27"/>
          <p:cNvSpPr/>
          <p:nvPr/>
        </p:nvSpPr>
        <p:spPr>
          <a:xfrm>
            <a:off x="3090672" y="1024128"/>
            <a:ext cx="219456" cy="219456"/>
          </a:xfrm>
          <a:prstGeom prst="rect">
            <a:avLst/>
          </a:prstGeom>
          <a:solidFill>
            <a:srgbClr val="101015"/>
          </a:solidFill>
          <a:ln/>
        </p:spPr>
      </p:sp>
      <p:sp>
        <p:nvSpPr>
          <p:cNvPr id="30" name="Shape 28"/>
          <p:cNvSpPr/>
          <p:nvPr/>
        </p:nvSpPr>
        <p:spPr>
          <a:xfrm>
            <a:off x="676656" y="1243584"/>
            <a:ext cx="219456" cy="219456"/>
          </a:xfrm>
          <a:prstGeom prst="rect">
            <a:avLst/>
          </a:prstGeom>
          <a:solidFill>
            <a:srgbClr val="101015"/>
          </a:solidFill>
          <a:ln/>
        </p:spPr>
      </p:sp>
      <p:sp>
        <p:nvSpPr>
          <p:cNvPr id="31" name="Shape 29"/>
          <p:cNvSpPr/>
          <p:nvPr/>
        </p:nvSpPr>
        <p:spPr>
          <a:xfrm>
            <a:off x="1115568" y="1243584"/>
            <a:ext cx="219456" cy="219456"/>
          </a:xfrm>
          <a:prstGeom prst="rect">
            <a:avLst/>
          </a:prstGeom>
          <a:solidFill>
            <a:srgbClr val="101015"/>
          </a:solidFill>
          <a:ln/>
        </p:spPr>
      </p:sp>
      <p:sp>
        <p:nvSpPr>
          <p:cNvPr id="32" name="Shape 30"/>
          <p:cNvSpPr/>
          <p:nvPr/>
        </p:nvSpPr>
        <p:spPr>
          <a:xfrm>
            <a:off x="1554480" y="1243584"/>
            <a:ext cx="219456" cy="219456"/>
          </a:xfrm>
          <a:prstGeom prst="rect">
            <a:avLst/>
          </a:prstGeom>
          <a:solidFill>
            <a:srgbClr val="101015"/>
          </a:solidFill>
          <a:ln/>
        </p:spPr>
      </p:sp>
      <p:sp>
        <p:nvSpPr>
          <p:cNvPr id="33" name="Shape 31"/>
          <p:cNvSpPr/>
          <p:nvPr/>
        </p:nvSpPr>
        <p:spPr>
          <a:xfrm>
            <a:off x="1993392" y="1243584"/>
            <a:ext cx="219456" cy="219456"/>
          </a:xfrm>
          <a:prstGeom prst="rect">
            <a:avLst/>
          </a:prstGeom>
          <a:solidFill>
            <a:srgbClr val="101015"/>
          </a:solidFill>
          <a:ln/>
        </p:spPr>
      </p:sp>
      <p:sp>
        <p:nvSpPr>
          <p:cNvPr id="34" name="Shape 32"/>
          <p:cNvSpPr/>
          <p:nvPr/>
        </p:nvSpPr>
        <p:spPr>
          <a:xfrm>
            <a:off x="2432304" y="1243584"/>
            <a:ext cx="219456" cy="219456"/>
          </a:xfrm>
          <a:prstGeom prst="rect">
            <a:avLst/>
          </a:prstGeom>
          <a:solidFill>
            <a:srgbClr val="101015"/>
          </a:solidFill>
          <a:ln/>
        </p:spPr>
      </p:sp>
      <p:sp>
        <p:nvSpPr>
          <p:cNvPr id="35" name="Shape 33"/>
          <p:cNvSpPr/>
          <p:nvPr/>
        </p:nvSpPr>
        <p:spPr>
          <a:xfrm>
            <a:off x="2871216" y="1243584"/>
            <a:ext cx="219456" cy="219456"/>
          </a:xfrm>
          <a:prstGeom prst="rect">
            <a:avLst/>
          </a:prstGeom>
          <a:solidFill>
            <a:srgbClr val="101015"/>
          </a:solidFill>
          <a:ln/>
        </p:spPr>
      </p:sp>
      <p:sp>
        <p:nvSpPr>
          <p:cNvPr id="36" name="Shape 34"/>
          <p:cNvSpPr/>
          <p:nvPr/>
        </p:nvSpPr>
        <p:spPr>
          <a:xfrm>
            <a:off x="3310128" y="1243584"/>
            <a:ext cx="219456" cy="219456"/>
          </a:xfrm>
          <a:prstGeom prst="rect">
            <a:avLst/>
          </a:prstGeom>
          <a:solidFill>
            <a:srgbClr val="101015"/>
          </a:solidFill>
          <a:ln/>
        </p:spPr>
      </p:sp>
      <p:sp>
        <p:nvSpPr>
          <p:cNvPr id="37" name="Shape 35"/>
          <p:cNvSpPr/>
          <p:nvPr/>
        </p:nvSpPr>
        <p:spPr>
          <a:xfrm>
            <a:off x="457200" y="1463040"/>
            <a:ext cx="219456" cy="219456"/>
          </a:xfrm>
          <a:prstGeom prst="rect">
            <a:avLst/>
          </a:prstGeom>
          <a:solidFill>
            <a:srgbClr val="101015"/>
          </a:solidFill>
          <a:ln/>
        </p:spPr>
      </p:sp>
      <p:sp>
        <p:nvSpPr>
          <p:cNvPr id="38" name="Shape 36"/>
          <p:cNvSpPr/>
          <p:nvPr/>
        </p:nvSpPr>
        <p:spPr>
          <a:xfrm>
            <a:off x="896112" y="1463040"/>
            <a:ext cx="219456" cy="219456"/>
          </a:xfrm>
          <a:prstGeom prst="rect">
            <a:avLst/>
          </a:prstGeom>
          <a:solidFill>
            <a:srgbClr val="101015"/>
          </a:solidFill>
          <a:ln/>
        </p:spPr>
      </p:sp>
      <p:sp>
        <p:nvSpPr>
          <p:cNvPr id="39" name="Shape 37"/>
          <p:cNvSpPr/>
          <p:nvPr/>
        </p:nvSpPr>
        <p:spPr>
          <a:xfrm>
            <a:off x="1335024" y="1463040"/>
            <a:ext cx="219456" cy="219456"/>
          </a:xfrm>
          <a:prstGeom prst="rect">
            <a:avLst/>
          </a:prstGeom>
          <a:solidFill>
            <a:srgbClr val="101015"/>
          </a:solidFill>
          <a:ln/>
        </p:spPr>
      </p:sp>
      <p:sp>
        <p:nvSpPr>
          <p:cNvPr id="40" name="Shape 38"/>
          <p:cNvSpPr/>
          <p:nvPr/>
        </p:nvSpPr>
        <p:spPr>
          <a:xfrm>
            <a:off x="1773936" y="1463040"/>
            <a:ext cx="219456" cy="219456"/>
          </a:xfrm>
          <a:prstGeom prst="rect">
            <a:avLst/>
          </a:prstGeom>
          <a:solidFill>
            <a:srgbClr val="101015"/>
          </a:solidFill>
          <a:ln/>
        </p:spPr>
      </p:sp>
      <p:sp>
        <p:nvSpPr>
          <p:cNvPr id="41" name="Shape 39"/>
          <p:cNvSpPr/>
          <p:nvPr/>
        </p:nvSpPr>
        <p:spPr>
          <a:xfrm>
            <a:off x="2212848" y="1463040"/>
            <a:ext cx="219456" cy="219456"/>
          </a:xfrm>
          <a:prstGeom prst="rect">
            <a:avLst/>
          </a:prstGeom>
          <a:solidFill>
            <a:srgbClr val="101015"/>
          </a:solidFill>
          <a:ln/>
        </p:spPr>
      </p:sp>
      <p:sp>
        <p:nvSpPr>
          <p:cNvPr id="42" name="Shape 40"/>
          <p:cNvSpPr/>
          <p:nvPr/>
        </p:nvSpPr>
        <p:spPr>
          <a:xfrm>
            <a:off x="2651760" y="1463040"/>
            <a:ext cx="219456" cy="219456"/>
          </a:xfrm>
          <a:prstGeom prst="rect">
            <a:avLst/>
          </a:prstGeom>
          <a:solidFill>
            <a:srgbClr val="101015"/>
          </a:solidFill>
          <a:ln/>
        </p:spPr>
      </p:sp>
      <p:sp>
        <p:nvSpPr>
          <p:cNvPr id="43" name="Shape 41"/>
          <p:cNvSpPr/>
          <p:nvPr/>
        </p:nvSpPr>
        <p:spPr>
          <a:xfrm>
            <a:off x="3090672" y="1463040"/>
            <a:ext cx="219456" cy="219456"/>
          </a:xfrm>
          <a:prstGeom prst="rect">
            <a:avLst/>
          </a:prstGeom>
          <a:solidFill>
            <a:srgbClr val="101015"/>
          </a:solidFill>
          <a:ln/>
        </p:spPr>
      </p:sp>
      <p:sp>
        <p:nvSpPr>
          <p:cNvPr id="44" name="Shape 42"/>
          <p:cNvSpPr/>
          <p:nvPr/>
        </p:nvSpPr>
        <p:spPr>
          <a:xfrm>
            <a:off x="676656" y="1682496"/>
            <a:ext cx="219456" cy="219456"/>
          </a:xfrm>
          <a:prstGeom prst="rect">
            <a:avLst/>
          </a:prstGeom>
          <a:solidFill>
            <a:srgbClr val="101015"/>
          </a:solidFill>
          <a:ln/>
        </p:spPr>
      </p:sp>
      <p:sp>
        <p:nvSpPr>
          <p:cNvPr id="45" name="Shape 43"/>
          <p:cNvSpPr/>
          <p:nvPr/>
        </p:nvSpPr>
        <p:spPr>
          <a:xfrm>
            <a:off x="1115568" y="1682496"/>
            <a:ext cx="219456" cy="219456"/>
          </a:xfrm>
          <a:prstGeom prst="rect">
            <a:avLst/>
          </a:prstGeom>
          <a:solidFill>
            <a:srgbClr val="101015"/>
          </a:solidFill>
          <a:ln/>
        </p:spPr>
      </p:sp>
      <p:sp>
        <p:nvSpPr>
          <p:cNvPr id="46" name="Shape 44"/>
          <p:cNvSpPr/>
          <p:nvPr/>
        </p:nvSpPr>
        <p:spPr>
          <a:xfrm>
            <a:off x="1554480" y="1682496"/>
            <a:ext cx="219456" cy="219456"/>
          </a:xfrm>
          <a:prstGeom prst="rect">
            <a:avLst/>
          </a:prstGeom>
          <a:solidFill>
            <a:srgbClr val="101015"/>
          </a:solidFill>
          <a:ln/>
        </p:spPr>
      </p:sp>
      <p:sp>
        <p:nvSpPr>
          <p:cNvPr id="47" name="Shape 45"/>
          <p:cNvSpPr/>
          <p:nvPr/>
        </p:nvSpPr>
        <p:spPr>
          <a:xfrm>
            <a:off x="1993392" y="1682496"/>
            <a:ext cx="219456" cy="219456"/>
          </a:xfrm>
          <a:prstGeom prst="rect">
            <a:avLst/>
          </a:prstGeom>
          <a:solidFill>
            <a:srgbClr val="101015"/>
          </a:solidFill>
          <a:ln/>
        </p:spPr>
      </p:sp>
      <p:sp>
        <p:nvSpPr>
          <p:cNvPr id="48" name="Shape 46"/>
          <p:cNvSpPr/>
          <p:nvPr/>
        </p:nvSpPr>
        <p:spPr>
          <a:xfrm>
            <a:off x="2432304" y="1682496"/>
            <a:ext cx="219456" cy="219456"/>
          </a:xfrm>
          <a:prstGeom prst="rect">
            <a:avLst/>
          </a:prstGeom>
          <a:solidFill>
            <a:srgbClr val="101015"/>
          </a:solidFill>
          <a:ln/>
        </p:spPr>
      </p:sp>
      <p:sp>
        <p:nvSpPr>
          <p:cNvPr id="49" name="Shape 47"/>
          <p:cNvSpPr/>
          <p:nvPr/>
        </p:nvSpPr>
        <p:spPr>
          <a:xfrm>
            <a:off x="2871216" y="1682496"/>
            <a:ext cx="219456" cy="219456"/>
          </a:xfrm>
          <a:prstGeom prst="rect">
            <a:avLst/>
          </a:prstGeom>
          <a:solidFill>
            <a:srgbClr val="101015"/>
          </a:solidFill>
          <a:ln/>
        </p:spPr>
      </p:sp>
      <p:sp>
        <p:nvSpPr>
          <p:cNvPr id="50" name="Shape 48"/>
          <p:cNvSpPr/>
          <p:nvPr/>
        </p:nvSpPr>
        <p:spPr>
          <a:xfrm>
            <a:off x="3310128" y="1682496"/>
            <a:ext cx="219456" cy="219456"/>
          </a:xfrm>
          <a:prstGeom prst="rect">
            <a:avLst/>
          </a:prstGeom>
          <a:solidFill>
            <a:srgbClr val="101015"/>
          </a:solidFill>
          <a:ln/>
        </p:spPr>
      </p:sp>
      <p:sp>
        <p:nvSpPr>
          <p:cNvPr id="51" name="Shape 49"/>
          <p:cNvSpPr/>
          <p:nvPr/>
        </p:nvSpPr>
        <p:spPr>
          <a:xfrm>
            <a:off x="457200" y="1901952"/>
            <a:ext cx="219456" cy="219456"/>
          </a:xfrm>
          <a:prstGeom prst="rect">
            <a:avLst/>
          </a:prstGeom>
          <a:solidFill>
            <a:srgbClr val="101015"/>
          </a:solidFill>
          <a:ln/>
        </p:spPr>
      </p:sp>
      <p:sp>
        <p:nvSpPr>
          <p:cNvPr id="52" name="Shape 50"/>
          <p:cNvSpPr/>
          <p:nvPr/>
        </p:nvSpPr>
        <p:spPr>
          <a:xfrm>
            <a:off x="896112" y="1901952"/>
            <a:ext cx="219456" cy="219456"/>
          </a:xfrm>
          <a:prstGeom prst="rect">
            <a:avLst/>
          </a:prstGeom>
          <a:solidFill>
            <a:srgbClr val="101015"/>
          </a:solidFill>
          <a:ln/>
        </p:spPr>
      </p:sp>
      <p:sp>
        <p:nvSpPr>
          <p:cNvPr id="53" name="Shape 51"/>
          <p:cNvSpPr/>
          <p:nvPr/>
        </p:nvSpPr>
        <p:spPr>
          <a:xfrm>
            <a:off x="1335024" y="1901952"/>
            <a:ext cx="219456" cy="219456"/>
          </a:xfrm>
          <a:prstGeom prst="rect">
            <a:avLst/>
          </a:prstGeom>
          <a:solidFill>
            <a:srgbClr val="101015"/>
          </a:solidFill>
          <a:ln/>
        </p:spPr>
      </p:sp>
      <p:sp>
        <p:nvSpPr>
          <p:cNvPr id="54" name="Shape 52"/>
          <p:cNvSpPr/>
          <p:nvPr/>
        </p:nvSpPr>
        <p:spPr>
          <a:xfrm>
            <a:off x="1773936" y="1901952"/>
            <a:ext cx="219456" cy="219456"/>
          </a:xfrm>
          <a:prstGeom prst="rect">
            <a:avLst/>
          </a:prstGeom>
          <a:solidFill>
            <a:srgbClr val="101015"/>
          </a:solidFill>
          <a:ln/>
        </p:spPr>
      </p:sp>
      <p:sp>
        <p:nvSpPr>
          <p:cNvPr id="55" name="Shape 53"/>
          <p:cNvSpPr/>
          <p:nvPr/>
        </p:nvSpPr>
        <p:spPr>
          <a:xfrm>
            <a:off x="2212848" y="1901952"/>
            <a:ext cx="219456" cy="219456"/>
          </a:xfrm>
          <a:prstGeom prst="rect">
            <a:avLst/>
          </a:prstGeom>
          <a:solidFill>
            <a:srgbClr val="101015"/>
          </a:solidFill>
          <a:ln/>
        </p:spPr>
      </p:sp>
      <p:sp>
        <p:nvSpPr>
          <p:cNvPr id="56" name="Shape 54"/>
          <p:cNvSpPr/>
          <p:nvPr/>
        </p:nvSpPr>
        <p:spPr>
          <a:xfrm>
            <a:off x="2651760" y="1901952"/>
            <a:ext cx="219456" cy="219456"/>
          </a:xfrm>
          <a:prstGeom prst="rect">
            <a:avLst/>
          </a:prstGeom>
          <a:solidFill>
            <a:srgbClr val="101015"/>
          </a:solidFill>
          <a:ln/>
        </p:spPr>
      </p:sp>
      <p:sp>
        <p:nvSpPr>
          <p:cNvPr id="57" name="Shape 55"/>
          <p:cNvSpPr/>
          <p:nvPr/>
        </p:nvSpPr>
        <p:spPr>
          <a:xfrm>
            <a:off x="3090672" y="1901952"/>
            <a:ext cx="219456" cy="219456"/>
          </a:xfrm>
          <a:prstGeom prst="rect">
            <a:avLst/>
          </a:prstGeom>
          <a:solidFill>
            <a:srgbClr val="101015"/>
          </a:solidFill>
          <a:ln/>
        </p:spPr>
      </p:sp>
      <p:sp>
        <p:nvSpPr>
          <p:cNvPr id="58" name="Shape 56"/>
          <p:cNvSpPr/>
          <p:nvPr/>
        </p:nvSpPr>
        <p:spPr>
          <a:xfrm>
            <a:off x="676656" y="2121408"/>
            <a:ext cx="219456" cy="219456"/>
          </a:xfrm>
          <a:prstGeom prst="rect">
            <a:avLst/>
          </a:prstGeom>
          <a:solidFill>
            <a:srgbClr val="101015"/>
          </a:solidFill>
          <a:ln/>
        </p:spPr>
      </p:sp>
      <p:sp>
        <p:nvSpPr>
          <p:cNvPr id="59" name="Shape 57"/>
          <p:cNvSpPr/>
          <p:nvPr/>
        </p:nvSpPr>
        <p:spPr>
          <a:xfrm>
            <a:off x="1115568" y="2121408"/>
            <a:ext cx="219456" cy="219456"/>
          </a:xfrm>
          <a:prstGeom prst="rect">
            <a:avLst/>
          </a:prstGeom>
          <a:solidFill>
            <a:srgbClr val="101015"/>
          </a:solidFill>
          <a:ln/>
        </p:spPr>
      </p:sp>
      <p:sp>
        <p:nvSpPr>
          <p:cNvPr id="60" name="Shape 58"/>
          <p:cNvSpPr/>
          <p:nvPr/>
        </p:nvSpPr>
        <p:spPr>
          <a:xfrm>
            <a:off x="1554480" y="2121408"/>
            <a:ext cx="219456" cy="219456"/>
          </a:xfrm>
          <a:prstGeom prst="rect">
            <a:avLst/>
          </a:prstGeom>
          <a:solidFill>
            <a:srgbClr val="101015"/>
          </a:solidFill>
          <a:ln/>
        </p:spPr>
      </p:sp>
      <p:sp>
        <p:nvSpPr>
          <p:cNvPr id="61" name="Shape 59"/>
          <p:cNvSpPr/>
          <p:nvPr/>
        </p:nvSpPr>
        <p:spPr>
          <a:xfrm>
            <a:off x="1993392" y="2121408"/>
            <a:ext cx="219456" cy="219456"/>
          </a:xfrm>
          <a:prstGeom prst="rect">
            <a:avLst/>
          </a:prstGeom>
          <a:solidFill>
            <a:srgbClr val="101015"/>
          </a:solidFill>
          <a:ln/>
        </p:spPr>
      </p:sp>
      <p:sp>
        <p:nvSpPr>
          <p:cNvPr id="62" name="Shape 60"/>
          <p:cNvSpPr/>
          <p:nvPr/>
        </p:nvSpPr>
        <p:spPr>
          <a:xfrm>
            <a:off x="2432304" y="2121408"/>
            <a:ext cx="219456" cy="219456"/>
          </a:xfrm>
          <a:prstGeom prst="rect">
            <a:avLst/>
          </a:prstGeom>
          <a:solidFill>
            <a:srgbClr val="101015"/>
          </a:solidFill>
          <a:ln/>
        </p:spPr>
      </p:sp>
      <p:sp>
        <p:nvSpPr>
          <p:cNvPr id="63" name="Shape 61"/>
          <p:cNvSpPr/>
          <p:nvPr/>
        </p:nvSpPr>
        <p:spPr>
          <a:xfrm>
            <a:off x="2871216" y="2121408"/>
            <a:ext cx="219456" cy="219456"/>
          </a:xfrm>
          <a:prstGeom prst="rect">
            <a:avLst/>
          </a:prstGeom>
          <a:solidFill>
            <a:srgbClr val="101015"/>
          </a:solidFill>
          <a:ln/>
        </p:spPr>
      </p:sp>
      <p:sp>
        <p:nvSpPr>
          <p:cNvPr id="64" name="Shape 62"/>
          <p:cNvSpPr/>
          <p:nvPr/>
        </p:nvSpPr>
        <p:spPr>
          <a:xfrm>
            <a:off x="3310128" y="2121408"/>
            <a:ext cx="219456" cy="219456"/>
          </a:xfrm>
          <a:prstGeom prst="rect">
            <a:avLst/>
          </a:prstGeom>
          <a:solidFill>
            <a:srgbClr val="101015"/>
          </a:solidFill>
          <a:ln/>
        </p:spPr>
      </p:sp>
      <p:sp>
        <p:nvSpPr>
          <p:cNvPr id="65" name="Shape 63"/>
          <p:cNvSpPr/>
          <p:nvPr/>
        </p:nvSpPr>
        <p:spPr>
          <a:xfrm>
            <a:off x="457200" y="2340864"/>
            <a:ext cx="219456" cy="219456"/>
          </a:xfrm>
          <a:prstGeom prst="rect">
            <a:avLst/>
          </a:prstGeom>
          <a:solidFill>
            <a:srgbClr val="101015"/>
          </a:solidFill>
          <a:ln/>
        </p:spPr>
      </p:sp>
      <p:sp>
        <p:nvSpPr>
          <p:cNvPr id="66" name="Shape 64"/>
          <p:cNvSpPr/>
          <p:nvPr/>
        </p:nvSpPr>
        <p:spPr>
          <a:xfrm>
            <a:off x="896112" y="2340864"/>
            <a:ext cx="219456" cy="219456"/>
          </a:xfrm>
          <a:prstGeom prst="rect">
            <a:avLst/>
          </a:prstGeom>
          <a:solidFill>
            <a:srgbClr val="101015"/>
          </a:solidFill>
          <a:ln/>
        </p:spPr>
      </p:sp>
      <p:sp>
        <p:nvSpPr>
          <p:cNvPr id="67" name="Shape 65"/>
          <p:cNvSpPr/>
          <p:nvPr/>
        </p:nvSpPr>
        <p:spPr>
          <a:xfrm>
            <a:off x="1335024" y="2340864"/>
            <a:ext cx="219456" cy="219456"/>
          </a:xfrm>
          <a:prstGeom prst="rect">
            <a:avLst/>
          </a:prstGeom>
          <a:solidFill>
            <a:srgbClr val="101015"/>
          </a:solidFill>
          <a:ln/>
        </p:spPr>
      </p:sp>
      <p:sp>
        <p:nvSpPr>
          <p:cNvPr id="68" name="Shape 66"/>
          <p:cNvSpPr/>
          <p:nvPr/>
        </p:nvSpPr>
        <p:spPr>
          <a:xfrm>
            <a:off x="1773936" y="2340864"/>
            <a:ext cx="219456" cy="219456"/>
          </a:xfrm>
          <a:prstGeom prst="rect">
            <a:avLst/>
          </a:prstGeom>
          <a:solidFill>
            <a:srgbClr val="101015"/>
          </a:solidFill>
          <a:ln/>
        </p:spPr>
      </p:sp>
      <p:sp>
        <p:nvSpPr>
          <p:cNvPr id="69" name="Shape 67"/>
          <p:cNvSpPr/>
          <p:nvPr/>
        </p:nvSpPr>
        <p:spPr>
          <a:xfrm>
            <a:off x="2212848" y="2340864"/>
            <a:ext cx="219456" cy="219456"/>
          </a:xfrm>
          <a:prstGeom prst="rect">
            <a:avLst/>
          </a:prstGeom>
          <a:solidFill>
            <a:srgbClr val="101015"/>
          </a:solidFill>
          <a:ln/>
        </p:spPr>
      </p:sp>
      <p:sp>
        <p:nvSpPr>
          <p:cNvPr id="70" name="Shape 68"/>
          <p:cNvSpPr/>
          <p:nvPr/>
        </p:nvSpPr>
        <p:spPr>
          <a:xfrm>
            <a:off x="2651760" y="2340864"/>
            <a:ext cx="219456" cy="219456"/>
          </a:xfrm>
          <a:prstGeom prst="rect">
            <a:avLst/>
          </a:prstGeom>
          <a:solidFill>
            <a:srgbClr val="101015"/>
          </a:solidFill>
          <a:ln/>
        </p:spPr>
      </p:sp>
      <p:sp>
        <p:nvSpPr>
          <p:cNvPr id="71" name="Shape 69"/>
          <p:cNvSpPr/>
          <p:nvPr/>
        </p:nvSpPr>
        <p:spPr>
          <a:xfrm>
            <a:off x="3090672" y="2340864"/>
            <a:ext cx="219456" cy="219456"/>
          </a:xfrm>
          <a:prstGeom prst="rect">
            <a:avLst/>
          </a:prstGeom>
          <a:solidFill>
            <a:srgbClr val="101015"/>
          </a:solidFill>
          <a:ln/>
        </p:spPr>
      </p:sp>
      <p:sp>
        <p:nvSpPr>
          <p:cNvPr id="72" name="Shape 70"/>
          <p:cNvSpPr/>
          <p:nvPr/>
        </p:nvSpPr>
        <p:spPr>
          <a:xfrm>
            <a:off x="4937760" y="822960"/>
            <a:ext cx="2286000" cy="2286000"/>
          </a:xfrm>
          <a:prstGeom prst="ellipse">
            <a:avLst/>
          </a:prstGeom>
          <a:solidFill>
            <a:srgbClr val="FFC62A">
              <a:alpha val="5000"/>
            </a:srgbClr>
          </a:solidFill>
          <a:ln/>
        </p:spPr>
      </p:sp>
      <p:sp>
        <p:nvSpPr>
          <p:cNvPr id="73" name="Shape 71"/>
          <p:cNvSpPr/>
          <p:nvPr/>
        </p:nvSpPr>
        <p:spPr>
          <a:xfrm>
            <a:off x="5522976" y="1600200"/>
            <a:ext cx="1143000" cy="1143000"/>
          </a:xfrm>
          <a:prstGeom prst="ellipse">
            <a:avLst/>
          </a:prstGeom>
          <a:solidFill>
            <a:srgbClr val="2A2412"/>
          </a:solidFill>
          <a:ln w="22225">
            <a:solidFill>
              <a:srgbClr val="FFC62A"/>
            </a:solidFill>
            <a:prstDash val="solid"/>
          </a:ln>
        </p:spPr>
      </p:sp>
      <p:sp>
        <p:nvSpPr>
          <p:cNvPr id="74" name="Text 72"/>
          <p:cNvSpPr/>
          <p:nvPr/>
        </p:nvSpPr>
        <p:spPr>
          <a:xfrm>
            <a:off x="5779008" y="1847088"/>
            <a:ext cx="640080" cy="640080"/>
          </a:xfrm>
          <a:prstGeom prst="rect">
            <a:avLst/>
          </a:prstGeom>
          <a:noFill/>
          <a:ln/>
        </p:spPr>
        <p:txBody>
          <a:bodyPr wrap="square" lIns="0" tIns="0" rIns="0" bIns="0" rtlCol="0" anchor="ctr"/>
          <a:lstStyle/>
          <a:p>
            <a:pPr algn="ctr" indent="0" marL="0">
              <a:buNone/>
            </a:pPr>
            <a:r>
              <a:rPr lang="en-US" sz="4536" dirty="0">
                <a:solidFill>
                  <a:srgbClr val="FFC62A"/>
                </a:solidFill>
                <a:latin typeface="Segoe UI Symbol" pitchFamily="34" charset="0"/>
                <a:ea typeface="Segoe UI Symbol" pitchFamily="34" charset="-122"/>
                <a:cs typeface="Segoe UI Symbol" pitchFamily="34" charset="-120"/>
              </a:rPr>
              <a:t>♞</a:t>
            </a:r>
            <a:endParaRPr lang="en-US" sz="4536" dirty="0"/>
          </a:p>
        </p:txBody>
      </p:sp>
      <p:sp>
        <p:nvSpPr>
          <p:cNvPr id="75" name="Text 73"/>
          <p:cNvSpPr/>
          <p:nvPr/>
        </p:nvSpPr>
        <p:spPr>
          <a:xfrm>
            <a:off x="1371600" y="3063240"/>
            <a:ext cx="9445752" cy="822960"/>
          </a:xfrm>
          <a:prstGeom prst="rect">
            <a:avLst/>
          </a:prstGeom>
          <a:noFill/>
          <a:ln/>
        </p:spPr>
        <p:txBody>
          <a:bodyPr wrap="square" lIns="0" tIns="0" rIns="0" bIns="0" rtlCol="0" anchor="ctr"/>
          <a:lstStyle/>
          <a:p>
            <a:pPr algn="ctr" indent="0" marL="0">
              <a:buNone/>
            </a:pPr>
            <a:r>
              <a:rPr lang="en-US" sz="4400" b="1" spc="800" kern="0" dirty="0">
                <a:solidFill>
                  <a:srgbClr val="F5F2EA"/>
                </a:solidFill>
                <a:latin typeface="Bahnschrift" pitchFamily="34" charset="0"/>
                <a:ea typeface="Bahnschrift" pitchFamily="34" charset="-122"/>
                <a:cs typeface="Bahnschrift" pitchFamily="34" charset="-120"/>
              </a:rPr>
              <a:t>THANK YOU</a:t>
            </a:r>
            <a:endParaRPr lang="en-US" sz="4400" dirty="0"/>
          </a:p>
        </p:txBody>
      </p:sp>
      <p:sp>
        <p:nvSpPr>
          <p:cNvPr id="76" name="Text 74"/>
          <p:cNvSpPr/>
          <p:nvPr/>
        </p:nvSpPr>
        <p:spPr>
          <a:xfrm>
            <a:off x="1371600" y="3931920"/>
            <a:ext cx="9445752" cy="365760"/>
          </a:xfrm>
          <a:prstGeom prst="rect">
            <a:avLst/>
          </a:prstGeom>
          <a:noFill/>
          <a:ln/>
        </p:spPr>
        <p:txBody>
          <a:bodyPr wrap="square" lIns="0" tIns="0" rIns="0" bIns="0" rtlCol="0" anchor="ctr"/>
          <a:lstStyle/>
          <a:p>
            <a:pPr algn="ctr" indent="0" marL="0">
              <a:buNone/>
            </a:pPr>
            <a:r>
              <a:rPr lang="en-US" sz="1400" dirty="0">
                <a:solidFill>
                  <a:srgbClr val="9A97A6"/>
                </a:solidFill>
                <a:latin typeface="Segoe UI" pitchFamily="34" charset="0"/>
                <a:ea typeface="Segoe UI" pitchFamily="34" charset="-122"/>
                <a:cs typeface="Segoe UI" pitchFamily="34" charset="-120"/>
              </a:rPr>
              <a:t>Questions &amp; discussion are welcome</a:t>
            </a:r>
            <a:endParaRPr lang="en-US" sz="1400" dirty="0"/>
          </a:p>
        </p:txBody>
      </p:sp>
      <p:sp>
        <p:nvSpPr>
          <p:cNvPr id="77" name="Text 75"/>
          <p:cNvSpPr/>
          <p:nvPr/>
        </p:nvSpPr>
        <p:spPr>
          <a:xfrm>
            <a:off x="1371600" y="4343400"/>
            <a:ext cx="9445752" cy="365760"/>
          </a:xfrm>
          <a:prstGeom prst="rect">
            <a:avLst/>
          </a:prstGeom>
          <a:noFill/>
          <a:ln/>
        </p:spPr>
        <p:txBody>
          <a:bodyPr wrap="square" lIns="0" tIns="0" rIns="0" bIns="0" rtlCol="0" anchor="ctr"/>
          <a:lstStyle/>
          <a:p>
            <a:pPr algn="ctr" indent="0" marL="0">
              <a:buNone/>
            </a:pPr>
            <a:r>
              <a:rPr lang="en-US" sz="1200" b="1" spc="400" kern="0" dirty="0">
                <a:solidFill>
                  <a:srgbClr val="FFC62A"/>
                </a:solidFill>
                <a:latin typeface="Bahnschrift" pitchFamily="34" charset="0"/>
                <a:ea typeface="Bahnschrift" pitchFamily="34" charset="-122"/>
                <a:cs typeface="Bahnschrift" pitchFamily="34" charset="-120"/>
              </a:rPr>
              <a:t>ANALYZE · LEARN · DOMINATE</a:t>
            </a:r>
            <a:endParaRPr lang="en-US" sz="1200" dirty="0"/>
          </a:p>
        </p:txBody>
      </p:sp>
      <p:sp>
        <p:nvSpPr>
          <p:cNvPr id="78" name="Shape 76"/>
          <p:cNvSpPr/>
          <p:nvPr/>
        </p:nvSpPr>
        <p:spPr>
          <a:xfrm>
            <a:off x="5705856" y="4892040"/>
            <a:ext cx="777240" cy="36576"/>
          </a:xfrm>
          <a:prstGeom prst="rect">
            <a:avLst/>
          </a:prstGeom>
          <a:solidFill>
            <a:srgbClr val="FFC62A"/>
          </a:solidFill>
          <a:ln/>
        </p:spPr>
      </p:sp>
      <p:sp>
        <p:nvSpPr>
          <p:cNvPr id="79" name="Text 77"/>
          <p:cNvSpPr/>
          <p:nvPr/>
        </p:nvSpPr>
        <p:spPr>
          <a:xfrm>
            <a:off x="1371600" y="5074920"/>
            <a:ext cx="9445752" cy="320040"/>
          </a:xfrm>
          <a:prstGeom prst="rect">
            <a:avLst/>
          </a:prstGeom>
          <a:noFill/>
          <a:ln/>
        </p:spPr>
        <p:txBody>
          <a:bodyPr wrap="square" lIns="0" tIns="0" rIns="0" bIns="0" rtlCol="0" anchor="ctr"/>
          <a:lstStyle/>
          <a:p>
            <a:pPr algn="ctr" indent="0" marL="0">
              <a:buNone/>
            </a:pPr>
            <a:r>
              <a:rPr lang="en-US" sz="1150" b="1" dirty="0">
                <a:solidFill>
                  <a:srgbClr val="F5F2EA"/>
                </a:solidFill>
              </a:rPr>
              <a:t>[Student Name]  ·  Register No: [XXXXXXXX]</a:t>
            </a:r>
            <a:pPr algn="ctr" indent="0" marL="0">
              <a:buNone/>
            </a:pPr>
            <a:r>
              <a:rPr lang="en-US" sz="1150" dirty="0">
                <a:solidFill>
                  <a:srgbClr val="5C5966"/>
                </a:solidFill>
              </a:rPr>
              <a:t>   —   </a:t>
            </a:r>
            <a:pPr algn="ctr" indent="0" marL="0">
              <a:buNone/>
            </a:pPr>
            <a:r>
              <a:rPr lang="en-US" sz="1050" dirty="0">
                <a:solidFill>
                  <a:srgbClr val="9A97A6"/>
                </a:solidFill>
              </a:rPr>
              <a:t>BCA Final Year · [College Name] · Guide: [Guide Name]</a:t>
            </a:r>
            <a:endParaRPr lang="en-US" sz="11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B0B0F"/>
        </a:solidFill>
      </p:bgPr>
    </p:bg>
    <p:spTree>
      <p:nvGrpSpPr>
        <p:cNvPr id="1" name=""/>
        <p:cNvGrpSpPr/>
        <p:nvPr/>
      </p:nvGrpSpPr>
      <p:grpSpPr>
        <a:xfrm>
          <a:off x="0" y="0"/>
          <a:ext cx="0" cy="0"/>
          <a:chOff x="0" y="0"/>
          <a:chExt cx="0" cy="0"/>
        </a:xfrm>
      </p:grpSpPr>
      <p:sp>
        <p:nvSpPr>
          <p:cNvPr id="2" name="Shape 0"/>
          <p:cNvSpPr/>
          <p:nvPr/>
        </p:nvSpPr>
        <p:spPr>
          <a:xfrm>
            <a:off x="10716768" y="292608"/>
            <a:ext cx="155448" cy="155448"/>
          </a:xfrm>
          <a:prstGeom prst="rect">
            <a:avLst/>
          </a:prstGeom>
          <a:solidFill>
            <a:srgbClr val="14141A"/>
          </a:solidFill>
          <a:ln/>
        </p:spPr>
      </p:sp>
      <p:sp>
        <p:nvSpPr>
          <p:cNvPr id="3" name="Shape 1"/>
          <p:cNvSpPr/>
          <p:nvPr/>
        </p:nvSpPr>
        <p:spPr>
          <a:xfrm>
            <a:off x="11027664" y="292608"/>
            <a:ext cx="155448" cy="155448"/>
          </a:xfrm>
          <a:prstGeom prst="rect">
            <a:avLst/>
          </a:prstGeom>
          <a:solidFill>
            <a:srgbClr val="14141A"/>
          </a:solidFill>
          <a:ln/>
        </p:spPr>
      </p:sp>
      <p:sp>
        <p:nvSpPr>
          <p:cNvPr id="4" name="Shape 2"/>
          <p:cNvSpPr/>
          <p:nvPr/>
        </p:nvSpPr>
        <p:spPr>
          <a:xfrm>
            <a:off x="10561320" y="448056"/>
            <a:ext cx="155448" cy="155448"/>
          </a:xfrm>
          <a:prstGeom prst="rect">
            <a:avLst/>
          </a:prstGeom>
          <a:solidFill>
            <a:srgbClr val="14141A"/>
          </a:solidFill>
          <a:ln/>
        </p:spPr>
      </p:sp>
      <p:sp>
        <p:nvSpPr>
          <p:cNvPr id="5" name="Shape 3"/>
          <p:cNvSpPr/>
          <p:nvPr/>
        </p:nvSpPr>
        <p:spPr>
          <a:xfrm>
            <a:off x="10872216" y="448056"/>
            <a:ext cx="155448" cy="155448"/>
          </a:xfrm>
          <a:prstGeom prst="rect">
            <a:avLst/>
          </a:prstGeom>
          <a:solidFill>
            <a:srgbClr val="14141A"/>
          </a:solidFill>
          <a:ln/>
        </p:spPr>
      </p:sp>
      <p:sp>
        <p:nvSpPr>
          <p:cNvPr id="6" name="Shape 4"/>
          <p:cNvSpPr/>
          <p:nvPr/>
        </p:nvSpPr>
        <p:spPr>
          <a:xfrm>
            <a:off x="11183112" y="448056"/>
            <a:ext cx="155448" cy="155448"/>
          </a:xfrm>
          <a:prstGeom prst="rect">
            <a:avLst/>
          </a:prstGeom>
          <a:solidFill>
            <a:srgbClr val="14141A"/>
          </a:solidFill>
          <a:ln/>
        </p:spPr>
      </p:sp>
      <p:sp>
        <p:nvSpPr>
          <p:cNvPr id="7" name="Shape 5"/>
          <p:cNvSpPr/>
          <p:nvPr/>
        </p:nvSpPr>
        <p:spPr>
          <a:xfrm>
            <a:off x="10716768" y="603504"/>
            <a:ext cx="155448" cy="155448"/>
          </a:xfrm>
          <a:prstGeom prst="rect">
            <a:avLst/>
          </a:prstGeom>
          <a:solidFill>
            <a:srgbClr val="14141A"/>
          </a:solidFill>
          <a:ln/>
        </p:spPr>
      </p:sp>
      <p:sp>
        <p:nvSpPr>
          <p:cNvPr id="8" name="Shape 6"/>
          <p:cNvSpPr/>
          <p:nvPr/>
        </p:nvSpPr>
        <p:spPr>
          <a:xfrm>
            <a:off x="11027664" y="603504"/>
            <a:ext cx="155448" cy="155448"/>
          </a:xfrm>
          <a:prstGeom prst="rect">
            <a:avLst/>
          </a:prstGeom>
          <a:solidFill>
            <a:srgbClr val="14141A"/>
          </a:solidFill>
          <a:ln/>
        </p:spPr>
      </p:sp>
      <p:sp>
        <p:nvSpPr>
          <p:cNvPr id="9" name="Shape 7"/>
          <p:cNvSpPr/>
          <p:nvPr/>
        </p:nvSpPr>
        <p:spPr>
          <a:xfrm>
            <a:off x="10561320" y="758952"/>
            <a:ext cx="155448" cy="155448"/>
          </a:xfrm>
          <a:prstGeom prst="rect">
            <a:avLst/>
          </a:prstGeom>
          <a:solidFill>
            <a:srgbClr val="14141A"/>
          </a:solidFill>
          <a:ln/>
        </p:spPr>
      </p:sp>
      <p:sp>
        <p:nvSpPr>
          <p:cNvPr id="10" name="Shape 8"/>
          <p:cNvSpPr/>
          <p:nvPr/>
        </p:nvSpPr>
        <p:spPr>
          <a:xfrm>
            <a:off x="10872216" y="758952"/>
            <a:ext cx="155448" cy="155448"/>
          </a:xfrm>
          <a:prstGeom prst="rect">
            <a:avLst/>
          </a:prstGeom>
          <a:solidFill>
            <a:srgbClr val="14141A"/>
          </a:solidFill>
          <a:ln/>
        </p:spPr>
      </p:sp>
      <p:sp>
        <p:nvSpPr>
          <p:cNvPr id="11" name="Shape 9"/>
          <p:cNvSpPr/>
          <p:nvPr/>
        </p:nvSpPr>
        <p:spPr>
          <a:xfrm>
            <a:off x="11183112" y="758952"/>
            <a:ext cx="155448" cy="155448"/>
          </a:xfrm>
          <a:prstGeom prst="rect">
            <a:avLst/>
          </a:prstGeom>
          <a:solidFill>
            <a:srgbClr val="14141A"/>
          </a:solidFill>
          <a:ln/>
        </p:spPr>
      </p:sp>
      <p:sp>
        <p:nvSpPr>
          <p:cNvPr id="12" name="Shape 10"/>
          <p:cNvSpPr/>
          <p:nvPr/>
        </p:nvSpPr>
        <p:spPr>
          <a:xfrm>
            <a:off x="10716768" y="914400"/>
            <a:ext cx="155448" cy="155448"/>
          </a:xfrm>
          <a:prstGeom prst="rect">
            <a:avLst/>
          </a:prstGeom>
          <a:solidFill>
            <a:srgbClr val="14141A"/>
          </a:solidFill>
          <a:ln/>
        </p:spPr>
      </p:sp>
      <p:sp>
        <p:nvSpPr>
          <p:cNvPr id="13" name="Shape 11"/>
          <p:cNvSpPr/>
          <p:nvPr/>
        </p:nvSpPr>
        <p:spPr>
          <a:xfrm>
            <a:off x="11027664" y="914400"/>
            <a:ext cx="155448" cy="155448"/>
          </a:xfrm>
          <a:prstGeom prst="rect">
            <a:avLst/>
          </a:prstGeom>
          <a:solidFill>
            <a:srgbClr val="14141A"/>
          </a:solidFill>
          <a:ln/>
        </p:spPr>
      </p:sp>
      <p:sp>
        <p:nvSpPr>
          <p:cNvPr id="14" name="Shape 12"/>
          <p:cNvSpPr/>
          <p:nvPr/>
        </p:nvSpPr>
        <p:spPr>
          <a:xfrm>
            <a:off x="9859975" y="310896"/>
            <a:ext cx="1783080" cy="292608"/>
          </a:xfrm>
          <a:prstGeom prst="roundRect">
            <a:avLst>
              <a:gd name="adj" fmla="val 50000"/>
            </a:avLst>
          </a:prstGeom>
          <a:solidFill>
            <a:srgbClr val="2A2412"/>
          </a:solidFill>
          <a:ln w="9525">
            <a:solidFill>
              <a:srgbClr val="4A3D18"/>
            </a:solidFill>
            <a:prstDash val="solid"/>
          </a:ln>
        </p:spPr>
      </p:sp>
      <p:sp>
        <p:nvSpPr>
          <p:cNvPr id="15" name="Text 13"/>
          <p:cNvSpPr/>
          <p:nvPr/>
        </p:nvSpPr>
        <p:spPr>
          <a:xfrm>
            <a:off x="9859975" y="301752"/>
            <a:ext cx="1783080" cy="310896"/>
          </a:xfrm>
          <a:prstGeom prst="rect">
            <a:avLst/>
          </a:prstGeom>
          <a:noFill/>
          <a:ln/>
        </p:spPr>
        <p:txBody>
          <a:bodyPr wrap="square" lIns="0" tIns="0" rIns="0" bIns="0" rtlCol="0" anchor="ctr"/>
          <a:lstStyle/>
          <a:p>
            <a:pPr algn="ctr" indent="0" marL="0">
              <a:buNone/>
            </a:pPr>
            <a:r>
              <a:rPr lang="en-US" sz="800" b="1" spc="120" kern="0" dirty="0">
                <a:solidFill>
                  <a:srgbClr val="FFC62A"/>
                </a:solidFill>
                <a:latin typeface="Bahnschrift" pitchFamily="34" charset="0"/>
                <a:ea typeface="Bahnschrift" pitchFamily="34" charset="-122"/>
                <a:cs typeface="Bahnschrift" pitchFamily="34" charset="-120"/>
              </a:rPr>
              <a:t>VERIFIED · FROM SOURCE CODE</a:t>
            </a:r>
            <a:endParaRPr lang="en-US" sz="800" dirty="0"/>
          </a:p>
        </p:txBody>
      </p:sp>
      <p:sp>
        <p:nvSpPr>
          <p:cNvPr id="16" name="Text 14"/>
          <p:cNvSpPr/>
          <p:nvPr/>
        </p:nvSpPr>
        <p:spPr>
          <a:xfrm>
            <a:off x="566928" y="384048"/>
            <a:ext cx="8229600" cy="274320"/>
          </a:xfrm>
          <a:prstGeom prst="rect">
            <a:avLst/>
          </a:prstGeom>
          <a:noFill/>
          <a:ln/>
        </p:spPr>
        <p:txBody>
          <a:bodyPr wrap="square" lIns="0" tIns="0" rIns="0" bIns="0" rtlCol="0" anchor="ctr"/>
          <a:lstStyle/>
          <a:p>
            <a:pPr indent="0" marL="0">
              <a:buNone/>
            </a:pPr>
            <a:r>
              <a:rPr lang="en-US" sz="1100" b="1" spc="300" kern="0" dirty="0">
                <a:solidFill>
                  <a:srgbClr val="FFC62A"/>
                </a:solidFill>
                <a:latin typeface="Bahnschrift" pitchFamily="34" charset="0"/>
                <a:ea typeface="Bahnschrift" pitchFamily="34" charset="-122"/>
                <a:cs typeface="Bahnschrift" pitchFamily="34" charset="-120"/>
              </a:rPr>
              <a:t>APPENDIX · A</a:t>
            </a:r>
            <a:endParaRPr lang="en-US" sz="1100" dirty="0"/>
          </a:p>
        </p:txBody>
      </p:sp>
      <p:sp>
        <p:nvSpPr>
          <p:cNvPr id="17" name="Shape 15"/>
          <p:cNvSpPr/>
          <p:nvPr/>
        </p:nvSpPr>
        <p:spPr>
          <a:xfrm>
            <a:off x="566928" y="713232"/>
            <a:ext cx="384048" cy="45720"/>
          </a:xfrm>
          <a:prstGeom prst="rect">
            <a:avLst/>
          </a:prstGeom>
          <a:solidFill>
            <a:srgbClr val="FFC62A"/>
          </a:solidFill>
          <a:ln/>
        </p:spPr>
      </p:sp>
      <p:sp>
        <p:nvSpPr>
          <p:cNvPr id="18" name="Text 16"/>
          <p:cNvSpPr/>
          <p:nvPr/>
        </p:nvSpPr>
        <p:spPr>
          <a:xfrm>
            <a:off x="548640" y="841248"/>
            <a:ext cx="11064240" cy="566928"/>
          </a:xfrm>
          <a:prstGeom prst="rect">
            <a:avLst/>
          </a:prstGeom>
          <a:noFill/>
          <a:ln/>
        </p:spPr>
        <p:txBody>
          <a:bodyPr wrap="square" lIns="0" tIns="0" rIns="0" bIns="0" rtlCol="0" anchor="ctr"/>
          <a:lstStyle/>
          <a:p>
            <a:pPr indent="0" marL="0">
              <a:buNone/>
            </a:pPr>
            <a:r>
              <a:rPr lang="en-US" sz="2700" b="1" dirty="0">
                <a:solidFill>
                  <a:srgbClr val="F5F2EA"/>
                </a:solidFill>
                <a:latin typeface="Bahnschrift" pitchFamily="34" charset="0"/>
                <a:ea typeface="Bahnschrift" pitchFamily="34" charset="-122"/>
                <a:cs typeface="Bahnschrift" pitchFamily="34" charset="-120"/>
              </a:rPr>
              <a:t>Repository structure</a:t>
            </a:r>
            <a:endParaRPr lang="en-US" sz="2700" dirty="0"/>
          </a:p>
        </p:txBody>
      </p:sp>
      <p:sp>
        <p:nvSpPr>
          <p:cNvPr id="19" name="Text 17"/>
          <p:cNvSpPr/>
          <p:nvPr/>
        </p:nvSpPr>
        <p:spPr>
          <a:xfrm>
            <a:off x="566928" y="1389888"/>
            <a:ext cx="11064240" cy="274320"/>
          </a:xfrm>
          <a:prstGeom prst="rect">
            <a:avLst/>
          </a:prstGeom>
          <a:noFill/>
          <a:ln/>
        </p:spPr>
        <p:txBody>
          <a:bodyPr wrap="square" lIns="0" tIns="0" rIns="0" bIns="0" rtlCol="0" anchor="ctr"/>
          <a:lstStyle/>
          <a:p>
            <a:pPr indent="0" marL="0">
              <a:buNone/>
            </a:pPr>
            <a:r>
              <a:rPr lang="en-US" sz="1250" dirty="0">
                <a:solidFill>
                  <a:srgbClr val="9A97A6"/>
                </a:solidFill>
                <a:latin typeface="Segoe UI" pitchFamily="34" charset="0"/>
                <a:ea typeface="Segoe UI" pitchFamily="34" charset="-122"/>
                <a:cs typeface="Segoe UI" pitchFamily="34" charset="-120"/>
              </a:rPr>
              <a:t>A clean separation of concerns across ~130 source files.</a:t>
            </a:r>
            <a:endParaRPr lang="en-US" sz="1250" dirty="0"/>
          </a:p>
        </p:txBody>
      </p:sp>
      <p:sp>
        <p:nvSpPr>
          <p:cNvPr id="20" name="Text 18"/>
          <p:cNvSpPr/>
          <p:nvPr/>
        </p:nvSpPr>
        <p:spPr>
          <a:xfrm>
            <a:off x="566928" y="6492240"/>
            <a:ext cx="2743200" cy="256032"/>
          </a:xfrm>
          <a:prstGeom prst="rect">
            <a:avLst/>
          </a:prstGeom>
          <a:noFill/>
          <a:ln/>
        </p:spPr>
        <p:txBody>
          <a:bodyPr wrap="square" lIns="0" tIns="0" rIns="0" bIns="0" rtlCol="0" anchor="ctr"/>
          <a:lstStyle/>
          <a:p>
            <a:pPr indent="0" marL="0">
              <a:buNone/>
            </a:pPr>
            <a:r>
              <a:rPr lang="en-US" sz="850" b="1" spc="300" kern="0" dirty="0">
                <a:solidFill>
                  <a:srgbClr val="5C5966"/>
                </a:solidFill>
                <a:latin typeface="Bahnschrift" pitchFamily="34" charset="0"/>
                <a:ea typeface="Bahnschrift" pitchFamily="34" charset="-122"/>
                <a:cs typeface="Bahnschrift" pitchFamily="34" charset="-120"/>
              </a:rPr>
              <a:t>CHESSFORK</a:t>
            </a:r>
            <a:endParaRPr lang="en-US" sz="850" dirty="0"/>
          </a:p>
        </p:txBody>
      </p:sp>
      <p:sp>
        <p:nvSpPr>
          <p:cNvPr id="21" name="Text 19"/>
          <p:cNvSpPr/>
          <p:nvPr/>
        </p:nvSpPr>
        <p:spPr>
          <a:xfrm>
            <a:off x="3840480" y="6492240"/>
            <a:ext cx="4572000" cy="256032"/>
          </a:xfrm>
          <a:prstGeom prst="rect">
            <a:avLst/>
          </a:prstGeom>
          <a:noFill/>
          <a:ln/>
        </p:spPr>
        <p:txBody>
          <a:bodyPr wrap="square" lIns="0" tIns="0" rIns="0" bIns="0" rtlCol="0" anchor="ctr"/>
          <a:lstStyle/>
          <a:p>
            <a:pPr indent="0" marL="0">
              <a:buNone/>
            </a:pPr>
            <a:r>
              <a:rPr lang="en-US" sz="800" spc="150" kern="0" dirty="0">
                <a:solidFill>
                  <a:srgbClr val="5C5966"/>
                </a:solidFill>
                <a:latin typeface="Segoe UI" pitchFamily="34" charset="0"/>
                <a:ea typeface="Segoe UI" pitchFamily="34" charset="-122"/>
                <a:cs typeface="Segoe UI" pitchFamily="34" charset="-120"/>
              </a:rPr>
              <a:t>BCA FINAL YEAR PROJECT · 2026</a:t>
            </a:r>
            <a:endParaRPr lang="en-US" sz="800" dirty="0"/>
          </a:p>
        </p:txBody>
      </p:sp>
      <p:sp>
        <p:nvSpPr>
          <p:cNvPr id="22" name="Text 20"/>
          <p:cNvSpPr/>
          <p:nvPr/>
        </p:nvSpPr>
        <p:spPr>
          <a:xfrm>
            <a:off x="11292840" y="6473952"/>
            <a:ext cx="365760" cy="274320"/>
          </a:xfrm>
          <a:prstGeom prst="rect">
            <a:avLst/>
          </a:prstGeom>
          <a:noFill/>
          <a:ln/>
        </p:spPr>
        <p:txBody>
          <a:bodyPr wrap="square" lIns="0" tIns="0" rIns="0" bIns="0" rtlCol="0" anchor="ctr"/>
          <a:lstStyle/>
          <a:p>
            <a:pPr algn="r" indent="0" marL="0">
              <a:buNone/>
            </a:pPr>
            <a:r>
              <a:rPr lang="en-US" sz="900" b="1" dirty="0">
                <a:solidFill>
                  <a:srgbClr val="5C5966"/>
                </a:solidFill>
                <a:latin typeface="Bahnschrift" pitchFamily="34" charset="0"/>
                <a:ea typeface="Bahnschrift" pitchFamily="34" charset="-122"/>
                <a:cs typeface="Bahnschrift" pitchFamily="34" charset="-120"/>
              </a:rPr>
              <a:t>19</a:t>
            </a:r>
            <a:endParaRPr lang="en-US" sz="900" dirty="0"/>
          </a:p>
        </p:txBody>
      </p:sp>
      <p:sp>
        <p:nvSpPr>
          <p:cNvPr id="23" name="Shape 21"/>
          <p:cNvSpPr/>
          <p:nvPr/>
        </p:nvSpPr>
        <p:spPr>
          <a:xfrm>
            <a:off x="566928" y="1783080"/>
            <a:ext cx="5440680" cy="640080"/>
          </a:xfrm>
          <a:prstGeom prst="roundRect">
            <a:avLst>
              <a:gd name="adj" fmla="val 8571"/>
            </a:avLst>
          </a:prstGeom>
          <a:solidFill>
            <a:srgbClr val="15151B"/>
          </a:solidFill>
          <a:ln w="12700">
            <a:solidFill>
              <a:srgbClr val="26262F"/>
            </a:solidFill>
            <a:prstDash val="solid"/>
          </a:ln>
        </p:spPr>
      </p:sp>
      <p:sp>
        <p:nvSpPr>
          <p:cNvPr id="24" name="Text 22"/>
          <p:cNvSpPr/>
          <p:nvPr/>
        </p:nvSpPr>
        <p:spPr>
          <a:xfrm>
            <a:off x="749808" y="1856232"/>
            <a:ext cx="2286000" cy="292608"/>
          </a:xfrm>
          <a:prstGeom prst="rect">
            <a:avLst/>
          </a:prstGeom>
          <a:noFill/>
          <a:ln/>
        </p:spPr>
        <p:txBody>
          <a:bodyPr wrap="square" lIns="0" tIns="0" rIns="0" bIns="0" rtlCol="0" anchor="ctr"/>
          <a:lstStyle/>
          <a:p>
            <a:pPr indent="0" marL="0">
              <a:buNone/>
            </a:pPr>
            <a:r>
              <a:rPr lang="en-US" sz="1250" b="1" dirty="0">
                <a:solidFill>
                  <a:srgbClr val="FFC62A"/>
                </a:solidFill>
                <a:latin typeface="Bahnschrift" pitchFamily="34" charset="0"/>
                <a:ea typeface="Bahnschrift" pitchFamily="34" charset="-122"/>
                <a:cs typeface="Bahnschrift" pitchFamily="34" charset="-120"/>
              </a:rPr>
              <a:t>src/app</a:t>
            </a:r>
            <a:endParaRPr lang="en-US" sz="1250" dirty="0"/>
          </a:p>
        </p:txBody>
      </p:sp>
      <p:sp>
        <p:nvSpPr>
          <p:cNvPr id="25" name="Text 23"/>
          <p:cNvSpPr/>
          <p:nvPr/>
        </p:nvSpPr>
        <p:spPr>
          <a:xfrm>
            <a:off x="3035808" y="1856232"/>
            <a:ext cx="2834640" cy="493776"/>
          </a:xfrm>
          <a:prstGeom prst="rect">
            <a:avLst/>
          </a:prstGeom>
          <a:noFill/>
          <a:ln/>
        </p:spPr>
        <p:txBody>
          <a:bodyPr wrap="square" lIns="0" tIns="0" rIns="0" bIns="0" rtlCol="0" anchor="ctr"/>
          <a:lstStyle/>
          <a:p>
            <a:pPr indent="0" marL="0">
              <a:lnSpc>
                <a:spcPct val="105000"/>
              </a:lnSpc>
              <a:buNone/>
            </a:pPr>
            <a:r>
              <a:rPr lang="en-US" sz="880" dirty="0">
                <a:solidFill>
                  <a:srgbClr val="9A97A6"/>
                </a:solidFill>
                <a:latin typeface="Segoe UI" pitchFamily="34" charset="0"/>
                <a:ea typeface="Segoe UI" pitchFamily="34" charset="-122"/>
                <a:cs typeface="Segoe UI" pitchFamily="34" charset="-120"/>
              </a:rPr>
              <a:t>39 pages + 25 API routes (Next.js App Router)</a:t>
            </a:r>
            <a:endParaRPr lang="en-US" sz="880" dirty="0"/>
          </a:p>
        </p:txBody>
      </p:sp>
      <p:sp>
        <p:nvSpPr>
          <p:cNvPr id="26" name="Shape 24"/>
          <p:cNvSpPr/>
          <p:nvPr/>
        </p:nvSpPr>
        <p:spPr>
          <a:xfrm>
            <a:off x="6190488" y="1783080"/>
            <a:ext cx="5440680" cy="640080"/>
          </a:xfrm>
          <a:prstGeom prst="roundRect">
            <a:avLst>
              <a:gd name="adj" fmla="val 8571"/>
            </a:avLst>
          </a:prstGeom>
          <a:solidFill>
            <a:srgbClr val="15151B"/>
          </a:solidFill>
          <a:ln w="12700">
            <a:solidFill>
              <a:srgbClr val="26262F"/>
            </a:solidFill>
            <a:prstDash val="solid"/>
          </a:ln>
        </p:spPr>
      </p:sp>
      <p:sp>
        <p:nvSpPr>
          <p:cNvPr id="27" name="Text 25"/>
          <p:cNvSpPr/>
          <p:nvPr/>
        </p:nvSpPr>
        <p:spPr>
          <a:xfrm>
            <a:off x="6373368" y="1856232"/>
            <a:ext cx="2286000" cy="292608"/>
          </a:xfrm>
          <a:prstGeom prst="rect">
            <a:avLst/>
          </a:prstGeom>
          <a:noFill/>
          <a:ln/>
        </p:spPr>
        <p:txBody>
          <a:bodyPr wrap="square" lIns="0" tIns="0" rIns="0" bIns="0" rtlCol="0" anchor="ctr"/>
          <a:lstStyle/>
          <a:p>
            <a:pPr indent="0" marL="0">
              <a:buNone/>
            </a:pPr>
            <a:r>
              <a:rPr lang="en-US" sz="1250" b="1" dirty="0">
                <a:solidFill>
                  <a:srgbClr val="FFC62A"/>
                </a:solidFill>
                <a:latin typeface="Bahnschrift" pitchFamily="34" charset="0"/>
                <a:ea typeface="Bahnschrift" pitchFamily="34" charset="-122"/>
                <a:cs typeface="Bahnschrift" pitchFamily="34" charset="-120"/>
              </a:rPr>
              <a:t>src/components</a:t>
            </a:r>
            <a:endParaRPr lang="en-US" sz="1250" dirty="0"/>
          </a:p>
        </p:txBody>
      </p:sp>
      <p:sp>
        <p:nvSpPr>
          <p:cNvPr id="28" name="Text 26"/>
          <p:cNvSpPr/>
          <p:nvPr/>
        </p:nvSpPr>
        <p:spPr>
          <a:xfrm>
            <a:off x="8659368" y="1856232"/>
            <a:ext cx="2834640" cy="493776"/>
          </a:xfrm>
          <a:prstGeom prst="rect">
            <a:avLst/>
          </a:prstGeom>
          <a:noFill/>
          <a:ln/>
        </p:spPr>
        <p:txBody>
          <a:bodyPr wrap="square" lIns="0" tIns="0" rIns="0" bIns="0" rtlCol="0" anchor="ctr"/>
          <a:lstStyle/>
          <a:p>
            <a:pPr indent="0" marL="0">
              <a:lnSpc>
                <a:spcPct val="105000"/>
              </a:lnSpc>
              <a:buNone/>
            </a:pPr>
            <a:r>
              <a:rPr lang="en-US" sz="880" dirty="0">
                <a:solidFill>
                  <a:srgbClr val="9A97A6"/>
                </a:solidFill>
                <a:latin typeface="Segoe UI" pitchFamily="34" charset="0"/>
                <a:ea typeface="Segoe UI" pitchFamily="34" charset="-122"/>
                <a:cs typeface="Segoe UI" pitchFamily="34" charset="-120"/>
              </a:rPr>
              <a:t>landing · analysis · coach · chess · shop · auth · globe · puzzles</a:t>
            </a:r>
            <a:endParaRPr lang="en-US" sz="880" dirty="0"/>
          </a:p>
        </p:txBody>
      </p:sp>
      <p:sp>
        <p:nvSpPr>
          <p:cNvPr id="29" name="Shape 27"/>
          <p:cNvSpPr/>
          <p:nvPr/>
        </p:nvSpPr>
        <p:spPr>
          <a:xfrm>
            <a:off x="566928" y="2542032"/>
            <a:ext cx="5440680" cy="640080"/>
          </a:xfrm>
          <a:prstGeom prst="roundRect">
            <a:avLst>
              <a:gd name="adj" fmla="val 8571"/>
            </a:avLst>
          </a:prstGeom>
          <a:solidFill>
            <a:srgbClr val="15151B"/>
          </a:solidFill>
          <a:ln w="12700">
            <a:solidFill>
              <a:srgbClr val="26262F"/>
            </a:solidFill>
            <a:prstDash val="solid"/>
          </a:ln>
        </p:spPr>
      </p:sp>
      <p:sp>
        <p:nvSpPr>
          <p:cNvPr id="30" name="Text 28"/>
          <p:cNvSpPr/>
          <p:nvPr/>
        </p:nvSpPr>
        <p:spPr>
          <a:xfrm>
            <a:off x="749808" y="2615184"/>
            <a:ext cx="2286000" cy="292608"/>
          </a:xfrm>
          <a:prstGeom prst="rect">
            <a:avLst/>
          </a:prstGeom>
          <a:noFill/>
          <a:ln/>
        </p:spPr>
        <p:txBody>
          <a:bodyPr wrap="square" lIns="0" tIns="0" rIns="0" bIns="0" rtlCol="0" anchor="ctr"/>
          <a:lstStyle/>
          <a:p>
            <a:pPr indent="0" marL="0">
              <a:buNone/>
            </a:pPr>
            <a:r>
              <a:rPr lang="en-US" sz="1250" b="1" dirty="0">
                <a:solidFill>
                  <a:srgbClr val="FFC62A"/>
                </a:solidFill>
                <a:latin typeface="Bahnschrift" pitchFamily="34" charset="0"/>
                <a:ea typeface="Bahnschrift" pitchFamily="34" charset="-122"/>
                <a:cs typeface="Bahnschrift" pitchFamily="34" charset="-120"/>
              </a:rPr>
              <a:t>src/lib</a:t>
            </a:r>
            <a:endParaRPr lang="en-US" sz="1250" dirty="0"/>
          </a:p>
        </p:txBody>
      </p:sp>
      <p:sp>
        <p:nvSpPr>
          <p:cNvPr id="31" name="Text 29"/>
          <p:cNvSpPr/>
          <p:nvPr/>
        </p:nvSpPr>
        <p:spPr>
          <a:xfrm>
            <a:off x="3035808" y="2615184"/>
            <a:ext cx="2834640" cy="493776"/>
          </a:xfrm>
          <a:prstGeom prst="rect">
            <a:avLst/>
          </a:prstGeom>
          <a:noFill/>
          <a:ln/>
        </p:spPr>
        <p:txBody>
          <a:bodyPr wrap="square" lIns="0" tIns="0" rIns="0" bIns="0" rtlCol="0" anchor="ctr"/>
          <a:lstStyle/>
          <a:p>
            <a:pPr indent="0" marL="0">
              <a:lnSpc>
                <a:spcPct val="105000"/>
              </a:lnSpc>
              <a:buNone/>
            </a:pPr>
            <a:r>
              <a:rPr lang="en-US" sz="880" dirty="0">
                <a:solidFill>
                  <a:srgbClr val="9A97A6"/>
                </a:solidFill>
                <a:latin typeface="Segoe UI" pitchFamily="34" charset="0"/>
                <a:ea typeface="Segoe UI" pitchFamily="34" charset="-122"/>
                <a:cs typeface="Segoe UI" pitchFamily="34" charset="-120"/>
              </a:rPr>
              <a:t>engine, analysis, classification, coach, grading, report cards, chess domain</a:t>
            </a:r>
            <a:endParaRPr lang="en-US" sz="880" dirty="0"/>
          </a:p>
        </p:txBody>
      </p:sp>
      <p:sp>
        <p:nvSpPr>
          <p:cNvPr id="32" name="Shape 30"/>
          <p:cNvSpPr/>
          <p:nvPr/>
        </p:nvSpPr>
        <p:spPr>
          <a:xfrm>
            <a:off x="6190488" y="2542032"/>
            <a:ext cx="5440680" cy="640080"/>
          </a:xfrm>
          <a:prstGeom prst="roundRect">
            <a:avLst>
              <a:gd name="adj" fmla="val 8571"/>
            </a:avLst>
          </a:prstGeom>
          <a:solidFill>
            <a:srgbClr val="15151B"/>
          </a:solidFill>
          <a:ln w="12700">
            <a:solidFill>
              <a:srgbClr val="26262F"/>
            </a:solidFill>
            <a:prstDash val="solid"/>
          </a:ln>
        </p:spPr>
      </p:sp>
      <p:sp>
        <p:nvSpPr>
          <p:cNvPr id="33" name="Text 31"/>
          <p:cNvSpPr/>
          <p:nvPr/>
        </p:nvSpPr>
        <p:spPr>
          <a:xfrm>
            <a:off x="6373368" y="2615184"/>
            <a:ext cx="2286000" cy="292608"/>
          </a:xfrm>
          <a:prstGeom prst="rect">
            <a:avLst/>
          </a:prstGeom>
          <a:noFill/>
          <a:ln/>
        </p:spPr>
        <p:txBody>
          <a:bodyPr wrap="square" lIns="0" tIns="0" rIns="0" bIns="0" rtlCol="0" anchor="ctr"/>
          <a:lstStyle/>
          <a:p>
            <a:pPr indent="0" marL="0">
              <a:buNone/>
            </a:pPr>
            <a:r>
              <a:rPr lang="en-US" sz="1250" b="1" dirty="0">
                <a:solidFill>
                  <a:srgbClr val="FFC62A"/>
                </a:solidFill>
                <a:latin typeface="Bahnschrift" pitchFamily="34" charset="0"/>
                <a:ea typeface="Bahnschrift" pitchFamily="34" charset="-122"/>
                <a:cs typeface="Bahnschrift" pitchFamily="34" charset="-120"/>
              </a:rPr>
              <a:t>src/server</a:t>
            </a:r>
            <a:endParaRPr lang="en-US" sz="1250" dirty="0"/>
          </a:p>
        </p:txBody>
      </p:sp>
      <p:sp>
        <p:nvSpPr>
          <p:cNvPr id="34" name="Text 32"/>
          <p:cNvSpPr/>
          <p:nvPr/>
        </p:nvSpPr>
        <p:spPr>
          <a:xfrm>
            <a:off x="8659368" y="2615184"/>
            <a:ext cx="2834640" cy="493776"/>
          </a:xfrm>
          <a:prstGeom prst="rect">
            <a:avLst/>
          </a:prstGeom>
          <a:noFill/>
          <a:ln/>
        </p:spPr>
        <p:txBody>
          <a:bodyPr wrap="square" lIns="0" tIns="0" rIns="0" bIns="0" rtlCol="0" anchor="ctr"/>
          <a:lstStyle/>
          <a:p>
            <a:pPr indent="0" marL="0">
              <a:lnSpc>
                <a:spcPct val="105000"/>
              </a:lnSpc>
              <a:buNone/>
            </a:pPr>
            <a:r>
              <a:rPr lang="en-US" sz="880" dirty="0">
                <a:solidFill>
                  <a:srgbClr val="9A97A6"/>
                </a:solidFill>
                <a:latin typeface="Segoe UI" pitchFamily="34" charset="0"/>
                <a:ea typeface="Segoe UI" pitchFamily="34" charset="-122"/>
                <a:cs typeface="Segoe UI" pitchFamily="34" charset="-120"/>
              </a:rPr>
              <a:t>auth · db (Drizzle schema) · queue (BullMQ) · repositories · chess</a:t>
            </a:r>
            <a:endParaRPr lang="en-US" sz="880" dirty="0"/>
          </a:p>
        </p:txBody>
      </p:sp>
      <p:sp>
        <p:nvSpPr>
          <p:cNvPr id="35" name="Shape 33"/>
          <p:cNvSpPr/>
          <p:nvPr/>
        </p:nvSpPr>
        <p:spPr>
          <a:xfrm>
            <a:off x="566928" y="3300984"/>
            <a:ext cx="5440680" cy="640080"/>
          </a:xfrm>
          <a:prstGeom prst="roundRect">
            <a:avLst>
              <a:gd name="adj" fmla="val 8571"/>
            </a:avLst>
          </a:prstGeom>
          <a:solidFill>
            <a:srgbClr val="15151B"/>
          </a:solidFill>
          <a:ln w="12700">
            <a:solidFill>
              <a:srgbClr val="26262F"/>
            </a:solidFill>
            <a:prstDash val="solid"/>
          </a:ln>
        </p:spPr>
      </p:sp>
      <p:sp>
        <p:nvSpPr>
          <p:cNvPr id="36" name="Text 34"/>
          <p:cNvSpPr/>
          <p:nvPr/>
        </p:nvSpPr>
        <p:spPr>
          <a:xfrm>
            <a:off x="749808" y="3374136"/>
            <a:ext cx="2286000" cy="292608"/>
          </a:xfrm>
          <a:prstGeom prst="rect">
            <a:avLst/>
          </a:prstGeom>
          <a:noFill/>
          <a:ln/>
        </p:spPr>
        <p:txBody>
          <a:bodyPr wrap="square" lIns="0" tIns="0" rIns="0" bIns="0" rtlCol="0" anchor="ctr"/>
          <a:lstStyle/>
          <a:p>
            <a:pPr indent="0" marL="0">
              <a:buNone/>
            </a:pPr>
            <a:r>
              <a:rPr lang="en-US" sz="1250" b="1" dirty="0">
                <a:solidFill>
                  <a:srgbClr val="FFC62A"/>
                </a:solidFill>
                <a:latin typeface="Bahnschrift" pitchFamily="34" charset="0"/>
                <a:ea typeface="Bahnschrift" pitchFamily="34" charset="-122"/>
                <a:cs typeface="Bahnschrift" pitchFamily="34" charset="-120"/>
              </a:rPr>
              <a:t>src/hooks</a:t>
            </a:r>
            <a:endParaRPr lang="en-US" sz="1250" dirty="0"/>
          </a:p>
        </p:txBody>
      </p:sp>
      <p:sp>
        <p:nvSpPr>
          <p:cNvPr id="37" name="Text 35"/>
          <p:cNvSpPr/>
          <p:nvPr/>
        </p:nvSpPr>
        <p:spPr>
          <a:xfrm>
            <a:off x="3035808" y="3374136"/>
            <a:ext cx="2834640" cy="493776"/>
          </a:xfrm>
          <a:prstGeom prst="rect">
            <a:avLst/>
          </a:prstGeom>
          <a:noFill/>
          <a:ln/>
        </p:spPr>
        <p:txBody>
          <a:bodyPr wrap="square" lIns="0" tIns="0" rIns="0" bIns="0" rtlCol="0" anchor="ctr"/>
          <a:lstStyle/>
          <a:p>
            <a:pPr indent="0" marL="0">
              <a:lnSpc>
                <a:spcPct val="105000"/>
              </a:lnSpc>
              <a:buNone/>
            </a:pPr>
            <a:r>
              <a:rPr lang="en-US" sz="880" dirty="0">
                <a:solidFill>
                  <a:srgbClr val="9A97A6"/>
                </a:solidFill>
                <a:latin typeface="Segoe UI" pitchFamily="34" charset="0"/>
                <a:ea typeface="Segoe UI" pitchFamily="34" charset="-122"/>
                <a:cs typeface="Segoe UI" pitchFamily="34" charset="-120"/>
              </a:rPr>
              <a:t>useEngine · useWhatIfSessions · useLiveAnalysisSession</a:t>
            </a:r>
            <a:endParaRPr lang="en-US" sz="880" dirty="0"/>
          </a:p>
        </p:txBody>
      </p:sp>
      <p:sp>
        <p:nvSpPr>
          <p:cNvPr id="38" name="Shape 36"/>
          <p:cNvSpPr/>
          <p:nvPr/>
        </p:nvSpPr>
        <p:spPr>
          <a:xfrm>
            <a:off x="6190488" y="3300984"/>
            <a:ext cx="5440680" cy="640080"/>
          </a:xfrm>
          <a:prstGeom prst="roundRect">
            <a:avLst>
              <a:gd name="adj" fmla="val 8571"/>
            </a:avLst>
          </a:prstGeom>
          <a:solidFill>
            <a:srgbClr val="15151B"/>
          </a:solidFill>
          <a:ln w="12700">
            <a:solidFill>
              <a:srgbClr val="26262F"/>
            </a:solidFill>
            <a:prstDash val="solid"/>
          </a:ln>
        </p:spPr>
      </p:sp>
      <p:sp>
        <p:nvSpPr>
          <p:cNvPr id="39" name="Text 37"/>
          <p:cNvSpPr/>
          <p:nvPr/>
        </p:nvSpPr>
        <p:spPr>
          <a:xfrm>
            <a:off x="6373368" y="3374136"/>
            <a:ext cx="2286000" cy="292608"/>
          </a:xfrm>
          <a:prstGeom prst="rect">
            <a:avLst/>
          </a:prstGeom>
          <a:noFill/>
          <a:ln/>
        </p:spPr>
        <p:txBody>
          <a:bodyPr wrap="square" lIns="0" tIns="0" rIns="0" bIns="0" rtlCol="0" anchor="ctr"/>
          <a:lstStyle/>
          <a:p>
            <a:pPr indent="0" marL="0">
              <a:buNone/>
            </a:pPr>
            <a:r>
              <a:rPr lang="en-US" sz="1250" b="1" dirty="0">
                <a:solidFill>
                  <a:srgbClr val="FFC62A"/>
                </a:solidFill>
                <a:latin typeface="Bahnschrift" pitchFamily="34" charset="0"/>
                <a:ea typeface="Bahnschrift" pitchFamily="34" charset="-122"/>
                <a:cs typeface="Bahnschrift" pitchFamily="34" charset="-120"/>
              </a:rPr>
              <a:t>src/test</a:t>
            </a:r>
            <a:endParaRPr lang="en-US" sz="1250" dirty="0"/>
          </a:p>
        </p:txBody>
      </p:sp>
      <p:sp>
        <p:nvSpPr>
          <p:cNvPr id="40" name="Text 38"/>
          <p:cNvSpPr/>
          <p:nvPr/>
        </p:nvSpPr>
        <p:spPr>
          <a:xfrm>
            <a:off x="8659368" y="3374136"/>
            <a:ext cx="2834640" cy="493776"/>
          </a:xfrm>
          <a:prstGeom prst="rect">
            <a:avLst/>
          </a:prstGeom>
          <a:noFill/>
          <a:ln/>
        </p:spPr>
        <p:txBody>
          <a:bodyPr wrap="square" lIns="0" tIns="0" rIns="0" bIns="0" rtlCol="0" anchor="ctr"/>
          <a:lstStyle/>
          <a:p>
            <a:pPr indent="0" marL="0">
              <a:lnSpc>
                <a:spcPct val="105000"/>
              </a:lnSpc>
              <a:buNone/>
            </a:pPr>
            <a:r>
              <a:rPr lang="en-US" sz="880" dirty="0">
                <a:solidFill>
                  <a:srgbClr val="9A97A6"/>
                </a:solidFill>
                <a:latin typeface="Segoe UI" pitchFamily="34" charset="0"/>
                <a:ea typeface="Segoe UI" pitchFamily="34" charset="-122"/>
                <a:cs typeface="Segoe UI" pitchFamily="34" charset="-120"/>
              </a:rPr>
              <a:t>12 Vitest suites — engine, grading, openings, rating, repositories</a:t>
            </a:r>
            <a:endParaRPr lang="en-US" sz="880" dirty="0"/>
          </a:p>
        </p:txBody>
      </p:sp>
      <p:sp>
        <p:nvSpPr>
          <p:cNvPr id="41" name="Shape 39"/>
          <p:cNvSpPr/>
          <p:nvPr/>
        </p:nvSpPr>
        <p:spPr>
          <a:xfrm>
            <a:off x="566928" y="4059936"/>
            <a:ext cx="5440680" cy="640080"/>
          </a:xfrm>
          <a:prstGeom prst="roundRect">
            <a:avLst>
              <a:gd name="adj" fmla="val 8571"/>
            </a:avLst>
          </a:prstGeom>
          <a:solidFill>
            <a:srgbClr val="15151B"/>
          </a:solidFill>
          <a:ln w="12700">
            <a:solidFill>
              <a:srgbClr val="26262F"/>
            </a:solidFill>
            <a:prstDash val="solid"/>
          </a:ln>
        </p:spPr>
      </p:sp>
      <p:sp>
        <p:nvSpPr>
          <p:cNvPr id="42" name="Text 40"/>
          <p:cNvSpPr/>
          <p:nvPr/>
        </p:nvSpPr>
        <p:spPr>
          <a:xfrm>
            <a:off x="749808" y="4133088"/>
            <a:ext cx="2286000" cy="292608"/>
          </a:xfrm>
          <a:prstGeom prst="rect">
            <a:avLst/>
          </a:prstGeom>
          <a:noFill/>
          <a:ln/>
        </p:spPr>
        <p:txBody>
          <a:bodyPr wrap="square" lIns="0" tIns="0" rIns="0" bIns="0" rtlCol="0" anchor="ctr"/>
          <a:lstStyle/>
          <a:p>
            <a:pPr indent="0" marL="0">
              <a:buNone/>
            </a:pPr>
            <a:r>
              <a:rPr lang="en-US" sz="1250" b="1" dirty="0">
                <a:solidFill>
                  <a:srgbClr val="FFC62A"/>
                </a:solidFill>
                <a:latin typeface="Bahnschrift" pitchFamily="34" charset="0"/>
                <a:ea typeface="Bahnschrift" pitchFamily="34" charset="-122"/>
                <a:cs typeface="Bahnschrift" pitchFamily="34" charset="-120"/>
              </a:rPr>
              <a:t>e2e</a:t>
            </a:r>
            <a:endParaRPr lang="en-US" sz="1250" dirty="0"/>
          </a:p>
        </p:txBody>
      </p:sp>
      <p:sp>
        <p:nvSpPr>
          <p:cNvPr id="43" name="Text 41"/>
          <p:cNvSpPr/>
          <p:nvPr/>
        </p:nvSpPr>
        <p:spPr>
          <a:xfrm>
            <a:off x="3035808" y="4133088"/>
            <a:ext cx="2834640" cy="493776"/>
          </a:xfrm>
          <a:prstGeom prst="rect">
            <a:avLst/>
          </a:prstGeom>
          <a:noFill/>
          <a:ln/>
        </p:spPr>
        <p:txBody>
          <a:bodyPr wrap="square" lIns="0" tIns="0" rIns="0" bIns="0" rtlCol="0" anchor="ctr"/>
          <a:lstStyle/>
          <a:p>
            <a:pPr indent="0" marL="0">
              <a:lnSpc>
                <a:spcPct val="105000"/>
              </a:lnSpc>
              <a:buNone/>
            </a:pPr>
            <a:r>
              <a:rPr lang="en-US" sz="880" dirty="0">
                <a:solidFill>
                  <a:srgbClr val="9A97A6"/>
                </a:solidFill>
                <a:latin typeface="Segoe UI" pitchFamily="34" charset="0"/>
                <a:ea typeface="Segoe UI" pitchFamily="34" charset="-122"/>
                <a:cs typeface="Segoe UI" pitchFamily="34" charset="-120"/>
              </a:rPr>
              <a:t>Playwright specs + real UI screenshots</a:t>
            </a:r>
            <a:endParaRPr lang="en-US" sz="880" dirty="0"/>
          </a:p>
        </p:txBody>
      </p:sp>
      <p:sp>
        <p:nvSpPr>
          <p:cNvPr id="44" name="Shape 42"/>
          <p:cNvSpPr/>
          <p:nvPr/>
        </p:nvSpPr>
        <p:spPr>
          <a:xfrm>
            <a:off x="6190488" y="4059936"/>
            <a:ext cx="5440680" cy="640080"/>
          </a:xfrm>
          <a:prstGeom prst="roundRect">
            <a:avLst>
              <a:gd name="adj" fmla="val 8571"/>
            </a:avLst>
          </a:prstGeom>
          <a:solidFill>
            <a:srgbClr val="15151B"/>
          </a:solidFill>
          <a:ln w="12700">
            <a:solidFill>
              <a:srgbClr val="26262F"/>
            </a:solidFill>
            <a:prstDash val="solid"/>
          </a:ln>
        </p:spPr>
      </p:sp>
      <p:sp>
        <p:nvSpPr>
          <p:cNvPr id="45" name="Text 43"/>
          <p:cNvSpPr/>
          <p:nvPr/>
        </p:nvSpPr>
        <p:spPr>
          <a:xfrm>
            <a:off x="6373368" y="4133088"/>
            <a:ext cx="2286000" cy="292608"/>
          </a:xfrm>
          <a:prstGeom prst="rect">
            <a:avLst/>
          </a:prstGeom>
          <a:noFill/>
          <a:ln/>
        </p:spPr>
        <p:txBody>
          <a:bodyPr wrap="square" lIns="0" tIns="0" rIns="0" bIns="0" rtlCol="0" anchor="ctr"/>
          <a:lstStyle/>
          <a:p>
            <a:pPr indent="0" marL="0">
              <a:buNone/>
            </a:pPr>
            <a:r>
              <a:rPr lang="en-US" sz="1250" b="1" dirty="0">
                <a:solidFill>
                  <a:srgbClr val="FFC62A"/>
                </a:solidFill>
                <a:latin typeface="Bahnschrift" pitchFamily="34" charset="0"/>
                <a:ea typeface="Bahnschrift" pitchFamily="34" charset="-122"/>
                <a:cs typeface="Bahnschrift" pitchFamily="34" charset="-120"/>
              </a:rPr>
              <a:t>drizzle</a:t>
            </a:r>
            <a:endParaRPr lang="en-US" sz="1250" dirty="0"/>
          </a:p>
        </p:txBody>
      </p:sp>
      <p:sp>
        <p:nvSpPr>
          <p:cNvPr id="46" name="Text 44"/>
          <p:cNvSpPr/>
          <p:nvPr/>
        </p:nvSpPr>
        <p:spPr>
          <a:xfrm>
            <a:off x="8659368" y="4133088"/>
            <a:ext cx="2834640" cy="493776"/>
          </a:xfrm>
          <a:prstGeom prst="rect">
            <a:avLst/>
          </a:prstGeom>
          <a:noFill/>
          <a:ln/>
        </p:spPr>
        <p:txBody>
          <a:bodyPr wrap="square" lIns="0" tIns="0" rIns="0" bIns="0" rtlCol="0" anchor="ctr"/>
          <a:lstStyle/>
          <a:p>
            <a:pPr indent="0" marL="0">
              <a:lnSpc>
                <a:spcPct val="105000"/>
              </a:lnSpc>
              <a:buNone/>
            </a:pPr>
            <a:r>
              <a:rPr lang="en-US" sz="880" dirty="0">
                <a:solidFill>
                  <a:srgbClr val="9A97A6"/>
                </a:solidFill>
                <a:latin typeface="Segoe UI" pitchFamily="34" charset="0"/>
                <a:ea typeface="Segoe UI" pitchFamily="34" charset="-122"/>
                <a:cs typeface="Segoe UI" pitchFamily="34" charset="-120"/>
              </a:rPr>
              <a:t>Versioned SQL migrations + snapshots</a:t>
            </a:r>
            <a:endParaRPr lang="en-US" sz="880" dirty="0"/>
          </a:p>
        </p:txBody>
      </p:sp>
      <p:sp>
        <p:nvSpPr>
          <p:cNvPr id="47" name="Shape 45"/>
          <p:cNvSpPr/>
          <p:nvPr/>
        </p:nvSpPr>
        <p:spPr>
          <a:xfrm>
            <a:off x="566928" y="4818888"/>
            <a:ext cx="5440680" cy="640080"/>
          </a:xfrm>
          <a:prstGeom prst="roundRect">
            <a:avLst>
              <a:gd name="adj" fmla="val 8571"/>
            </a:avLst>
          </a:prstGeom>
          <a:solidFill>
            <a:srgbClr val="15151B"/>
          </a:solidFill>
          <a:ln w="12700">
            <a:solidFill>
              <a:srgbClr val="26262F"/>
            </a:solidFill>
            <a:prstDash val="solid"/>
          </a:ln>
        </p:spPr>
      </p:sp>
      <p:sp>
        <p:nvSpPr>
          <p:cNvPr id="48" name="Text 46"/>
          <p:cNvSpPr/>
          <p:nvPr/>
        </p:nvSpPr>
        <p:spPr>
          <a:xfrm>
            <a:off x="749808" y="4892040"/>
            <a:ext cx="2286000" cy="292608"/>
          </a:xfrm>
          <a:prstGeom prst="rect">
            <a:avLst/>
          </a:prstGeom>
          <a:noFill/>
          <a:ln/>
        </p:spPr>
        <p:txBody>
          <a:bodyPr wrap="square" lIns="0" tIns="0" rIns="0" bIns="0" rtlCol="0" anchor="ctr"/>
          <a:lstStyle/>
          <a:p>
            <a:pPr indent="0" marL="0">
              <a:buNone/>
            </a:pPr>
            <a:r>
              <a:rPr lang="en-US" sz="1250" b="1" dirty="0">
                <a:solidFill>
                  <a:srgbClr val="FFC62A"/>
                </a:solidFill>
                <a:latin typeface="Bahnschrift" pitchFamily="34" charset="0"/>
                <a:ea typeface="Bahnschrift" pitchFamily="34" charset="-122"/>
                <a:cs typeface="Bahnschrift" pitchFamily="34" charset="-120"/>
              </a:rPr>
              <a:t>public</a:t>
            </a:r>
            <a:endParaRPr lang="en-US" sz="1250" dirty="0"/>
          </a:p>
        </p:txBody>
      </p:sp>
      <p:sp>
        <p:nvSpPr>
          <p:cNvPr id="49" name="Text 47"/>
          <p:cNvSpPr/>
          <p:nvPr/>
        </p:nvSpPr>
        <p:spPr>
          <a:xfrm>
            <a:off x="3035808" y="4892040"/>
            <a:ext cx="2834640" cy="493776"/>
          </a:xfrm>
          <a:prstGeom prst="rect">
            <a:avLst/>
          </a:prstGeom>
          <a:noFill/>
          <a:ln/>
        </p:spPr>
        <p:txBody>
          <a:bodyPr wrap="square" lIns="0" tIns="0" rIns="0" bIns="0" rtlCol="0" anchor="ctr"/>
          <a:lstStyle/>
          <a:p>
            <a:pPr indent="0" marL="0">
              <a:lnSpc>
                <a:spcPct val="105000"/>
              </a:lnSpc>
              <a:buNone/>
            </a:pPr>
            <a:r>
              <a:rPr lang="en-US" sz="880" dirty="0">
                <a:solidFill>
                  <a:srgbClr val="9A97A6"/>
                </a:solidFill>
                <a:latin typeface="Segoe UI" pitchFamily="34" charset="0"/>
                <a:ea typeface="Segoe UI" pitchFamily="34" charset="-122"/>
                <a:cs typeface="Segoe UI" pitchFamily="34" charset="-120"/>
              </a:rPr>
              <a:t>Stockfish WASM · workers · images · sounds · PWA assets</a:t>
            </a:r>
            <a:endParaRPr lang="en-US" sz="880" dirty="0"/>
          </a:p>
        </p:txBody>
      </p:sp>
      <p:sp>
        <p:nvSpPr>
          <p:cNvPr id="50" name="Shape 48"/>
          <p:cNvSpPr/>
          <p:nvPr/>
        </p:nvSpPr>
        <p:spPr>
          <a:xfrm>
            <a:off x="6190488" y="4818888"/>
            <a:ext cx="5440680" cy="640080"/>
          </a:xfrm>
          <a:prstGeom prst="roundRect">
            <a:avLst>
              <a:gd name="adj" fmla="val 8571"/>
            </a:avLst>
          </a:prstGeom>
          <a:solidFill>
            <a:srgbClr val="15151B"/>
          </a:solidFill>
          <a:ln w="12700">
            <a:solidFill>
              <a:srgbClr val="26262F"/>
            </a:solidFill>
            <a:prstDash val="solid"/>
          </a:ln>
        </p:spPr>
      </p:sp>
      <p:sp>
        <p:nvSpPr>
          <p:cNvPr id="51" name="Text 49"/>
          <p:cNvSpPr/>
          <p:nvPr/>
        </p:nvSpPr>
        <p:spPr>
          <a:xfrm>
            <a:off x="6373368" y="4892040"/>
            <a:ext cx="2286000" cy="292608"/>
          </a:xfrm>
          <a:prstGeom prst="rect">
            <a:avLst/>
          </a:prstGeom>
          <a:noFill/>
          <a:ln/>
        </p:spPr>
        <p:txBody>
          <a:bodyPr wrap="square" lIns="0" tIns="0" rIns="0" bIns="0" rtlCol="0" anchor="ctr"/>
          <a:lstStyle/>
          <a:p>
            <a:pPr indent="0" marL="0">
              <a:buNone/>
            </a:pPr>
            <a:r>
              <a:rPr lang="en-US" sz="1250" b="1" dirty="0">
                <a:solidFill>
                  <a:srgbClr val="FFC62A"/>
                </a:solidFill>
                <a:latin typeface="Bahnschrift" pitchFamily="34" charset="0"/>
                <a:ea typeface="Bahnschrift" pitchFamily="34" charset="-122"/>
                <a:cs typeface="Bahnschrift" pitchFamily="34" charset="-120"/>
              </a:rPr>
              <a:t>vendor</a:t>
            </a:r>
            <a:endParaRPr lang="en-US" sz="1250" dirty="0"/>
          </a:p>
        </p:txBody>
      </p:sp>
      <p:sp>
        <p:nvSpPr>
          <p:cNvPr id="52" name="Text 50"/>
          <p:cNvSpPr/>
          <p:nvPr/>
        </p:nvSpPr>
        <p:spPr>
          <a:xfrm>
            <a:off x="8659368" y="4892040"/>
            <a:ext cx="2834640" cy="493776"/>
          </a:xfrm>
          <a:prstGeom prst="rect">
            <a:avLst/>
          </a:prstGeom>
          <a:noFill/>
          <a:ln/>
        </p:spPr>
        <p:txBody>
          <a:bodyPr wrap="square" lIns="0" tIns="0" rIns="0" bIns="0" rtlCol="0" anchor="ctr"/>
          <a:lstStyle/>
          <a:p>
            <a:pPr indent="0" marL="0">
              <a:lnSpc>
                <a:spcPct val="105000"/>
              </a:lnSpc>
              <a:buNone/>
            </a:pPr>
            <a:r>
              <a:rPr lang="en-US" sz="880" dirty="0">
                <a:solidFill>
                  <a:srgbClr val="9A97A6"/>
                </a:solidFill>
                <a:latin typeface="Segoe UI" pitchFamily="34" charset="0"/>
                <a:ea typeface="Segoe UI" pitchFamily="34" charset="-122"/>
                <a:cs typeface="Segoe UI" pitchFamily="34" charset="-120"/>
              </a:rPr>
              <a:t>Syzygy 3-4-5 tablebases · opening books</a:t>
            </a:r>
            <a:endParaRPr lang="en-US" sz="880" dirty="0"/>
          </a:p>
        </p:txBody>
      </p:sp>
      <p:sp>
        <p:nvSpPr>
          <p:cNvPr id="53" name="Shape 51"/>
          <p:cNvSpPr/>
          <p:nvPr/>
        </p:nvSpPr>
        <p:spPr>
          <a:xfrm>
            <a:off x="566928" y="5577840"/>
            <a:ext cx="5440680" cy="640080"/>
          </a:xfrm>
          <a:prstGeom prst="roundRect">
            <a:avLst>
              <a:gd name="adj" fmla="val 8571"/>
            </a:avLst>
          </a:prstGeom>
          <a:solidFill>
            <a:srgbClr val="15151B"/>
          </a:solidFill>
          <a:ln w="12700">
            <a:solidFill>
              <a:srgbClr val="26262F"/>
            </a:solidFill>
            <a:prstDash val="solid"/>
          </a:ln>
        </p:spPr>
      </p:sp>
      <p:sp>
        <p:nvSpPr>
          <p:cNvPr id="54" name="Text 52"/>
          <p:cNvSpPr/>
          <p:nvPr/>
        </p:nvSpPr>
        <p:spPr>
          <a:xfrm>
            <a:off x="749808" y="5650992"/>
            <a:ext cx="2286000" cy="292608"/>
          </a:xfrm>
          <a:prstGeom prst="rect">
            <a:avLst/>
          </a:prstGeom>
          <a:noFill/>
          <a:ln/>
        </p:spPr>
        <p:txBody>
          <a:bodyPr wrap="square" lIns="0" tIns="0" rIns="0" bIns="0" rtlCol="0" anchor="ctr"/>
          <a:lstStyle/>
          <a:p>
            <a:pPr indent="0" marL="0">
              <a:buNone/>
            </a:pPr>
            <a:r>
              <a:rPr lang="en-US" sz="1250" b="1" dirty="0">
                <a:solidFill>
                  <a:srgbClr val="FFC62A"/>
                </a:solidFill>
                <a:latin typeface="Bahnschrift" pitchFamily="34" charset="0"/>
                <a:ea typeface="Bahnschrift" pitchFamily="34" charset="-122"/>
                <a:cs typeface="Bahnschrift" pitchFamily="34" charset="-120"/>
              </a:rPr>
              <a:t>docs</a:t>
            </a:r>
            <a:endParaRPr lang="en-US" sz="1250" dirty="0"/>
          </a:p>
        </p:txBody>
      </p:sp>
      <p:sp>
        <p:nvSpPr>
          <p:cNvPr id="55" name="Text 53"/>
          <p:cNvSpPr/>
          <p:nvPr/>
        </p:nvSpPr>
        <p:spPr>
          <a:xfrm>
            <a:off x="3035808" y="5650992"/>
            <a:ext cx="2834640" cy="493776"/>
          </a:xfrm>
          <a:prstGeom prst="rect">
            <a:avLst/>
          </a:prstGeom>
          <a:noFill/>
          <a:ln/>
        </p:spPr>
        <p:txBody>
          <a:bodyPr wrap="square" lIns="0" tIns="0" rIns="0" bIns="0" rtlCol="0" anchor="ctr"/>
          <a:lstStyle/>
          <a:p>
            <a:pPr indent="0" marL="0">
              <a:lnSpc>
                <a:spcPct val="105000"/>
              </a:lnSpc>
              <a:buNone/>
            </a:pPr>
            <a:r>
              <a:rPr lang="en-US" sz="880" dirty="0">
                <a:solidFill>
                  <a:srgbClr val="9A97A6"/>
                </a:solidFill>
                <a:latin typeface="Segoe UI" pitchFamily="34" charset="0"/>
                <a:ea typeface="Segoe UI" pitchFamily="34" charset="-122"/>
                <a:cs typeface="Segoe UI" pitchFamily="34" charset="-120"/>
              </a:rPr>
              <a:t>Analysis roadmap · Python engine integration reference</a:t>
            </a:r>
            <a:endParaRPr lang="en-US" sz="880" dirty="0"/>
          </a:p>
        </p:txBody>
      </p:sp>
      <p:sp>
        <p:nvSpPr>
          <p:cNvPr id="56" name="Shape 54"/>
          <p:cNvSpPr/>
          <p:nvPr/>
        </p:nvSpPr>
        <p:spPr>
          <a:xfrm>
            <a:off x="6190488" y="5577840"/>
            <a:ext cx="5440680" cy="640080"/>
          </a:xfrm>
          <a:prstGeom prst="roundRect">
            <a:avLst>
              <a:gd name="adj" fmla="val 8571"/>
            </a:avLst>
          </a:prstGeom>
          <a:solidFill>
            <a:srgbClr val="15151B"/>
          </a:solidFill>
          <a:ln w="12700">
            <a:solidFill>
              <a:srgbClr val="26262F"/>
            </a:solidFill>
            <a:prstDash val="solid"/>
          </a:ln>
        </p:spPr>
      </p:sp>
      <p:sp>
        <p:nvSpPr>
          <p:cNvPr id="57" name="Text 55"/>
          <p:cNvSpPr/>
          <p:nvPr/>
        </p:nvSpPr>
        <p:spPr>
          <a:xfrm>
            <a:off x="6373368" y="5650992"/>
            <a:ext cx="2286000" cy="292608"/>
          </a:xfrm>
          <a:prstGeom prst="rect">
            <a:avLst/>
          </a:prstGeom>
          <a:noFill/>
          <a:ln/>
        </p:spPr>
        <p:txBody>
          <a:bodyPr wrap="square" lIns="0" tIns="0" rIns="0" bIns="0" rtlCol="0" anchor="ctr"/>
          <a:lstStyle/>
          <a:p>
            <a:pPr indent="0" marL="0">
              <a:buNone/>
            </a:pPr>
            <a:r>
              <a:rPr lang="en-US" sz="1250" b="1" dirty="0">
                <a:solidFill>
                  <a:srgbClr val="FFC62A"/>
                </a:solidFill>
                <a:latin typeface="Bahnschrift" pitchFamily="34" charset="0"/>
                <a:ea typeface="Bahnschrift" pitchFamily="34" charset="-122"/>
                <a:cs typeface="Bahnschrift" pitchFamily="34" charset="-120"/>
              </a:rPr>
              <a:t>scripts</a:t>
            </a:r>
            <a:endParaRPr lang="en-US" sz="1250" dirty="0"/>
          </a:p>
        </p:txBody>
      </p:sp>
      <p:sp>
        <p:nvSpPr>
          <p:cNvPr id="58" name="Text 56"/>
          <p:cNvSpPr/>
          <p:nvPr/>
        </p:nvSpPr>
        <p:spPr>
          <a:xfrm>
            <a:off x="8659368" y="5650992"/>
            <a:ext cx="2834640" cy="493776"/>
          </a:xfrm>
          <a:prstGeom prst="rect">
            <a:avLst/>
          </a:prstGeom>
          <a:noFill/>
          <a:ln/>
        </p:spPr>
        <p:txBody>
          <a:bodyPr wrap="square" lIns="0" tIns="0" rIns="0" bIns="0" rtlCol="0" anchor="ctr"/>
          <a:lstStyle/>
          <a:p>
            <a:pPr indent="0" marL="0">
              <a:lnSpc>
                <a:spcPct val="105000"/>
              </a:lnSpc>
              <a:buNone/>
            </a:pPr>
            <a:r>
              <a:rPr lang="en-US" sz="880" dirty="0">
                <a:solidFill>
                  <a:srgbClr val="9A97A6"/>
                </a:solidFill>
                <a:latin typeface="Segoe UI" pitchFamily="34" charset="0"/>
                <a:ea typeface="Segoe UI" pitchFamily="34" charset="-122"/>
                <a:cs typeface="Segoe UI" pitchFamily="34" charset="-120"/>
              </a:rPr>
              <a:t>Stockfish / Syzygy / book installers · engine diagnostics</a:t>
            </a:r>
            <a:endParaRPr lang="en-US" sz="88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B0B0F"/>
        </a:solidFill>
      </p:bgPr>
    </p:bg>
    <p:spTree>
      <p:nvGrpSpPr>
        <p:cNvPr id="1" name=""/>
        <p:cNvGrpSpPr/>
        <p:nvPr/>
      </p:nvGrpSpPr>
      <p:grpSpPr>
        <a:xfrm>
          <a:off x="0" y="0"/>
          <a:ext cx="0" cy="0"/>
          <a:chOff x="0" y="0"/>
          <a:chExt cx="0" cy="0"/>
        </a:xfrm>
      </p:grpSpPr>
      <p:sp>
        <p:nvSpPr>
          <p:cNvPr id="2" name="Shape 0"/>
          <p:cNvSpPr/>
          <p:nvPr/>
        </p:nvSpPr>
        <p:spPr>
          <a:xfrm>
            <a:off x="10716768" y="292608"/>
            <a:ext cx="155448" cy="155448"/>
          </a:xfrm>
          <a:prstGeom prst="rect">
            <a:avLst/>
          </a:prstGeom>
          <a:solidFill>
            <a:srgbClr val="14141A"/>
          </a:solidFill>
          <a:ln/>
        </p:spPr>
      </p:sp>
      <p:sp>
        <p:nvSpPr>
          <p:cNvPr id="3" name="Shape 1"/>
          <p:cNvSpPr/>
          <p:nvPr/>
        </p:nvSpPr>
        <p:spPr>
          <a:xfrm>
            <a:off x="11027664" y="292608"/>
            <a:ext cx="155448" cy="155448"/>
          </a:xfrm>
          <a:prstGeom prst="rect">
            <a:avLst/>
          </a:prstGeom>
          <a:solidFill>
            <a:srgbClr val="14141A"/>
          </a:solidFill>
          <a:ln/>
        </p:spPr>
      </p:sp>
      <p:sp>
        <p:nvSpPr>
          <p:cNvPr id="4" name="Shape 2"/>
          <p:cNvSpPr/>
          <p:nvPr/>
        </p:nvSpPr>
        <p:spPr>
          <a:xfrm>
            <a:off x="10561320" y="448056"/>
            <a:ext cx="155448" cy="155448"/>
          </a:xfrm>
          <a:prstGeom prst="rect">
            <a:avLst/>
          </a:prstGeom>
          <a:solidFill>
            <a:srgbClr val="14141A"/>
          </a:solidFill>
          <a:ln/>
        </p:spPr>
      </p:sp>
      <p:sp>
        <p:nvSpPr>
          <p:cNvPr id="5" name="Shape 3"/>
          <p:cNvSpPr/>
          <p:nvPr/>
        </p:nvSpPr>
        <p:spPr>
          <a:xfrm>
            <a:off x="10872216" y="448056"/>
            <a:ext cx="155448" cy="155448"/>
          </a:xfrm>
          <a:prstGeom prst="rect">
            <a:avLst/>
          </a:prstGeom>
          <a:solidFill>
            <a:srgbClr val="14141A"/>
          </a:solidFill>
          <a:ln/>
        </p:spPr>
      </p:sp>
      <p:sp>
        <p:nvSpPr>
          <p:cNvPr id="6" name="Shape 4"/>
          <p:cNvSpPr/>
          <p:nvPr/>
        </p:nvSpPr>
        <p:spPr>
          <a:xfrm>
            <a:off x="11183112" y="448056"/>
            <a:ext cx="155448" cy="155448"/>
          </a:xfrm>
          <a:prstGeom prst="rect">
            <a:avLst/>
          </a:prstGeom>
          <a:solidFill>
            <a:srgbClr val="14141A"/>
          </a:solidFill>
          <a:ln/>
        </p:spPr>
      </p:sp>
      <p:sp>
        <p:nvSpPr>
          <p:cNvPr id="7" name="Shape 5"/>
          <p:cNvSpPr/>
          <p:nvPr/>
        </p:nvSpPr>
        <p:spPr>
          <a:xfrm>
            <a:off x="10716768" y="603504"/>
            <a:ext cx="155448" cy="155448"/>
          </a:xfrm>
          <a:prstGeom prst="rect">
            <a:avLst/>
          </a:prstGeom>
          <a:solidFill>
            <a:srgbClr val="14141A"/>
          </a:solidFill>
          <a:ln/>
        </p:spPr>
      </p:sp>
      <p:sp>
        <p:nvSpPr>
          <p:cNvPr id="8" name="Shape 6"/>
          <p:cNvSpPr/>
          <p:nvPr/>
        </p:nvSpPr>
        <p:spPr>
          <a:xfrm>
            <a:off x="11027664" y="603504"/>
            <a:ext cx="155448" cy="155448"/>
          </a:xfrm>
          <a:prstGeom prst="rect">
            <a:avLst/>
          </a:prstGeom>
          <a:solidFill>
            <a:srgbClr val="14141A"/>
          </a:solidFill>
          <a:ln/>
        </p:spPr>
      </p:sp>
      <p:sp>
        <p:nvSpPr>
          <p:cNvPr id="9" name="Shape 7"/>
          <p:cNvSpPr/>
          <p:nvPr/>
        </p:nvSpPr>
        <p:spPr>
          <a:xfrm>
            <a:off x="10561320" y="758952"/>
            <a:ext cx="155448" cy="155448"/>
          </a:xfrm>
          <a:prstGeom prst="rect">
            <a:avLst/>
          </a:prstGeom>
          <a:solidFill>
            <a:srgbClr val="14141A"/>
          </a:solidFill>
          <a:ln/>
        </p:spPr>
      </p:sp>
      <p:sp>
        <p:nvSpPr>
          <p:cNvPr id="10" name="Shape 8"/>
          <p:cNvSpPr/>
          <p:nvPr/>
        </p:nvSpPr>
        <p:spPr>
          <a:xfrm>
            <a:off x="10872216" y="758952"/>
            <a:ext cx="155448" cy="155448"/>
          </a:xfrm>
          <a:prstGeom prst="rect">
            <a:avLst/>
          </a:prstGeom>
          <a:solidFill>
            <a:srgbClr val="14141A"/>
          </a:solidFill>
          <a:ln/>
        </p:spPr>
      </p:sp>
      <p:sp>
        <p:nvSpPr>
          <p:cNvPr id="11" name="Shape 9"/>
          <p:cNvSpPr/>
          <p:nvPr/>
        </p:nvSpPr>
        <p:spPr>
          <a:xfrm>
            <a:off x="11183112" y="758952"/>
            <a:ext cx="155448" cy="155448"/>
          </a:xfrm>
          <a:prstGeom prst="rect">
            <a:avLst/>
          </a:prstGeom>
          <a:solidFill>
            <a:srgbClr val="14141A"/>
          </a:solidFill>
          <a:ln/>
        </p:spPr>
      </p:sp>
      <p:sp>
        <p:nvSpPr>
          <p:cNvPr id="12" name="Shape 10"/>
          <p:cNvSpPr/>
          <p:nvPr/>
        </p:nvSpPr>
        <p:spPr>
          <a:xfrm>
            <a:off x="10716768" y="914400"/>
            <a:ext cx="155448" cy="155448"/>
          </a:xfrm>
          <a:prstGeom prst="rect">
            <a:avLst/>
          </a:prstGeom>
          <a:solidFill>
            <a:srgbClr val="14141A"/>
          </a:solidFill>
          <a:ln/>
        </p:spPr>
      </p:sp>
      <p:sp>
        <p:nvSpPr>
          <p:cNvPr id="13" name="Shape 11"/>
          <p:cNvSpPr/>
          <p:nvPr/>
        </p:nvSpPr>
        <p:spPr>
          <a:xfrm>
            <a:off x="11027664" y="914400"/>
            <a:ext cx="155448" cy="155448"/>
          </a:xfrm>
          <a:prstGeom prst="rect">
            <a:avLst/>
          </a:prstGeom>
          <a:solidFill>
            <a:srgbClr val="14141A"/>
          </a:solidFill>
          <a:ln/>
        </p:spPr>
      </p:sp>
      <p:sp>
        <p:nvSpPr>
          <p:cNvPr id="14" name="Shape 12"/>
          <p:cNvSpPr/>
          <p:nvPr/>
        </p:nvSpPr>
        <p:spPr>
          <a:xfrm>
            <a:off x="9859975" y="310896"/>
            <a:ext cx="1783080" cy="292608"/>
          </a:xfrm>
          <a:prstGeom prst="roundRect">
            <a:avLst>
              <a:gd name="adj" fmla="val 50000"/>
            </a:avLst>
          </a:prstGeom>
          <a:solidFill>
            <a:srgbClr val="2A2412"/>
          </a:solidFill>
          <a:ln w="9525">
            <a:solidFill>
              <a:srgbClr val="4A3D18"/>
            </a:solidFill>
            <a:prstDash val="solid"/>
          </a:ln>
        </p:spPr>
      </p:sp>
      <p:sp>
        <p:nvSpPr>
          <p:cNvPr id="15" name="Text 13"/>
          <p:cNvSpPr/>
          <p:nvPr/>
        </p:nvSpPr>
        <p:spPr>
          <a:xfrm>
            <a:off x="9859975" y="301752"/>
            <a:ext cx="1783080" cy="310896"/>
          </a:xfrm>
          <a:prstGeom prst="rect">
            <a:avLst/>
          </a:prstGeom>
          <a:noFill/>
          <a:ln/>
        </p:spPr>
        <p:txBody>
          <a:bodyPr wrap="square" lIns="0" tIns="0" rIns="0" bIns="0" rtlCol="0" anchor="ctr"/>
          <a:lstStyle/>
          <a:p>
            <a:pPr algn="ctr" indent="0" marL="0">
              <a:buNone/>
            </a:pPr>
            <a:r>
              <a:rPr lang="en-US" sz="800" b="1" spc="120" kern="0" dirty="0">
                <a:solidFill>
                  <a:srgbClr val="FFC62A"/>
                </a:solidFill>
                <a:latin typeface="Bahnschrift" pitchFamily="34" charset="0"/>
                <a:ea typeface="Bahnschrift" pitchFamily="34" charset="-122"/>
                <a:cs typeface="Bahnschrift" pitchFamily="34" charset="-120"/>
              </a:rPr>
              <a:t>VERIFIED · FROM SOURCE CODE</a:t>
            </a:r>
            <a:endParaRPr lang="en-US" sz="800" dirty="0"/>
          </a:p>
        </p:txBody>
      </p:sp>
      <p:sp>
        <p:nvSpPr>
          <p:cNvPr id="16" name="Text 14"/>
          <p:cNvSpPr/>
          <p:nvPr/>
        </p:nvSpPr>
        <p:spPr>
          <a:xfrm>
            <a:off x="566928" y="384048"/>
            <a:ext cx="8229600" cy="274320"/>
          </a:xfrm>
          <a:prstGeom prst="rect">
            <a:avLst/>
          </a:prstGeom>
          <a:noFill/>
          <a:ln/>
        </p:spPr>
        <p:txBody>
          <a:bodyPr wrap="square" lIns="0" tIns="0" rIns="0" bIns="0" rtlCol="0" anchor="ctr"/>
          <a:lstStyle/>
          <a:p>
            <a:pPr indent="0" marL="0">
              <a:buNone/>
            </a:pPr>
            <a:r>
              <a:rPr lang="en-US" sz="1100" b="1" spc="300" kern="0" dirty="0">
                <a:solidFill>
                  <a:srgbClr val="FFC62A"/>
                </a:solidFill>
                <a:latin typeface="Bahnschrift" pitchFamily="34" charset="0"/>
                <a:ea typeface="Bahnschrift" pitchFamily="34" charset="-122"/>
                <a:cs typeface="Bahnschrift" pitchFamily="34" charset="-120"/>
              </a:rPr>
              <a:t>APPENDIX · B</a:t>
            </a:r>
            <a:endParaRPr lang="en-US" sz="1100" dirty="0"/>
          </a:p>
        </p:txBody>
      </p:sp>
      <p:sp>
        <p:nvSpPr>
          <p:cNvPr id="17" name="Shape 15"/>
          <p:cNvSpPr/>
          <p:nvPr/>
        </p:nvSpPr>
        <p:spPr>
          <a:xfrm>
            <a:off x="566928" y="713232"/>
            <a:ext cx="384048" cy="45720"/>
          </a:xfrm>
          <a:prstGeom prst="rect">
            <a:avLst/>
          </a:prstGeom>
          <a:solidFill>
            <a:srgbClr val="FFC62A"/>
          </a:solidFill>
          <a:ln/>
        </p:spPr>
      </p:sp>
      <p:sp>
        <p:nvSpPr>
          <p:cNvPr id="18" name="Text 16"/>
          <p:cNvSpPr/>
          <p:nvPr/>
        </p:nvSpPr>
        <p:spPr>
          <a:xfrm>
            <a:off x="548640" y="841248"/>
            <a:ext cx="11064240" cy="566928"/>
          </a:xfrm>
          <a:prstGeom prst="rect">
            <a:avLst/>
          </a:prstGeom>
          <a:noFill/>
          <a:ln/>
        </p:spPr>
        <p:txBody>
          <a:bodyPr wrap="square" lIns="0" tIns="0" rIns="0" bIns="0" rtlCol="0" anchor="ctr"/>
          <a:lstStyle/>
          <a:p>
            <a:pPr indent="0" marL="0">
              <a:buNone/>
            </a:pPr>
            <a:r>
              <a:rPr lang="en-US" sz="2700" b="1" dirty="0">
                <a:solidFill>
                  <a:srgbClr val="F5F2EA"/>
                </a:solidFill>
                <a:latin typeface="Bahnschrift" pitchFamily="34" charset="0"/>
                <a:ea typeface="Bahnschrift" pitchFamily="34" charset="-122"/>
                <a:cs typeface="Bahnschrift" pitchFamily="34" charset="-120"/>
              </a:rPr>
              <a:t>API surface — 25 routes</a:t>
            </a:r>
            <a:endParaRPr lang="en-US" sz="2700" dirty="0"/>
          </a:p>
        </p:txBody>
      </p:sp>
      <p:sp>
        <p:nvSpPr>
          <p:cNvPr id="19" name="Text 17"/>
          <p:cNvSpPr/>
          <p:nvPr/>
        </p:nvSpPr>
        <p:spPr>
          <a:xfrm>
            <a:off x="566928" y="1389888"/>
            <a:ext cx="11064240" cy="274320"/>
          </a:xfrm>
          <a:prstGeom prst="rect">
            <a:avLst/>
          </a:prstGeom>
          <a:noFill/>
          <a:ln/>
        </p:spPr>
        <p:txBody>
          <a:bodyPr wrap="square" lIns="0" tIns="0" rIns="0" bIns="0" rtlCol="0" anchor="ctr"/>
          <a:lstStyle/>
          <a:p>
            <a:pPr indent="0" marL="0">
              <a:buNone/>
            </a:pPr>
            <a:r>
              <a:rPr lang="en-US" sz="1250" dirty="0">
                <a:solidFill>
                  <a:srgbClr val="9A97A6"/>
                </a:solidFill>
                <a:latin typeface="Segoe UI" pitchFamily="34" charset="0"/>
                <a:ea typeface="Segoe UI" pitchFamily="34" charset="-122"/>
                <a:cs typeface="Segoe UI" pitchFamily="34" charset="-120"/>
              </a:rPr>
              <a:t>Key endpoints verified from src/app/api.</a:t>
            </a:r>
            <a:endParaRPr lang="en-US" sz="1250" dirty="0"/>
          </a:p>
        </p:txBody>
      </p:sp>
      <p:sp>
        <p:nvSpPr>
          <p:cNvPr id="20" name="Text 18"/>
          <p:cNvSpPr/>
          <p:nvPr/>
        </p:nvSpPr>
        <p:spPr>
          <a:xfrm>
            <a:off x="566928" y="6492240"/>
            <a:ext cx="2743200" cy="256032"/>
          </a:xfrm>
          <a:prstGeom prst="rect">
            <a:avLst/>
          </a:prstGeom>
          <a:noFill/>
          <a:ln/>
        </p:spPr>
        <p:txBody>
          <a:bodyPr wrap="square" lIns="0" tIns="0" rIns="0" bIns="0" rtlCol="0" anchor="ctr"/>
          <a:lstStyle/>
          <a:p>
            <a:pPr indent="0" marL="0">
              <a:buNone/>
            </a:pPr>
            <a:r>
              <a:rPr lang="en-US" sz="850" b="1" spc="300" kern="0" dirty="0">
                <a:solidFill>
                  <a:srgbClr val="5C5966"/>
                </a:solidFill>
                <a:latin typeface="Bahnschrift" pitchFamily="34" charset="0"/>
                <a:ea typeface="Bahnschrift" pitchFamily="34" charset="-122"/>
                <a:cs typeface="Bahnschrift" pitchFamily="34" charset="-120"/>
              </a:rPr>
              <a:t>CHESSFORK</a:t>
            </a:r>
            <a:endParaRPr lang="en-US" sz="850" dirty="0"/>
          </a:p>
        </p:txBody>
      </p:sp>
      <p:sp>
        <p:nvSpPr>
          <p:cNvPr id="21" name="Text 19"/>
          <p:cNvSpPr/>
          <p:nvPr/>
        </p:nvSpPr>
        <p:spPr>
          <a:xfrm>
            <a:off x="3840480" y="6492240"/>
            <a:ext cx="4572000" cy="256032"/>
          </a:xfrm>
          <a:prstGeom prst="rect">
            <a:avLst/>
          </a:prstGeom>
          <a:noFill/>
          <a:ln/>
        </p:spPr>
        <p:txBody>
          <a:bodyPr wrap="square" lIns="0" tIns="0" rIns="0" bIns="0" rtlCol="0" anchor="ctr"/>
          <a:lstStyle/>
          <a:p>
            <a:pPr indent="0" marL="0">
              <a:buNone/>
            </a:pPr>
            <a:r>
              <a:rPr lang="en-US" sz="800" spc="150" kern="0" dirty="0">
                <a:solidFill>
                  <a:srgbClr val="5C5966"/>
                </a:solidFill>
                <a:latin typeface="Segoe UI" pitchFamily="34" charset="0"/>
                <a:ea typeface="Segoe UI" pitchFamily="34" charset="-122"/>
                <a:cs typeface="Segoe UI" pitchFamily="34" charset="-120"/>
              </a:rPr>
              <a:t>BCA FINAL YEAR PROJECT · 2026</a:t>
            </a:r>
            <a:endParaRPr lang="en-US" sz="800" dirty="0"/>
          </a:p>
        </p:txBody>
      </p:sp>
      <p:sp>
        <p:nvSpPr>
          <p:cNvPr id="22" name="Text 20"/>
          <p:cNvSpPr/>
          <p:nvPr/>
        </p:nvSpPr>
        <p:spPr>
          <a:xfrm>
            <a:off x="11292840" y="6473952"/>
            <a:ext cx="365760" cy="274320"/>
          </a:xfrm>
          <a:prstGeom prst="rect">
            <a:avLst/>
          </a:prstGeom>
          <a:noFill/>
          <a:ln/>
        </p:spPr>
        <p:txBody>
          <a:bodyPr wrap="square" lIns="0" tIns="0" rIns="0" bIns="0" rtlCol="0" anchor="ctr"/>
          <a:lstStyle/>
          <a:p>
            <a:pPr algn="r" indent="0" marL="0">
              <a:buNone/>
            </a:pPr>
            <a:r>
              <a:rPr lang="en-US" sz="900" b="1" dirty="0">
                <a:solidFill>
                  <a:srgbClr val="5C5966"/>
                </a:solidFill>
                <a:latin typeface="Bahnschrift" pitchFamily="34" charset="0"/>
                <a:ea typeface="Bahnschrift" pitchFamily="34" charset="-122"/>
                <a:cs typeface="Bahnschrift" pitchFamily="34" charset="-120"/>
              </a:rPr>
              <a:t>20</a:t>
            </a:r>
            <a:endParaRPr lang="en-US" sz="9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66928" y="1737360"/>
          <a:ext cx="11064240" cy="914400"/>
        </p:xfrm>
        <a:graphic>
          <a:graphicData uri="http://schemas.openxmlformats.org/drawingml/2006/table">
            <a:tbl>
              <a:tblPr/>
              <a:tblGrid>
                <a:gridCol w="3291840"/>
                <a:gridCol w="1097280"/>
                <a:gridCol w="6675120"/>
              </a:tblGrid>
              <a:tr h="310896">
                <a:tc>
                  <a:txBody>
                    <a:bodyPr/>
                    <a:lstStyle/>
                    <a:p>
                      <a:pPr algn="l" indent="0" marL="0">
                        <a:buNone/>
                      </a:pPr>
                      <a:r>
                        <a:rPr lang="en-US" sz="1100" b="1" spc="100" kern="0" dirty="0">
                          <a:solidFill>
                            <a:srgbClr val="FFC62A"/>
                          </a:solidFill>
                          <a:latin typeface="Bahnschrift" pitchFamily="34" charset="0"/>
                          <a:ea typeface="Bahnschrift" pitchFamily="34" charset="-122"/>
                          <a:cs typeface="Bahnschrift" pitchFamily="34" charset="-120"/>
                        </a:rPr>
                        <a:t>Endpoint</a:t>
                      </a:r>
                      <a:endParaRPr lang="en-US" sz="1100" dirty="0">
                        <a:latin typeface="Bahnschrift" charset="0"/>
                        <a:ea typeface="Bahnschrift" charset="0"/>
                        <a:cs typeface="Bahnschrift" charset="0"/>
                      </a:endParaRPr>
                    </a:p>
                  </a:txBody>
                  <a:tcPr marL="36576" marR="36576" marT="36576" marB="36576" anchor="ctr">
                    <a:lnL w="6350" cap="flat" cmpd="sng" algn="ctr">
                      <a:solidFill>
                        <a:srgbClr val="26262F"/>
                      </a:solidFill>
                      <a:prstDash val="solid"/>
                      <a:round/>
                      <a:headEnd type="none" w="med" len="med"/>
                      <a:tailEnd type="none" w="med" len="med"/>
                    </a:lnL>
                    <a:lnR w="6350" cap="flat" cmpd="sng" algn="ctr">
                      <a:solidFill>
                        <a:srgbClr val="26262F"/>
                      </a:solidFill>
                      <a:prstDash val="solid"/>
                      <a:round/>
                      <a:headEnd type="none" w="med" len="med"/>
                      <a:tailEnd type="none" w="med" len="med"/>
                    </a:lnR>
                    <a:lnT w="6350" cap="flat" cmpd="sng" algn="ctr">
                      <a:solidFill>
                        <a:srgbClr val="26262F"/>
                      </a:solidFill>
                      <a:prstDash val="solid"/>
                      <a:round/>
                      <a:headEnd type="none" w="med" len="med"/>
                      <a:tailEnd type="none" w="med" len="med"/>
                    </a:lnT>
                    <a:lnB w="6350" cap="flat" cmpd="sng" algn="ctr">
                      <a:solidFill>
                        <a:srgbClr val="26262F"/>
                      </a:solidFill>
                      <a:prstDash val="solid"/>
                      <a:round/>
                      <a:headEnd type="none" w="med" len="med"/>
                      <a:tailEnd type="none" w="med" len="med"/>
                    </a:lnB>
                    <a:solidFill>
                      <a:srgbClr val="1E1E26"/>
                    </a:solidFill>
                  </a:tcPr>
                </a:tc>
                <a:tc>
                  <a:txBody>
                    <a:bodyPr/>
                    <a:lstStyle/>
                    <a:p>
                      <a:pPr algn="l" indent="0" marL="0">
                        <a:buNone/>
                      </a:pPr>
                      <a:r>
                        <a:rPr lang="en-US" sz="1100" b="1" spc="100" kern="0" dirty="0">
                          <a:solidFill>
                            <a:srgbClr val="FFC62A"/>
                          </a:solidFill>
                          <a:latin typeface="Bahnschrift" pitchFamily="34" charset="0"/>
                          <a:ea typeface="Bahnschrift" pitchFamily="34" charset="-122"/>
                          <a:cs typeface="Bahnschrift" pitchFamily="34" charset="-120"/>
                        </a:rPr>
                        <a:t>Method</a:t>
                      </a:r>
                      <a:endParaRPr lang="en-US" sz="1100" dirty="0">
                        <a:latin typeface="Bahnschrift" charset="0"/>
                        <a:ea typeface="Bahnschrift" charset="0"/>
                        <a:cs typeface="Bahnschrift" charset="0"/>
                      </a:endParaRPr>
                    </a:p>
                  </a:txBody>
                  <a:tcPr marL="36576" marR="36576" marT="36576" marB="36576" anchor="ctr">
                    <a:lnL w="6350" cap="flat" cmpd="sng" algn="ctr">
                      <a:solidFill>
                        <a:srgbClr val="26262F"/>
                      </a:solidFill>
                      <a:prstDash val="solid"/>
                      <a:round/>
                      <a:headEnd type="none" w="med" len="med"/>
                      <a:tailEnd type="none" w="med" len="med"/>
                    </a:lnL>
                    <a:lnR w="6350" cap="flat" cmpd="sng" algn="ctr">
                      <a:solidFill>
                        <a:srgbClr val="26262F"/>
                      </a:solidFill>
                      <a:prstDash val="solid"/>
                      <a:round/>
                      <a:headEnd type="none" w="med" len="med"/>
                      <a:tailEnd type="none" w="med" len="med"/>
                    </a:lnR>
                    <a:lnT w="6350" cap="flat" cmpd="sng" algn="ctr">
                      <a:solidFill>
                        <a:srgbClr val="26262F"/>
                      </a:solidFill>
                      <a:prstDash val="solid"/>
                      <a:round/>
                      <a:headEnd type="none" w="med" len="med"/>
                      <a:tailEnd type="none" w="med" len="med"/>
                    </a:lnT>
                    <a:lnB w="6350" cap="flat" cmpd="sng" algn="ctr">
                      <a:solidFill>
                        <a:srgbClr val="26262F"/>
                      </a:solidFill>
                      <a:prstDash val="solid"/>
                      <a:round/>
                      <a:headEnd type="none" w="med" len="med"/>
                      <a:tailEnd type="none" w="med" len="med"/>
                    </a:lnB>
                    <a:solidFill>
                      <a:srgbClr val="1E1E26"/>
                    </a:solidFill>
                  </a:tcPr>
                </a:tc>
                <a:tc>
                  <a:txBody>
                    <a:bodyPr/>
                    <a:lstStyle/>
                    <a:p>
                      <a:pPr algn="l" indent="0" marL="0">
                        <a:buNone/>
                      </a:pPr>
                      <a:r>
                        <a:rPr lang="en-US" sz="1100" b="1" spc="100" kern="0" dirty="0">
                          <a:solidFill>
                            <a:srgbClr val="FFC62A"/>
                          </a:solidFill>
                          <a:latin typeface="Bahnschrift" pitchFamily="34" charset="0"/>
                          <a:ea typeface="Bahnschrift" pitchFamily="34" charset="-122"/>
                          <a:cs typeface="Bahnschrift" pitchFamily="34" charset="-120"/>
                        </a:rPr>
                        <a:t>Purpose</a:t>
                      </a:r>
                      <a:endParaRPr lang="en-US" sz="1100" dirty="0">
                        <a:latin typeface="Bahnschrift" charset="0"/>
                        <a:ea typeface="Bahnschrift" charset="0"/>
                        <a:cs typeface="Bahnschrift" charset="0"/>
                      </a:endParaRPr>
                    </a:p>
                  </a:txBody>
                  <a:tcPr marL="36576" marR="36576" marT="36576" marB="36576" anchor="ctr">
                    <a:lnL w="6350" cap="flat" cmpd="sng" algn="ctr">
                      <a:solidFill>
                        <a:srgbClr val="26262F"/>
                      </a:solidFill>
                      <a:prstDash val="solid"/>
                      <a:round/>
                      <a:headEnd type="none" w="med" len="med"/>
                      <a:tailEnd type="none" w="med" len="med"/>
                    </a:lnL>
                    <a:lnR w="6350" cap="flat" cmpd="sng" algn="ctr">
                      <a:solidFill>
                        <a:srgbClr val="26262F"/>
                      </a:solidFill>
                      <a:prstDash val="solid"/>
                      <a:round/>
                      <a:headEnd type="none" w="med" len="med"/>
                      <a:tailEnd type="none" w="med" len="med"/>
                    </a:lnR>
                    <a:lnT w="6350" cap="flat" cmpd="sng" algn="ctr">
                      <a:solidFill>
                        <a:srgbClr val="26262F"/>
                      </a:solidFill>
                      <a:prstDash val="solid"/>
                      <a:round/>
                      <a:headEnd type="none" w="med" len="med"/>
                      <a:tailEnd type="none" w="med" len="med"/>
                    </a:lnT>
                    <a:lnB w="6350" cap="flat" cmpd="sng" algn="ctr">
                      <a:solidFill>
                        <a:srgbClr val="26262F"/>
                      </a:solidFill>
                      <a:prstDash val="solid"/>
                      <a:round/>
                      <a:headEnd type="none" w="med" len="med"/>
                      <a:tailEnd type="none" w="med" len="med"/>
                    </a:lnB>
                    <a:solidFill>
                      <a:srgbClr val="1E1E26"/>
                    </a:solidFill>
                  </a:tcPr>
                </a:tc>
              </a:tr>
              <a:tr h="310896">
                <a:tc>
                  <a:txBody>
                    <a:bodyPr/>
                    <a:lstStyle/>
                    <a:p>
                      <a:pPr algn="l" indent="0" marL="0">
                        <a:buNone/>
                      </a:pPr>
                      <a:r>
                        <a:rPr lang="en-US" sz="1000" dirty="0">
                          <a:solidFill>
                            <a:srgbClr val="F5F2EA"/>
                          </a:solidFill>
                          <a:latin typeface="Segoe UI" pitchFamily="34" charset="0"/>
                          <a:ea typeface="Segoe UI" pitchFamily="34" charset="-122"/>
                          <a:cs typeface="Segoe UI" pitchFamily="34" charset="-120"/>
                        </a:rPr>
                        <a:t>/api/analyze</a:t>
                      </a:r>
                      <a:endParaRPr lang="en-US" sz="1000" dirty="0">
                        <a:latin typeface="Segoe UI" charset="0"/>
                        <a:ea typeface="Segoe UI" charset="0"/>
                        <a:cs typeface="Segoe UI" charset="0"/>
                      </a:endParaRPr>
                    </a:p>
                  </a:txBody>
                  <a:tcPr marL="36576" marR="36576" marT="36576" marB="36576" anchor="ctr">
                    <a:lnL w="6350" cap="flat" cmpd="sng" algn="ctr">
                      <a:solidFill>
                        <a:srgbClr val="26262F"/>
                      </a:solidFill>
                      <a:prstDash val="solid"/>
                      <a:round/>
                      <a:headEnd type="none" w="med" len="med"/>
                      <a:tailEnd type="none" w="med" len="med"/>
                    </a:lnL>
                    <a:lnR w="6350" cap="flat" cmpd="sng" algn="ctr">
                      <a:solidFill>
                        <a:srgbClr val="26262F"/>
                      </a:solidFill>
                      <a:prstDash val="solid"/>
                      <a:round/>
                      <a:headEnd type="none" w="med" len="med"/>
                      <a:tailEnd type="none" w="med" len="med"/>
                    </a:lnR>
                    <a:lnT w="6350" cap="flat" cmpd="sng" algn="ctr">
                      <a:solidFill>
                        <a:srgbClr val="26262F"/>
                      </a:solidFill>
                      <a:prstDash val="solid"/>
                      <a:round/>
                      <a:headEnd type="none" w="med" len="med"/>
                      <a:tailEnd type="none" w="med" len="med"/>
                    </a:lnT>
                    <a:lnB w="6350" cap="flat" cmpd="sng" algn="ctr">
                      <a:solidFill>
                        <a:srgbClr val="26262F"/>
                      </a:solidFill>
                      <a:prstDash val="solid"/>
                      <a:round/>
                      <a:headEnd type="none" w="med" len="med"/>
                      <a:tailEnd type="none" w="med" len="med"/>
                    </a:lnB>
                    <a:solidFill>
                      <a:srgbClr val="15151B"/>
                    </a:solidFill>
                  </a:tcPr>
                </a:tc>
                <a:tc>
                  <a:txBody>
                    <a:bodyPr/>
                    <a:lstStyle/>
                    <a:p>
                      <a:pPr algn="l" indent="0" marL="0">
                        <a:buNone/>
                      </a:pPr>
                      <a:r>
                        <a:rPr lang="en-US" sz="1000" dirty="0">
                          <a:solidFill>
                            <a:srgbClr val="F5F2EA"/>
                          </a:solidFill>
                          <a:latin typeface="Segoe UI" pitchFamily="34" charset="0"/>
                          <a:ea typeface="Segoe UI" pitchFamily="34" charset="-122"/>
                          <a:cs typeface="Segoe UI" pitchFamily="34" charset="-120"/>
                        </a:rPr>
                        <a:t>POST</a:t>
                      </a:r>
                      <a:endParaRPr lang="en-US" sz="1000" dirty="0">
                        <a:latin typeface="Segoe UI" charset="0"/>
                        <a:ea typeface="Segoe UI" charset="0"/>
                        <a:cs typeface="Segoe UI" charset="0"/>
                      </a:endParaRPr>
                    </a:p>
                  </a:txBody>
                  <a:tcPr marL="36576" marR="36576" marT="36576" marB="36576" anchor="ctr">
                    <a:lnL w="6350" cap="flat" cmpd="sng" algn="ctr">
                      <a:solidFill>
                        <a:srgbClr val="26262F"/>
                      </a:solidFill>
                      <a:prstDash val="solid"/>
                      <a:round/>
                      <a:headEnd type="none" w="med" len="med"/>
                      <a:tailEnd type="none" w="med" len="med"/>
                    </a:lnL>
                    <a:lnR w="6350" cap="flat" cmpd="sng" algn="ctr">
                      <a:solidFill>
                        <a:srgbClr val="26262F"/>
                      </a:solidFill>
                      <a:prstDash val="solid"/>
                      <a:round/>
                      <a:headEnd type="none" w="med" len="med"/>
                      <a:tailEnd type="none" w="med" len="med"/>
                    </a:lnR>
                    <a:lnT w="6350" cap="flat" cmpd="sng" algn="ctr">
                      <a:solidFill>
                        <a:srgbClr val="26262F"/>
                      </a:solidFill>
                      <a:prstDash val="solid"/>
                      <a:round/>
                      <a:headEnd type="none" w="med" len="med"/>
                      <a:tailEnd type="none" w="med" len="med"/>
                    </a:lnT>
                    <a:lnB w="6350" cap="flat" cmpd="sng" algn="ctr">
                      <a:solidFill>
                        <a:srgbClr val="26262F"/>
                      </a:solidFill>
                      <a:prstDash val="solid"/>
                      <a:round/>
                      <a:headEnd type="none" w="med" len="med"/>
                      <a:tailEnd type="none" w="med" len="med"/>
                    </a:lnB>
                    <a:solidFill>
                      <a:srgbClr val="17171F"/>
                    </a:solidFill>
                  </a:tcPr>
                </a:tc>
                <a:tc>
                  <a:txBody>
                    <a:bodyPr/>
                    <a:lstStyle/>
                    <a:p>
                      <a:pPr algn="l" indent="0" marL="0">
                        <a:buNone/>
                      </a:pPr>
                      <a:r>
                        <a:rPr lang="en-US" sz="1000" dirty="0">
                          <a:solidFill>
                            <a:srgbClr val="F5F2EA"/>
                          </a:solidFill>
                          <a:latin typeface="Segoe UI" pitchFamily="34" charset="0"/>
                          <a:ea typeface="Segoe UI" pitchFamily="34" charset="-122"/>
                          <a:cs typeface="Segoe UI" pitchFamily="34" charset="-120"/>
                        </a:rPr>
                        <a:t>Quick / deep full-game analysis → saved report</a:t>
                      </a:r>
                      <a:endParaRPr lang="en-US" sz="1000" dirty="0">
                        <a:latin typeface="Segoe UI" charset="0"/>
                        <a:ea typeface="Segoe UI" charset="0"/>
                        <a:cs typeface="Segoe UI" charset="0"/>
                      </a:endParaRPr>
                    </a:p>
                  </a:txBody>
                  <a:tcPr marL="36576" marR="36576" marT="36576" marB="36576" anchor="ctr">
                    <a:lnL w="6350" cap="flat" cmpd="sng" algn="ctr">
                      <a:solidFill>
                        <a:srgbClr val="26262F"/>
                      </a:solidFill>
                      <a:prstDash val="solid"/>
                      <a:round/>
                      <a:headEnd type="none" w="med" len="med"/>
                      <a:tailEnd type="none" w="med" len="med"/>
                    </a:lnL>
                    <a:lnR w="6350" cap="flat" cmpd="sng" algn="ctr">
                      <a:solidFill>
                        <a:srgbClr val="26262F"/>
                      </a:solidFill>
                      <a:prstDash val="solid"/>
                      <a:round/>
                      <a:headEnd type="none" w="med" len="med"/>
                      <a:tailEnd type="none" w="med" len="med"/>
                    </a:lnR>
                    <a:lnT w="6350" cap="flat" cmpd="sng" algn="ctr">
                      <a:solidFill>
                        <a:srgbClr val="26262F"/>
                      </a:solidFill>
                      <a:prstDash val="solid"/>
                      <a:round/>
                      <a:headEnd type="none" w="med" len="med"/>
                      <a:tailEnd type="none" w="med" len="med"/>
                    </a:lnT>
                    <a:lnB w="6350" cap="flat" cmpd="sng" algn="ctr">
                      <a:solidFill>
                        <a:srgbClr val="26262F"/>
                      </a:solidFill>
                      <a:prstDash val="solid"/>
                      <a:round/>
                      <a:headEnd type="none" w="med" len="med"/>
                      <a:tailEnd type="none" w="med" len="med"/>
                    </a:lnB>
                    <a:solidFill>
                      <a:srgbClr val="15151B"/>
                    </a:solidFill>
                  </a:tcPr>
                </a:tc>
              </a:tr>
              <a:tr h="310896">
                <a:tc>
                  <a:txBody>
                    <a:bodyPr/>
                    <a:lstStyle/>
                    <a:p>
                      <a:pPr algn="l" indent="0" marL="0">
                        <a:buNone/>
                      </a:pPr>
                      <a:r>
                        <a:rPr lang="en-US" sz="1000" dirty="0">
                          <a:solidFill>
                            <a:srgbClr val="F5F2EA"/>
                          </a:solidFill>
                          <a:latin typeface="Segoe UI" pitchFamily="34" charset="0"/>
                          <a:ea typeface="Segoe UI" pitchFamily="34" charset="-122"/>
                          <a:cs typeface="Segoe UI" pitchFamily="34" charset="-120"/>
                        </a:rPr>
                        <a:t>/api/analyze-stream</a:t>
                      </a:r>
                      <a:endParaRPr lang="en-US" sz="1000" dirty="0">
                        <a:latin typeface="Segoe UI" charset="0"/>
                        <a:ea typeface="Segoe UI" charset="0"/>
                        <a:cs typeface="Segoe UI" charset="0"/>
                      </a:endParaRPr>
                    </a:p>
                  </a:txBody>
                  <a:tcPr marL="36576" marR="36576" marT="36576" marB="36576" anchor="ctr">
                    <a:lnL w="6350" cap="flat" cmpd="sng" algn="ctr">
                      <a:solidFill>
                        <a:srgbClr val="26262F"/>
                      </a:solidFill>
                      <a:prstDash val="solid"/>
                      <a:round/>
                      <a:headEnd type="none" w="med" len="med"/>
                      <a:tailEnd type="none" w="med" len="med"/>
                    </a:lnL>
                    <a:lnR w="6350" cap="flat" cmpd="sng" algn="ctr">
                      <a:solidFill>
                        <a:srgbClr val="26262F"/>
                      </a:solidFill>
                      <a:prstDash val="solid"/>
                      <a:round/>
                      <a:headEnd type="none" w="med" len="med"/>
                      <a:tailEnd type="none" w="med" len="med"/>
                    </a:lnR>
                    <a:lnT w="6350" cap="flat" cmpd="sng" algn="ctr">
                      <a:solidFill>
                        <a:srgbClr val="26262F"/>
                      </a:solidFill>
                      <a:prstDash val="solid"/>
                      <a:round/>
                      <a:headEnd type="none" w="med" len="med"/>
                      <a:tailEnd type="none" w="med" len="med"/>
                    </a:lnT>
                    <a:lnB w="6350" cap="flat" cmpd="sng" algn="ctr">
                      <a:solidFill>
                        <a:srgbClr val="26262F"/>
                      </a:solidFill>
                      <a:prstDash val="solid"/>
                      <a:round/>
                      <a:headEnd type="none" w="med" len="med"/>
                      <a:tailEnd type="none" w="med" len="med"/>
                    </a:lnB>
                    <a:solidFill>
                      <a:srgbClr val="15151B"/>
                    </a:solidFill>
                  </a:tcPr>
                </a:tc>
                <a:tc>
                  <a:txBody>
                    <a:bodyPr/>
                    <a:lstStyle/>
                    <a:p>
                      <a:pPr algn="l" indent="0" marL="0">
                        <a:buNone/>
                      </a:pPr>
                      <a:r>
                        <a:rPr lang="en-US" sz="1000" dirty="0">
                          <a:solidFill>
                            <a:srgbClr val="F5F2EA"/>
                          </a:solidFill>
                          <a:latin typeface="Segoe UI" pitchFamily="34" charset="0"/>
                          <a:ea typeface="Segoe UI" pitchFamily="34" charset="-122"/>
                          <a:cs typeface="Segoe UI" pitchFamily="34" charset="-120"/>
                        </a:rPr>
                        <a:t>POST / GET</a:t>
                      </a:r>
                      <a:endParaRPr lang="en-US" sz="1000" dirty="0">
                        <a:latin typeface="Segoe UI" charset="0"/>
                        <a:ea typeface="Segoe UI" charset="0"/>
                        <a:cs typeface="Segoe UI" charset="0"/>
                      </a:endParaRPr>
                    </a:p>
                  </a:txBody>
                  <a:tcPr marL="36576" marR="36576" marT="36576" marB="36576" anchor="ctr">
                    <a:lnL w="6350" cap="flat" cmpd="sng" algn="ctr">
                      <a:solidFill>
                        <a:srgbClr val="26262F"/>
                      </a:solidFill>
                      <a:prstDash val="solid"/>
                      <a:round/>
                      <a:headEnd type="none" w="med" len="med"/>
                      <a:tailEnd type="none" w="med" len="med"/>
                    </a:lnL>
                    <a:lnR w="6350" cap="flat" cmpd="sng" algn="ctr">
                      <a:solidFill>
                        <a:srgbClr val="26262F"/>
                      </a:solidFill>
                      <a:prstDash val="solid"/>
                      <a:round/>
                      <a:headEnd type="none" w="med" len="med"/>
                      <a:tailEnd type="none" w="med" len="med"/>
                    </a:lnR>
                    <a:lnT w="6350" cap="flat" cmpd="sng" algn="ctr">
                      <a:solidFill>
                        <a:srgbClr val="26262F"/>
                      </a:solidFill>
                      <a:prstDash val="solid"/>
                      <a:round/>
                      <a:headEnd type="none" w="med" len="med"/>
                      <a:tailEnd type="none" w="med" len="med"/>
                    </a:lnT>
                    <a:lnB w="6350" cap="flat" cmpd="sng" algn="ctr">
                      <a:solidFill>
                        <a:srgbClr val="26262F"/>
                      </a:solidFill>
                      <a:prstDash val="solid"/>
                      <a:round/>
                      <a:headEnd type="none" w="med" len="med"/>
                      <a:tailEnd type="none" w="med" len="med"/>
                    </a:lnB>
                    <a:solidFill>
                      <a:srgbClr val="17171F"/>
                    </a:solidFill>
                  </a:tcPr>
                </a:tc>
                <a:tc>
                  <a:txBody>
                    <a:bodyPr/>
                    <a:lstStyle/>
                    <a:p>
                      <a:pPr algn="l" indent="0" marL="0">
                        <a:buNone/>
                      </a:pPr>
                      <a:r>
                        <a:rPr lang="en-US" sz="1000" dirty="0">
                          <a:solidFill>
                            <a:srgbClr val="F5F2EA"/>
                          </a:solidFill>
                          <a:latin typeface="Segoe UI" pitchFamily="34" charset="0"/>
                          <a:ea typeface="Segoe UI" pitchFamily="34" charset="-122"/>
                          <a:cs typeface="Segoe UI" pitchFamily="34" charset="-120"/>
                        </a:rPr>
                        <a:t>SSE streaming analysis with progress events</a:t>
                      </a:r>
                      <a:endParaRPr lang="en-US" sz="1000" dirty="0">
                        <a:latin typeface="Segoe UI" charset="0"/>
                        <a:ea typeface="Segoe UI" charset="0"/>
                        <a:cs typeface="Segoe UI" charset="0"/>
                      </a:endParaRPr>
                    </a:p>
                  </a:txBody>
                  <a:tcPr marL="36576" marR="36576" marT="36576" marB="36576" anchor="ctr">
                    <a:lnL w="6350" cap="flat" cmpd="sng" algn="ctr">
                      <a:solidFill>
                        <a:srgbClr val="26262F"/>
                      </a:solidFill>
                      <a:prstDash val="solid"/>
                      <a:round/>
                      <a:headEnd type="none" w="med" len="med"/>
                      <a:tailEnd type="none" w="med" len="med"/>
                    </a:lnL>
                    <a:lnR w="6350" cap="flat" cmpd="sng" algn="ctr">
                      <a:solidFill>
                        <a:srgbClr val="26262F"/>
                      </a:solidFill>
                      <a:prstDash val="solid"/>
                      <a:round/>
                      <a:headEnd type="none" w="med" len="med"/>
                      <a:tailEnd type="none" w="med" len="med"/>
                    </a:lnR>
                    <a:lnT w="6350" cap="flat" cmpd="sng" algn="ctr">
                      <a:solidFill>
                        <a:srgbClr val="26262F"/>
                      </a:solidFill>
                      <a:prstDash val="solid"/>
                      <a:round/>
                      <a:headEnd type="none" w="med" len="med"/>
                      <a:tailEnd type="none" w="med" len="med"/>
                    </a:lnT>
                    <a:lnB w="6350" cap="flat" cmpd="sng" algn="ctr">
                      <a:solidFill>
                        <a:srgbClr val="26262F"/>
                      </a:solidFill>
                      <a:prstDash val="solid"/>
                      <a:round/>
                      <a:headEnd type="none" w="med" len="med"/>
                      <a:tailEnd type="none" w="med" len="med"/>
                    </a:lnB>
                    <a:solidFill>
                      <a:srgbClr val="15151B"/>
                    </a:solidFill>
                  </a:tcPr>
                </a:tc>
              </a:tr>
              <a:tr h="310896">
                <a:tc>
                  <a:txBody>
                    <a:bodyPr/>
                    <a:lstStyle/>
                    <a:p>
                      <a:pPr algn="l" indent="0" marL="0">
                        <a:buNone/>
                      </a:pPr>
                      <a:r>
                        <a:rPr lang="en-US" sz="1000" dirty="0">
                          <a:solidFill>
                            <a:srgbClr val="F5F2EA"/>
                          </a:solidFill>
                          <a:latin typeface="Segoe UI" pitchFamily="34" charset="0"/>
                          <a:ea typeface="Segoe UI" pitchFamily="34" charset="-122"/>
                          <a:cs typeface="Segoe UI" pitchFamily="34" charset="-120"/>
                        </a:rPr>
                        <a:t>/api/ai-coach</a:t>
                      </a:r>
                      <a:endParaRPr lang="en-US" sz="1000" dirty="0">
                        <a:latin typeface="Segoe UI" charset="0"/>
                        <a:ea typeface="Segoe UI" charset="0"/>
                        <a:cs typeface="Segoe UI" charset="0"/>
                      </a:endParaRPr>
                    </a:p>
                  </a:txBody>
                  <a:tcPr marL="36576" marR="36576" marT="36576" marB="36576" anchor="ctr">
                    <a:lnL w="6350" cap="flat" cmpd="sng" algn="ctr">
                      <a:solidFill>
                        <a:srgbClr val="26262F"/>
                      </a:solidFill>
                      <a:prstDash val="solid"/>
                      <a:round/>
                      <a:headEnd type="none" w="med" len="med"/>
                      <a:tailEnd type="none" w="med" len="med"/>
                    </a:lnL>
                    <a:lnR w="6350" cap="flat" cmpd="sng" algn="ctr">
                      <a:solidFill>
                        <a:srgbClr val="26262F"/>
                      </a:solidFill>
                      <a:prstDash val="solid"/>
                      <a:round/>
                      <a:headEnd type="none" w="med" len="med"/>
                      <a:tailEnd type="none" w="med" len="med"/>
                    </a:lnR>
                    <a:lnT w="6350" cap="flat" cmpd="sng" algn="ctr">
                      <a:solidFill>
                        <a:srgbClr val="26262F"/>
                      </a:solidFill>
                      <a:prstDash val="solid"/>
                      <a:round/>
                      <a:headEnd type="none" w="med" len="med"/>
                      <a:tailEnd type="none" w="med" len="med"/>
                    </a:lnT>
                    <a:lnB w="6350" cap="flat" cmpd="sng" algn="ctr">
                      <a:solidFill>
                        <a:srgbClr val="26262F"/>
                      </a:solidFill>
                      <a:prstDash val="solid"/>
                      <a:round/>
                      <a:headEnd type="none" w="med" len="med"/>
                      <a:tailEnd type="none" w="med" len="med"/>
                    </a:lnB>
                    <a:solidFill>
                      <a:srgbClr val="15151B"/>
                    </a:solidFill>
                  </a:tcPr>
                </a:tc>
                <a:tc>
                  <a:txBody>
                    <a:bodyPr/>
                    <a:lstStyle/>
                    <a:p>
                      <a:pPr algn="l" indent="0" marL="0">
                        <a:buNone/>
                      </a:pPr>
                      <a:r>
                        <a:rPr lang="en-US" sz="1000" dirty="0">
                          <a:solidFill>
                            <a:srgbClr val="F5F2EA"/>
                          </a:solidFill>
                          <a:latin typeface="Segoe UI" pitchFamily="34" charset="0"/>
                          <a:ea typeface="Segoe UI" pitchFamily="34" charset="-122"/>
                          <a:cs typeface="Segoe UI" pitchFamily="34" charset="-120"/>
                        </a:rPr>
                        <a:t>POST</a:t>
                      </a:r>
                      <a:endParaRPr lang="en-US" sz="1000" dirty="0">
                        <a:latin typeface="Segoe UI" charset="0"/>
                        <a:ea typeface="Segoe UI" charset="0"/>
                        <a:cs typeface="Segoe UI" charset="0"/>
                      </a:endParaRPr>
                    </a:p>
                  </a:txBody>
                  <a:tcPr marL="36576" marR="36576" marT="36576" marB="36576" anchor="ctr">
                    <a:lnL w="6350" cap="flat" cmpd="sng" algn="ctr">
                      <a:solidFill>
                        <a:srgbClr val="26262F"/>
                      </a:solidFill>
                      <a:prstDash val="solid"/>
                      <a:round/>
                      <a:headEnd type="none" w="med" len="med"/>
                      <a:tailEnd type="none" w="med" len="med"/>
                    </a:lnL>
                    <a:lnR w="6350" cap="flat" cmpd="sng" algn="ctr">
                      <a:solidFill>
                        <a:srgbClr val="26262F"/>
                      </a:solidFill>
                      <a:prstDash val="solid"/>
                      <a:round/>
                      <a:headEnd type="none" w="med" len="med"/>
                      <a:tailEnd type="none" w="med" len="med"/>
                    </a:lnR>
                    <a:lnT w="6350" cap="flat" cmpd="sng" algn="ctr">
                      <a:solidFill>
                        <a:srgbClr val="26262F"/>
                      </a:solidFill>
                      <a:prstDash val="solid"/>
                      <a:round/>
                      <a:headEnd type="none" w="med" len="med"/>
                      <a:tailEnd type="none" w="med" len="med"/>
                    </a:lnT>
                    <a:lnB w="6350" cap="flat" cmpd="sng" algn="ctr">
                      <a:solidFill>
                        <a:srgbClr val="26262F"/>
                      </a:solidFill>
                      <a:prstDash val="solid"/>
                      <a:round/>
                      <a:headEnd type="none" w="med" len="med"/>
                      <a:tailEnd type="none" w="med" len="med"/>
                    </a:lnB>
                    <a:solidFill>
                      <a:srgbClr val="17171F"/>
                    </a:solidFill>
                  </a:tcPr>
                </a:tc>
                <a:tc>
                  <a:txBody>
                    <a:bodyPr/>
                    <a:lstStyle/>
                    <a:p>
                      <a:pPr algn="l" indent="0" marL="0">
                        <a:buNone/>
                      </a:pPr>
                      <a:r>
                        <a:rPr lang="en-US" sz="1000" dirty="0">
                          <a:solidFill>
                            <a:srgbClr val="F5F2EA"/>
                          </a:solidFill>
                          <a:latin typeface="Segoe UI" pitchFamily="34" charset="0"/>
                          <a:ea typeface="Segoe UI" pitchFamily="34" charset="-122"/>
                          <a:cs typeface="Segoe UI" pitchFamily="34" charset="-120"/>
                        </a:rPr>
                        <a:t>Coach report from game history (OpenRouter deepseek)</a:t>
                      </a:r>
                      <a:endParaRPr lang="en-US" sz="1000" dirty="0">
                        <a:latin typeface="Segoe UI" charset="0"/>
                        <a:ea typeface="Segoe UI" charset="0"/>
                        <a:cs typeface="Segoe UI" charset="0"/>
                      </a:endParaRPr>
                    </a:p>
                  </a:txBody>
                  <a:tcPr marL="36576" marR="36576" marT="36576" marB="36576" anchor="ctr">
                    <a:lnL w="6350" cap="flat" cmpd="sng" algn="ctr">
                      <a:solidFill>
                        <a:srgbClr val="26262F"/>
                      </a:solidFill>
                      <a:prstDash val="solid"/>
                      <a:round/>
                      <a:headEnd type="none" w="med" len="med"/>
                      <a:tailEnd type="none" w="med" len="med"/>
                    </a:lnL>
                    <a:lnR w="6350" cap="flat" cmpd="sng" algn="ctr">
                      <a:solidFill>
                        <a:srgbClr val="26262F"/>
                      </a:solidFill>
                      <a:prstDash val="solid"/>
                      <a:round/>
                      <a:headEnd type="none" w="med" len="med"/>
                      <a:tailEnd type="none" w="med" len="med"/>
                    </a:lnR>
                    <a:lnT w="6350" cap="flat" cmpd="sng" algn="ctr">
                      <a:solidFill>
                        <a:srgbClr val="26262F"/>
                      </a:solidFill>
                      <a:prstDash val="solid"/>
                      <a:round/>
                      <a:headEnd type="none" w="med" len="med"/>
                      <a:tailEnd type="none" w="med" len="med"/>
                    </a:lnT>
                    <a:lnB w="6350" cap="flat" cmpd="sng" algn="ctr">
                      <a:solidFill>
                        <a:srgbClr val="26262F"/>
                      </a:solidFill>
                      <a:prstDash val="solid"/>
                      <a:round/>
                      <a:headEnd type="none" w="med" len="med"/>
                      <a:tailEnd type="none" w="med" len="med"/>
                    </a:lnB>
                    <a:solidFill>
                      <a:srgbClr val="15151B"/>
                    </a:solidFill>
                  </a:tcPr>
                </a:tc>
              </a:tr>
              <a:tr h="310896">
                <a:tc>
                  <a:txBody>
                    <a:bodyPr/>
                    <a:lstStyle/>
                    <a:p>
                      <a:pPr algn="l" indent="0" marL="0">
                        <a:buNone/>
                      </a:pPr>
                      <a:r>
                        <a:rPr lang="en-US" sz="1000" dirty="0">
                          <a:solidFill>
                            <a:srgbClr val="F5F2EA"/>
                          </a:solidFill>
                          <a:latin typeface="Segoe UI" pitchFamily="34" charset="0"/>
                          <a:ea typeface="Segoe UI" pitchFamily="34" charset="-122"/>
                          <a:cs typeface="Segoe UI" pitchFamily="34" charset="-120"/>
                        </a:rPr>
                        <a:t>/api/explain-move · /api/explain</a:t>
                      </a:r>
                      <a:endParaRPr lang="en-US" sz="1000" dirty="0">
                        <a:latin typeface="Segoe UI" charset="0"/>
                        <a:ea typeface="Segoe UI" charset="0"/>
                        <a:cs typeface="Segoe UI" charset="0"/>
                      </a:endParaRPr>
                    </a:p>
                  </a:txBody>
                  <a:tcPr marL="36576" marR="36576" marT="36576" marB="36576" anchor="ctr">
                    <a:lnL w="6350" cap="flat" cmpd="sng" algn="ctr">
                      <a:solidFill>
                        <a:srgbClr val="26262F"/>
                      </a:solidFill>
                      <a:prstDash val="solid"/>
                      <a:round/>
                      <a:headEnd type="none" w="med" len="med"/>
                      <a:tailEnd type="none" w="med" len="med"/>
                    </a:lnL>
                    <a:lnR w="6350" cap="flat" cmpd="sng" algn="ctr">
                      <a:solidFill>
                        <a:srgbClr val="26262F"/>
                      </a:solidFill>
                      <a:prstDash val="solid"/>
                      <a:round/>
                      <a:headEnd type="none" w="med" len="med"/>
                      <a:tailEnd type="none" w="med" len="med"/>
                    </a:lnR>
                    <a:lnT w="6350" cap="flat" cmpd="sng" algn="ctr">
                      <a:solidFill>
                        <a:srgbClr val="26262F"/>
                      </a:solidFill>
                      <a:prstDash val="solid"/>
                      <a:round/>
                      <a:headEnd type="none" w="med" len="med"/>
                      <a:tailEnd type="none" w="med" len="med"/>
                    </a:lnT>
                    <a:lnB w="6350" cap="flat" cmpd="sng" algn="ctr">
                      <a:solidFill>
                        <a:srgbClr val="26262F"/>
                      </a:solidFill>
                      <a:prstDash val="solid"/>
                      <a:round/>
                      <a:headEnd type="none" w="med" len="med"/>
                      <a:tailEnd type="none" w="med" len="med"/>
                    </a:lnB>
                    <a:solidFill>
                      <a:srgbClr val="15151B"/>
                    </a:solidFill>
                  </a:tcPr>
                </a:tc>
                <a:tc>
                  <a:txBody>
                    <a:bodyPr/>
                    <a:lstStyle/>
                    <a:p>
                      <a:pPr algn="l" indent="0" marL="0">
                        <a:buNone/>
                      </a:pPr>
                      <a:r>
                        <a:rPr lang="en-US" sz="1000" dirty="0">
                          <a:solidFill>
                            <a:srgbClr val="F5F2EA"/>
                          </a:solidFill>
                          <a:latin typeface="Segoe UI" pitchFamily="34" charset="0"/>
                          <a:ea typeface="Segoe UI" pitchFamily="34" charset="-122"/>
                          <a:cs typeface="Segoe UI" pitchFamily="34" charset="-120"/>
                        </a:rPr>
                        <a:t>POST</a:t>
                      </a:r>
                      <a:endParaRPr lang="en-US" sz="1000" dirty="0">
                        <a:latin typeface="Segoe UI" charset="0"/>
                        <a:ea typeface="Segoe UI" charset="0"/>
                        <a:cs typeface="Segoe UI" charset="0"/>
                      </a:endParaRPr>
                    </a:p>
                  </a:txBody>
                  <a:tcPr marL="36576" marR="36576" marT="36576" marB="36576" anchor="ctr">
                    <a:lnL w="6350" cap="flat" cmpd="sng" algn="ctr">
                      <a:solidFill>
                        <a:srgbClr val="26262F"/>
                      </a:solidFill>
                      <a:prstDash val="solid"/>
                      <a:round/>
                      <a:headEnd type="none" w="med" len="med"/>
                      <a:tailEnd type="none" w="med" len="med"/>
                    </a:lnL>
                    <a:lnR w="6350" cap="flat" cmpd="sng" algn="ctr">
                      <a:solidFill>
                        <a:srgbClr val="26262F"/>
                      </a:solidFill>
                      <a:prstDash val="solid"/>
                      <a:round/>
                      <a:headEnd type="none" w="med" len="med"/>
                      <a:tailEnd type="none" w="med" len="med"/>
                    </a:lnR>
                    <a:lnT w="6350" cap="flat" cmpd="sng" algn="ctr">
                      <a:solidFill>
                        <a:srgbClr val="26262F"/>
                      </a:solidFill>
                      <a:prstDash val="solid"/>
                      <a:round/>
                      <a:headEnd type="none" w="med" len="med"/>
                      <a:tailEnd type="none" w="med" len="med"/>
                    </a:lnT>
                    <a:lnB w="6350" cap="flat" cmpd="sng" algn="ctr">
                      <a:solidFill>
                        <a:srgbClr val="26262F"/>
                      </a:solidFill>
                      <a:prstDash val="solid"/>
                      <a:round/>
                      <a:headEnd type="none" w="med" len="med"/>
                      <a:tailEnd type="none" w="med" len="med"/>
                    </a:lnB>
                    <a:solidFill>
                      <a:srgbClr val="17171F"/>
                    </a:solidFill>
                  </a:tcPr>
                </a:tc>
                <a:tc>
                  <a:txBody>
                    <a:bodyPr/>
                    <a:lstStyle/>
                    <a:p>
                      <a:pPr algn="l" indent="0" marL="0">
                        <a:buNone/>
                      </a:pPr>
                      <a:r>
                        <a:rPr lang="en-US" sz="1000" dirty="0">
                          <a:solidFill>
                            <a:srgbClr val="F5F2EA"/>
                          </a:solidFill>
                          <a:latin typeface="Segoe UI" pitchFamily="34" charset="0"/>
                          <a:ea typeface="Segoe UI" pitchFamily="34" charset="-122"/>
                          <a:cs typeface="Segoe UI" pitchFamily="34" charset="-120"/>
                        </a:rPr>
                        <a:t>Per-move AI explanations and classifications</a:t>
                      </a:r>
                      <a:endParaRPr lang="en-US" sz="1000" dirty="0">
                        <a:latin typeface="Segoe UI" charset="0"/>
                        <a:ea typeface="Segoe UI" charset="0"/>
                        <a:cs typeface="Segoe UI" charset="0"/>
                      </a:endParaRPr>
                    </a:p>
                  </a:txBody>
                  <a:tcPr marL="36576" marR="36576" marT="36576" marB="36576" anchor="ctr">
                    <a:lnL w="6350" cap="flat" cmpd="sng" algn="ctr">
                      <a:solidFill>
                        <a:srgbClr val="26262F"/>
                      </a:solidFill>
                      <a:prstDash val="solid"/>
                      <a:round/>
                      <a:headEnd type="none" w="med" len="med"/>
                      <a:tailEnd type="none" w="med" len="med"/>
                    </a:lnL>
                    <a:lnR w="6350" cap="flat" cmpd="sng" algn="ctr">
                      <a:solidFill>
                        <a:srgbClr val="26262F"/>
                      </a:solidFill>
                      <a:prstDash val="solid"/>
                      <a:round/>
                      <a:headEnd type="none" w="med" len="med"/>
                      <a:tailEnd type="none" w="med" len="med"/>
                    </a:lnR>
                    <a:lnT w="6350" cap="flat" cmpd="sng" algn="ctr">
                      <a:solidFill>
                        <a:srgbClr val="26262F"/>
                      </a:solidFill>
                      <a:prstDash val="solid"/>
                      <a:round/>
                      <a:headEnd type="none" w="med" len="med"/>
                      <a:tailEnd type="none" w="med" len="med"/>
                    </a:lnT>
                    <a:lnB w="6350" cap="flat" cmpd="sng" algn="ctr">
                      <a:solidFill>
                        <a:srgbClr val="26262F"/>
                      </a:solidFill>
                      <a:prstDash val="solid"/>
                      <a:round/>
                      <a:headEnd type="none" w="med" len="med"/>
                      <a:tailEnd type="none" w="med" len="med"/>
                    </a:lnB>
                    <a:solidFill>
                      <a:srgbClr val="15151B"/>
                    </a:solidFill>
                  </a:tcPr>
                </a:tc>
              </a:tr>
              <a:tr h="310896">
                <a:tc>
                  <a:txBody>
                    <a:bodyPr/>
                    <a:lstStyle/>
                    <a:p>
                      <a:pPr algn="l" indent="0" marL="0">
                        <a:buNone/>
                      </a:pPr>
                      <a:r>
                        <a:rPr lang="en-US" sz="1000" dirty="0">
                          <a:solidFill>
                            <a:srgbClr val="F5F2EA"/>
                          </a:solidFill>
                          <a:latin typeface="Segoe UI" pitchFamily="34" charset="0"/>
                          <a:ea typeface="Segoe UI" pitchFamily="34" charset="-122"/>
                          <a:cs typeface="Segoe UI" pitchFamily="34" charset="-120"/>
                        </a:rPr>
                        <a:t>/api/import/chesscom · lichess · pgn</a:t>
                      </a:r>
                      <a:endParaRPr lang="en-US" sz="1000" dirty="0">
                        <a:latin typeface="Segoe UI" charset="0"/>
                        <a:ea typeface="Segoe UI" charset="0"/>
                        <a:cs typeface="Segoe UI" charset="0"/>
                      </a:endParaRPr>
                    </a:p>
                  </a:txBody>
                  <a:tcPr marL="36576" marR="36576" marT="36576" marB="36576" anchor="ctr">
                    <a:lnL w="6350" cap="flat" cmpd="sng" algn="ctr">
                      <a:solidFill>
                        <a:srgbClr val="26262F"/>
                      </a:solidFill>
                      <a:prstDash val="solid"/>
                      <a:round/>
                      <a:headEnd type="none" w="med" len="med"/>
                      <a:tailEnd type="none" w="med" len="med"/>
                    </a:lnL>
                    <a:lnR w="6350" cap="flat" cmpd="sng" algn="ctr">
                      <a:solidFill>
                        <a:srgbClr val="26262F"/>
                      </a:solidFill>
                      <a:prstDash val="solid"/>
                      <a:round/>
                      <a:headEnd type="none" w="med" len="med"/>
                      <a:tailEnd type="none" w="med" len="med"/>
                    </a:lnR>
                    <a:lnT w="6350" cap="flat" cmpd="sng" algn="ctr">
                      <a:solidFill>
                        <a:srgbClr val="26262F"/>
                      </a:solidFill>
                      <a:prstDash val="solid"/>
                      <a:round/>
                      <a:headEnd type="none" w="med" len="med"/>
                      <a:tailEnd type="none" w="med" len="med"/>
                    </a:lnT>
                    <a:lnB w="6350" cap="flat" cmpd="sng" algn="ctr">
                      <a:solidFill>
                        <a:srgbClr val="26262F"/>
                      </a:solidFill>
                      <a:prstDash val="solid"/>
                      <a:round/>
                      <a:headEnd type="none" w="med" len="med"/>
                      <a:tailEnd type="none" w="med" len="med"/>
                    </a:lnB>
                    <a:solidFill>
                      <a:srgbClr val="15151B"/>
                    </a:solidFill>
                  </a:tcPr>
                </a:tc>
                <a:tc>
                  <a:txBody>
                    <a:bodyPr/>
                    <a:lstStyle/>
                    <a:p>
                      <a:pPr algn="l" indent="0" marL="0">
                        <a:buNone/>
                      </a:pPr>
                      <a:r>
                        <a:rPr lang="en-US" sz="1000" dirty="0">
                          <a:solidFill>
                            <a:srgbClr val="F5F2EA"/>
                          </a:solidFill>
                          <a:latin typeface="Segoe UI" pitchFamily="34" charset="0"/>
                          <a:ea typeface="Segoe UI" pitchFamily="34" charset="-122"/>
                          <a:cs typeface="Segoe UI" pitchFamily="34" charset="-120"/>
                        </a:rPr>
                        <a:t>POST</a:t>
                      </a:r>
                      <a:endParaRPr lang="en-US" sz="1000" dirty="0">
                        <a:latin typeface="Segoe UI" charset="0"/>
                        <a:ea typeface="Segoe UI" charset="0"/>
                        <a:cs typeface="Segoe UI" charset="0"/>
                      </a:endParaRPr>
                    </a:p>
                  </a:txBody>
                  <a:tcPr marL="36576" marR="36576" marT="36576" marB="36576" anchor="ctr">
                    <a:lnL w="6350" cap="flat" cmpd="sng" algn="ctr">
                      <a:solidFill>
                        <a:srgbClr val="26262F"/>
                      </a:solidFill>
                      <a:prstDash val="solid"/>
                      <a:round/>
                      <a:headEnd type="none" w="med" len="med"/>
                      <a:tailEnd type="none" w="med" len="med"/>
                    </a:lnL>
                    <a:lnR w="6350" cap="flat" cmpd="sng" algn="ctr">
                      <a:solidFill>
                        <a:srgbClr val="26262F"/>
                      </a:solidFill>
                      <a:prstDash val="solid"/>
                      <a:round/>
                      <a:headEnd type="none" w="med" len="med"/>
                      <a:tailEnd type="none" w="med" len="med"/>
                    </a:lnR>
                    <a:lnT w="6350" cap="flat" cmpd="sng" algn="ctr">
                      <a:solidFill>
                        <a:srgbClr val="26262F"/>
                      </a:solidFill>
                      <a:prstDash val="solid"/>
                      <a:round/>
                      <a:headEnd type="none" w="med" len="med"/>
                      <a:tailEnd type="none" w="med" len="med"/>
                    </a:lnT>
                    <a:lnB w="6350" cap="flat" cmpd="sng" algn="ctr">
                      <a:solidFill>
                        <a:srgbClr val="26262F"/>
                      </a:solidFill>
                      <a:prstDash val="solid"/>
                      <a:round/>
                      <a:headEnd type="none" w="med" len="med"/>
                      <a:tailEnd type="none" w="med" len="med"/>
                    </a:lnB>
                    <a:solidFill>
                      <a:srgbClr val="17171F"/>
                    </a:solidFill>
                  </a:tcPr>
                </a:tc>
                <a:tc>
                  <a:txBody>
                    <a:bodyPr/>
                    <a:lstStyle/>
                    <a:p>
                      <a:pPr algn="l" indent="0" marL="0">
                        <a:buNone/>
                      </a:pPr>
                      <a:r>
                        <a:rPr lang="en-US" sz="1000" dirty="0">
                          <a:solidFill>
                            <a:srgbClr val="F5F2EA"/>
                          </a:solidFill>
                          <a:latin typeface="Segoe UI" pitchFamily="34" charset="0"/>
                          <a:ea typeface="Segoe UI" pitchFamily="34" charset="-122"/>
                          <a:cs typeface="Segoe UI" pitchFamily="34" charset="-120"/>
                        </a:rPr>
                        <a:t>Game imports with sample-data fallback</a:t>
                      </a:r>
                      <a:endParaRPr lang="en-US" sz="1000" dirty="0">
                        <a:latin typeface="Segoe UI" charset="0"/>
                        <a:ea typeface="Segoe UI" charset="0"/>
                        <a:cs typeface="Segoe UI" charset="0"/>
                      </a:endParaRPr>
                    </a:p>
                  </a:txBody>
                  <a:tcPr marL="36576" marR="36576" marT="36576" marB="36576" anchor="ctr">
                    <a:lnL w="6350" cap="flat" cmpd="sng" algn="ctr">
                      <a:solidFill>
                        <a:srgbClr val="26262F"/>
                      </a:solidFill>
                      <a:prstDash val="solid"/>
                      <a:round/>
                      <a:headEnd type="none" w="med" len="med"/>
                      <a:tailEnd type="none" w="med" len="med"/>
                    </a:lnL>
                    <a:lnR w="6350" cap="flat" cmpd="sng" algn="ctr">
                      <a:solidFill>
                        <a:srgbClr val="26262F"/>
                      </a:solidFill>
                      <a:prstDash val="solid"/>
                      <a:round/>
                      <a:headEnd type="none" w="med" len="med"/>
                      <a:tailEnd type="none" w="med" len="med"/>
                    </a:lnR>
                    <a:lnT w="6350" cap="flat" cmpd="sng" algn="ctr">
                      <a:solidFill>
                        <a:srgbClr val="26262F"/>
                      </a:solidFill>
                      <a:prstDash val="solid"/>
                      <a:round/>
                      <a:headEnd type="none" w="med" len="med"/>
                      <a:tailEnd type="none" w="med" len="med"/>
                    </a:lnT>
                    <a:lnB w="6350" cap="flat" cmpd="sng" algn="ctr">
                      <a:solidFill>
                        <a:srgbClr val="26262F"/>
                      </a:solidFill>
                      <a:prstDash val="solid"/>
                      <a:round/>
                      <a:headEnd type="none" w="med" len="med"/>
                      <a:tailEnd type="none" w="med" len="med"/>
                    </a:lnB>
                    <a:solidFill>
                      <a:srgbClr val="15151B"/>
                    </a:solidFill>
                  </a:tcPr>
                </a:tc>
              </a:tr>
              <a:tr h="310896">
                <a:tc>
                  <a:txBody>
                    <a:bodyPr/>
                    <a:lstStyle/>
                    <a:p>
                      <a:pPr algn="l" indent="0" marL="0">
                        <a:buNone/>
                      </a:pPr>
                      <a:r>
                        <a:rPr lang="en-US" sz="1000" dirty="0">
                          <a:solidFill>
                            <a:srgbClr val="F5F2EA"/>
                          </a:solidFill>
                          <a:latin typeface="Segoe UI" pitchFamily="34" charset="0"/>
                          <a:ea typeface="Segoe UI" pitchFamily="34" charset="-122"/>
                          <a:cs typeface="Segoe UI" pitchFamily="34" charset="-120"/>
                        </a:rPr>
                        <a:t>/api/positions/evaluate</a:t>
                      </a:r>
                      <a:endParaRPr lang="en-US" sz="1000" dirty="0">
                        <a:latin typeface="Segoe UI" charset="0"/>
                        <a:ea typeface="Segoe UI" charset="0"/>
                        <a:cs typeface="Segoe UI" charset="0"/>
                      </a:endParaRPr>
                    </a:p>
                  </a:txBody>
                  <a:tcPr marL="36576" marR="36576" marT="36576" marB="36576" anchor="ctr">
                    <a:lnL w="6350" cap="flat" cmpd="sng" algn="ctr">
                      <a:solidFill>
                        <a:srgbClr val="26262F"/>
                      </a:solidFill>
                      <a:prstDash val="solid"/>
                      <a:round/>
                      <a:headEnd type="none" w="med" len="med"/>
                      <a:tailEnd type="none" w="med" len="med"/>
                    </a:lnL>
                    <a:lnR w="6350" cap="flat" cmpd="sng" algn="ctr">
                      <a:solidFill>
                        <a:srgbClr val="26262F"/>
                      </a:solidFill>
                      <a:prstDash val="solid"/>
                      <a:round/>
                      <a:headEnd type="none" w="med" len="med"/>
                      <a:tailEnd type="none" w="med" len="med"/>
                    </a:lnR>
                    <a:lnT w="6350" cap="flat" cmpd="sng" algn="ctr">
                      <a:solidFill>
                        <a:srgbClr val="26262F"/>
                      </a:solidFill>
                      <a:prstDash val="solid"/>
                      <a:round/>
                      <a:headEnd type="none" w="med" len="med"/>
                      <a:tailEnd type="none" w="med" len="med"/>
                    </a:lnT>
                    <a:lnB w="6350" cap="flat" cmpd="sng" algn="ctr">
                      <a:solidFill>
                        <a:srgbClr val="26262F"/>
                      </a:solidFill>
                      <a:prstDash val="solid"/>
                      <a:round/>
                      <a:headEnd type="none" w="med" len="med"/>
                      <a:tailEnd type="none" w="med" len="med"/>
                    </a:lnB>
                    <a:solidFill>
                      <a:srgbClr val="15151B"/>
                    </a:solidFill>
                  </a:tcPr>
                </a:tc>
                <a:tc>
                  <a:txBody>
                    <a:bodyPr/>
                    <a:lstStyle/>
                    <a:p>
                      <a:pPr algn="l" indent="0" marL="0">
                        <a:buNone/>
                      </a:pPr>
                      <a:r>
                        <a:rPr lang="en-US" sz="1000" dirty="0">
                          <a:solidFill>
                            <a:srgbClr val="F5F2EA"/>
                          </a:solidFill>
                          <a:latin typeface="Segoe UI" pitchFamily="34" charset="0"/>
                          <a:ea typeface="Segoe UI" pitchFamily="34" charset="-122"/>
                          <a:cs typeface="Segoe UI" pitchFamily="34" charset="-120"/>
                        </a:rPr>
                        <a:t>POST</a:t>
                      </a:r>
                      <a:endParaRPr lang="en-US" sz="1000" dirty="0">
                        <a:latin typeface="Segoe UI" charset="0"/>
                        <a:ea typeface="Segoe UI" charset="0"/>
                        <a:cs typeface="Segoe UI" charset="0"/>
                      </a:endParaRPr>
                    </a:p>
                  </a:txBody>
                  <a:tcPr marL="36576" marR="36576" marT="36576" marB="36576" anchor="ctr">
                    <a:lnL w="6350" cap="flat" cmpd="sng" algn="ctr">
                      <a:solidFill>
                        <a:srgbClr val="26262F"/>
                      </a:solidFill>
                      <a:prstDash val="solid"/>
                      <a:round/>
                      <a:headEnd type="none" w="med" len="med"/>
                      <a:tailEnd type="none" w="med" len="med"/>
                    </a:lnL>
                    <a:lnR w="6350" cap="flat" cmpd="sng" algn="ctr">
                      <a:solidFill>
                        <a:srgbClr val="26262F"/>
                      </a:solidFill>
                      <a:prstDash val="solid"/>
                      <a:round/>
                      <a:headEnd type="none" w="med" len="med"/>
                      <a:tailEnd type="none" w="med" len="med"/>
                    </a:lnR>
                    <a:lnT w="6350" cap="flat" cmpd="sng" algn="ctr">
                      <a:solidFill>
                        <a:srgbClr val="26262F"/>
                      </a:solidFill>
                      <a:prstDash val="solid"/>
                      <a:round/>
                      <a:headEnd type="none" w="med" len="med"/>
                      <a:tailEnd type="none" w="med" len="med"/>
                    </a:lnT>
                    <a:lnB w="6350" cap="flat" cmpd="sng" algn="ctr">
                      <a:solidFill>
                        <a:srgbClr val="26262F"/>
                      </a:solidFill>
                      <a:prstDash val="solid"/>
                      <a:round/>
                      <a:headEnd type="none" w="med" len="med"/>
                      <a:tailEnd type="none" w="med" len="med"/>
                    </a:lnB>
                    <a:solidFill>
                      <a:srgbClr val="17171F"/>
                    </a:solidFill>
                  </a:tcPr>
                </a:tc>
                <a:tc>
                  <a:txBody>
                    <a:bodyPr/>
                    <a:lstStyle/>
                    <a:p>
                      <a:pPr algn="l" indent="0" marL="0">
                        <a:buNone/>
                      </a:pPr>
                      <a:r>
                        <a:rPr lang="en-US" sz="1000" dirty="0">
                          <a:solidFill>
                            <a:srgbClr val="F5F2EA"/>
                          </a:solidFill>
                          <a:latin typeface="Segoe UI" pitchFamily="34" charset="0"/>
                          <a:ea typeface="Segoe UI" pitchFamily="34" charset="-122"/>
                          <a:cs typeface="Segoe UI" pitchFamily="34" charset="-120"/>
                        </a:rPr>
                        <a:t>Single-position engine evaluation</a:t>
                      </a:r>
                      <a:endParaRPr lang="en-US" sz="1000" dirty="0">
                        <a:latin typeface="Segoe UI" charset="0"/>
                        <a:ea typeface="Segoe UI" charset="0"/>
                        <a:cs typeface="Segoe UI" charset="0"/>
                      </a:endParaRPr>
                    </a:p>
                  </a:txBody>
                  <a:tcPr marL="36576" marR="36576" marT="36576" marB="36576" anchor="ctr">
                    <a:lnL w="6350" cap="flat" cmpd="sng" algn="ctr">
                      <a:solidFill>
                        <a:srgbClr val="26262F"/>
                      </a:solidFill>
                      <a:prstDash val="solid"/>
                      <a:round/>
                      <a:headEnd type="none" w="med" len="med"/>
                      <a:tailEnd type="none" w="med" len="med"/>
                    </a:lnL>
                    <a:lnR w="6350" cap="flat" cmpd="sng" algn="ctr">
                      <a:solidFill>
                        <a:srgbClr val="26262F"/>
                      </a:solidFill>
                      <a:prstDash val="solid"/>
                      <a:round/>
                      <a:headEnd type="none" w="med" len="med"/>
                      <a:tailEnd type="none" w="med" len="med"/>
                    </a:lnR>
                    <a:lnT w="6350" cap="flat" cmpd="sng" algn="ctr">
                      <a:solidFill>
                        <a:srgbClr val="26262F"/>
                      </a:solidFill>
                      <a:prstDash val="solid"/>
                      <a:round/>
                      <a:headEnd type="none" w="med" len="med"/>
                      <a:tailEnd type="none" w="med" len="med"/>
                    </a:lnT>
                    <a:lnB w="6350" cap="flat" cmpd="sng" algn="ctr">
                      <a:solidFill>
                        <a:srgbClr val="26262F"/>
                      </a:solidFill>
                      <a:prstDash val="solid"/>
                      <a:round/>
                      <a:headEnd type="none" w="med" len="med"/>
                      <a:tailEnd type="none" w="med" len="med"/>
                    </a:lnB>
                    <a:solidFill>
                      <a:srgbClr val="15151B"/>
                    </a:solidFill>
                  </a:tcPr>
                </a:tc>
              </a:tr>
              <a:tr h="310896">
                <a:tc>
                  <a:txBody>
                    <a:bodyPr/>
                    <a:lstStyle/>
                    <a:p>
                      <a:pPr algn="l" indent="0" marL="0">
                        <a:buNone/>
                      </a:pPr>
                      <a:r>
                        <a:rPr lang="en-US" sz="1000" dirty="0">
                          <a:solidFill>
                            <a:srgbClr val="F5F2EA"/>
                          </a:solidFill>
                          <a:latin typeface="Segoe UI" pitchFamily="34" charset="0"/>
                          <a:ea typeface="Segoe UI" pitchFamily="34" charset="-122"/>
                          <a:cs typeface="Segoe UI" pitchFamily="34" charset="-120"/>
                        </a:rPr>
                        <a:t>/api/puzzles/attempt</a:t>
                      </a:r>
                      <a:endParaRPr lang="en-US" sz="1000" dirty="0">
                        <a:latin typeface="Segoe UI" charset="0"/>
                        <a:ea typeface="Segoe UI" charset="0"/>
                        <a:cs typeface="Segoe UI" charset="0"/>
                      </a:endParaRPr>
                    </a:p>
                  </a:txBody>
                  <a:tcPr marL="36576" marR="36576" marT="36576" marB="36576" anchor="ctr">
                    <a:lnL w="6350" cap="flat" cmpd="sng" algn="ctr">
                      <a:solidFill>
                        <a:srgbClr val="26262F"/>
                      </a:solidFill>
                      <a:prstDash val="solid"/>
                      <a:round/>
                      <a:headEnd type="none" w="med" len="med"/>
                      <a:tailEnd type="none" w="med" len="med"/>
                    </a:lnL>
                    <a:lnR w="6350" cap="flat" cmpd="sng" algn="ctr">
                      <a:solidFill>
                        <a:srgbClr val="26262F"/>
                      </a:solidFill>
                      <a:prstDash val="solid"/>
                      <a:round/>
                      <a:headEnd type="none" w="med" len="med"/>
                      <a:tailEnd type="none" w="med" len="med"/>
                    </a:lnR>
                    <a:lnT w="6350" cap="flat" cmpd="sng" algn="ctr">
                      <a:solidFill>
                        <a:srgbClr val="26262F"/>
                      </a:solidFill>
                      <a:prstDash val="solid"/>
                      <a:round/>
                      <a:headEnd type="none" w="med" len="med"/>
                      <a:tailEnd type="none" w="med" len="med"/>
                    </a:lnT>
                    <a:lnB w="6350" cap="flat" cmpd="sng" algn="ctr">
                      <a:solidFill>
                        <a:srgbClr val="26262F"/>
                      </a:solidFill>
                      <a:prstDash val="solid"/>
                      <a:round/>
                      <a:headEnd type="none" w="med" len="med"/>
                      <a:tailEnd type="none" w="med" len="med"/>
                    </a:lnB>
                    <a:solidFill>
                      <a:srgbClr val="15151B"/>
                    </a:solidFill>
                  </a:tcPr>
                </a:tc>
                <a:tc>
                  <a:txBody>
                    <a:bodyPr/>
                    <a:lstStyle/>
                    <a:p>
                      <a:pPr algn="l" indent="0" marL="0">
                        <a:buNone/>
                      </a:pPr>
                      <a:r>
                        <a:rPr lang="en-US" sz="1000" dirty="0">
                          <a:solidFill>
                            <a:srgbClr val="F5F2EA"/>
                          </a:solidFill>
                          <a:latin typeface="Segoe UI" pitchFamily="34" charset="0"/>
                          <a:ea typeface="Segoe UI" pitchFamily="34" charset="-122"/>
                          <a:cs typeface="Segoe UI" pitchFamily="34" charset="-120"/>
                        </a:rPr>
                        <a:t>POST</a:t>
                      </a:r>
                      <a:endParaRPr lang="en-US" sz="1000" dirty="0">
                        <a:latin typeface="Segoe UI" charset="0"/>
                        <a:ea typeface="Segoe UI" charset="0"/>
                        <a:cs typeface="Segoe UI" charset="0"/>
                      </a:endParaRPr>
                    </a:p>
                  </a:txBody>
                  <a:tcPr marL="36576" marR="36576" marT="36576" marB="36576" anchor="ctr">
                    <a:lnL w="6350" cap="flat" cmpd="sng" algn="ctr">
                      <a:solidFill>
                        <a:srgbClr val="26262F"/>
                      </a:solidFill>
                      <a:prstDash val="solid"/>
                      <a:round/>
                      <a:headEnd type="none" w="med" len="med"/>
                      <a:tailEnd type="none" w="med" len="med"/>
                    </a:lnL>
                    <a:lnR w="6350" cap="flat" cmpd="sng" algn="ctr">
                      <a:solidFill>
                        <a:srgbClr val="26262F"/>
                      </a:solidFill>
                      <a:prstDash val="solid"/>
                      <a:round/>
                      <a:headEnd type="none" w="med" len="med"/>
                      <a:tailEnd type="none" w="med" len="med"/>
                    </a:lnR>
                    <a:lnT w="6350" cap="flat" cmpd="sng" algn="ctr">
                      <a:solidFill>
                        <a:srgbClr val="26262F"/>
                      </a:solidFill>
                      <a:prstDash val="solid"/>
                      <a:round/>
                      <a:headEnd type="none" w="med" len="med"/>
                      <a:tailEnd type="none" w="med" len="med"/>
                    </a:lnT>
                    <a:lnB w="6350" cap="flat" cmpd="sng" algn="ctr">
                      <a:solidFill>
                        <a:srgbClr val="26262F"/>
                      </a:solidFill>
                      <a:prstDash val="solid"/>
                      <a:round/>
                      <a:headEnd type="none" w="med" len="med"/>
                      <a:tailEnd type="none" w="med" len="med"/>
                    </a:lnB>
                    <a:solidFill>
                      <a:srgbClr val="17171F"/>
                    </a:solidFill>
                  </a:tcPr>
                </a:tc>
                <a:tc>
                  <a:txBody>
                    <a:bodyPr/>
                    <a:lstStyle/>
                    <a:p>
                      <a:pPr algn="l" indent="0" marL="0">
                        <a:buNone/>
                      </a:pPr>
                      <a:r>
                        <a:rPr lang="en-US" sz="1000" dirty="0">
                          <a:solidFill>
                            <a:srgbClr val="F5F2EA"/>
                          </a:solidFill>
                          <a:latin typeface="Segoe UI" pitchFamily="34" charset="0"/>
                          <a:ea typeface="Segoe UI" pitchFamily="34" charset="-122"/>
                          <a:cs typeface="Segoe UI" pitchFamily="34" charset="-120"/>
                        </a:rPr>
                        <a:t>Puzzle attempts + rating updates</a:t>
                      </a:r>
                      <a:endParaRPr lang="en-US" sz="1000" dirty="0">
                        <a:latin typeface="Segoe UI" charset="0"/>
                        <a:ea typeface="Segoe UI" charset="0"/>
                        <a:cs typeface="Segoe UI" charset="0"/>
                      </a:endParaRPr>
                    </a:p>
                  </a:txBody>
                  <a:tcPr marL="36576" marR="36576" marT="36576" marB="36576" anchor="ctr">
                    <a:lnL w="6350" cap="flat" cmpd="sng" algn="ctr">
                      <a:solidFill>
                        <a:srgbClr val="26262F"/>
                      </a:solidFill>
                      <a:prstDash val="solid"/>
                      <a:round/>
                      <a:headEnd type="none" w="med" len="med"/>
                      <a:tailEnd type="none" w="med" len="med"/>
                    </a:lnL>
                    <a:lnR w="6350" cap="flat" cmpd="sng" algn="ctr">
                      <a:solidFill>
                        <a:srgbClr val="26262F"/>
                      </a:solidFill>
                      <a:prstDash val="solid"/>
                      <a:round/>
                      <a:headEnd type="none" w="med" len="med"/>
                      <a:tailEnd type="none" w="med" len="med"/>
                    </a:lnR>
                    <a:lnT w="6350" cap="flat" cmpd="sng" algn="ctr">
                      <a:solidFill>
                        <a:srgbClr val="26262F"/>
                      </a:solidFill>
                      <a:prstDash val="solid"/>
                      <a:round/>
                      <a:headEnd type="none" w="med" len="med"/>
                      <a:tailEnd type="none" w="med" len="med"/>
                    </a:lnT>
                    <a:lnB w="6350" cap="flat" cmpd="sng" algn="ctr">
                      <a:solidFill>
                        <a:srgbClr val="26262F"/>
                      </a:solidFill>
                      <a:prstDash val="solid"/>
                      <a:round/>
                      <a:headEnd type="none" w="med" len="med"/>
                      <a:tailEnd type="none" w="med" len="med"/>
                    </a:lnB>
                    <a:solidFill>
                      <a:srgbClr val="15151B"/>
                    </a:solidFill>
                  </a:tcPr>
                </a:tc>
              </a:tr>
              <a:tr h="310896">
                <a:tc>
                  <a:txBody>
                    <a:bodyPr/>
                    <a:lstStyle/>
                    <a:p>
                      <a:pPr algn="l" indent="0" marL="0">
                        <a:buNone/>
                      </a:pPr>
                      <a:r>
                        <a:rPr lang="en-US" sz="1000" dirty="0">
                          <a:solidFill>
                            <a:srgbClr val="F5F2EA"/>
                          </a:solidFill>
                          <a:latin typeface="Segoe UI" pitchFamily="34" charset="0"/>
                          <a:ea typeface="Segoe UI" pitchFamily="34" charset="-122"/>
                          <a:cs typeface="Segoe UI" pitchFamily="34" charset="-120"/>
                        </a:rPr>
                        <a:t>/api/leaderboards/[type]</a:t>
                      </a:r>
                      <a:endParaRPr lang="en-US" sz="1000" dirty="0">
                        <a:latin typeface="Segoe UI" charset="0"/>
                        <a:ea typeface="Segoe UI" charset="0"/>
                        <a:cs typeface="Segoe UI" charset="0"/>
                      </a:endParaRPr>
                    </a:p>
                  </a:txBody>
                  <a:tcPr marL="36576" marR="36576" marT="36576" marB="36576" anchor="ctr">
                    <a:lnL w="6350" cap="flat" cmpd="sng" algn="ctr">
                      <a:solidFill>
                        <a:srgbClr val="26262F"/>
                      </a:solidFill>
                      <a:prstDash val="solid"/>
                      <a:round/>
                      <a:headEnd type="none" w="med" len="med"/>
                      <a:tailEnd type="none" w="med" len="med"/>
                    </a:lnL>
                    <a:lnR w="6350" cap="flat" cmpd="sng" algn="ctr">
                      <a:solidFill>
                        <a:srgbClr val="26262F"/>
                      </a:solidFill>
                      <a:prstDash val="solid"/>
                      <a:round/>
                      <a:headEnd type="none" w="med" len="med"/>
                      <a:tailEnd type="none" w="med" len="med"/>
                    </a:lnR>
                    <a:lnT w="6350" cap="flat" cmpd="sng" algn="ctr">
                      <a:solidFill>
                        <a:srgbClr val="26262F"/>
                      </a:solidFill>
                      <a:prstDash val="solid"/>
                      <a:round/>
                      <a:headEnd type="none" w="med" len="med"/>
                      <a:tailEnd type="none" w="med" len="med"/>
                    </a:lnT>
                    <a:lnB w="6350" cap="flat" cmpd="sng" algn="ctr">
                      <a:solidFill>
                        <a:srgbClr val="26262F"/>
                      </a:solidFill>
                      <a:prstDash val="solid"/>
                      <a:round/>
                      <a:headEnd type="none" w="med" len="med"/>
                      <a:tailEnd type="none" w="med" len="med"/>
                    </a:lnB>
                    <a:solidFill>
                      <a:srgbClr val="15151B"/>
                    </a:solidFill>
                  </a:tcPr>
                </a:tc>
                <a:tc>
                  <a:txBody>
                    <a:bodyPr/>
                    <a:lstStyle/>
                    <a:p>
                      <a:pPr algn="l" indent="0" marL="0">
                        <a:buNone/>
                      </a:pPr>
                      <a:r>
                        <a:rPr lang="en-US" sz="1000" dirty="0">
                          <a:solidFill>
                            <a:srgbClr val="F5F2EA"/>
                          </a:solidFill>
                          <a:latin typeface="Segoe UI" pitchFamily="34" charset="0"/>
                          <a:ea typeface="Segoe UI" pitchFamily="34" charset="-122"/>
                          <a:cs typeface="Segoe UI" pitchFamily="34" charset="-120"/>
                        </a:rPr>
                        <a:t>GET</a:t>
                      </a:r>
                      <a:endParaRPr lang="en-US" sz="1000" dirty="0">
                        <a:latin typeface="Segoe UI" charset="0"/>
                        <a:ea typeface="Segoe UI" charset="0"/>
                        <a:cs typeface="Segoe UI" charset="0"/>
                      </a:endParaRPr>
                    </a:p>
                  </a:txBody>
                  <a:tcPr marL="36576" marR="36576" marT="36576" marB="36576" anchor="ctr">
                    <a:lnL w="6350" cap="flat" cmpd="sng" algn="ctr">
                      <a:solidFill>
                        <a:srgbClr val="26262F"/>
                      </a:solidFill>
                      <a:prstDash val="solid"/>
                      <a:round/>
                      <a:headEnd type="none" w="med" len="med"/>
                      <a:tailEnd type="none" w="med" len="med"/>
                    </a:lnL>
                    <a:lnR w="6350" cap="flat" cmpd="sng" algn="ctr">
                      <a:solidFill>
                        <a:srgbClr val="26262F"/>
                      </a:solidFill>
                      <a:prstDash val="solid"/>
                      <a:round/>
                      <a:headEnd type="none" w="med" len="med"/>
                      <a:tailEnd type="none" w="med" len="med"/>
                    </a:lnR>
                    <a:lnT w="6350" cap="flat" cmpd="sng" algn="ctr">
                      <a:solidFill>
                        <a:srgbClr val="26262F"/>
                      </a:solidFill>
                      <a:prstDash val="solid"/>
                      <a:round/>
                      <a:headEnd type="none" w="med" len="med"/>
                      <a:tailEnd type="none" w="med" len="med"/>
                    </a:lnT>
                    <a:lnB w="6350" cap="flat" cmpd="sng" algn="ctr">
                      <a:solidFill>
                        <a:srgbClr val="26262F"/>
                      </a:solidFill>
                      <a:prstDash val="solid"/>
                      <a:round/>
                      <a:headEnd type="none" w="med" len="med"/>
                      <a:tailEnd type="none" w="med" len="med"/>
                    </a:lnB>
                    <a:solidFill>
                      <a:srgbClr val="17171F"/>
                    </a:solidFill>
                  </a:tcPr>
                </a:tc>
                <a:tc>
                  <a:txBody>
                    <a:bodyPr/>
                    <a:lstStyle/>
                    <a:p>
                      <a:pPr algn="l" indent="0" marL="0">
                        <a:buNone/>
                      </a:pPr>
                      <a:r>
                        <a:rPr lang="en-US" sz="1000" dirty="0">
                          <a:solidFill>
                            <a:srgbClr val="F5F2EA"/>
                          </a:solidFill>
                          <a:latin typeface="Segoe UI" pitchFamily="34" charset="0"/>
                          <a:ea typeface="Segoe UI" pitchFamily="34" charset="-122"/>
                          <a:cs typeface="Segoe UI" pitchFamily="34" charset="-120"/>
                        </a:rPr>
                        <a:t>Puzzle &amp; brilliant-move leaderboards</a:t>
                      </a:r>
                      <a:endParaRPr lang="en-US" sz="1000" dirty="0">
                        <a:latin typeface="Segoe UI" charset="0"/>
                        <a:ea typeface="Segoe UI" charset="0"/>
                        <a:cs typeface="Segoe UI" charset="0"/>
                      </a:endParaRPr>
                    </a:p>
                  </a:txBody>
                  <a:tcPr marL="36576" marR="36576" marT="36576" marB="36576" anchor="ctr">
                    <a:lnL w="6350" cap="flat" cmpd="sng" algn="ctr">
                      <a:solidFill>
                        <a:srgbClr val="26262F"/>
                      </a:solidFill>
                      <a:prstDash val="solid"/>
                      <a:round/>
                      <a:headEnd type="none" w="med" len="med"/>
                      <a:tailEnd type="none" w="med" len="med"/>
                    </a:lnL>
                    <a:lnR w="6350" cap="flat" cmpd="sng" algn="ctr">
                      <a:solidFill>
                        <a:srgbClr val="26262F"/>
                      </a:solidFill>
                      <a:prstDash val="solid"/>
                      <a:round/>
                      <a:headEnd type="none" w="med" len="med"/>
                      <a:tailEnd type="none" w="med" len="med"/>
                    </a:lnR>
                    <a:lnT w="6350" cap="flat" cmpd="sng" algn="ctr">
                      <a:solidFill>
                        <a:srgbClr val="26262F"/>
                      </a:solidFill>
                      <a:prstDash val="solid"/>
                      <a:round/>
                      <a:headEnd type="none" w="med" len="med"/>
                      <a:tailEnd type="none" w="med" len="med"/>
                    </a:lnT>
                    <a:lnB w="6350" cap="flat" cmpd="sng" algn="ctr">
                      <a:solidFill>
                        <a:srgbClr val="26262F"/>
                      </a:solidFill>
                      <a:prstDash val="solid"/>
                      <a:round/>
                      <a:headEnd type="none" w="med" len="med"/>
                      <a:tailEnd type="none" w="med" len="med"/>
                    </a:lnB>
                    <a:solidFill>
                      <a:srgbClr val="15151B"/>
                    </a:solidFill>
                  </a:tcPr>
                </a:tc>
              </a:tr>
              <a:tr h="310896">
                <a:tc>
                  <a:txBody>
                    <a:bodyPr/>
                    <a:lstStyle/>
                    <a:p>
                      <a:pPr algn="l" indent="0" marL="0">
                        <a:buNone/>
                      </a:pPr>
                      <a:r>
                        <a:rPr lang="en-US" sz="1000" dirty="0">
                          <a:solidFill>
                            <a:srgbClr val="F5F2EA"/>
                          </a:solidFill>
                          <a:latin typeface="Segoe UI" pitchFamily="34" charset="0"/>
                          <a:ea typeface="Segoe UI" pitchFamily="34" charset="-122"/>
                          <a:cs typeface="Segoe UI" pitchFamily="34" charset="-120"/>
                        </a:rPr>
                        <a:t>/api/coach/report</a:t>
                      </a:r>
                      <a:endParaRPr lang="en-US" sz="1000" dirty="0">
                        <a:latin typeface="Segoe UI" charset="0"/>
                        <a:ea typeface="Segoe UI" charset="0"/>
                        <a:cs typeface="Segoe UI" charset="0"/>
                      </a:endParaRPr>
                    </a:p>
                  </a:txBody>
                  <a:tcPr marL="36576" marR="36576" marT="36576" marB="36576" anchor="ctr">
                    <a:lnL w="6350" cap="flat" cmpd="sng" algn="ctr">
                      <a:solidFill>
                        <a:srgbClr val="26262F"/>
                      </a:solidFill>
                      <a:prstDash val="solid"/>
                      <a:round/>
                      <a:headEnd type="none" w="med" len="med"/>
                      <a:tailEnd type="none" w="med" len="med"/>
                    </a:lnL>
                    <a:lnR w="6350" cap="flat" cmpd="sng" algn="ctr">
                      <a:solidFill>
                        <a:srgbClr val="26262F"/>
                      </a:solidFill>
                      <a:prstDash val="solid"/>
                      <a:round/>
                      <a:headEnd type="none" w="med" len="med"/>
                      <a:tailEnd type="none" w="med" len="med"/>
                    </a:lnR>
                    <a:lnT w="6350" cap="flat" cmpd="sng" algn="ctr">
                      <a:solidFill>
                        <a:srgbClr val="26262F"/>
                      </a:solidFill>
                      <a:prstDash val="solid"/>
                      <a:round/>
                      <a:headEnd type="none" w="med" len="med"/>
                      <a:tailEnd type="none" w="med" len="med"/>
                    </a:lnT>
                    <a:lnB w="6350" cap="flat" cmpd="sng" algn="ctr">
                      <a:solidFill>
                        <a:srgbClr val="26262F"/>
                      </a:solidFill>
                      <a:prstDash val="solid"/>
                      <a:round/>
                      <a:headEnd type="none" w="med" len="med"/>
                      <a:tailEnd type="none" w="med" len="med"/>
                    </a:lnB>
                    <a:solidFill>
                      <a:srgbClr val="15151B"/>
                    </a:solidFill>
                  </a:tcPr>
                </a:tc>
                <a:tc>
                  <a:txBody>
                    <a:bodyPr/>
                    <a:lstStyle/>
                    <a:p>
                      <a:pPr algn="l" indent="0" marL="0">
                        <a:buNone/>
                      </a:pPr>
                      <a:r>
                        <a:rPr lang="en-US" sz="1000" dirty="0">
                          <a:solidFill>
                            <a:srgbClr val="F5F2EA"/>
                          </a:solidFill>
                          <a:latin typeface="Segoe UI" pitchFamily="34" charset="0"/>
                          <a:ea typeface="Segoe UI" pitchFamily="34" charset="-122"/>
                          <a:cs typeface="Segoe UI" pitchFamily="34" charset="-120"/>
                        </a:rPr>
                        <a:t>POST</a:t>
                      </a:r>
                      <a:endParaRPr lang="en-US" sz="1000" dirty="0">
                        <a:latin typeface="Segoe UI" charset="0"/>
                        <a:ea typeface="Segoe UI" charset="0"/>
                        <a:cs typeface="Segoe UI" charset="0"/>
                      </a:endParaRPr>
                    </a:p>
                  </a:txBody>
                  <a:tcPr marL="36576" marR="36576" marT="36576" marB="36576" anchor="ctr">
                    <a:lnL w="6350" cap="flat" cmpd="sng" algn="ctr">
                      <a:solidFill>
                        <a:srgbClr val="26262F"/>
                      </a:solidFill>
                      <a:prstDash val="solid"/>
                      <a:round/>
                      <a:headEnd type="none" w="med" len="med"/>
                      <a:tailEnd type="none" w="med" len="med"/>
                    </a:lnL>
                    <a:lnR w="6350" cap="flat" cmpd="sng" algn="ctr">
                      <a:solidFill>
                        <a:srgbClr val="26262F"/>
                      </a:solidFill>
                      <a:prstDash val="solid"/>
                      <a:round/>
                      <a:headEnd type="none" w="med" len="med"/>
                      <a:tailEnd type="none" w="med" len="med"/>
                    </a:lnR>
                    <a:lnT w="6350" cap="flat" cmpd="sng" algn="ctr">
                      <a:solidFill>
                        <a:srgbClr val="26262F"/>
                      </a:solidFill>
                      <a:prstDash val="solid"/>
                      <a:round/>
                      <a:headEnd type="none" w="med" len="med"/>
                      <a:tailEnd type="none" w="med" len="med"/>
                    </a:lnT>
                    <a:lnB w="6350" cap="flat" cmpd="sng" algn="ctr">
                      <a:solidFill>
                        <a:srgbClr val="26262F"/>
                      </a:solidFill>
                      <a:prstDash val="solid"/>
                      <a:round/>
                      <a:headEnd type="none" w="med" len="med"/>
                      <a:tailEnd type="none" w="med" len="med"/>
                    </a:lnB>
                    <a:solidFill>
                      <a:srgbClr val="17171F"/>
                    </a:solidFill>
                  </a:tcPr>
                </a:tc>
                <a:tc>
                  <a:txBody>
                    <a:bodyPr/>
                    <a:lstStyle/>
                    <a:p>
                      <a:pPr algn="l" indent="0" marL="0">
                        <a:buNone/>
                      </a:pPr>
                      <a:r>
                        <a:rPr lang="en-US" sz="1000" dirty="0">
                          <a:solidFill>
                            <a:srgbClr val="F5F2EA"/>
                          </a:solidFill>
                          <a:latin typeface="Segoe UI" pitchFamily="34" charset="0"/>
                          <a:ea typeface="Segoe UI" pitchFamily="34" charset="-122"/>
                          <a:cs typeface="Segoe UI" pitchFamily="34" charset="-120"/>
                        </a:rPr>
                        <a:t>Coach snapshot persistence</a:t>
                      </a:r>
                      <a:endParaRPr lang="en-US" sz="1000" dirty="0">
                        <a:latin typeface="Segoe UI" charset="0"/>
                        <a:ea typeface="Segoe UI" charset="0"/>
                        <a:cs typeface="Segoe UI" charset="0"/>
                      </a:endParaRPr>
                    </a:p>
                  </a:txBody>
                  <a:tcPr marL="36576" marR="36576" marT="36576" marB="36576" anchor="ctr">
                    <a:lnL w="6350" cap="flat" cmpd="sng" algn="ctr">
                      <a:solidFill>
                        <a:srgbClr val="26262F"/>
                      </a:solidFill>
                      <a:prstDash val="solid"/>
                      <a:round/>
                      <a:headEnd type="none" w="med" len="med"/>
                      <a:tailEnd type="none" w="med" len="med"/>
                    </a:lnL>
                    <a:lnR w="6350" cap="flat" cmpd="sng" algn="ctr">
                      <a:solidFill>
                        <a:srgbClr val="26262F"/>
                      </a:solidFill>
                      <a:prstDash val="solid"/>
                      <a:round/>
                      <a:headEnd type="none" w="med" len="med"/>
                      <a:tailEnd type="none" w="med" len="med"/>
                    </a:lnR>
                    <a:lnT w="6350" cap="flat" cmpd="sng" algn="ctr">
                      <a:solidFill>
                        <a:srgbClr val="26262F"/>
                      </a:solidFill>
                      <a:prstDash val="solid"/>
                      <a:round/>
                      <a:headEnd type="none" w="med" len="med"/>
                      <a:tailEnd type="none" w="med" len="med"/>
                    </a:lnT>
                    <a:lnB w="6350" cap="flat" cmpd="sng" algn="ctr">
                      <a:solidFill>
                        <a:srgbClr val="26262F"/>
                      </a:solidFill>
                      <a:prstDash val="solid"/>
                      <a:round/>
                      <a:headEnd type="none" w="med" len="med"/>
                      <a:tailEnd type="none" w="med" len="med"/>
                    </a:lnB>
                    <a:solidFill>
                      <a:srgbClr val="15151B"/>
                    </a:solidFill>
                  </a:tcPr>
                </a:tc>
              </a:tr>
              <a:tr h="310896">
                <a:tc>
                  <a:txBody>
                    <a:bodyPr/>
                    <a:lstStyle/>
                    <a:p>
                      <a:pPr algn="l" indent="0" marL="0">
                        <a:buNone/>
                      </a:pPr>
                      <a:r>
                        <a:rPr lang="en-US" sz="1000" dirty="0">
                          <a:solidFill>
                            <a:srgbClr val="F5F2EA"/>
                          </a:solidFill>
                          <a:latin typeface="Segoe UI" pitchFamily="34" charset="0"/>
                          <a:ea typeface="Segoe UI" pitchFamily="34" charset="-122"/>
                          <a:cs typeface="Segoe UI" pitchFamily="34" charset="-120"/>
                        </a:rPr>
                        <a:t>/api/analysis/[id]</a:t>
                      </a:r>
                      <a:endParaRPr lang="en-US" sz="1000" dirty="0">
                        <a:latin typeface="Segoe UI" charset="0"/>
                        <a:ea typeface="Segoe UI" charset="0"/>
                        <a:cs typeface="Segoe UI" charset="0"/>
                      </a:endParaRPr>
                    </a:p>
                  </a:txBody>
                  <a:tcPr marL="36576" marR="36576" marT="36576" marB="36576" anchor="ctr">
                    <a:lnL w="6350" cap="flat" cmpd="sng" algn="ctr">
                      <a:solidFill>
                        <a:srgbClr val="26262F"/>
                      </a:solidFill>
                      <a:prstDash val="solid"/>
                      <a:round/>
                      <a:headEnd type="none" w="med" len="med"/>
                      <a:tailEnd type="none" w="med" len="med"/>
                    </a:lnL>
                    <a:lnR w="6350" cap="flat" cmpd="sng" algn="ctr">
                      <a:solidFill>
                        <a:srgbClr val="26262F"/>
                      </a:solidFill>
                      <a:prstDash val="solid"/>
                      <a:round/>
                      <a:headEnd type="none" w="med" len="med"/>
                      <a:tailEnd type="none" w="med" len="med"/>
                    </a:lnR>
                    <a:lnT w="6350" cap="flat" cmpd="sng" algn="ctr">
                      <a:solidFill>
                        <a:srgbClr val="26262F"/>
                      </a:solidFill>
                      <a:prstDash val="solid"/>
                      <a:round/>
                      <a:headEnd type="none" w="med" len="med"/>
                      <a:tailEnd type="none" w="med" len="med"/>
                    </a:lnT>
                    <a:lnB w="6350" cap="flat" cmpd="sng" algn="ctr">
                      <a:solidFill>
                        <a:srgbClr val="26262F"/>
                      </a:solidFill>
                      <a:prstDash val="solid"/>
                      <a:round/>
                      <a:headEnd type="none" w="med" len="med"/>
                      <a:tailEnd type="none" w="med" len="med"/>
                    </a:lnB>
                    <a:solidFill>
                      <a:srgbClr val="15151B"/>
                    </a:solidFill>
                  </a:tcPr>
                </a:tc>
                <a:tc>
                  <a:txBody>
                    <a:bodyPr/>
                    <a:lstStyle/>
                    <a:p>
                      <a:pPr algn="l" indent="0" marL="0">
                        <a:buNone/>
                      </a:pPr>
                      <a:r>
                        <a:rPr lang="en-US" sz="1000" dirty="0">
                          <a:solidFill>
                            <a:srgbClr val="F5F2EA"/>
                          </a:solidFill>
                          <a:latin typeface="Segoe UI" pitchFamily="34" charset="0"/>
                          <a:ea typeface="Segoe UI" pitchFamily="34" charset="-122"/>
                          <a:cs typeface="Segoe UI" pitchFamily="34" charset="-120"/>
                        </a:rPr>
                        <a:t>GET</a:t>
                      </a:r>
                      <a:endParaRPr lang="en-US" sz="1000" dirty="0">
                        <a:latin typeface="Segoe UI" charset="0"/>
                        <a:ea typeface="Segoe UI" charset="0"/>
                        <a:cs typeface="Segoe UI" charset="0"/>
                      </a:endParaRPr>
                    </a:p>
                  </a:txBody>
                  <a:tcPr marL="36576" marR="36576" marT="36576" marB="36576" anchor="ctr">
                    <a:lnL w="6350" cap="flat" cmpd="sng" algn="ctr">
                      <a:solidFill>
                        <a:srgbClr val="26262F"/>
                      </a:solidFill>
                      <a:prstDash val="solid"/>
                      <a:round/>
                      <a:headEnd type="none" w="med" len="med"/>
                      <a:tailEnd type="none" w="med" len="med"/>
                    </a:lnL>
                    <a:lnR w="6350" cap="flat" cmpd="sng" algn="ctr">
                      <a:solidFill>
                        <a:srgbClr val="26262F"/>
                      </a:solidFill>
                      <a:prstDash val="solid"/>
                      <a:round/>
                      <a:headEnd type="none" w="med" len="med"/>
                      <a:tailEnd type="none" w="med" len="med"/>
                    </a:lnR>
                    <a:lnT w="6350" cap="flat" cmpd="sng" algn="ctr">
                      <a:solidFill>
                        <a:srgbClr val="26262F"/>
                      </a:solidFill>
                      <a:prstDash val="solid"/>
                      <a:round/>
                      <a:headEnd type="none" w="med" len="med"/>
                      <a:tailEnd type="none" w="med" len="med"/>
                    </a:lnT>
                    <a:lnB w="6350" cap="flat" cmpd="sng" algn="ctr">
                      <a:solidFill>
                        <a:srgbClr val="26262F"/>
                      </a:solidFill>
                      <a:prstDash val="solid"/>
                      <a:round/>
                      <a:headEnd type="none" w="med" len="med"/>
                      <a:tailEnd type="none" w="med" len="med"/>
                    </a:lnB>
                    <a:solidFill>
                      <a:srgbClr val="17171F"/>
                    </a:solidFill>
                  </a:tcPr>
                </a:tc>
                <a:tc>
                  <a:txBody>
                    <a:bodyPr/>
                    <a:lstStyle/>
                    <a:p>
                      <a:pPr algn="l" indent="0" marL="0">
                        <a:buNone/>
                      </a:pPr>
                      <a:r>
                        <a:rPr lang="en-US" sz="1000" dirty="0">
                          <a:solidFill>
                            <a:srgbClr val="F5F2EA"/>
                          </a:solidFill>
                          <a:latin typeface="Segoe UI" pitchFamily="34" charset="0"/>
                          <a:ea typeface="Segoe UI" pitchFamily="34" charset="-122"/>
                          <a:cs typeface="Segoe UI" pitchFamily="34" charset="-120"/>
                        </a:rPr>
                        <a:t>Fetch saved report by public ID</a:t>
                      </a:r>
                      <a:endParaRPr lang="en-US" sz="1000" dirty="0">
                        <a:latin typeface="Segoe UI" charset="0"/>
                        <a:ea typeface="Segoe UI" charset="0"/>
                        <a:cs typeface="Segoe UI" charset="0"/>
                      </a:endParaRPr>
                    </a:p>
                  </a:txBody>
                  <a:tcPr marL="36576" marR="36576" marT="36576" marB="36576" anchor="ctr">
                    <a:lnL w="6350" cap="flat" cmpd="sng" algn="ctr">
                      <a:solidFill>
                        <a:srgbClr val="26262F"/>
                      </a:solidFill>
                      <a:prstDash val="solid"/>
                      <a:round/>
                      <a:headEnd type="none" w="med" len="med"/>
                      <a:tailEnd type="none" w="med" len="med"/>
                    </a:lnL>
                    <a:lnR w="6350" cap="flat" cmpd="sng" algn="ctr">
                      <a:solidFill>
                        <a:srgbClr val="26262F"/>
                      </a:solidFill>
                      <a:prstDash val="solid"/>
                      <a:round/>
                      <a:headEnd type="none" w="med" len="med"/>
                      <a:tailEnd type="none" w="med" len="med"/>
                    </a:lnR>
                    <a:lnT w="6350" cap="flat" cmpd="sng" algn="ctr">
                      <a:solidFill>
                        <a:srgbClr val="26262F"/>
                      </a:solidFill>
                      <a:prstDash val="solid"/>
                      <a:round/>
                      <a:headEnd type="none" w="med" len="med"/>
                      <a:tailEnd type="none" w="med" len="med"/>
                    </a:lnT>
                    <a:lnB w="6350" cap="flat" cmpd="sng" algn="ctr">
                      <a:solidFill>
                        <a:srgbClr val="26262F"/>
                      </a:solidFill>
                      <a:prstDash val="solid"/>
                      <a:round/>
                      <a:headEnd type="none" w="med" len="med"/>
                      <a:tailEnd type="none" w="med" len="med"/>
                    </a:lnB>
                    <a:solidFill>
                      <a:srgbClr val="15151B"/>
                    </a:solidFill>
                  </a:tcPr>
                </a:tc>
              </a:tr>
              <a:tr h="310896">
                <a:tc>
                  <a:txBody>
                    <a:bodyPr/>
                    <a:lstStyle/>
                    <a:p>
                      <a:pPr algn="l" indent="0" marL="0">
                        <a:buNone/>
                      </a:pPr>
                      <a:r>
                        <a:rPr lang="en-US" sz="1000" dirty="0">
                          <a:solidFill>
                            <a:srgbClr val="F5F2EA"/>
                          </a:solidFill>
                          <a:latin typeface="Segoe UI" pitchFamily="34" charset="0"/>
                          <a:ea typeface="Segoe UI" pitchFamily="34" charset="-122"/>
                          <a:cs typeface="Segoe UI" pitchFamily="34" charset="-120"/>
                        </a:rPr>
                        <a:t>/api/auth/oauth/[provider]</a:t>
                      </a:r>
                      <a:endParaRPr lang="en-US" sz="1000" dirty="0">
                        <a:latin typeface="Segoe UI" charset="0"/>
                        <a:ea typeface="Segoe UI" charset="0"/>
                        <a:cs typeface="Segoe UI" charset="0"/>
                      </a:endParaRPr>
                    </a:p>
                  </a:txBody>
                  <a:tcPr marL="36576" marR="36576" marT="36576" marB="36576" anchor="ctr">
                    <a:lnL w="6350" cap="flat" cmpd="sng" algn="ctr">
                      <a:solidFill>
                        <a:srgbClr val="26262F"/>
                      </a:solidFill>
                      <a:prstDash val="solid"/>
                      <a:round/>
                      <a:headEnd type="none" w="med" len="med"/>
                      <a:tailEnd type="none" w="med" len="med"/>
                    </a:lnL>
                    <a:lnR w="6350" cap="flat" cmpd="sng" algn="ctr">
                      <a:solidFill>
                        <a:srgbClr val="26262F"/>
                      </a:solidFill>
                      <a:prstDash val="solid"/>
                      <a:round/>
                      <a:headEnd type="none" w="med" len="med"/>
                      <a:tailEnd type="none" w="med" len="med"/>
                    </a:lnR>
                    <a:lnT w="6350" cap="flat" cmpd="sng" algn="ctr">
                      <a:solidFill>
                        <a:srgbClr val="26262F"/>
                      </a:solidFill>
                      <a:prstDash val="solid"/>
                      <a:round/>
                      <a:headEnd type="none" w="med" len="med"/>
                      <a:tailEnd type="none" w="med" len="med"/>
                    </a:lnT>
                    <a:lnB w="6350" cap="flat" cmpd="sng" algn="ctr">
                      <a:solidFill>
                        <a:srgbClr val="26262F"/>
                      </a:solidFill>
                      <a:prstDash val="solid"/>
                      <a:round/>
                      <a:headEnd type="none" w="med" len="med"/>
                      <a:tailEnd type="none" w="med" len="med"/>
                    </a:lnB>
                    <a:solidFill>
                      <a:srgbClr val="15151B"/>
                    </a:solidFill>
                  </a:tcPr>
                </a:tc>
                <a:tc>
                  <a:txBody>
                    <a:bodyPr/>
                    <a:lstStyle/>
                    <a:p>
                      <a:pPr algn="l" indent="0" marL="0">
                        <a:buNone/>
                      </a:pPr>
                      <a:r>
                        <a:rPr lang="en-US" sz="1000" dirty="0">
                          <a:solidFill>
                            <a:srgbClr val="F5F2EA"/>
                          </a:solidFill>
                          <a:latin typeface="Segoe UI" pitchFamily="34" charset="0"/>
                          <a:ea typeface="Segoe UI" pitchFamily="34" charset="-122"/>
                          <a:cs typeface="Segoe UI" pitchFamily="34" charset="-120"/>
                        </a:rPr>
                        <a:t>GET / POST</a:t>
                      </a:r>
                      <a:endParaRPr lang="en-US" sz="1000" dirty="0">
                        <a:latin typeface="Segoe UI" charset="0"/>
                        <a:ea typeface="Segoe UI" charset="0"/>
                        <a:cs typeface="Segoe UI" charset="0"/>
                      </a:endParaRPr>
                    </a:p>
                  </a:txBody>
                  <a:tcPr marL="36576" marR="36576" marT="36576" marB="36576" anchor="ctr">
                    <a:lnL w="6350" cap="flat" cmpd="sng" algn="ctr">
                      <a:solidFill>
                        <a:srgbClr val="26262F"/>
                      </a:solidFill>
                      <a:prstDash val="solid"/>
                      <a:round/>
                      <a:headEnd type="none" w="med" len="med"/>
                      <a:tailEnd type="none" w="med" len="med"/>
                    </a:lnL>
                    <a:lnR w="6350" cap="flat" cmpd="sng" algn="ctr">
                      <a:solidFill>
                        <a:srgbClr val="26262F"/>
                      </a:solidFill>
                      <a:prstDash val="solid"/>
                      <a:round/>
                      <a:headEnd type="none" w="med" len="med"/>
                      <a:tailEnd type="none" w="med" len="med"/>
                    </a:lnR>
                    <a:lnT w="6350" cap="flat" cmpd="sng" algn="ctr">
                      <a:solidFill>
                        <a:srgbClr val="26262F"/>
                      </a:solidFill>
                      <a:prstDash val="solid"/>
                      <a:round/>
                      <a:headEnd type="none" w="med" len="med"/>
                      <a:tailEnd type="none" w="med" len="med"/>
                    </a:lnT>
                    <a:lnB w="6350" cap="flat" cmpd="sng" algn="ctr">
                      <a:solidFill>
                        <a:srgbClr val="26262F"/>
                      </a:solidFill>
                      <a:prstDash val="solid"/>
                      <a:round/>
                      <a:headEnd type="none" w="med" len="med"/>
                      <a:tailEnd type="none" w="med" len="med"/>
                    </a:lnB>
                    <a:solidFill>
                      <a:srgbClr val="17171F"/>
                    </a:solidFill>
                  </a:tcPr>
                </a:tc>
                <a:tc>
                  <a:txBody>
                    <a:bodyPr/>
                    <a:lstStyle/>
                    <a:p>
                      <a:pPr algn="l" indent="0" marL="0">
                        <a:buNone/>
                      </a:pPr>
                      <a:r>
                        <a:rPr lang="en-US" sz="1000" dirty="0">
                          <a:solidFill>
                            <a:srgbClr val="F5F2EA"/>
                          </a:solidFill>
                          <a:latin typeface="Segoe UI" pitchFamily="34" charset="0"/>
                          <a:ea typeface="Segoe UI" pitchFamily="34" charset="-122"/>
                          <a:cs typeface="Segoe UI" pitchFamily="34" charset="-120"/>
                        </a:rPr>
                        <a:t>OAuth redirect + callback (Google, GitHub)</a:t>
                      </a:r>
                      <a:endParaRPr lang="en-US" sz="1000" dirty="0">
                        <a:latin typeface="Segoe UI" charset="0"/>
                        <a:ea typeface="Segoe UI" charset="0"/>
                        <a:cs typeface="Segoe UI" charset="0"/>
                      </a:endParaRPr>
                    </a:p>
                  </a:txBody>
                  <a:tcPr marL="36576" marR="36576" marT="36576" marB="36576" anchor="ctr">
                    <a:lnL w="6350" cap="flat" cmpd="sng" algn="ctr">
                      <a:solidFill>
                        <a:srgbClr val="26262F"/>
                      </a:solidFill>
                      <a:prstDash val="solid"/>
                      <a:round/>
                      <a:headEnd type="none" w="med" len="med"/>
                      <a:tailEnd type="none" w="med" len="med"/>
                    </a:lnL>
                    <a:lnR w="6350" cap="flat" cmpd="sng" algn="ctr">
                      <a:solidFill>
                        <a:srgbClr val="26262F"/>
                      </a:solidFill>
                      <a:prstDash val="solid"/>
                      <a:round/>
                      <a:headEnd type="none" w="med" len="med"/>
                      <a:tailEnd type="none" w="med" len="med"/>
                    </a:lnR>
                    <a:lnT w="6350" cap="flat" cmpd="sng" algn="ctr">
                      <a:solidFill>
                        <a:srgbClr val="26262F"/>
                      </a:solidFill>
                      <a:prstDash val="solid"/>
                      <a:round/>
                      <a:headEnd type="none" w="med" len="med"/>
                      <a:tailEnd type="none" w="med" len="med"/>
                    </a:lnT>
                    <a:lnB w="6350" cap="flat" cmpd="sng" algn="ctr">
                      <a:solidFill>
                        <a:srgbClr val="26262F"/>
                      </a:solidFill>
                      <a:prstDash val="solid"/>
                      <a:round/>
                      <a:headEnd type="none" w="med" len="med"/>
                      <a:tailEnd type="none" w="med" len="med"/>
                    </a:lnB>
                    <a:solidFill>
                      <a:srgbClr val="15151B"/>
                    </a:solidFill>
                  </a:tcPr>
                </a:tc>
              </a:tr>
              <a:tr h="310896">
                <a:tc>
                  <a:txBody>
                    <a:bodyPr/>
                    <a:lstStyle/>
                    <a:p>
                      <a:pPr algn="l" indent="0" marL="0">
                        <a:buNone/>
                      </a:pPr>
                      <a:r>
                        <a:rPr lang="en-US" sz="1000" dirty="0">
                          <a:solidFill>
                            <a:srgbClr val="F5F2EA"/>
                          </a:solidFill>
                          <a:latin typeface="Segoe UI" pitchFamily="34" charset="0"/>
                          <a:ea typeface="Segoe UI" pitchFamily="34" charset="-122"/>
                          <a:cs typeface="Segoe UI" pitchFamily="34" charset="-120"/>
                        </a:rPr>
                        <a:t>/api/shop/checkout</a:t>
                      </a:r>
                      <a:endParaRPr lang="en-US" sz="1000" dirty="0">
                        <a:latin typeface="Segoe UI" charset="0"/>
                        <a:ea typeface="Segoe UI" charset="0"/>
                        <a:cs typeface="Segoe UI" charset="0"/>
                      </a:endParaRPr>
                    </a:p>
                  </a:txBody>
                  <a:tcPr marL="36576" marR="36576" marT="36576" marB="36576" anchor="ctr">
                    <a:lnL w="6350" cap="flat" cmpd="sng" algn="ctr">
                      <a:solidFill>
                        <a:srgbClr val="26262F"/>
                      </a:solidFill>
                      <a:prstDash val="solid"/>
                      <a:round/>
                      <a:headEnd type="none" w="med" len="med"/>
                      <a:tailEnd type="none" w="med" len="med"/>
                    </a:lnL>
                    <a:lnR w="6350" cap="flat" cmpd="sng" algn="ctr">
                      <a:solidFill>
                        <a:srgbClr val="26262F"/>
                      </a:solidFill>
                      <a:prstDash val="solid"/>
                      <a:round/>
                      <a:headEnd type="none" w="med" len="med"/>
                      <a:tailEnd type="none" w="med" len="med"/>
                    </a:lnR>
                    <a:lnT w="6350" cap="flat" cmpd="sng" algn="ctr">
                      <a:solidFill>
                        <a:srgbClr val="26262F"/>
                      </a:solidFill>
                      <a:prstDash val="solid"/>
                      <a:round/>
                      <a:headEnd type="none" w="med" len="med"/>
                      <a:tailEnd type="none" w="med" len="med"/>
                    </a:lnT>
                    <a:lnB w="6350" cap="flat" cmpd="sng" algn="ctr">
                      <a:solidFill>
                        <a:srgbClr val="26262F"/>
                      </a:solidFill>
                      <a:prstDash val="solid"/>
                      <a:round/>
                      <a:headEnd type="none" w="med" len="med"/>
                      <a:tailEnd type="none" w="med" len="med"/>
                    </a:lnB>
                    <a:solidFill>
                      <a:srgbClr val="15151B"/>
                    </a:solidFill>
                  </a:tcPr>
                </a:tc>
                <a:tc>
                  <a:txBody>
                    <a:bodyPr/>
                    <a:lstStyle/>
                    <a:p>
                      <a:pPr algn="l" indent="0" marL="0">
                        <a:buNone/>
                      </a:pPr>
                      <a:r>
                        <a:rPr lang="en-US" sz="1000" dirty="0">
                          <a:solidFill>
                            <a:srgbClr val="F5F2EA"/>
                          </a:solidFill>
                          <a:latin typeface="Segoe UI" pitchFamily="34" charset="0"/>
                          <a:ea typeface="Segoe UI" pitchFamily="34" charset="-122"/>
                          <a:cs typeface="Segoe UI" pitchFamily="34" charset="-120"/>
                        </a:rPr>
                        <a:t>POST</a:t>
                      </a:r>
                      <a:endParaRPr lang="en-US" sz="1000" dirty="0">
                        <a:latin typeface="Segoe UI" charset="0"/>
                        <a:ea typeface="Segoe UI" charset="0"/>
                        <a:cs typeface="Segoe UI" charset="0"/>
                      </a:endParaRPr>
                    </a:p>
                  </a:txBody>
                  <a:tcPr marL="36576" marR="36576" marT="36576" marB="36576" anchor="ctr">
                    <a:lnL w="6350" cap="flat" cmpd="sng" algn="ctr">
                      <a:solidFill>
                        <a:srgbClr val="26262F"/>
                      </a:solidFill>
                      <a:prstDash val="solid"/>
                      <a:round/>
                      <a:headEnd type="none" w="med" len="med"/>
                      <a:tailEnd type="none" w="med" len="med"/>
                    </a:lnL>
                    <a:lnR w="6350" cap="flat" cmpd="sng" algn="ctr">
                      <a:solidFill>
                        <a:srgbClr val="26262F"/>
                      </a:solidFill>
                      <a:prstDash val="solid"/>
                      <a:round/>
                      <a:headEnd type="none" w="med" len="med"/>
                      <a:tailEnd type="none" w="med" len="med"/>
                    </a:lnR>
                    <a:lnT w="6350" cap="flat" cmpd="sng" algn="ctr">
                      <a:solidFill>
                        <a:srgbClr val="26262F"/>
                      </a:solidFill>
                      <a:prstDash val="solid"/>
                      <a:round/>
                      <a:headEnd type="none" w="med" len="med"/>
                      <a:tailEnd type="none" w="med" len="med"/>
                    </a:lnT>
                    <a:lnB w="6350" cap="flat" cmpd="sng" algn="ctr">
                      <a:solidFill>
                        <a:srgbClr val="26262F"/>
                      </a:solidFill>
                      <a:prstDash val="solid"/>
                      <a:round/>
                      <a:headEnd type="none" w="med" len="med"/>
                      <a:tailEnd type="none" w="med" len="med"/>
                    </a:lnB>
                    <a:solidFill>
                      <a:srgbClr val="17171F"/>
                    </a:solidFill>
                  </a:tcPr>
                </a:tc>
                <a:tc>
                  <a:txBody>
                    <a:bodyPr/>
                    <a:lstStyle/>
                    <a:p>
                      <a:pPr algn="l" indent="0" marL="0">
                        <a:buNone/>
                      </a:pPr>
                      <a:r>
                        <a:rPr lang="en-US" sz="1000" dirty="0">
                          <a:solidFill>
                            <a:srgbClr val="F5F2EA"/>
                          </a:solidFill>
                          <a:latin typeface="Segoe UI" pitchFamily="34" charset="0"/>
                          <a:ea typeface="Segoe UI" pitchFamily="34" charset="-122"/>
                          <a:cs typeface="Segoe UI" pitchFamily="34" charset="-120"/>
                        </a:rPr>
                        <a:t>Stripe checkout session</a:t>
                      </a:r>
                      <a:endParaRPr lang="en-US" sz="1000" dirty="0">
                        <a:latin typeface="Segoe UI" charset="0"/>
                        <a:ea typeface="Segoe UI" charset="0"/>
                        <a:cs typeface="Segoe UI" charset="0"/>
                      </a:endParaRPr>
                    </a:p>
                  </a:txBody>
                  <a:tcPr marL="36576" marR="36576" marT="36576" marB="36576" anchor="ctr">
                    <a:lnL w="6350" cap="flat" cmpd="sng" algn="ctr">
                      <a:solidFill>
                        <a:srgbClr val="26262F"/>
                      </a:solidFill>
                      <a:prstDash val="solid"/>
                      <a:round/>
                      <a:headEnd type="none" w="med" len="med"/>
                      <a:tailEnd type="none" w="med" len="med"/>
                    </a:lnL>
                    <a:lnR w="6350" cap="flat" cmpd="sng" algn="ctr">
                      <a:solidFill>
                        <a:srgbClr val="26262F"/>
                      </a:solidFill>
                      <a:prstDash val="solid"/>
                      <a:round/>
                      <a:headEnd type="none" w="med" len="med"/>
                      <a:tailEnd type="none" w="med" len="med"/>
                    </a:lnR>
                    <a:lnT w="6350" cap="flat" cmpd="sng" algn="ctr">
                      <a:solidFill>
                        <a:srgbClr val="26262F"/>
                      </a:solidFill>
                      <a:prstDash val="solid"/>
                      <a:round/>
                      <a:headEnd type="none" w="med" len="med"/>
                      <a:tailEnd type="none" w="med" len="med"/>
                    </a:lnT>
                    <a:lnB w="6350" cap="flat" cmpd="sng" algn="ctr">
                      <a:solidFill>
                        <a:srgbClr val="26262F"/>
                      </a:solidFill>
                      <a:prstDash val="solid"/>
                      <a:round/>
                      <a:headEnd type="none" w="med" len="med"/>
                      <a:tailEnd type="none" w="med" len="med"/>
                    </a:lnB>
                    <a:solidFill>
                      <a:srgbClr val="15151B"/>
                    </a:solidFill>
                  </a:tcPr>
                </a:tc>
              </a:tr>
              <a:tr h="310896">
                <a:tc>
                  <a:txBody>
                    <a:bodyPr/>
                    <a:lstStyle/>
                    <a:p>
                      <a:pPr algn="l" indent="0" marL="0">
                        <a:buNone/>
                      </a:pPr>
                      <a:r>
                        <a:rPr lang="en-US" sz="1000" dirty="0">
                          <a:solidFill>
                            <a:srgbClr val="F5F2EA"/>
                          </a:solidFill>
                          <a:latin typeface="Segoe UI" pitchFamily="34" charset="0"/>
                          <a:ea typeface="Segoe UI" pitchFamily="34" charset="-122"/>
                          <a:cs typeface="Segoe UI" pitchFamily="34" charset="-120"/>
                        </a:rPr>
                        <a:t>/api/health</a:t>
                      </a:r>
                      <a:endParaRPr lang="en-US" sz="1000" dirty="0">
                        <a:latin typeface="Segoe UI" charset="0"/>
                        <a:ea typeface="Segoe UI" charset="0"/>
                        <a:cs typeface="Segoe UI" charset="0"/>
                      </a:endParaRPr>
                    </a:p>
                  </a:txBody>
                  <a:tcPr marL="36576" marR="36576" marT="36576" marB="36576" anchor="ctr">
                    <a:lnL w="6350" cap="flat" cmpd="sng" algn="ctr">
                      <a:solidFill>
                        <a:srgbClr val="26262F"/>
                      </a:solidFill>
                      <a:prstDash val="solid"/>
                      <a:round/>
                      <a:headEnd type="none" w="med" len="med"/>
                      <a:tailEnd type="none" w="med" len="med"/>
                    </a:lnL>
                    <a:lnR w="6350" cap="flat" cmpd="sng" algn="ctr">
                      <a:solidFill>
                        <a:srgbClr val="26262F"/>
                      </a:solidFill>
                      <a:prstDash val="solid"/>
                      <a:round/>
                      <a:headEnd type="none" w="med" len="med"/>
                      <a:tailEnd type="none" w="med" len="med"/>
                    </a:lnR>
                    <a:lnT w="6350" cap="flat" cmpd="sng" algn="ctr">
                      <a:solidFill>
                        <a:srgbClr val="26262F"/>
                      </a:solidFill>
                      <a:prstDash val="solid"/>
                      <a:round/>
                      <a:headEnd type="none" w="med" len="med"/>
                      <a:tailEnd type="none" w="med" len="med"/>
                    </a:lnT>
                    <a:lnB w="6350" cap="flat" cmpd="sng" algn="ctr">
                      <a:solidFill>
                        <a:srgbClr val="26262F"/>
                      </a:solidFill>
                      <a:prstDash val="solid"/>
                      <a:round/>
                      <a:headEnd type="none" w="med" len="med"/>
                      <a:tailEnd type="none" w="med" len="med"/>
                    </a:lnB>
                    <a:solidFill>
                      <a:srgbClr val="15151B"/>
                    </a:solidFill>
                  </a:tcPr>
                </a:tc>
                <a:tc>
                  <a:txBody>
                    <a:bodyPr/>
                    <a:lstStyle/>
                    <a:p>
                      <a:pPr algn="l" indent="0" marL="0">
                        <a:buNone/>
                      </a:pPr>
                      <a:r>
                        <a:rPr lang="en-US" sz="1000" dirty="0">
                          <a:solidFill>
                            <a:srgbClr val="F5F2EA"/>
                          </a:solidFill>
                          <a:latin typeface="Segoe UI" pitchFamily="34" charset="0"/>
                          <a:ea typeface="Segoe UI" pitchFamily="34" charset="-122"/>
                          <a:cs typeface="Segoe UI" pitchFamily="34" charset="-120"/>
                        </a:rPr>
                        <a:t>GET</a:t>
                      </a:r>
                      <a:endParaRPr lang="en-US" sz="1000" dirty="0">
                        <a:latin typeface="Segoe UI" charset="0"/>
                        <a:ea typeface="Segoe UI" charset="0"/>
                        <a:cs typeface="Segoe UI" charset="0"/>
                      </a:endParaRPr>
                    </a:p>
                  </a:txBody>
                  <a:tcPr marL="36576" marR="36576" marT="36576" marB="36576" anchor="ctr">
                    <a:lnL w="6350" cap="flat" cmpd="sng" algn="ctr">
                      <a:solidFill>
                        <a:srgbClr val="26262F"/>
                      </a:solidFill>
                      <a:prstDash val="solid"/>
                      <a:round/>
                      <a:headEnd type="none" w="med" len="med"/>
                      <a:tailEnd type="none" w="med" len="med"/>
                    </a:lnL>
                    <a:lnR w="6350" cap="flat" cmpd="sng" algn="ctr">
                      <a:solidFill>
                        <a:srgbClr val="26262F"/>
                      </a:solidFill>
                      <a:prstDash val="solid"/>
                      <a:round/>
                      <a:headEnd type="none" w="med" len="med"/>
                      <a:tailEnd type="none" w="med" len="med"/>
                    </a:lnR>
                    <a:lnT w="6350" cap="flat" cmpd="sng" algn="ctr">
                      <a:solidFill>
                        <a:srgbClr val="26262F"/>
                      </a:solidFill>
                      <a:prstDash val="solid"/>
                      <a:round/>
                      <a:headEnd type="none" w="med" len="med"/>
                      <a:tailEnd type="none" w="med" len="med"/>
                    </a:lnT>
                    <a:lnB w="6350" cap="flat" cmpd="sng" algn="ctr">
                      <a:solidFill>
                        <a:srgbClr val="26262F"/>
                      </a:solidFill>
                      <a:prstDash val="solid"/>
                      <a:round/>
                      <a:headEnd type="none" w="med" len="med"/>
                      <a:tailEnd type="none" w="med" len="med"/>
                    </a:lnB>
                    <a:solidFill>
                      <a:srgbClr val="17171F"/>
                    </a:solidFill>
                  </a:tcPr>
                </a:tc>
                <a:tc>
                  <a:txBody>
                    <a:bodyPr/>
                    <a:lstStyle/>
                    <a:p>
                      <a:pPr algn="l" indent="0" marL="0">
                        <a:buNone/>
                      </a:pPr>
                      <a:r>
                        <a:rPr lang="en-US" sz="1000" dirty="0">
                          <a:solidFill>
                            <a:srgbClr val="F5F2EA"/>
                          </a:solidFill>
                          <a:latin typeface="Segoe UI" pitchFamily="34" charset="0"/>
                          <a:ea typeface="Segoe UI" pitchFamily="34" charset="-122"/>
                          <a:cs typeface="Segoe UI" pitchFamily="34" charset="-120"/>
                        </a:rPr>
                        <a:t>Backend health (DB / queue status)</a:t>
                      </a:r>
                      <a:endParaRPr lang="en-US" sz="1000" dirty="0">
                        <a:latin typeface="Segoe UI" charset="0"/>
                        <a:ea typeface="Segoe UI" charset="0"/>
                        <a:cs typeface="Segoe UI" charset="0"/>
                      </a:endParaRPr>
                    </a:p>
                  </a:txBody>
                  <a:tcPr marL="36576" marR="36576" marT="36576" marB="36576" anchor="ctr">
                    <a:lnL w="6350" cap="flat" cmpd="sng" algn="ctr">
                      <a:solidFill>
                        <a:srgbClr val="26262F"/>
                      </a:solidFill>
                      <a:prstDash val="solid"/>
                      <a:round/>
                      <a:headEnd type="none" w="med" len="med"/>
                      <a:tailEnd type="none" w="med" len="med"/>
                    </a:lnL>
                    <a:lnR w="6350" cap="flat" cmpd="sng" algn="ctr">
                      <a:solidFill>
                        <a:srgbClr val="26262F"/>
                      </a:solidFill>
                      <a:prstDash val="solid"/>
                      <a:round/>
                      <a:headEnd type="none" w="med" len="med"/>
                      <a:tailEnd type="none" w="med" len="med"/>
                    </a:lnR>
                    <a:lnT w="6350" cap="flat" cmpd="sng" algn="ctr">
                      <a:solidFill>
                        <a:srgbClr val="26262F"/>
                      </a:solidFill>
                      <a:prstDash val="solid"/>
                      <a:round/>
                      <a:headEnd type="none" w="med" len="med"/>
                      <a:tailEnd type="none" w="med" len="med"/>
                    </a:lnT>
                    <a:lnB w="6350" cap="flat" cmpd="sng" algn="ctr">
                      <a:solidFill>
                        <a:srgbClr val="26262F"/>
                      </a:solidFill>
                      <a:prstDash val="solid"/>
                      <a:round/>
                      <a:headEnd type="none" w="med" len="med"/>
                      <a:tailEnd type="none" w="med" len="med"/>
                    </a:lnB>
                    <a:solidFill>
                      <a:srgbClr val="15151B"/>
                    </a:solidFill>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B0B0F"/>
        </a:solidFill>
      </p:bgPr>
    </p:bg>
    <p:spTree>
      <p:nvGrpSpPr>
        <p:cNvPr id="1" name=""/>
        <p:cNvGrpSpPr/>
        <p:nvPr/>
      </p:nvGrpSpPr>
      <p:grpSpPr>
        <a:xfrm>
          <a:off x="0" y="0"/>
          <a:ext cx="0" cy="0"/>
          <a:chOff x="0" y="0"/>
          <a:chExt cx="0" cy="0"/>
        </a:xfrm>
      </p:grpSpPr>
      <p:sp>
        <p:nvSpPr>
          <p:cNvPr id="2" name="Shape 0"/>
          <p:cNvSpPr/>
          <p:nvPr/>
        </p:nvSpPr>
        <p:spPr>
          <a:xfrm>
            <a:off x="10716768" y="292608"/>
            <a:ext cx="155448" cy="155448"/>
          </a:xfrm>
          <a:prstGeom prst="rect">
            <a:avLst/>
          </a:prstGeom>
          <a:solidFill>
            <a:srgbClr val="14141A"/>
          </a:solidFill>
          <a:ln/>
        </p:spPr>
      </p:sp>
      <p:sp>
        <p:nvSpPr>
          <p:cNvPr id="3" name="Shape 1"/>
          <p:cNvSpPr/>
          <p:nvPr/>
        </p:nvSpPr>
        <p:spPr>
          <a:xfrm>
            <a:off x="11027664" y="292608"/>
            <a:ext cx="155448" cy="155448"/>
          </a:xfrm>
          <a:prstGeom prst="rect">
            <a:avLst/>
          </a:prstGeom>
          <a:solidFill>
            <a:srgbClr val="14141A"/>
          </a:solidFill>
          <a:ln/>
        </p:spPr>
      </p:sp>
      <p:sp>
        <p:nvSpPr>
          <p:cNvPr id="4" name="Shape 2"/>
          <p:cNvSpPr/>
          <p:nvPr/>
        </p:nvSpPr>
        <p:spPr>
          <a:xfrm>
            <a:off x="10561320" y="448056"/>
            <a:ext cx="155448" cy="155448"/>
          </a:xfrm>
          <a:prstGeom prst="rect">
            <a:avLst/>
          </a:prstGeom>
          <a:solidFill>
            <a:srgbClr val="14141A"/>
          </a:solidFill>
          <a:ln/>
        </p:spPr>
      </p:sp>
      <p:sp>
        <p:nvSpPr>
          <p:cNvPr id="5" name="Shape 3"/>
          <p:cNvSpPr/>
          <p:nvPr/>
        </p:nvSpPr>
        <p:spPr>
          <a:xfrm>
            <a:off x="10872216" y="448056"/>
            <a:ext cx="155448" cy="155448"/>
          </a:xfrm>
          <a:prstGeom prst="rect">
            <a:avLst/>
          </a:prstGeom>
          <a:solidFill>
            <a:srgbClr val="14141A"/>
          </a:solidFill>
          <a:ln/>
        </p:spPr>
      </p:sp>
      <p:sp>
        <p:nvSpPr>
          <p:cNvPr id="6" name="Shape 4"/>
          <p:cNvSpPr/>
          <p:nvPr/>
        </p:nvSpPr>
        <p:spPr>
          <a:xfrm>
            <a:off x="11183112" y="448056"/>
            <a:ext cx="155448" cy="155448"/>
          </a:xfrm>
          <a:prstGeom prst="rect">
            <a:avLst/>
          </a:prstGeom>
          <a:solidFill>
            <a:srgbClr val="14141A"/>
          </a:solidFill>
          <a:ln/>
        </p:spPr>
      </p:sp>
      <p:sp>
        <p:nvSpPr>
          <p:cNvPr id="7" name="Shape 5"/>
          <p:cNvSpPr/>
          <p:nvPr/>
        </p:nvSpPr>
        <p:spPr>
          <a:xfrm>
            <a:off x="10716768" y="603504"/>
            <a:ext cx="155448" cy="155448"/>
          </a:xfrm>
          <a:prstGeom prst="rect">
            <a:avLst/>
          </a:prstGeom>
          <a:solidFill>
            <a:srgbClr val="14141A"/>
          </a:solidFill>
          <a:ln/>
        </p:spPr>
      </p:sp>
      <p:sp>
        <p:nvSpPr>
          <p:cNvPr id="8" name="Shape 6"/>
          <p:cNvSpPr/>
          <p:nvPr/>
        </p:nvSpPr>
        <p:spPr>
          <a:xfrm>
            <a:off x="11027664" y="603504"/>
            <a:ext cx="155448" cy="155448"/>
          </a:xfrm>
          <a:prstGeom prst="rect">
            <a:avLst/>
          </a:prstGeom>
          <a:solidFill>
            <a:srgbClr val="14141A"/>
          </a:solidFill>
          <a:ln/>
        </p:spPr>
      </p:sp>
      <p:sp>
        <p:nvSpPr>
          <p:cNvPr id="9" name="Shape 7"/>
          <p:cNvSpPr/>
          <p:nvPr/>
        </p:nvSpPr>
        <p:spPr>
          <a:xfrm>
            <a:off x="10561320" y="758952"/>
            <a:ext cx="155448" cy="155448"/>
          </a:xfrm>
          <a:prstGeom prst="rect">
            <a:avLst/>
          </a:prstGeom>
          <a:solidFill>
            <a:srgbClr val="14141A"/>
          </a:solidFill>
          <a:ln/>
        </p:spPr>
      </p:sp>
      <p:sp>
        <p:nvSpPr>
          <p:cNvPr id="10" name="Shape 8"/>
          <p:cNvSpPr/>
          <p:nvPr/>
        </p:nvSpPr>
        <p:spPr>
          <a:xfrm>
            <a:off x="10872216" y="758952"/>
            <a:ext cx="155448" cy="155448"/>
          </a:xfrm>
          <a:prstGeom prst="rect">
            <a:avLst/>
          </a:prstGeom>
          <a:solidFill>
            <a:srgbClr val="14141A"/>
          </a:solidFill>
          <a:ln/>
        </p:spPr>
      </p:sp>
      <p:sp>
        <p:nvSpPr>
          <p:cNvPr id="11" name="Shape 9"/>
          <p:cNvSpPr/>
          <p:nvPr/>
        </p:nvSpPr>
        <p:spPr>
          <a:xfrm>
            <a:off x="11183112" y="758952"/>
            <a:ext cx="155448" cy="155448"/>
          </a:xfrm>
          <a:prstGeom prst="rect">
            <a:avLst/>
          </a:prstGeom>
          <a:solidFill>
            <a:srgbClr val="14141A"/>
          </a:solidFill>
          <a:ln/>
        </p:spPr>
      </p:sp>
      <p:sp>
        <p:nvSpPr>
          <p:cNvPr id="12" name="Shape 10"/>
          <p:cNvSpPr/>
          <p:nvPr/>
        </p:nvSpPr>
        <p:spPr>
          <a:xfrm>
            <a:off x="10716768" y="914400"/>
            <a:ext cx="155448" cy="155448"/>
          </a:xfrm>
          <a:prstGeom prst="rect">
            <a:avLst/>
          </a:prstGeom>
          <a:solidFill>
            <a:srgbClr val="14141A"/>
          </a:solidFill>
          <a:ln/>
        </p:spPr>
      </p:sp>
      <p:sp>
        <p:nvSpPr>
          <p:cNvPr id="13" name="Shape 11"/>
          <p:cNvSpPr/>
          <p:nvPr/>
        </p:nvSpPr>
        <p:spPr>
          <a:xfrm>
            <a:off x="11027664" y="914400"/>
            <a:ext cx="155448" cy="155448"/>
          </a:xfrm>
          <a:prstGeom prst="rect">
            <a:avLst/>
          </a:prstGeom>
          <a:solidFill>
            <a:srgbClr val="14141A"/>
          </a:solidFill>
          <a:ln/>
        </p:spPr>
      </p:sp>
      <p:sp>
        <p:nvSpPr>
          <p:cNvPr id="14" name="Shape 12"/>
          <p:cNvSpPr/>
          <p:nvPr/>
        </p:nvSpPr>
        <p:spPr>
          <a:xfrm>
            <a:off x="9859975" y="310896"/>
            <a:ext cx="1783080" cy="292608"/>
          </a:xfrm>
          <a:prstGeom prst="roundRect">
            <a:avLst>
              <a:gd name="adj" fmla="val 50000"/>
            </a:avLst>
          </a:prstGeom>
          <a:solidFill>
            <a:srgbClr val="2A2412"/>
          </a:solidFill>
          <a:ln w="9525">
            <a:solidFill>
              <a:srgbClr val="4A3D18"/>
            </a:solidFill>
            <a:prstDash val="solid"/>
          </a:ln>
        </p:spPr>
      </p:sp>
      <p:sp>
        <p:nvSpPr>
          <p:cNvPr id="15" name="Text 13"/>
          <p:cNvSpPr/>
          <p:nvPr/>
        </p:nvSpPr>
        <p:spPr>
          <a:xfrm>
            <a:off x="9859975" y="301752"/>
            <a:ext cx="1783080" cy="310896"/>
          </a:xfrm>
          <a:prstGeom prst="rect">
            <a:avLst/>
          </a:prstGeom>
          <a:noFill/>
          <a:ln/>
        </p:spPr>
        <p:txBody>
          <a:bodyPr wrap="square" lIns="0" tIns="0" rIns="0" bIns="0" rtlCol="0" anchor="ctr"/>
          <a:lstStyle/>
          <a:p>
            <a:pPr algn="ctr" indent="0" marL="0">
              <a:buNone/>
            </a:pPr>
            <a:r>
              <a:rPr lang="en-US" sz="800" b="1" spc="120" kern="0" dirty="0">
                <a:solidFill>
                  <a:srgbClr val="FFC62A"/>
                </a:solidFill>
                <a:latin typeface="Bahnschrift" pitchFamily="34" charset="0"/>
                <a:ea typeface="Bahnschrift" pitchFamily="34" charset="-122"/>
                <a:cs typeface="Bahnschrift" pitchFamily="34" charset="-120"/>
              </a:rPr>
              <a:t>VERIFIED · FROM SOURCE CODE</a:t>
            </a:r>
            <a:endParaRPr lang="en-US" sz="800" dirty="0"/>
          </a:p>
        </p:txBody>
      </p:sp>
      <p:sp>
        <p:nvSpPr>
          <p:cNvPr id="16" name="Text 14"/>
          <p:cNvSpPr/>
          <p:nvPr/>
        </p:nvSpPr>
        <p:spPr>
          <a:xfrm>
            <a:off x="566928" y="384048"/>
            <a:ext cx="8229600" cy="274320"/>
          </a:xfrm>
          <a:prstGeom prst="rect">
            <a:avLst/>
          </a:prstGeom>
          <a:noFill/>
          <a:ln/>
        </p:spPr>
        <p:txBody>
          <a:bodyPr wrap="square" lIns="0" tIns="0" rIns="0" bIns="0" rtlCol="0" anchor="ctr"/>
          <a:lstStyle/>
          <a:p>
            <a:pPr indent="0" marL="0">
              <a:buNone/>
            </a:pPr>
            <a:r>
              <a:rPr lang="en-US" sz="1100" b="1" spc="300" kern="0" dirty="0">
                <a:solidFill>
                  <a:srgbClr val="FFC62A"/>
                </a:solidFill>
                <a:latin typeface="Bahnschrift" pitchFamily="34" charset="0"/>
                <a:ea typeface="Bahnschrift" pitchFamily="34" charset="-122"/>
                <a:cs typeface="Bahnschrift" pitchFamily="34" charset="-120"/>
              </a:rPr>
              <a:t>APPENDIX · C</a:t>
            </a:r>
            <a:endParaRPr lang="en-US" sz="1100" dirty="0"/>
          </a:p>
        </p:txBody>
      </p:sp>
      <p:sp>
        <p:nvSpPr>
          <p:cNvPr id="17" name="Shape 15"/>
          <p:cNvSpPr/>
          <p:nvPr/>
        </p:nvSpPr>
        <p:spPr>
          <a:xfrm>
            <a:off x="566928" y="713232"/>
            <a:ext cx="384048" cy="45720"/>
          </a:xfrm>
          <a:prstGeom prst="rect">
            <a:avLst/>
          </a:prstGeom>
          <a:solidFill>
            <a:srgbClr val="FFC62A"/>
          </a:solidFill>
          <a:ln/>
        </p:spPr>
      </p:sp>
      <p:sp>
        <p:nvSpPr>
          <p:cNvPr id="18" name="Text 16"/>
          <p:cNvSpPr/>
          <p:nvPr/>
        </p:nvSpPr>
        <p:spPr>
          <a:xfrm>
            <a:off x="548640" y="841248"/>
            <a:ext cx="11064240" cy="566928"/>
          </a:xfrm>
          <a:prstGeom prst="rect">
            <a:avLst/>
          </a:prstGeom>
          <a:noFill/>
          <a:ln/>
        </p:spPr>
        <p:txBody>
          <a:bodyPr wrap="square" lIns="0" tIns="0" rIns="0" bIns="0" rtlCol="0" anchor="ctr"/>
          <a:lstStyle/>
          <a:p>
            <a:pPr indent="0" marL="0">
              <a:buNone/>
            </a:pPr>
            <a:r>
              <a:rPr lang="en-US" sz="2700" b="1" dirty="0">
                <a:solidFill>
                  <a:srgbClr val="F5F2EA"/>
                </a:solidFill>
                <a:latin typeface="Bahnschrift" pitchFamily="34" charset="0"/>
                <a:ea typeface="Bahnschrift" pitchFamily="34" charset="-122"/>
                <a:cs typeface="Bahnschrift" pitchFamily="34" charset="-120"/>
              </a:rPr>
              <a:t>Security &amp; performance</a:t>
            </a:r>
            <a:endParaRPr lang="en-US" sz="2700" dirty="0"/>
          </a:p>
        </p:txBody>
      </p:sp>
      <p:sp>
        <p:nvSpPr>
          <p:cNvPr id="19" name="Text 17"/>
          <p:cNvSpPr/>
          <p:nvPr/>
        </p:nvSpPr>
        <p:spPr>
          <a:xfrm>
            <a:off x="566928" y="1389888"/>
            <a:ext cx="11064240" cy="274320"/>
          </a:xfrm>
          <a:prstGeom prst="rect">
            <a:avLst/>
          </a:prstGeom>
          <a:noFill/>
          <a:ln/>
        </p:spPr>
        <p:txBody>
          <a:bodyPr wrap="square" lIns="0" tIns="0" rIns="0" bIns="0" rtlCol="0" anchor="ctr"/>
          <a:lstStyle/>
          <a:p>
            <a:pPr indent="0" marL="0">
              <a:buNone/>
            </a:pPr>
            <a:r>
              <a:rPr lang="en-US" sz="1250" dirty="0">
                <a:solidFill>
                  <a:srgbClr val="9A97A6"/>
                </a:solidFill>
                <a:latin typeface="Segoe UI" pitchFamily="34" charset="0"/>
                <a:ea typeface="Segoe UI" pitchFamily="34" charset="-122"/>
                <a:cs typeface="Segoe UI" pitchFamily="34" charset="-120"/>
              </a:rPr>
              <a:t>Practices verified in source files.</a:t>
            </a:r>
            <a:endParaRPr lang="en-US" sz="1250" dirty="0"/>
          </a:p>
        </p:txBody>
      </p:sp>
      <p:sp>
        <p:nvSpPr>
          <p:cNvPr id="20" name="Text 18"/>
          <p:cNvSpPr/>
          <p:nvPr/>
        </p:nvSpPr>
        <p:spPr>
          <a:xfrm>
            <a:off x="566928" y="6492240"/>
            <a:ext cx="2743200" cy="256032"/>
          </a:xfrm>
          <a:prstGeom prst="rect">
            <a:avLst/>
          </a:prstGeom>
          <a:noFill/>
          <a:ln/>
        </p:spPr>
        <p:txBody>
          <a:bodyPr wrap="square" lIns="0" tIns="0" rIns="0" bIns="0" rtlCol="0" anchor="ctr"/>
          <a:lstStyle/>
          <a:p>
            <a:pPr indent="0" marL="0">
              <a:buNone/>
            </a:pPr>
            <a:r>
              <a:rPr lang="en-US" sz="850" b="1" spc="300" kern="0" dirty="0">
                <a:solidFill>
                  <a:srgbClr val="5C5966"/>
                </a:solidFill>
                <a:latin typeface="Bahnschrift" pitchFamily="34" charset="0"/>
                <a:ea typeface="Bahnschrift" pitchFamily="34" charset="-122"/>
                <a:cs typeface="Bahnschrift" pitchFamily="34" charset="-120"/>
              </a:rPr>
              <a:t>CHESSFORK</a:t>
            </a:r>
            <a:endParaRPr lang="en-US" sz="850" dirty="0"/>
          </a:p>
        </p:txBody>
      </p:sp>
      <p:sp>
        <p:nvSpPr>
          <p:cNvPr id="21" name="Text 19"/>
          <p:cNvSpPr/>
          <p:nvPr/>
        </p:nvSpPr>
        <p:spPr>
          <a:xfrm>
            <a:off x="3840480" y="6492240"/>
            <a:ext cx="4572000" cy="256032"/>
          </a:xfrm>
          <a:prstGeom prst="rect">
            <a:avLst/>
          </a:prstGeom>
          <a:noFill/>
          <a:ln/>
        </p:spPr>
        <p:txBody>
          <a:bodyPr wrap="square" lIns="0" tIns="0" rIns="0" bIns="0" rtlCol="0" anchor="ctr"/>
          <a:lstStyle/>
          <a:p>
            <a:pPr indent="0" marL="0">
              <a:buNone/>
            </a:pPr>
            <a:r>
              <a:rPr lang="en-US" sz="800" spc="150" kern="0" dirty="0">
                <a:solidFill>
                  <a:srgbClr val="5C5966"/>
                </a:solidFill>
                <a:latin typeface="Segoe UI" pitchFamily="34" charset="0"/>
                <a:ea typeface="Segoe UI" pitchFamily="34" charset="-122"/>
                <a:cs typeface="Segoe UI" pitchFamily="34" charset="-120"/>
              </a:rPr>
              <a:t>BCA FINAL YEAR PROJECT · 2026</a:t>
            </a:r>
            <a:endParaRPr lang="en-US" sz="800" dirty="0"/>
          </a:p>
        </p:txBody>
      </p:sp>
      <p:sp>
        <p:nvSpPr>
          <p:cNvPr id="22" name="Text 20"/>
          <p:cNvSpPr/>
          <p:nvPr/>
        </p:nvSpPr>
        <p:spPr>
          <a:xfrm>
            <a:off x="11292840" y="6473952"/>
            <a:ext cx="365760" cy="274320"/>
          </a:xfrm>
          <a:prstGeom prst="rect">
            <a:avLst/>
          </a:prstGeom>
          <a:noFill/>
          <a:ln/>
        </p:spPr>
        <p:txBody>
          <a:bodyPr wrap="square" lIns="0" tIns="0" rIns="0" bIns="0" rtlCol="0" anchor="ctr"/>
          <a:lstStyle/>
          <a:p>
            <a:pPr algn="r" indent="0" marL="0">
              <a:buNone/>
            </a:pPr>
            <a:r>
              <a:rPr lang="en-US" sz="900" b="1" dirty="0">
                <a:solidFill>
                  <a:srgbClr val="5C5966"/>
                </a:solidFill>
                <a:latin typeface="Bahnschrift" pitchFamily="34" charset="0"/>
                <a:ea typeface="Bahnschrift" pitchFamily="34" charset="-122"/>
                <a:cs typeface="Bahnschrift" pitchFamily="34" charset="-120"/>
              </a:rPr>
              <a:t>21</a:t>
            </a:r>
            <a:endParaRPr lang="en-US" sz="900" dirty="0"/>
          </a:p>
        </p:txBody>
      </p:sp>
      <p:sp>
        <p:nvSpPr>
          <p:cNvPr id="23" name="Shape 21"/>
          <p:cNvSpPr/>
          <p:nvPr/>
        </p:nvSpPr>
        <p:spPr>
          <a:xfrm>
            <a:off x="566928" y="1783080"/>
            <a:ext cx="5440680" cy="3931920"/>
          </a:xfrm>
          <a:prstGeom prst="roundRect">
            <a:avLst>
              <a:gd name="adj" fmla="val 1628"/>
            </a:avLst>
          </a:prstGeom>
          <a:solidFill>
            <a:srgbClr val="15151B"/>
          </a:solidFill>
          <a:ln w="12700">
            <a:solidFill>
              <a:srgbClr val="26262F"/>
            </a:solidFill>
            <a:prstDash val="solid"/>
          </a:ln>
        </p:spPr>
      </p:sp>
      <p:sp>
        <p:nvSpPr>
          <p:cNvPr id="24" name="Text 22"/>
          <p:cNvSpPr/>
          <p:nvPr/>
        </p:nvSpPr>
        <p:spPr>
          <a:xfrm>
            <a:off x="822960" y="1920240"/>
            <a:ext cx="4572000" cy="320040"/>
          </a:xfrm>
          <a:prstGeom prst="rect">
            <a:avLst/>
          </a:prstGeom>
          <a:noFill/>
          <a:ln/>
        </p:spPr>
        <p:txBody>
          <a:bodyPr wrap="square" lIns="0" tIns="0" rIns="0" bIns="0" rtlCol="0" anchor="ctr"/>
          <a:lstStyle/>
          <a:p>
            <a:pPr indent="0" marL="0">
              <a:buNone/>
            </a:pPr>
            <a:r>
              <a:rPr lang="en-US" sz="1300" b="1" spc="200" kern="0" dirty="0">
                <a:solidFill>
                  <a:srgbClr val="FFC62A"/>
                </a:solidFill>
                <a:latin typeface="Bahnschrift" pitchFamily="34" charset="0"/>
                <a:ea typeface="Bahnschrift" pitchFamily="34" charset="-122"/>
                <a:cs typeface="Bahnschrift" pitchFamily="34" charset="-120"/>
              </a:rPr>
              <a:t>SECURITY</a:t>
            </a:r>
            <a:endParaRPr lang="en-US" sz="1300" dirty="0"/>
          </a:p>
        </p:txBody>
      </p:sp>
      <p:sp>
        <p:nvSpPr>
          <p:cNvPr id="25" name="Text 23"/>
          <p:cNvSpPr/>
          <p:nvPr/>
        </p:nvSpPr>
        <p:spPr>
          <a:xfrm>
            <a:off x="822960" y="2377440"/>
            <a:ext cx="4937760" cy="3108960"/>
          </a:xfrm>
          <a:prstGeom prst="rect">
            <a:avLst/>
          </a:prstGeom>
          <a:noFill/>
          <a:ln/>
        </p:spPr>
        <p:txBody>
          <a:bodyPr wrap="square" lIns="0" tIns="0" rIns="0" bIns="0" rtlCol="0" anchor="ctr"/>
          <a:lstStyle/>
          <a:p>
            <a:pPr marL="342900" indent="-342900">
              <a:lnSpc>
                <a:spcPct val="110000"/>
              </a:lnSpc>
              <a:spcAft>
                <a:spcPts val="1000"/>
              </a:spcAft>
              <a:buSzPct val="100000"/>
              <a:buChar char="•"/>
            </a:pPr>
            <a:r>
              <a:rPr lang="en-US" sz="1100" dirty="0">
                <a:solidFill>
                  <a:srgbClr val="F5F2EA"/>
                </a:solidFill>
                <a:latin typeface="Segoe UI" pitchFamily="34" charset="0"/>
                <a:ea typeface="Segoe UI" pitchFamily="34" charset="-122"/>
                <a:cs typeface="Segoe UI" pitchFamily="34" charset="-120"/>
              </a:rPr>
              <a:t>scrypt password hashing (node:crypto, timing-safe compare)</a:t>
            </a:r>
            <a:endParaRPr lang="en-US" sz="1100" dirty="0"/>
          </a:p>
          <a:p>
            <a:pPr marL="342900" indent="-342900">
              <a:lnSpc>
                <a:spcPct val="110000"/>
              </a:lnSpc>
              <a:spcAft>
                <a:spcPts val="1000"/>
              </a:spcAft>
              <a:buSzPct val="100000"/>
              <a:buChar char="•"/>
            </a:pPr>
            <a:r>
              <a:rPr lang="en-US" sz="1100" dirty="0">
                <a:solidFill>
                  <a:srgbClr val="F5F2EA"/>
                </a:solidFill>
                <a:latin typeface="Segoe UI" pitchFamily="34" charset="0"/>
                <a:ea typeface="Segoe UI" pitchFamily="34" charset="-122"/>
                <a:cs typeface="Segoe UI" pitchFamily="34" charset="-120"/>
              </a:rPr>
              <a:t>Supabase OAuth — Google &amp; GitHub provider flows</a:t>
            </a:r>
            <a:endParaRPr lang="en-US" sz="1100" dirty="0"/>
          </a:p>
          <a:p>
            <a:pPr marL="342900" indent="-342900">
              <a:lnSpc>
                <a:spcPct val="110000"/>
              </a:lnSpc>
              <a:spcAft>
                <a:spcPts val="1000"/>
              </a:spcAft>
              <a:buSzPct val="100000"/>
              <a:buChar char="•"/>
            </a:pPr>
            <a:r>
              <a:rPr lang="en-US" sz="1100" dirty="0">
                <a:solidFill>
                  <a:srgbClr val="F5F2EA"/>
                </a:solidFill>
                <a:latin typeface="Segoe UI" pitchFamily="34" charset="0"/>
                <a:ea typeface="Segoe UI" pitchFamily="34" charset="-122"/>
                <a:cs typeface="Segoe UI" pitchFamily="34" charset="-120"/>
              </a:rPr>
              <a:t>Server-side session cookies for authenticated users</a:t>
            </a:r>
            <a:endParaRPr lang="en-US" sz="1100" dirty="0"/>
          </a:p>
          <a:p>
            <a:pPr marL="342900" indent="-342900">
              <a:lnSpc>
                <a:spcPct val="110000"/>
              </a:lnSpc>
              <a:spcAft>
                <a:spcPts val="1000"/>
              </a:spcAft>
              <a:buSzPct val="100000"/>
              <a:buChar char="•"/>
            </a:pPr>
            <a:r>
              <a:rPr lang="en-US" sz="1100" dirty="0">
                <a:solidFill>
                  <a:srgbClr val="F5F2EA"/>
                </a:solidFill>
                <a:latin typeface="Segoe UI" pitchFamily="34" charset="0"/>
                <a:ea typeface="Segoe UI" pitchFamily="34" charset="-122"/>
                <a:cs typeface="Segoe UI" pitchFamily="34" charset="-120"/>
              </a:rPr>
              <a:t>zod validation on every API route</a:t>
            </a:r>
            <a:endParaRPr lang="en-US" sz="1100" dirty="0"/>
          </a:p>
          <a:p>
            <a:pPr marL="342900" indent="-342900">
              <a:lnSpc>
                <a:spcPct val="110000"/>
              </a:lnSpc>
              <a:spcAft>
                <a:spcPts val="1000"/>
              </a:spcAft>
              <a:buSzPct val="100000"/>
              <a:buChar char="•"/>
            </a:pPr>
            <a:r>
              <a:rPr lang="en-US" sz="1100" dirty="0">
                <a:solidFill>
                  <a:srgbClr val="F5F2EA"/>
                </a:solidFill>
                <a:latin typeface="Segoe UI" pitchFamily="34" charset="0"/>
                <a:ea typeface="Segoe UI" pitchFamily="34" charset="-122"/>
                <a:cs typeface="Segoe UI" pitchFamily="34" charset="-120"/>
              </a:rPr>
              <a:t>In-memory rate limiting (token buckets per key)</a:t>
            </a:r>
            <a:endParaRPr lang="en-US" sz="1100" dirty="0"/>
          </a:p>
          <a:p>
            <a:pPr marL="342900" indent="-342900">
              <a:lnSpc>
                <a:spcPct val="110000"/>
              </a:lnSpc>
              <a:spcAft>
                <a:spcPts val="1000"/>
              </a:spcAft>
              <a:buSzPct val="100000"/>
              <a:buChar char="•"/>
            </a:pPr>
            <a:r>
              <a:rPr lang="en-US" sz="1100" dirty="0">
                <a:solidFill>
                  <a:srgbClr val="F5F2EA"/>
                </a:solidFill>
                <a:latin typeface="Segoe UI" pitchFamily="34" charset="0"/>
                <a:ea typeface="Segoe UI" pitchFamily="34" charset="-122"/>
                <a:cs typeface="Segoe UI" pitchFamily="34" charset="-120"/>
              </a:rPr>
              <a:t>Secrets only in server env — never in client bundles</a:t>
            </a:r>
            <a:endParaRPr lang="en-US" sz="1100" dirty="0"/>
          </a:p>
        </p:txBody>
      </p:sp>
      <p:sp>
        <p:nvSpPr>
          <p:cNvPr id="26" name="Shape 24"/>
          <p:cNvSpPr/>
          <p:nvPr/>
        </p:nvSpPr>
        <p:spPr>
          <a:xfrm>
            <a:off x="6190488" y="1783080"/>
            <a:ext cx="5440680" cy="3931920"/>
          </a:xfrm>
          <a:prstGeom prst="roundRect">
            <a:avLst>
              <a:gd name="adj" fmla="val 1628"/>
            </a:avLst>
          </a:prstGeom>
          <a:solidFill>
            <a:srgbClr val="15151B"/>
          </a:solidFill>
          <a:ln w="12700">
            <a:solidFill>
              <a:srgbClr val="26262F"/>
            </a:solidFill>
            <a:prstDash val="solid"/>
          </a:ln>
        </p:spPr>
      </p:sp>
      <p:sp>
        <p:nvSpPr>
          <p:cNvPr id="27" name="Text 25"/>
          <p:cNvSpPr/>
          <p:nvPr/>
        </p:nvSpPr>
        <p:spPr>
          <a:xfrm>
            <a:off x="6446520" y="1920240"/>
            <a:ext cx="4572000" cy="320040"/>
          </a:xfrm>
          <a:prstGeom prst="rect">
            <a:avLst/>
          </a:prstGeom>
          <a:noFill/>
          <a:ln/>
        </p:spPr>
        <p:txBody>
          <a:bodyPr wrap="square" lIns="0" tIns="0" rIns="0" bIns="0" rtlCol="0" anchor="ctr"/>
          <a:lstStyle/>
          <a:p>
            <a:pPr indent="0" marL="0">
              <a:buNone/>
            </a:pPr>
            <a:r>
              <a:rPr lang="en-US" sz="1300" b="1" spc="200" kern="0" dirty="0">
                <a:solidFill>
                  <a:srgbClr val="FFC62A"/>
                </a:solidFill>
                <a:latin typeface="Bahnschrift" pitchFamily="34" charset="0"/>
                <a:ea typeface="Bahnschrift" pitchFamily="34" charset="-122"/>
                <a:cs typeface="Bahnschrift" pitchFamily="34" charset="-120"/>
              </a:rPr>
              <a:t>PERFORMANCE</a:t>
            </a:r>
            <a:endParaRPr lang="en-US" sz="1300" dirty="0"/>
          </a:p>
        </p:txBody>
      </p:sp>
      <p:sp>
        <p:nvSpPr>
          <p:cNvPr id="28" name="Text 26"/>
          <p:cNvSpPr/>
          <p:nvPr/>
        </p:nvSpPr>
        <p:spPr>
          <a:xfrm>
            <a:off x="6446520" y="2377440"/>
            <a:ext cx="4937760" cy="3108960"/>
          </a:xfrm>
          <a:prstGeom prst="rect">
            <a:avLst/>
          </a:prstGeom>
          <a:noFill/>
          <a:ln/>
        </p:spPr>
        <p:txBody>
          <a:bodyPr wrap="square" lIns="0" tIns="0" rIns="0" bIns="0" rtlCol="0" anchor="ctr"/>
          <a:lstStyle/>
          <a:p>
            <a:pPr marL="342900" indent="-342900">
              <a:lnSpc>
                <a:spcPct val="110000"/>
              </a:lnSpc>
              <a:spcAft>
                <a:spcPts val="1000"/>
              </a:spcAft>
              <a:buSzPct val="100000"/>
              <a:buChar char="•"/>
            </a:pPr>
            <a:r>
              <a:rPr lang="en-US" sz="1100" dirty="0">
                <a:solidFill>
                  <a:srgbClr val="F5F2EA"/>
                </a:solidFill>
                <a:latin typeface="Segoe UI" pitchFamily="34" charset="0"/>
                <a:ea typeface="Segoe UI" pitchFamily="34" charset="-122"/>
                <a:cs typeface="Segoe UI" pitchFamily="34" charset="-120"/>
              </a:rPr>
              <a:t>Engine in browser via WebAssembly worker — zero server cost for interactive analysis</a:t>
            </a:r>
            <a:endParaRPr lang="en-US" sz="1100" dirty="0"/>
          </a:p>
          <a:p>
            <a:pPr marL="342900" indent="-342900">
              <a:lnSpc>
                <a:spcPct val="110000"/>
              </a:lnSpc>
              <a:spcAft>
                <a:spcPts val="1000"/>
              </a:spcAft>
              <a:buSzPct val="100000"/>
              <a:buChar char="•"/>
            </a:pPr>
            <a:r>
              <a:rPr lang="en-US" sz="1100" dirty="0">
                <a:solidFill>
                  <a:srgbClr val="F5F2EA"/>
                </a:solidFill>
                <a:latin typeface="Segoe UI" pitchFamily="34" charset="0"/>
                <a:ea typeface="Segoe UI" pitchFamily="34" charset="-122"/>
                <a:cs typeface="Segoe UI" pitchFamily="34" charset="-120"/>
              </a:rPr>
              <a:t>Deep analysis offloaded to BullMQ + Redis background jobs</a:t>
            </a:r>
            <a:endParaRPr lang="en-US" sz="1100" dirty="0"/>
          </a:p>
          <a:p>
            <a:pPr marL="342900" indent="-342900">
              <a:lnSpc>
                <a:spcPct val="110000"/>
              </a:lnSpc>
              <a:spcAft>
                <a:spcPts val="1000"/>
              </a:spcAft>
              <a:buSzPct val="100000"/>
              <a:buChar char="•"/>
            </a:pPr>
            <a:r>
              <a:rPr lang="en-US" sz="1100" dirty="0">
                <a:solidFill>
                  <a:srgbClr val="F5F2EA"/>
                </a:solidFill>
                <a:latin typeface="Segoe UI" pitchFamily="34" charset="0"/>
                <a:ea typeface="Segoe UI" pitchFamily="34" charset="-122"/>
                <a:cs typeface="Segoe UI" pitchFamily="34" charset="-120"/>
              </a:rPr>
              <a:t>Depth &amp; movetime tuned (quick 350ms / deep 3000ms per move)</a:t>
            </a:r>
            <a:endParaRPr lang="en-US" sz="1100" dirty="0"/>
          </a:p>
          <a:p>
            <a:pPr marL="342900" indent="-342900">
              <a:lnSpc>
                <a:spcPct val="110000"/>
              </a:lnSpc>
              <a:spcAft>
                <a:spcPts val="1000"/>
              </a:spcAft>
              <a:buSzPct val="100000"/>
              <a:buChar char="•"/>
            </a:pPr>
            <a:r>
              <a:rPr lang="en-US" sz="1100" dirty="0">
                <a:solidFill>
                  <a:srgbClr val="F5F2EA"/>
                </a:solidFill>
                <a:latin typeface="Segoe UI" pitchFamily="34" charset="0"/>
                <a:ea typeface="Segoe UI" pitchFamily="34" charset="-122"/>
                <a:cs typeface="Segoe UI" pitchFamily="34" charset="-120"/>
              </a:rPr>
              <a:t>Coach reports cached 24h in localStorage; analysis cached by hash</a:t>
            </a:r>
            <a:endParaRPr lang="en-US" sz="1100" dirty="0"/>
          </a:p>
          <a:p>
            <a:pPr marL="342900" indent="-342900">
              <a:lnSpc>
                <a:spcPct val="110000"/>
              </a:lnSpc>
              <a:spcAft>
                <a:spcPts val="1000"/>
              </a:spcAft>
              <a:buSzPct val="100000"/>
              <a:buChar char="•"/>
            </a:pPr>
            <a:r>
              <a:rPr lang="en-US" sz="1100" dirty="0">
                <a:solidFill>
                  <a:srgbClr val="F5F2EA"/>
                </a:solidFill>
                <a:latin typeface="Segoe UI" pitchFamily="34" charset="0"/>
                <a:ea typeface="Segoe UI" pitchFamily="34" charset="-122"/>
                <a:cs typeface="Segoe UI" pitchFamily="34" charset="-120"/>
              </a:rPr>
              <a:t>PWA offline shell with workbox service worker</a:t>
            </a:r>
            <a:endParaRPr lang="en-US" sz="1100" dirty="0"/>
          </a:p>
          <a:p>
            <a:pPr marL="342900" indent="-342900">
              <a:lnSpc>
                <a:spcPct val="110000"/>
              </a:lnSpc>
              <a:spcAft>
                <a:spcPts val="1000"/>
              </a:spcAft>
              <a:buSzPct val="100000"/>
              <a:buChar char="•"/>
            </a:pPr>
            <a:r>
              <a:rPr lang="en-US" sz="1100" dirty="0">
                <a:solidFill>
                  <a:srgbClr val="F5F2EA"/>
                </a:solidFill>
                <a:latin typeface="Segoe UI" pitchFamily="34" charset="0"/>
                <a:ea typeface="Segoe UI" pitchFamily="34" charset="-122"/>
                <a:cs typeface="Segoe UI" pitchFamily="34" charset="-120"/>
              </a:rPr>
              <a:t>Lazy-loaded recharts graph; SSE progress keeps UI responsive</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B0B0F"/>
        </a:solidFill>
      </p:bgPr>
    </p:bg>
    <p:spTree>
      <p:nvGrpSpPr>
        <p:cNvPr id="1" name=""/>
        <p:cNvGrpSpPr/>
        <p:nvPr/>
      </p:nvGrpSpPr>
      <p:grpSpPr>
        <a:xfrm>
          <a:off x="0" y="0"/>
          <a:ext cx="0" cy="0"/>
          <a:chOff x="0" y="0"/>
          <a:chExt cx="0" cy="0"/>
        </a:xfrm>
      </p:grpSpPr>
      <p:sp>
        <p:nvSpPr>
          <p:cNvPr id="2" name="Shape 0"/>
          <p:cNvSpPr/>
          <p:nvPr/>
        </p:nvSpPr>
        <p:spPr>
          <a:xfrm>
            <a:off x="10716768" y="292608"/>
            <a:ext cx="155448" cy="155448"/>
          </a:xfrm>
          <a:prstGeom prst="rect">
            <a:avLst/>
          </a:prstGeom>
          <a:solidFill>
            <a:srgbClr val="14141A"/>
          </a:solidFill>
          <a:ln/>
        </p:spPr>
      </p:sp>
      <p:sp>
        <p:nvSpPr>
          <p:cNvPr id="3" name="Shape 1"/>
          <p:cNvSpPr/>
          <p:nvPr/>
        </p:nvSpPr>
        <p:spPr>
          <a:xfrm>
            <a:off x="11027664" y="292608"/>
            <a:ext cx="155448" cy="155448"/>
          </a:xfrm>
          <a:prstGeom prst="rect">
            <a:avLst/>
          </a:prstGeom>
          <a:solidFill>
            <a:srgbClr val="14141A"/>
          </a:solidFill>
          <a:ln/>
        </p:spPr>
      </p:sp>
      <p:sp>
        <p:nvSpPr>
          <p:cNvPr id="4" name="Shape 2"/>
          <p:cNvSpPr/>
          <p:nvPr/>
        </p:nvSpPr>
        <p:spPr>
          <a:xfrm>
            <a:off x="10561320" y="448056"/>
            <a:ext cx="155448" cy="155448"/>
          </a:xfrm>
          <a:prstGeom prst="rect">
            <a:avLst/>
          </a:prstGeom>
          <a:solidFill>
            <a:srgbClr val="14141A"/>
          </a:solidFill>
          <a:ln/>
        </p:spPr>
      </p:sp>
      <p:sp>
        <p:nvSpPr>
          <p:cNvPr id="5" name="Shape 3"/>
          <p:cNvSpPr/>
          <p:nvPr/>
        </p:nvSpPr>
        <p:spPr>
          <a:xfrm>
            <a:off x="10872216" y="448056"/>
            <a:ext cx="155448" cy="155448"/>
          </a:xfrm>
          <a:prstGeom prst="rect">
            <a:avLst/>
          </a:prstGeom>
          <a:solidFill>
            <a:srgbClr val="14141A"/>
          </a:solidFill>
          <a:ln/>
        </p:spPr>
      </p:sp>
      <p:sp>
        <p:nvSpPr>
          <p:cNvPr id="6" name="Shape 4"/>
          <p:cNvSpPr/>
          <p:nvPr/>
        </p:nvSpPr>
        <p:spPr>
          <a:xfrm>
            <a:off x="11183112" y="448056"/>
            <a:ext cx="155448" cy="155448"/>
          </a:xfrm>
          <a:prstGeom prst="rect">
            <a:avLst/>
          </a:prstGeom>
          <a:solidFill>
            <a:srgbClr val="14141A"/>
          </a:solidFill>
          <a:ln/>
        </p:spPr>
      </p:sp>
      <p:sp>
        <p:nvSpPr>
          <p:cNvPr id="7" name="Shape 5"/>
          <p:cNvSpPr/>
          <p:nvPr/>
        </p:nvSpPr>
        <p:spPr>
          <a:xfrm>
            <a:off x="10716768" y="603504"/>
            <a:ext cx="155448" cy="155448"/>
          </a:xfrm>
          <a:prstGeom prst="rect">
            <a:avLst/>
          </a:prstGeom>
          <a:solidFill>
            <a:srgbClr val="14141A"/>
          </a:solidFill>
          <a:ln/>
        </p:spPr>
      </p:sp>
      <p:sp>
        <p:nvSpPr>
          <p:cNvPr id="8" name="Shape 6"/>
          <p:cNvSpPr/>
          <p:nvPr/>
        </p:nvSpPr>
        <p:spPr>
          <a:xfrm>
            <a:off x="11027664" y="603504"/>
            <a:ext cx="155448" cy="155448"/>
          </a:xfrm>
          <a:prstGeom prst="rect">
            <a:avLst/>
          </a:prstGeom>
          <a:solidFill>
            <a:srgbClr val="14141A"/>
          </a:solidFill>
          <a:ln/>
        </p:spPr>
      </p:sp>
      <p:sp>
        <p:nvSpPr>
          <p:cNvPr id="9" name="Shape 7"/>
          <p:cNvSpPr/>
          <p:nvPr/>
        </p:nvSpPr>
        <p:spPr>
          <a:xfrm>
            <a:off x="10561320" y="758952"/>
            <a:ext cx="155448" cy="155448"/>
          </a:xfrm>
          <a:prstGeom prst="rect">
            <a:avLst/>
          </a:prstGeom>
          <a:solidFill>
            <a:srgbClr val="14141A"/>
          </a:solidFill>
          <a:ln/>
        </p:spPr>
      </p:sp>
      <p:sp>
        <p:nvSpPr>
          <p:cNvPr id="10" name="Shape 8"/>
          <p:cNvSpPr/>
          <p:nvPr/>
        </p:nvSpPr>
        <p:spPr>
          <a:xfrm>
            <a:off x="10872216" y="758952"/>
            <a:ext cx="155448" cy="155448"/>
          </a:xfrm>
          <a:prstGeom prst="rect">
            <a:avLst/>
          </a:prstGeom>
          <a:solidFill>
            <a:srgbClr val="14141A"/>
          </a:solidFill>
          <a:ln/>
        </p:spPr>
      </p:sp>
      <p:sp>
        <p:nvSpPr>
          <p:cNvPr id="11" name="Shape 9"/>
          <p:cNvSpPr/>
          <p:nvPr/>
        </p:nvSpPr>
        <p:spPr>
          <a:xfrm>
            <a:off x="11183112" y="758952"/>
            <a:ext cx="155448" cy="155448"/>
          </a:xfrm>
          <a:prstGeom prst="rect">
            <a:avLst/>
          </a:prstGeom>
          <a:solidFill>
            <a:srgbClr val="14141A"/>
          </a:solidFill>
          <a:ln/>
        </p:spPr>
      </p:sp>
      <p:sp>
        <p:nvSpPr>
          <p:cNvPr id="12" name="Shape 10"/>
          <p:cNvSpPr/>
          <p:nvPr/>
        </p:nvSpPr>
        <p:spPr>
          <a:xfrm>
            <a:off x="10716768" y="914400"/>
            <a:ext cx="155448" cy="155448"/>
          </a:xfrm>
          <a:prstGeom prst="rect">
            <a:avLst/>
          </a:prstGeom>
          <a:solidFill>
            <a:srgbClr val="14141A"/>
          </a:solidFill>
          <a:ln/>
        </p:spPr>
      </p:sp>
      <p:sp>
        <p:nvSpPr>
          <p:cNvPr id="13" name="Shape 11"/>
          <p:cNvSpPr/>
          <p:nvPr/>
        </p:nvSpPr>
        <p:spPr>
          <a:xfrm>
            <a:off x="11027664" y="914400"/>
            <a:ext cx="155448" cy="155448"/>
          </a:xfrm>
          <a:prstGeom prst="rect">
            <a:avLst/>
          </a:prstGeom>
          <a:solidFill>
            <a:srgbClr val="14141A"/>
          </a:solidFill>
          <a:ln/>
        </p:spPr>
      </p:sp>
      <p:sp>
        <p:nvSpPr>
          <p:cNvPr id="14" name="Shape 12"/>
          <p:cNvSpPr/>
          <p:nvPr/>
        </p:nvSpPr>
        <p:spPr>
          <a:xfrm>
            <a:off x="9859975" y="310896"/>
            <a:ext cx="1783080" cy="292608"/>
          </a:xfrm>
          <a:prstGeom prst="roundRect">
            <a:avLst>
              <a:gd name="adj" fmla="val 50000"/>
            </a:avLst>
          </a:prstGeom>
          <a:solidFill>
            <a:srgbClr val="2A2412"/>
          </a:solidFill>
          <a:ln w="9525">
            <a:solidFill>
              <a:srgbClr val="4A3D18"/>
            </a:solidFill>
            <a:prstDash val="solid"/>
          </a:ln>
        </p:spPr>
      </p:sp>
      <p:sp>
        <p:nvSpPr>
          <p:cNvPr id="15" name="Text 13"/>
          <p:cNvSpPr/>
          <p:nvPr/>
        </p:nvSpPr>
        <p:spPr>
          <a:xfrm>
            <a:off x="9859975" y="301752"/>
            <a:ext cx="1783080" cy="310896"/>
          </a:xfrm>
          <a:prstGeom prst="rect">
            <a:avLst/>
          </a:prstGeom>
          <a:noFill/>
          <a:ln/>
        </p:spPr>
        <p:txBody>
          <a:bodyPr wrap="square" lIns="0" tIns="0" rIns="0" bIns="0" rtlCol="0" anchor="ctr"/>
          <a:lstStyle/>
          <a:p>
            <a:pPr algn="ctr" indent="0" marL="0">
              <a:buNone/>
            </a:pPr>
            <a:r>
              <a:rPr lang="en-US" sz="800" b="1" spc="120" kern="0" dirty="0">
                <a:solidFill>
                  <a:srgbClr val="FFC62A"/>
                </a:solidFill>
                <a:latin typeface="Bahnschrift" pitchFamily="34" charset="0"/>
                <a:ea typeface="Bahnschrift" pitchFamily="34" charset="-122"/>
                <a:cs typeface="Bahnschrift" pitchFamily="34" charset="-120"/>
              </a:rPr>
              <a:t>VERIFIED · FROM SOURCE CODE</a:t>
            </a:r>
            <a:endParaRPr lang="en-US" sz="800" dirty="0"/>
          </a:p>
        </p:txBody>
      </p:sp>
      <p:sp>
        <p:nvSpPr>
          <p:cNvPr id="16" name="Text 14"/>
          <p:cNvSpPr/>
          <p:nvPr/>
        </p:nvSpPr>
        <p:spPr>
          <a:xfrm>
            <a:off x="566928" y="384048"/>
            <a:ext cx="8229600" cy="274320"/>
          </a:xfrm>
          <a:prstGeom prst="rect">
            <a:avLst/>
          </a:prstGeom>
          <a:noFill/>
          <a:ln/>
        </p:spPr>
        <p:txBody>
          <a:bodyPr wrap="square" lIns="0" tIns="0" rIns="0" bIns="0" rtlCol="0" anchor="ctr"/>
          <a:lstStyle/>
          <a:p>
            <a:pPr indent="0" marL="0">
              <a:buNone/>
            </a:pPr>
            <a:r>
              <a:rPr lang="en-US" sz="1100" b="1" spc="300" kern="0" dirty="0">
                <a:solidFill>
                  <a:srgbClr val="FFC62A"/>
                </a:solidFill>
                <a:latin typeface="Bahnschrift" pitchFamily="34" charset="0"/>
                <a:ea typeface="Bahnschrift" pitchFamily="34" charset="-122"/>
                <a:cs typeface="Bahnschrift" pitchFamily="34" charset="-120"/>
              </a:rPr>
              <a:t>APPENDIX · D</a:t>
            </a:r>
            <a:endParaRPr lang="en-US" sz="1100" dirty="0"/>
          </a:p>
        </p:txBody>
      </p:sp>
      <p:sp>
        <p:nvSpPr>
          <p:cNvPr id="17" name="Shape 15"/>
          <p:cNvSpPr/>
          <p:nvPr/>
        </p:nvSpPr>
        <p:spPr>
          <a:xfrm>
            <a:off x="566928" y="713232"/>
            <a:ext cx="384048" cy="45720"/>
          </a:xfrm>
          <a:prstGeom prst="rect">
            <a:avLst/>
          </a:prstGeom>
          <a:solidFill>
            <a:srgbClr val="FFC62A"/>
          </a:solidFill>
          <a:ln/>
        </p:spPr>
      </p:sp>
      <p:sp>
        <p:nvSpPr>
          <p:cNvPr id="18" name="Text 16"/>
          <p:cNvSpPr/>
          <p:nvPr/>
        </p:nvSpPr>
        <p:spPr>
          <a:xfrm>
            <a:off x="548640" y="841248"/>
            <a:ext cx="11064240" cy="566928"/>
          </a:xfrm>
          <a:prstGeom prst="rect">
            <a:avLst/>
          </a:prstGeom>
          <a:noFill/>
          <a:ln/>
        </p:spPr>
        <p:txBody>
          <a:bodyPr wrap="square" lIns="0" tIns="0" rIns="0" bIns="0" rtlCol="0" anchor="ctr"/>
          <a:lstStyle/>
          <a:p>
            <a:pPr indent="0" marL="0">
              <a:buNone/>
            </a:pPr>
            <a:r>
              <a:rPr lang="en-US" sz="2700" b="1" dirty="0">
                <a:solidFill>
                  <a:srgbClr val="F5F2EA"/>
                </a:solidFill>
                <a:latin typeface="Bahnschrift" pitchFamily="34" charset="0"/>
                <a:ea typeface="Bahnschrift" pitchFamily="34" charset="-122"/>
                <a:cs typeface="Bahnschrift" pitchFamily="34" charset="-120"/>
              </a:rPr>
              <a:t>Known limitations &amp; honest scope</a:t>
            </a:r>
            <a:endParaRPr lang="en-US" sz="2700" dirty="0"/>
          </a:p>
        </p:txBody>
      </p:sp>
      <p:sp>
        <p:nvSpPr>
          <p:cNvPr id="19" name="Text 17"/>
          <p:cNvSpPr/>
          <p:nvPr/>
        </p:nvSpPr>
        <p:spPr>
          <a:xfrm>
            <a:off x="566928" y="1389888"/>
            <a:ext cx="11064240" cy="274320"/>
          </a:xfrm>
          <a:prstGeom prst="rect">
            <a:avLst/>
          </a:prstGeom>
          <a:noFill/>
          <a:ln/>
        </p:spPr>
        <p:txBody>
          <a:bodyPr wrap="square" lIns="0" tIns="0" rIns="0" bIns="0" rtlCol="0" anchor="ctr"/>
          <a:lstStyle/>
          <a:p>
            <a:pPr indent="0" marL="0">
              <a:buNone/>
            </a:pPr>
            <a:r>
              <a:rPr lang="en-US" sz="1250" dirty="0">
                <a:solidFill>
                  <a:srgbClr val="9A97A6"/>
                </a:solidFill>
                <a:latin typeface="Segoe UI" pitchFamily="34" charset="0"/>
                <a:ea typeface="Segoe UI" pitchFamily="34" charset="-122"/>
                <a:cs typeface="Segoe UI" pitchFamily="34" charset="-120"/>
              </a:rPr>
              <a:t>What is Beta, what is planned, and what depends on external services.</a:t>
            </a:r>
            <a:endParaRPr lang="en-US" sz="1250" dirty="0"/>
          </a:p>
        </p:txBody>
      </p:sp>
      <p:sp>
        <p:nvSpPr>
          <p:cNvPr id="20" name="Text 18"/>
          <p:cNvSpPr/>
          <p:nvPr/>
        </p:nvSpPr>
        <p:spPr>
          <a:xfrm>
            <a:off x="566928" y="6492240"/>
            <a:ext cx="2743200" cy="256032"/>
          </a:xfrm>
          <a:prstGeom prst="rect">
            <a:avLst/>
          </a:prstGeom>
          <a:noFill/>
          <a:ln/>
        </p:spPr>
        <p:txBody>
          <a:bodyPr wrap="square" lIns="0" tIns="0" rIns="0" bIns="0" rtlCol="0" anchor="ctr"/>
          <a:lstStyle/>
          <a:p>
            <a:pPr indent="0" marL="0">
              <a:buNone/>
            </a:pPr>
            <a:r>
              <a:rPr lang="en-US" sz="850" b="1" spc="300" kern="0" dirty="0">
                <a:solidFill>
                  <a:srgbClr val="5C5966"/>
                </a:solidFill>
                <a:latin typeface="Bahnschrift" pitchFamily="34" charset="0"/>
                <a:ea typeface="Bahnschrift" pitchFamily="34" charset="-122"/>
                <a:cs typeface="Bahnschrift" pitchFamily="34" charset="-120"/>
              </a:rPr>
              <a:t>CHESSFORK</a:t>
            </a:r>
            <a:endParaRPr lang="en-US" sz="850" dirty="0"/>
          </a:p>
        </p:txBody>
      </p:sp>
      <p:sp>
        <p:nvSpPr>
          <p:cNvPr id="21" name="Text 19"/>
          <p:cNvSpPr/>
          <p:nvPr/>
        </p:nvSpPr>
        <p:spPr>
          <a:xfrm>
            <a:off x="3840480" y="6492240"/>
            <a:ext cx="4572000" cy="256032"/>
          </a:xfrm>
          <a:prstGeom prst="rect">
            <a:avLst/>
          </a:prstGeom>
          <a:noFill/>
          <a:ln/>
        </p:spPr>
        <p:txBody>
          <a:bodyPr wrap="square" lIns="0" tIns="0" rIns="0" bIns="0" rtlCol="0" anchor="ctr"/>
          <a:lstStyle/>
          <a:p>
            <a:pPr indent="0" marL="0">
              <a:buNone/>
            </a:pPr>
            <a:r>
              <a:rPr lang="en-US" sz="800" spc="150" kern="0" dirty="0">
                <a:solidFill>
                  <a:srgbClr val="5C5966"/>
                </a:solidFill>
                <a:latin typeface="Segoe UI" pitchFamily="34" charset="0"/>
                <a:ea typeface="Segoe UI" pitchFamily="34" charset="-122"/>
                <a:cs typeface="Segoe UI" pitchFamily="34" charset="-120"/>
              </a:rPr>
              <a:t>BCA FINAL YEAR PROJECT · 2026</a:t>
            </a:r>
            <a:endParaRPr lang="en-US" sz="800" dirty="0"/>
          </a:p>
        </p:txBody>
      </p:sp>
      <p:sp>
        <p:nvSpPr>
          <p:cNvPr id="22" name="Text 20"/>
          <p:cNvSpPr/>
          <p:nvPr/>
        </p:nvSpPr>
        <p:spPr>
          <a:xfrm>
            <a:off x="11292840" y="6473952"/>
            <a:ext cx="365760" cy="274320"/>
          </a:xfrm>
          <a:prstGeom prst="rect">
            <a:avLst/>
          </a:prstGeom>
          <a:noFill/>
          <a:ln/>
        </p:spPr>
        <p:txBody>
          <a:bodyPr wrap="square" lIns="0" tIns="0" rIns="0" bIns="0" rtlCol="0" anchor="ctr"/>
          <a:lstStyle/>
          <a:p>
            <a:pPr algn="r" indent="0" marL="0">
              <a:buNone/>
            </a:pPr>
            <a:r>
              <a:rPr lang="en-US" sz="900" b="1" dirty="0">
                <a:solidFill>
                  <a:srgbClr val="5C5966"/>
                </a:solidFill>
                <a:latin typeface="Bahnschrift" pitchFamily="34" charset="0"/>
                <a:ea typeface="Bahnschrift" pitchFamily="34" charset="-122"/>
                <a:cs typeface="Bahnschrift" pitchFamily="34" charset="-120"/>
              </a:rPr>
              <a:t>22</a:t>
            </a:r>
            <a:endParaRPr lang="en-US" sz="900" dirty="0"/>
          </a:p>
        </p:txBody>
      </p:sp>
      <p:sp>
        <p:nvSpPr>
          <p:cNvPr id="23" name="Shape 21"/>
          <p:cNvSpPr/>
          <p:nvPr/>
        </p:nvSpPr>
        <p:spPr>
          <a:xfrm>
            <a:off x="566928" y="1783080"/>
            <a:ext cx="5440680" cy="4023360"/>
          </a:xfrm>
          <a:prstGeom prst="roundRect">
            <a:avLst>
              <a:gd name="adj" fmla="val 1591"/>
            </a:avLst>
          </a:prstGeom>
          <a:solidFill>
            <a:srgbClr val="15151B"/>
          </a:solidFill>
          <a:ln w="12700">
            <a:solidFill>
              <a:srgbClr val="26262F"/>
            </a:solidFill>
            <a:prstDash val="solid"/>
          </a:ln>
        </p:spPr>
      </p:sp>
      <p:sp>
        <p:nvSpPr>
          <p:cNvPr id="24" name="Text 22"/>
          <p:cNvSpPr/>
          <p:nvPr/>
        </p:nvSpPr>
        <p:spPr>
          <a:xfrm>
            <a:off x="822960" y="1920240"/>
            <a:ext cx="4937760" cy="320040"/>
          </a:xfrm>
          <a:prstGeom prst="rect">
            <a:avLst/>
          </a:prstGeom>
          <a:noFill/>
          <a:ln/>
        </p:spPr>
        <p:txBody>
          <a:bodyPr wrap="square" lIns="0" tIns="0" rIns="0" bIns="0" rtlCol="0" anchor="ctr"/>
          <a:lstStyle/>
          <a:p>
            <a:pPr indent="0" marL="0">
              <a:buNone/>
            </a:pPr>
            <a:r>
              <a:rPr lang="en-US" sz="1300" b="1" spc="200" kern="0" dirty="0">
                <a:solidFill>
                  <a:srgbClr val="FF6B6B"/>
                </a:solidFill>
                <a:latin typeface="Bahnschrift" pitchFamily="34" charset="0"/>
                <a:ea typeface="Bahnschrift" pitchFamily="34" charset="-122"/>
                <a:cs typeface="Bahnschrift" pitchFamily="34" charset="-120"/>
              </a:rPr>
              <a:t>KNOWN LIMITATIONS</a:t>
            </a:r>
            <a:endParaRPr lang="en-US" sz="1300" dirty="0"/>
          </a:p>
        </p:txBody>
      </p:sp>
      <p:sp>
        <p:nvSpPr>
          <p:cNvPr id="25" name="Text 23"/>
          <p:cNvSpPr/>
          <p:nvPr/>
        </p:nvSpPr>
        <p:spPr>
          <a:xfrm>
            <a:off x="822960" y="2377440"/>
            <a:ext cx="4937760" cy="3291840"/>
          </a:xfrm>
          <a:prstGeom prst="rect">
            <a:avLst/>
          </a:prstGeom>
          <a:noFill/>
          <a:ln/>
        </p:spPr>
        <p:txBody>
          <a:bodyPr wrap="square" lIns="0" tIns="0" rIns="0" bIns="0" rtlCol="0" anchor="ctr"/>
          <a:lstStyle/>
          <a:p>
            <a:pPr marL="342900" indent="-342900">
              <a:lnSpc>
                <a:spcPct val="110000"/>
              </a:lnSpc>
              <a:spcAft>
                <a:spcPts val="1000"/>
              </a:spcAft>
              <a:buSzPct val="100000"/>
              <a:buChar char="•"/>
            </a:pPr>
            <a:r>
              <a:rPr lang="en-US" sz="1100" dirty="0">
                <a:solidFill>
                  <a:srgbClr val="F5F2EA"/>
                </a:solidFill>
                <a:latin typeface="Segoe UI" pitchFamily="34" charset="0"/>
                <a:ea typeface="Segoe UI" pitchFamily="34" charset="-122"/>
                <a:cs typeface="Segoe UI" pitchFamily="34" charset="-120"/>
              </a:rPr>
              <a:t>Year Wrapped renders sample data — not yet personal stats</a:t>
            </a:r>
            <a:endParaRPr lang="en-US" sz="1100" dirty="0"/>
          </a:p>
          <a:p>
            <a:pPr marL="342900" indent="-342900">
              <a:lnSpc>
                <a:spcPct val="110000"/>
              </a:lnSpc>
              <a:spcAft>
                <a:spcPts val="1000"/>
              </a:spcAft>
              <a:buSzPct val="100000"/>
              <a:buChar char="•"/>
            </a:pPr>
            <a:r>
              <a:rPr lang="en-US" sz="1100" dirty="0">
                <a:solidFill>
                  <a:srgbClr val="F5F2EA"/>
                </a:solidFill>
                <a:latin typeface="Segoe UI" pitchFamily="34" charset="0"/>
                <a:ea typeface="Segoe UI" pitchFamily="34" charset="-122"/>
                <a:cs typeface="Segoe UI" pitchFamily="34" charset="-120"/>
              </a:rPr>
              <a:t>Chess Globe uses demo arcs, not live traffic</a:t>
            </a:r>
            <a:endParaRPr lang="en-US" sz="1100" dirty="0"/>
          </a:p>
          <a:p>
            <a:pPr marL="342900" indent="-342900">
              <a:lnSpc>
                <a:spcPct val="110000"/>
              </a:lnSpc>
              <a:spcAft>
                <a:spcPts val="1000"/>
              </a:spcAft>
              <a:buSzPct val="100000"/>
              <a:buChar char="•"/>
            </a:pPr>
            <a:r>
              <a:rPr lang="en-US" sz="1100" dirty="0">
                <a:solidFill>
                  <a:srgbClr val="F5F2EA"/>
                </a:solidFill>
                <a:latin typeface="Segoe UI" pitchFamily="34" charset="0"/>
                <a:ea typeface="Segoe UI" pitchFamily="34" charset="-122"/>
                <a:cs typeface="Segoe UI" pitchFamily="34" charset="-120"/>
              </a:rPr>
              <a:t>Board editor: position setup works; drag-and-drop editing pending</a:t>
            </a:r>
            <a:endParaRPr lang="en-US" sz="1100" dirty="0"/>
          </a:p>
          <a:p>
            <a:pPr marL="342900" indent="-342900">
              <a:lnSpc>
                <a:spcPct val="110000"/>
              </a:lnSpc>
              <a:spcAft>
                <a:spcPts val="1000"/>
              </a:spcAft>
              <a:buSzPct val="100000"/>
              <a:buChar char="•"/>
            </a:pPr>
            <a:r>
              <a:rPr lang="en-US" sz="1100" dirty="0">
                <a:solidFill>
                  <a:srgbClr val="F5F2EA"/>
                </a:solidFill>
                <a:latin typeface="Segoe UI" pitchFamily="34" charset="0"/>
                <a:ea typeface="Segoe UI" pitchFamily="34" charset="-122"/>
                <a:cs typeface="Segoe UI" pitchFamily="34" charset="-120"/>
              </a:rPr>
              <a:t>Local play is two-player (no engine opponent yet)</a:t>
            </a:r>
            <a:endParaRPr lang="en-US" sz="1100" dirty="0"/>
          </a:p>
          <a:p>
            <a:pPr marL="342900" indent="-342900">
              <a:lnSpc>
                <a:spcPct val="110000"/>
              </a:lnSpc>
              <a:spcAft>
                <a:spcPts val="1000"/>
              </a:spcAft>
              <a:buSzPct val="100000"/>
              <a:buChar char="•"/>
            </a:pPr>
            <a:r>
              <a:rPr lang="en-US" sz="1100" dirty="0">
                <a:solidFill>
                  <a:srgbClr val="F5F2EA"/>
                </a:solidFill>
                <a:latin typeface="Segoe UI" pitchFamily="34" charset="0"/>
                <a:ea typeface="Segoe UI" pitchFamily="34" charset="-122"/>
                <a:cs typeface="Segoe UI" pitchFamily="34" charset="-120"/>
              </a:rPr>
              <a:t>AI features need provider keys (Claude / OpenRouter / DeepSeek)</a:t>
            </a:r>
            <a:endParaRPr lang="en-US" sz="1100" dirty="0"/>
          </a:p>
          <a:p>
            <a:pPr marL="342900" indent="-342900">
              <a:lnSpc>
                <a:spcPct val="110000"/>
              </a:lnSpc>
              <a:spcAft>
                <a:spcPts val="1000"/>
              </a:spcAft>
              <a:buSzPct val="100000"/>
              <a:buChar char="•"/>
            </a:pPr>
            <a:r>
              <a:rPr lang="en-US" sz="1100" dirty="0">
                <a:solidFill>
                  <a:srgbClr val="F5F2EA"/>
                </a:solidFill>
                <a:latin typeface="Segoe UI" pitchFamily="34" charset="0"/>
                <a:ea typeface="Segoe UI" pitchFamily="34" charset="-122"/>
                <a:cs typeface="Segoe UI" pitchFamily="34" charset="-120"/>
              </a:rPr>
              <a:t>Full persistence requires Postgres + Redis (docker compose)</a:t>
            </a:r>
            <a:endParaRPr lang="en-US" sz="1100" dirty="0"/>
          </a:p>
          <a:p>
            <a:pPr marL="342900" indent="-342900">
              <a:lnSpc>
                <a:spcPct val="110000"/>
              </a:lnSpc>
              <a:spcAft>
                <a:spcPts val="1000"/>
              </a:spcAft>
              <a:buSzPct val="100000"/>
              <a:buChar char="•"/>
            </a:pPr>
            <a:r>
              <a:rPr lang="en-US" sz="1100" dirty="0">
                <a:solidFill>
                  <a:srgbClr val="F5F2EA"/>
                </a:solidFill>
                <a:latin typeface="Segoe UI" pitchFamily="34" charset="0"/>
                <a:ea typeface="Segoe UI" pitchFamily="34" charset="-122"/>
                <a:cs typeface="Segoe UI" pitchFamily="34" charset="-120"/>
              </a:rPr>
              <a:t>Landing-page stats (e.g. 2.4M games) are aspirational targets</a:t>
            </a:r>
            <a:endParaRPr lang="en-US" sz="1100" dirty="0"/>
          </a:p>
        </p:txBody>
      </p:sp>
      <p:sp>
        <p:nvSpPr>
          <p:cNvPr id="26" name="Shape 24"/>
          <p:cNvSpPr/>
          <p:nvPr/>
        </p:nvSpPr>
        <p:spPr>
          <a:xfrm>
            <a:off x="6190488" y="1783080"/>
            <a:ext cx="5440680" cy="4023360"/>
          </a:xfrm>
          <a:prstGeom prst="roundRect">
            <a:avLst>
              <a:gd name="adj" fmla="val 1591"/>
            </a:avLst>
          </a:prstGeom>
          <a:solidFill>
            <a:srgbClr val="15151B"/>
          </a:solidFill>
          <a:ln w="12700">
            <a:solidFill>
              <a:srgbClr val="26262F"/>
            </a:solidFill>
            <a:prstDash val="solid"/>
          </a:ln>
        </p:spPr>
      </p:sp>
      <p:sp>
        <p:nvSpPr>
          <p:cNvPr id="27" name="Text 25"/>
          <p:cNvSpPr/>
          <p:nvPr/>
        </p:nvSpPr>
        <p:spPr>
          <a:xfrm>
            <a:off x="6446520" y="1920240"/>
            <a:ext cx="4937760" cy="320040"/>
          </a:xfrm>
          <a:prstGeom prst="rect">
            <a:avLst/>
          </a:prstGeom>
          <a:noFill/>
          <a:ln/>
        </p:spPr>
        <p:txBody>
          <a:bodyPr wrap="square" lIns="0" tIns="0" rIns="0" bIns="0" rtlCol="0" anchor="ctr"/>
          <a:lstStyle/>
          <a:p>
            <a:pPr indent="0" marL="0">
              <a:buNone/>
            </a:pPr>
            <a:r>
              <a:rPr lang="en-US" sz="1300" b="1" spc="200" kern="0" dirty="0">
                <a:solidFill>
                  <a:srgbClr val="3DDC84"/>
                </a:solidFill>
                <a:latin typeface="Bahnschrift" pitchFamily="34" charset="0"/>
                <a:ea typeface="Bahnschrift" pitchFamily="34" charset="-122"/>
                <a:cs typeface="Bahnschrift" pitchFamily="34" charset="-120"/>
              </a:rPr>
              <a:t>NEXT STEPS</a:t>
            </a:r>
            <a:endParaRPr lang="en-US" sz="1300" dirty="0"/>
          </a:p>
        </p:txBody>
      </p:sp>
      <p:sp>
        <p:nvSpPr>
          <p:cNvPr id="28" name="Text 26"/>
          <p:cNvSpPr/>
          <p:nvPr/>
        </p:nvSpPr>
        <p:spPr>
          <a:xfrm>
            <a:off x="6446520" y="2377440"/>
            <a:ext cx="4937760" cy="3291840"/>
          </a:xfrm>
          <a:prstGeom prst="rect">
            <a:avLst/>
          </a:prstGeom>
          <a:noFill/>
          <a:ln/>
        </p:spPr>
        <p:txBody>
          <a:bodyPr wrap="square" lIns="0" tIns="0" rIns="0" bIns="0" rtlCol="0" anchor="ctr"/>
          <a:lstStyle/>
          <a:p>
            <a:pPr marL="342900" indent="-342900">
              <a:lnSpc>
                <a:spcPct val="110000"/>
              </a:lnSpc>
              <a:spcAft>
                <a:spcPts val="1000"/>
              </a:spcAft>
              <a:buSzPct val="100000"/>
              <a:buChar char="•"/>
            </a:pPr>
            <a:r>
              <a:rPr lang="en-US" sz="1100" dirty="0">
                <a:solidFill>
                  <a:srgbClr val="F5F2EA"/>
                </a:solidFill>
                <a:latin typeface="Segoe UI" pitchFamily="34" charset="0"/>
                <a:ea typeface="Segoe UI" pitchFamily="34" charset="-122"/>
                <a:cs typeface="Segoe UI" pitchFamily="34" charset="-120"/>
              </a:rPr>
              <a:t>PvP multiplayer over websockets</a:t>
            </a:r>
            <a:endParaRPr lang="en-US" sz="1100" dirty="0"/>
          </a:p>
          <a:p>
            <a:pPr marL="342900" indent="-342900">
              <a:lnSpc>
                <a:spcPct val="110000"/>
              </a:lnSpc>
              <a:spcAft>
                <a:spcPts val="1000"/>
              </a:spcAft>
              <a:buSzPct val="100000"/>
              <a:buChar char="•"/>
            </a:pPr>
            <a:r>
              <a:rPr lang="en-US" sz="1100" dirty="0">
                <a:solidFill>
                  <a:srgbClr val="F5F2EA"/>
                </a:solidFill>
                <a:latin typeface="Segoe UI" pitchFamily="34" charset="0"/>
                <a:ea typeface="Segoe UI" pitchFamily="34" charset="-122"/>
                <a:cs typeface="Segoe UI" pitchFamily="34" charset="-120"/>
              </a:rPr>
              <a:t>Live game review during play</a:t>
            </a:r>
            <a:endParaRPr lang="en-US" sz="1100" dirty="0"/>
          </a:p>
          <a:p>
            <a:pPr marL="342900" indent="-342900">
              <a:lnSpc>
                <a:spcPct val="110000"/>
              </a:lnSpc>
              <a:spcAft>
                <a:spcPts val="1000"/>
              </a:spcAft>
              <a:buSzPct val="100000"/>
              <a:buChar char="•"/>
            </a:pPr>
            <a:r>
              <a:rPr lang="en-US" sz="1100" dirty="0">
                <a:solidFill>
                  <a:srgbClr val="F5F2EA"/>
                </a:solidFill>
                <a:latin typeface="Segoe UI" pitchFamily="34" charset="0"/>
                <a:ea typeface="Segoe UI" pitchFamily="34" charset="-122"/>
                <a:cs typeface="Segoe UI" pitchFamily="34" charset="-120"/>
              </a:rPr>
              <a:t>Real data for Globe + Wrapped</a:t>
            </a:r>
            <a:endParaRPr lang="en-US" sz="1100" dirty="0"/>
          </a:p>
          <a:p>
            <a:pPr marL="342900" indent="-342900">
              <a:lnSpc>
                <a:spcPct val="110000"/>
              </a:lnSpc>
              <a:spcAft>
                <a:spcPts val="1000"/>
              </a:spcAft>
              <a:buSzPct val="100000"/>
              <a:buChar char="•"/>
            </a:pPr>
            <a:r>
              <a:rPr lang="en-US" sz="1100" dirty="0">
                <a:solidFill>
                  <a:srgbClr val="F5F2EA"/>
                </a:solidFill>
                <a:latin typeface="Segoe UI" pitchFamily="34" charset="0"/>
                <a:ea typeface="Segoe UI" pitchFamily="34" charset="-122"/>
                <a:cs typeface="Segoe UI" pitchFamily="34" charset="-120"/>
              </a:rPr>
              <a:t>Cloud sync for saved reports</a:t>
            </a:r>
            <a:endParaRPr lang="en-US" sz="1100" dirty="0"/>
          </a:p>
          <a:p>
            <a:pPr marL="342900" indent="-342900">
              <a:lnSpc>
                <a:spcPct val="110000"/>
              </a:lnSpc>
              <a:spcAft>
                <a:spcPts val="1000"/>
              </a:spcAft>
              <a:buSzPct val="100000"/>
              <a:buChar char="•"/>
            </a:pPr>
            <a:r>
              <a:rPr lang="en-US" sz="1100" dirty="0">
                <a:solidFill>
                  <a:srgbClr val="F5F2EA"/>
                </a:solidFill>
                <a:latin typeface="Segoe UI" pitchFamily="34" charset="0"/>
                <a:ea typeface="Segoe UI" pitchFamily="34" charset="-122"/>
                <a:cs typeface="Segoe UI" pitchFamily="34" charset="-120"/>
              </a:rPr>
              <a:t>Mobile app from the existing PWA</a:t>
            </a:r>
            <a:endParaRPr lang="en-US" sz="1100" dirty="0"/>
          </a:p>
          <a:p>
            <a:pPr marL="342900" indent="-342900">
              <a:lnSpc>
                <a:spcPct val="110000"/>
              </a:lnSpc>
              <a:spcAft>
                <a:spcPts val="1000"/>
              </a:spcAft>
              <a:buSzPct val="100000"/>
              <a:buChar char="•"/>
            </a:pPr>
            <a:r>
              <a:rPr lang="en-US" sz="1100" dirty="0">
                <a:solidFill>
                  <a:srgbClr val="F5F2EA"/>
                </a:solidFill>
                <a:latin typeface="Segoe UI" pitchFamily="34" charset="0"/>
                <a:ea typeface="Segoe UI" pitchFamily="34" charset="-122"/>
                <a:cs typeface="Segoe UI" pitchFamily="34" charset="-120"/>
              </a:rPr>
              <a:t>Tournament &amp; study-group modes</a:t>
            </a:r>
            <a:endParaRPr lang="en-US" sz="1100" dirty="0"/>
          </a:p>
          <a:p>
            <a:pPr marL="342900" indent="-342900">
              <a:lnSpc>
                <a:spcPct val="110000"/>
              </a:lnSpc>
              <a:spcAft>
                <a:spcPts val="1000"/>
              </a:spcAft>
              <a:buSzPct val="100000"/>
              <a:buChar char="•"/>
            </a:pPr>
            <a:r>
              <a:rPr lang="en-US" sz="1100" dirty="0">
                <a:solidFill>
                  <a:srgbClr val="F5F2EA"/>
                </a:solidFill>
                <a:latin typeface="Segoe UI" pitchFamily="34" charset="0"/>
                <a:ea typeface="Segoe UI" pitchFamily="34" charset="-122"/>
                <a:cs typeface="Segoe UI" pitchFamily="34" charset="-120"/>
              </a:rPr>
              <a:t>Public demo deployment (Vercel) with managed Postgres + Redis</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Chessfork — AI-Powered Chess Analysis &amp; Coaching Platform</dc:title>
  <dc:subject>BCA Final Year Project</dc:subject>
  <dc:creator>Chessfork</dc:creator>
  <cp:lastModifiedBy>Chessfork</cp:lastModifiedBy>
  <cp:revision>1</cp:revision>
  <dcterms:created xsi:type="dcterms:W3CDTF">2026-08-06T14:27:16Z</dcterms:created>
  <dcterms:modified xsi:type="dcterms:W3CDTF">2026-08-06T14:27:16Z</dcterms:modified>
</cp:coreProperties>
</file>